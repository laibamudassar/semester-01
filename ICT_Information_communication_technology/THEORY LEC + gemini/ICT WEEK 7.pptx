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401" r:id="rId6"/>
    <p:sldId id="402" r:id="rId7"/>
    <p:sldId id="403" r:id="rId8"/>
    <p:sldId id="404" r:id="rId9"/>
    <p:sldId id="405" r:id="rId10"/>
    <p:sldId id="406" r:id="rId11"/>
    <p:sldId id="409" r:id="rId12"/>
    <p:sldId id="410" r:id="rId13"/>
    <p:sldId id="412" r:id="rId14"/>
    <p:sldId id="413" r:id="rId15"/>
    <p:sldId id="414" r:id="rId16"/>
    <p:sldId id="416" r:id="rId17"/>
    <p:sldId id="417" r:id="rId18"/>
    <p:sldId id="419" r:id="rId19"/>
    <p:sldId id="420" r:id="rId20"/>
    <p:sldId id="275" r:id="rId21"/>
  </p:sldIdLst>
  <p:sldSz cx="9753600" cy="7315200"/>
  <p:notesSz cx="6858000" cy="9144000"/>
  <p:embeddedFontLst>
    <p:embeddedFont>
      <p:font typeface="Arial Black" panose="020B0A04020102020204" pitchFamily="34" charset="0"/>
      <p:bold r:id="rId23"/>
    </p:embeddedFont>
    <p:embeddedFont>
      <p:font typeface="Halant Bold" panose="020B0604020202020204" charset="0"/>
      <p:bold r:id="rId24"/>
    </p:embeddedFont>
    <p:embeddedFont>
      <p:font typeface="Halant Medium" panose="020B0604020202020204" charset="0"/>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04" userDrawn="1">
          <p15:clr>
            <a:srgbClr val="A4A3A4"/>
          </p15:clr>
        </p15:guide>
        <p15:guide id="2" pos="29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autoAdjust="0"/>
    <p:restoredTop sz="94622" autoAdjust="0"/>
  </p:normalViewPr>
  <p:slideViewPr>
    <p:cSldViewPr showGuides="1">
      <p:cViewPr varScale="1">
        <p:scale>
          <a:sx n="59" d="100"/>
          <a:sy n="59" d="100"/>
        </p:scale>
        <p:origin x="1388" y="28"/>
      </p:cViewPr>
      <p:guideLst>
        <p:guide orient="horz" pos="2304"/>
        <p:guide pos="2931"/>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10D1A6-AFC0-4378-A879-247687974856}" type="datetimeFigureOut">
              <a:rPr lang="en-US" smtClean="0"/>
              <a:t>3/15/2026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D7AA2C-B60B-4B49-A158-C68B6DC03181}"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4FC16-F706-6F09-B377-BAB4DEEBCE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E68C93-5BFA-9C29-81C0-CCA41A928D3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77C2B6F-AA5C-0955-8329-AAB3A346A69F}"/>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0764308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B6D94-AD80-A37C-0395-D2A717CED8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EAD78F-15C3-E57D-825A-10000A909247}"/>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CC831E1-16A6-B35F-0CCD-0210CF0D866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239244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13539-EA97-F4CB-D632-924DEE3519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E6E73F-6E57-DF39-C720-3D4E22B5F616}"/>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76221B6D-54C9-FCF2-AE5D-3B1577B6C07E}"/>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893232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84F0E-AADF-16EC-8EA7-A38F204A04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652EC-AFA1-52C8-07C9-8F86463562A8}"/>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2BB58818-3331-414E-6F42-F44A1AE78DD3}"/>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8810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FC7EFD-0B3D-5DAF-1F07-2B55F4B378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6A3A26-B616-86E0-DC22-8A4E422EE33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1295692D-59A4-8AE6-1AAF-881E874E4DDD}"/>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4025037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61DBC-043D-A8AD-8392-2E05376D61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2DB6CE-FF11-AA03-F33D-7BDD6493F006}"/>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240807C-08D6-203C-C7DB-DE79A72426B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378591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FB9F3-C5F7-46B9-3D37-F95C6D86C4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731F1E-ACA4-261B-153B-AA7E6E8CB4CB}"/>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38D745F-6DDE-A14D-8171-61DE312A4F8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940457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8265F-D15C-AE4C-3075-E7B635DC11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B294D4-AB3F-7CA0-B533-35BC67706CA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EC54EB88-E381-EA55-0AA4-2CE3EBD7260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604021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04B3C-F212-3114-6EB4-64B85FFEAF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C86F5D-111D-C76D-B6D2-4B8AB038FC0E}"/>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91D6EFF1-7C14-EB5A-F823-87D8DA05DB57}"/>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9841078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A79B7-C5A2-3BD6-0DC1-6F9F88649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5422BA-53AC-73EA-069E-B6BC464FC5DC}"/>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859960EE-5F13-8946-EF31-F2A3353ED9CC}"/>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8204823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6E546-A4B1-F444-86EC-8335CE58E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7E2658-06BD-9082-B3DF-928BDC26724F}"/>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6953250-C5D2-D253-D4A6-E417676F87D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18949274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001F8-5B8E-951C-4F26-3D7E0EF3D6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B93941-2ED1-2B7D-97ED-FCDE0619074B}"/>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0574B27A-C8F0-3EB3-69CD-5969F425A7CB}"/>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24146846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9EAC6-1DA3-09C1-D8F7-82B04D034E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0C1FC5-640B-0173-D32D-B92E08D5E244}"/>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5F6F63D6-0C62-A804-7EEF-367D6083BE55}"/>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1135279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037C2-1D98-8720-1EB1-5A97DDB683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866953F-5381-EEE2-25C4-A04C33B4B249}"/>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D263F636-9C4C-047C-7E74-EF9D87F31E39}"/>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40952044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9D417-5CF5-58ED-9502-47BC775C6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1AF355-CCA3-D9B1-B50F-4384173971F1}"/>
              </a:ext>
            </a:extLst>
          </p:cNvPr>
          <p:cNvSpPr>
            <a:spLocks noGrp="1" noRot="1" noChangeAspect="1"/>
          </p:cNvSpPr>
          <p:nvPr>
            <p:ph type="sldImg" idx="2"/>
          </p:nvPr>
        </p:nvSpPr>
        <p:spPr/>
      </p:sp>
      <p:sp>
        <p:nvSpPr>
          <p:cNvPr id="3" name="Text Placeholder 2">
            <a:extLst>
              <a:ext uri="{FF2B5EF4-FFF2-40B4-BE49-F238E27FC236}">
                <a16:creationId xmlns:a16="http://schemas.microsoft.com/office/drawing/2014/main" id="{6698BC91-0136-CD38-EFD6-01E56386C726}"/>
              </a:ext>
            </a:extLst>
          </p:cNvPr>
          <p:cNvSpPr>
            <a:spLocks noGrp="1"/>
          </p:cNvSpPr>
          <p:nvPr>
            <p:ph type="body" idx="3"/>
          </p:nvPr>
        </p:nvSpPr>
        <p:spPr/>
        <p:txBody>
          <a:bodyPr/>
          <a:lstStyle/>
          <a:p>
            <a:endParaRPr lang="en-US"/>
          </a:p>
        </p:txBody>
      </p:sp>
    </p:spTree>
    <p:extLst>
      <p:ext uri="{BB962C8B-B14F-4D97-AF65-F5344CB8AC3E}">
        <p14:creationId xmlns:p14="http://schemas.microsoft.com/office/powerpoint/2010/main" val="35352943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3/15/2026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3/15/2026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3/15/2026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3/15/2026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3/15/2026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82505" y="1981362"/>
            <a:ext cx="6200241" cy="3225074"/>
            <a:chOff x="0" y="-160655"/>
            <a:chExt cx="8266987" cy="4300099"/>
          </a:xfrm>
        </p:grpSpPr>
        <p:sp>
          <p:nvSpPr>
            <p:cNvPr id="3" name="TextBox 3"/>
            <p:cNvSpPr txBox="1"/>
            <p:nvPr/>
          </p:nvSpPr>
          <p:spPr>
            <a:xfrm>
              <a:off x="0" y="3548259"/>
              <a:ext cx="3020201" cy="591185"/>
            </a:xfrm>
            <a:prstGeom prst="rect">
              <a:avLst/>
            </a:prstGeom>
          </p:spPr>
          <p:txBody>
            <a:bodyPr lIns="0" tIns="0" rIns="0" bIns="0" rtlCol="0" anchor="t">
              <a:spAutoFit/>
            </a:bodyPr>
            <a:lstStyle/>
            <a:p>
              <a:pPr algn="l">
                <a:lnSpc>
                  <a:spcPts val="3780"/>
                </a:lnSpc>
                <a:spcBef>
                  <a:spcPct val="0"/>
                </a:spcBef>
              </a:pPr>
              <a:r>
                <a:rPr lang="en-US" sz="2700" b="1">
                  <a:solidFill>
                    <a:srgbClr val="731F7D"/>
                  </a:solidFill>
                  <a:latin typeface="Halant Medium" panose="00000600000000000000"/>
                  <a:ea typeface="Halant Medium" panose="00000600000000000000"/>
                  <a:cs typeface="Halant Medium" panose="00000600000000000000"/>
                  <a:sym typeface="Halant Medium" panose="00000600000000000000"/>
                </a:rPr>
                <a:t> </a:t>
              </a:r>
              <a:r>
                <a:rPr lang="en-US" sz="2700" b="1">
                  <a:solidFill>
                    <a:srgbClr val="731F7D"/>
                  </a:solidFill>
                  <a:latin typeface="Halant Bold" panose="00000800000000000000"/>
                  <a:ea typeface="Halant Bold" panose="00000800000000000000"/>
                  <a:cs typeface="Halant Bold" panose="00000800000000000000"/>
                  <a:sym typeface="Halant Bold" panose="00000800000000000000"/>
                </a:rPr>
                <a:t>  (CSC101)</a:t>
              </a:r>
            </a:p>
          </p:txBody>
        </p:sp>
        <p:sp>
          <p:nvSpPr>
            <p:cNvPr id="4" name="TextBox 4"/>
            <p:cNvSpPr txBox="1"/>
            <p:nvPr/>
          </p:nvSpPr>
          <p:spPr>
            <a:xfrm>
              <a:off x="183005" y="-160655"/>
              <a:ext cx="8083982" cy="3631353"/>
            </a:xfrm>
            <a:prstGeom prst="rect">
              <a:avLst/>
            </a:prstGeom>
          </p:spPr>
          <p:txBody>
            <a:bodyPr lIns="0" tIns="0" rIns="0" bIns="0" rtlCol="0" anchor="t">
              <a:spAutoFit/>
            </a:bodyPr>
            <a:lstStyle/>
            <a:p>
              <a:pPr algn="l">
                <a:lnSpc>
                  <a:spcPts val="7080"/>
                </a:lnSpc>
              </a:pPr>
              <a:r>
                <a:rPr lang="en-US" sz="6000" b="1" dirty="0">
                  <a:solidFill>
                    <a:srgbClr val="000000"/>
                  </a:solidFill>
                  <a:latin typeface="+mj-lt"/>
                  <a:ea typeface="HK Grotesk Bold" panose="00000800000000000000"/>
                  <a:cs typeface="+mj-lt"/>
                  <a:sym typeface="HK Grotesk Bold" panose="00000800000000000000"/>
                </a:rPr>
                <a:t>Information Communication Technology </a:t>
              </a:r>
            </a:p>
          </p:txBody>
        </p:sp>
      </p:grpSp>
      <p:sp>
        <p:nvSpPr>
          <p:cNvPr id="5" name="Freeform 5"/>
          <p:cNvSpPr/>
          <p:nvPr/>
        </p:nvSpPr>
        <p:spPr>
          <a:xfrm rot="-5550229">
            <a:off x="4207487" y="-1075063"/>
            <a:ext cx="5867962" cy="5088881"/>
          </a:xfrm>
          <a:custGeom>
            <a:avLst/>
            <a:gdLst/>
            <a:ahLst/>
            <a:cxnLst/>
            <a:rect l="l" t="t" r="r" b="b"/>
            <a:pathLst>
              <a:path w="5867962" h="5222486">
                <a:moveTo>
                  <a:pt x="0" y="0"/>
                </a:moveTo>
                <a:lnTo>
                  <a:pt x="5867963" y="0"/>
                </a:lnTo>
                <a:lnTo>
                  <a:pt x="5867963" y="5222487"/>
                </a:lnTo>
                <a:lnTo>
                  <a:pt x="0" y="5222487"/>
                </a:lnTo>
                <a:lnTo>
                  <a:pt x="0" y="0"/>
                </a:lnTo>
                <a:close/>
              </a:path>
            </a:pathLst>
          </a:custGeom>
          <a:blipFill>
            <a:blip r:embed="rId2"/>
            <a:stretch>
              <a:fillRect/>
            </a:stretch>
          </a:blipFill>
        </p:spPr>
      </p:sp>
      <p:sp>
        <p:nvSpPr>
          <p:cNvPr id="6" name="Freeform 6"/>
          <p:cNvSpPr/>
          <p:nvPr/>
        </p:nvSpPr>
        <p:spPr>
          <a:xfrm rot="-5017281">
            <a:off x="3529970" y="912669"/>
            <a:ext cx="1170984" cy="1109507"/>
          </a:xfrm>
          <a:custGeom>
            <a:avLst/>
            <a:gdLst/>
            <a:ahLst/>
            <a:cxnLst/>
            <a:rect l="l" t="t" r="r" b="b"/>
            <a:pathLst>
              <a:path w="1170984" h="1109507">
                <a:moveTo>
                  <a:pt x="0" y="0"/>
                </a:moveTo>
                <a:lnTo>
                  <a:pt x="1170984" y="0"/>
                </a:lnTo>
                <a:lnTo>
                  <a:pt x="1170984" y="1109508"/>
                </a:lnTo>
                <a:lnTo>
                  <a:pt x="0" y="1109508"/>
                </a:lnTo>
                <a:lnTo>
                  <a:pt x="0" y="0"/>
                </a:lnTo>
                <a:close/>
              </a:path>
            </a:pathLst>
          </a:custGeom>
          <a:blipFill>
            <a:blip r:embed="rId3"/>
            <a:stretch>
              <a:fillRect/>
            </a:stretch>
          </a:blipFill>
        </p:spPr>
      </p:sp>
      <p:sp>
        <p:nvSpPr>
          <p:cNvPr id="7" name="Freeform 7"/>
          <p:cNvSpPr/>
          <p:nvPr/>
        </p:nvSpPr>
        <p:spPr>
          <a:xfrm rot="-10567437">
            <a:off x="8110392" y="5055177"/>
            <a:ext cx="2588757" cy="2475499"/>
          </a:xfrm>
          <a:custGeom>
            <a:avLst/>
            <a:gdLst/>
            <a:ahLst/>
            <a:cxnLst/>
            <a:rect l="l" t="t" r="r" b="b"/>
            <a:pathLst>
              <a:path w="2588757" h="2475499">
                <a:moveTo>
                  <a:pt x="0" y="0"/>
                </a:moveTo>
                <a:lnTo>
                  <a:pt x="2588756" y="0"/>
                </a:lnTo>
                <a:lnTo>
                  <a:pt x="2588756" y="2475498"/>
                </a:lnTo>
                <a:lnTo>
                  <a:pt x="0" y="2475498"/>
                </a:lnTo>
                <a:lnTo>
                  <a:pt x="0" y="0"/>
                </a:lnTo>
                <a:close/>
              </a:path>
            </a:pathLst>
          </a:custGeom>
          <a:blipFill>
            <a:blip r:embed="rId4"/>
            <a:stretch>
              <a:fillRect/>
            </a:stretch>
          </a:blipFill>
        </p:spPr>
      </p:sp>
      <p:sp>
        <p:nvSpPr>
          <p:cNvPr id="8" name="TextBox 8"/>
          <p:cNvSpPr txBox="1"/>
          <p:nvPr/>
        </p:nvSpPr>
        <p:spPr>
          <a:xfrm>
            <a:off x="467602" y="5313139"/>
            <a:ext cx="7099307" cy="1454150"/>
          </a:xfrm>
          <a:prstGeom prst="rect">
            <a:avLst/>
          </a:prstGeom>
        </p:spPr>
        <p:txBody>
          <a:bodyPr lIns="0" tIns="0" rIns="0" bIns="0" rtlCol="0" anchor="t">
            <a:spAutoFit/>
          </a:bodyPr>
          <a:lstStyle/>
          <a:p>
            <a:pPr algn="l">
              <a:lnSpc>
                <a:spcPts val="3780"/>
              </a:lnSpc>
            </a:pPr>
            <a:r>
              <a:rPr lang="en-US" sz="2400" b="1" dirty="0">
                <a:solidFill>
                  <a:srgbClr val="731F7D"/>
                </a:solidFill>
                <a:latin typeface="Arial Black" panose="020B0A04020102020204" pitchFamily="34" charset="0"/>
                <a:ea typeface="Halant Bold" panose="00000800000000000000"/>
                <a:cs typeface="Halant Bold" panose="00000800000000000000"/>
                <a:sym typeface="Halant Bold" panose="00000800000000000000"/>
              </a:rPr>
              <a:t>Lecture 7</a:t>
            </a:r>
          </a:p>
          <a:p>
            <a:pPr algn="l">
              <a:lnSpc>
                <a:spcPts val="3780"/>
              </a:lnSpc>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Instructor: Mariam Fiaz</a:t>
            </a:r>
          </a:p>
          <a:p>
            <a:pPr algn="l">
              <a:lnSpc>
                <a:spcPts val="3780"/>
              </a:lnSpc>
              <a:spcBef>
                <a:spcPct val="0"/>
              </a:spcBef>
            </a:pPr>
            <a:r>
              <a:rPr lang="en-US" sz="2700" b="1" dirty="0">
                <a:solidFill>
                  <a:srgbClr val="731F7D"/>
                </a:solidFill>
                <a:latin typeface="Halant Bold" panose="00000800000000000000"/>
                <a:ea typeface="Halant Bold" panose="00000800000000000000"/>
                <a:cs typeface="Halant Bold" panose="00000800000000000000"/>
                <a:sym typeface="Halant Bold" panose="00000800000000000000"/>
              </a:rPr>
              <a:t>email: mariamsherwani434@gmail.com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498132">
            <a:off x="7524355" y="4826078"/>
            <a:ext cx="3828488" cy="4232275"/>
          </a:xfrm>
          <a:custGeom>
            <a:avLst/>
            <a:gdLst/>
            <a:ahLst/>
            <a:cxnLst/>
            <a:rect l="l" t="t" r="r" b="b"/>
            <a:pathLst>
              <a:path w="3828488" h="4232275">
                <a:moveTo>
                  <a:pt x="0" y="0"/>
                </a:moveTo>
                <a:lnTo>
                  <a:pt x="3828488" y="0"/>
                </a:lnTo>
                <a:lnTo>
                  <a:pt x="3828488" y="4232275"/>
                </a:lnTo>
                <a:lnTo>
                  <a:pt x="0" y="4232275"/>
                </a:lnTo>
                <a:lnTo>
                  <a:pt x="0" y="0"/>
                </a:lnTo>
                <a:close/>
              </a:path>
            </a:pathLst>
          </a:custGeom>
          <a:blipFill>
            <a:blip r:embed="rId2"/>
            <a:stretch>
              <a:fillRect r="-381" b="-1174"/>
            </a:stretch>
          </a:blipFill>
        </p:spPr>
      </p:sp>
      <p:sp>
        <p:nvSpPr>
          <p:cNvPr id="3" name="Freeform 3"/>
          <p:cNvSpPr/>
          <p:nvPr/>
        </p:nvSpPr>
        <p:spPr>
          <a:xfrm rot="-2715964">
            <a:off x="5760526" y="5871583"/>
            <a:ext cx="983734" cy="932088"/>
          </a:xfrm>
          <a:custGeom>
            <a:avLst/>
            <a:gdLst/>
            <a:ahLst/>
            <a:cxnLst/>
            <a:rect l="l" t="t" r="r" b="b"/>
            <a:pathLst>
              <a:path w="983734" h="932088">
                <a:moveTo>
                  <a:pt x="0" y="0"/>
                </a:moveTo>
                <a:lnTo>
                  <a:pt x="983734" y="0"/>
                </a:lnTo>
                <a:lnTo>
                  <a:pt x="983734" y="932087"/>
                </a:lnTo>
                <a:lnTo>
                  <a:pt x="0" y="932087"/>
                </a:lnTo>
                <a:lnTo>
                  <a:pt x="0" y="0"/>
                </a:lnTo>
                <a:close/>
              </a:path>
            </a:pathLst>
          </a:custGeom>
          <a:blipFill>
            <a:blip r:embed="rId3"/>
            <a:stretch>
              <a:fillRect/>
            </a:stretch>
          </a:blipFill>
        </p:spPr>
      </p:sp>
      <p:sp>
        <p:nvSpPr>
          <p:cNvPr id="4" name="Freeform 4"/>
          <p:cNvSpPr/>
          <p:nvPr/>
        </p:nvSpPr>
        <p:spPr>
          <a:xfrm rot="-3212463">
            <a:off x="5642474" y="-928349"/>
            <a:ext cx="2866520" cy="3318692"/>
          </a:xfrm>
          <a:custGeom>
            <a:avLst/>
            <a:gdLst/>
            <a:ahLst/>
            <a:cxnLst/>
            <a:rect l="l" t="t" r="r" b="b"/>
            <a:pathLst>
              <a:path w="2866520" h="3318692">
                <a:moveTo>
                  <a:pt x="0" y="0"/>
                </a:moveTo>
                <a:lnTo>
                  <a:pt x="2866520" y="0"/>
                </a:lnTo>
                <a:lnTo>
                  <a:pt x="2866520" y="3318693"/>
                </a:lnTo>
                <a:lnTo>
                  <a:pt x="0" y="3318693"/>
                </a:lnTo>
                <a:lnTo>
                  <a:pt x="0" y="0"/>
                </a:lnTo>
                <a:close/>
              </a:path>
            </a:pathLst>
          </a:custGeom>
          <a:blipFill>
            <a:blip r:embed="rId4"/>
            <a:stretch>
              <a:fillRect/>
            </a:stretch>
          </a:blipFill>
        </p:spPr>
      </p:sp>
      <p:grpSp>
        <p:nvGrpSpPr>
          <p:cNvPr id="5" name="Group 5"/>
          <p:cNvGrpSpPr/>
          <p:nvPr/>
        </p:nvGrpSpPr>
        <p:grpSpPr>
          <a:xfrm>
            <a:off x="457436" y="1752430"/>
            <a:ext cx="9112904" cy="5420388"/>
            <a:chOff x="-40828" y="0"/>
            <a:chExt cx="12150538" cy="7227184"/>
          </a:xfrm>
        </p:grpSpPr>
        <p:sp>
          <p:nvSpPr>
            <p:cNvPr id="6" name="TextBox 6"/>
            <p:cNvSpPr txBox="1"/>
            <p:nvPr/>
          </p:nvSpPr>
          <p:spPr>
            <a:xfrm>
              <a:off x="-40828" y="503147"/>
              <a:ext cx="8342712" cy="1260687"/>
            </a:xfrm>
            <a:prstGeom prst="rect">
              <a:avLst/>
            </a:prstGeom>
          </p:spPr>
          <p:txBody>
            <a:bodyPr lIns="0" tIns="0" rIns="0" bIns="0" rtlCol="0" anchor="t">
              <a:spAutoFit/>
            </a:bodyPr>
            <a:lstStyle/>
            <a:p>
              <a:pPr algn="l">
                <a:lnSpc>
                  <a:spcPts val="7375"/>
                </a:lnSpc>
              </a:pPr>
              <a:r>
                <a:rPr lang="en-US" sz="6250" b="1" dirty="0">
                  <a:solidFill>
                    <a:srgbClr val="FFFFFF"/>
                  </a:solidFill>
                  <a:latin typeface="Calibri" panose="020F0502020204030204" charset="0"/>
                  <a:ea typeface="HK Grotesk Bold" panose="00000800000000000000"/>
                  <a:cs typeface="Calibri" panose="020F0502020204030204" charset="0"/>
                  <a:sym typeface="HK Grotesk Bold" panose="00000800000000000000"/>
                </a:rPr>
                <a:t>Reference Books:</a:t>
              </a:r>
            </a:p>
          </p:txBody>
        </p:sp>
        <p:sp>
          <p:nvSpPr>
            <p:cNvPr id="7" name="TextBox 7"/>
            <p:cNvSpPr txBox="1"/>
            <p:nvPr/>
          </p:nvSpPr>
          <p:spPr>
            <a:xfrm>
              <a:off x="10542219" y="0"/>
              <a:ext cx="1567491" cy="1138744"/>
            </a:xfrm>
            <a:prstGeom prst="rect">
              <a:avLst/>
            </a:prstGeom>
          </p:spPr>
          <p:txBody>
            <a:bodyPr lIns="0" tIns="0" rIns="0" bIns="0" rtlCol="0" anchor="t">
              <a:spAutoFit/>
            </a:bodyPr>
            <a:lstStyle/>
            <a:p>
              <a:pPr marL="0" lvl="0" indent="0" algn="l">
                <a:lnSpc>
                  <a:spcPts val="6635"/>
                </a:lnSpc>
                <a:spcBef>
                  <a:spcPct val="0"/>
                </a:spcBef>
              </a:pPr>
              <a:endParaRPr/>
            </a:p>
          </p:txBody>
        </p:sp>
        <p:sp>
          <p:nvSpPr>
            <p:cNvPr id="8" name="TextBox 8"/>
            <p:cNvSpPr txBox="1"/>
            <p:nvPr/>
          </p:nvSpPr>
          <p:spPr>
            <a:xfrm>
              <a:off x="60421" y="2032000"/>
              <a:ext cx="10667154" cy="5195184"/>
            </a:xfrm>
            <a:prstGeom prst="rect">
              <a:avLst/>
            </a:prstGeom>
          </p:spPr>
          <p:txBody>
            <a:bodyPr wrap="square" lIns="0" tIns="0" rIns="0" bIns="0" rtlCol="0" anchor="t">
              <a:spAutoFit/>
            </a:bodyPr>
            <a:lstStyle/>
            <a:p>
              <a:pPr lvl="1" indent="-457200" algn="just">
                <a:lnSpc>
                  <a:spcPts val="3360"/>
                </a:lnSpc>
                <a:buFont typeface="+mj-lt"/>
                <a:buAutoNum type="arabicPeriod"/>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Understanding Computers: Today and Tomorrow, Comprehensive – Deborah Morley &amp; Charles S. Parker, Cengage Learning, 2017</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Chapters 11, 15)</a:t>
              </a:r>
            </a:p>
            <a:p>
              <a:pPr lvl="1" indent="-457200" algn="just">
                <a:lnSpc>
                  <a:spcPts val="3360"/>
                </a:lnSpc>
                <a:buFont typeface="+mj-lt"/>
                <a:buAutoNum type="arabicPeriod"/>
              </a:pPr>
              <a:r>
                <a:rPr lang="en-US" sz="2400" spc="-24" dirty="0">
                  <a:solidFill>
                    <a:srgbClr val="FFFFFF"/>
                  </a:solidFill>
                  <a:latin typeface="Calibri" panose="020F0502020204030204" charset="0"/>
                  <a:ea typeface="Assistant" panose="00000500000000000000"/>
                  <a:cs typeface="Calibri" panose="020F0502020204030204" charset="0"/>
                  <a:sym typeface="Assistant" panose="00000500000000000000"/>
                </a:rPr>
                <a:t>Computer Science Illuminated – Nell Dale &amp; John Lewis,     Jones &amp; Bartlett Learning, LLC, 2020</a:t>
              </a:r>
              <a:r>
                <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rPr>
                <a:t> (Read Chapter 17)</a:t>
              </a:r>
            </a:p>
            <a:p>
              <a:pPr lvl="1" indent="-457200" algn="just">
                <a:lnSpc>
                  <a:spcPts val="3360"/>
                </a:lnSpc>
                <a:buFont typeface="+mj-lt"/>
                <a:buAutoNum type="arabicPeriod"/>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marL="259080" lvl="1" indent="0" algn="just">
                <a:lnSpc>
                  <a:spcPts val="3360"/>
                </a:lnSpc>
                <a:buNone/>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a:p>
              <a:pPr algn="just">
                <a:lnSpc>
                  <a:spcPts val="3360"/>
                </a:lnSpc>
              </a:pPr>
              <a:endParaRPr lang="en-US" sz="2400" b="1" spc="-24" dirty="0">
                <a:solidFill>
                  <a:srgbClr val="FFFFFF"/>
                </a:solidFill>
                <a:latin typeface="Calibri" panose="020F0502020204030204" charset="0"/>
                <a:ea typeface="Assistant Bold" panose="00000800000000000000"/>
                <a:cs typeface="Calibri" panose="020F0502020204030204" charset="0"/>
                <a:sym typeface="Assistant Bold" panose="0000080000000000000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441584" y="457507"/>
            <a:ext cx="7502435" cy="6296596"/>
          </a:xfrm>
          <a:prstGeom prst="rect">
            <a:avLst/>
          </a:prstGeom>
        </p:spPr>
        <p:txBody>
          <a:bodyPr lIns="0" tIns="0" rIns="0" bIns="0" rtlCol="0" anchor="t">
            <a:spAutoFit/>
          </a:bodyPr>
          <a:lstStyle/>
          <a:p>
            <a:pPr>
              <a:lnSpc>
                <a:spcPts val="5900"/>
              </a:lnSpc>
            </a:pPr>
            <a:r>
              <a:rPr lang="en-US" sz="5000" b="1" dirty="0">
                <a:solidFill>
                  <a:srgbClr val="000000"/>
                </a:solidFill>
                <a:ea typeface="HK Grotesk Bold" panose="00000800000000000000"/>
                <a:cs typeface="Calibri" panose="020F0502020204030204" charset="0"/>
                <a:sym typeface="HK Grotesk Bold" panose="00000800000000000000"/>
              </a:rPr>
              <a:t>Contents</a:t>
            </a:r>
            <a:r>
              <a:rPr lang="en-US" sz="5000" b="1" dirty="0">
                <a:solidFill>
                  <a:srgbClr val="000000"/>
                </a:solidFill>
                <a:ea typeface="HK Grotesk Bold" panose="00000800000000000000"/>
                <a:cs typeface="HK Grotesk Bold" panose="00000800000000000000"/>
                <a:sym typeface="HK Grotesk Bold" panose="00000800000000000000"/>
              </a:rPr>
              <a:t>:</a:t>
            </a:r>
          </a:p>
          <a:p>
            <a:pPr marL="457200" indent="-457200">
              <a:buFont typeface="+mj-lt"/>
              <a:buAutoNum type="arabicPeriod"/>
            </a:pPr>
            <a:r>
              <a:rPr lang="en-US" altLang="en-US" sz="2400" dirty="0"/>
              <a:t>E-Commerce Overview</a:t>
            </a:r>
          </a:p>
          <a:p>
            <a:pPr marL="457200" indent="-457200">
              <a:buFont typeface="+mj-lt"/>
              <a:buAutoNum type="arabicPeriod"/>
            </a:pPr>
            <a:r>
              <a:rPr lang="en-US" altLang="en-US" sz="2400" dirty="0"/>
              <a:t>E-Commerce Basics</a:t>
            </a:r>
          </a:p>
          <a:p>
            <a:pPr marL="457200" indent="-457200">
              <a:buFont typeface="+mj-lt"/>
              <a:buAutoNum type="arabicPeriod"/>
            </a:pPr>
            <a:r>
              <a:rPr lang="en-US" sz="2400" dirty="0"/>
              <a:t>Business Applications of E-Commerce</a:t>
            </a:r>
          </a:p>
          <a:p>
            <a:pPr marL="457200" indent="-457200">
              <a:buFont typeface="+mj-lt"/>
              <a:buAutoNum type="arabicPeriod"/>
            </a:pPr>
            <a:r>
              <a:rPr lang="en-US" sz="2400" dirty="0"/>
              <a:t>Global Trends in E-Commerce</a:t>
            </a:r>
          </a:p>
          <a:p>
            <a:pPr marL="457200" indent="-457200">
              <a:buFont typeface="+mj-lt"/>
              <a:buAutoNum type="arabicPeriod"/>
            </a:pPr>
            <a:r>
              <a:rPr lang="en-US" sz="2400" dirty="0"/>
              <a:t>Impact on Market and Retailers</a:t>
            </a:r>
          </a:p>
          <a:p>
            <a:pPr marL="457200" indent="-457200">
              <a:buFont typeface="+mj-lt"/>
              <a:buAutoNum type="arabicPeriod"/>
            </a:pPr>
            <a:r>
              <a:rPr lang="en-US" sz="2400" dirty="0"/>
              <a:t>Impact on Supply Chain Management</a:t>
            </a:r>
          </a:p>
          <a:p>
            <a:pPr marL="457200" indent="-457200">
              <a:buFont typeface="+mj-lt"/>
              <a:buAutoNum type="arabicPeriod"/>
            </a:pPr>
            <a:r>
              <a:rPr lang="en-US" sz="2400" dirty="0"/>
              <a:t>Impact on Employment</a:t>
            </a:r>
          </a:p>
          <a:p>
            <a:pPr marL="457200" indent="-457200">
              <a:buFont typeface="+mj-lt"/>
              <a:buAutoNum type="arabicPeriod"/>
            </a:pPr>
            <a:r>
              <a:rPr lang="en-US" sz="2400" dirty="0"/>
              <a:t>Impact on Customers</a:t>
            </a:r>
          </a:p>
          <a:p>
            <a:pPr marL="457200" indent="-457200">
              <a:buFont typeface="+mj-lt"/>
              <a:buAutoNum type="arabicPeriod"/>
            </a:pPr>
            <a:r>
              <a:rPr lang="en-US" sz="2400" dirty="0"/>
              <a:t>Impact on Environment</a:t>
            </a:r>
          </a:p>
          <a:p>
            <a:pPr marL="457200" indent="-457200">
              <a:buFont typeface="+mj-lt"/>
              <a:buAutoNum type="arabicPeriod"/>
            </a:pPr>
            <a:r>
              <a:rPr lang="en-US" sz="2400" dirty="0"/>
              <a:t>Impact on Traditional Retail</a:t>
            </a:r>
          </a:p>
          <a:p>
            <a:pPr marL="457200" indent="-457200">
              <a:buFont typeface="+mj-lt"/>
              <a:buAutoNum type="arabicPeriod"/>
            </a:pPr>
            <a:r>
              <a:rPr lang="en-US" sz="2400" dirty="0"/>
              <a:t>Distribution Channels</a:t>
            </a:r>
          </a:p>
          <a:p>
            <a:pPr marL="457200" indent="-457200">
              <a:buFont typeface="+mj-lt"/>
              <a:buAutoNum type="arabicPeriod"/>
            </a:pPr>
            <a:r>
              <a:rPr lang="en-US" sz="2400" dirty="0"/>
              <a:t>Computer System Security</a:t>
            </a:r>
          </a:p>
          <a:p>
            <a:pPr marL="457200" indent="-457200">
              <a:buFont typeface="+mj-lt"/>
              <a:buAutoNum type="arabicPeriod"/>
            </a:pPr>
            <a:r>
              <a:rPr lang="en-US" sz="2400" dirty="0"/>
              <a:t>Privacy</a:t>
            </a:r>
          </a:p>
          <a:p>
            <a:pPr marL="457200" indent="-457200">
              <a:buFont typeface="+mj-lt"/>
              <a:buAutoNum type="arabicPeriod"/>
            </a:pPr>
            <a:r>
              <a:rPr lang="en-US" sz="2400" dirty="0"/>
              <a:t>Security Threats</a:t>
            </a:r>
          </a:p>
          <a:p>
            <a:pPr marL="457200" indent="-457200">
              <a:buFont typeface="+mj-lt"/>
              <a:buAutoNum type="arabicPeriod"/>
            </a:pPr>
            <a:r>
              <a:rPr lang="en-US" sz="2400" dirty="0"/>
              <a:t>Protection Methods</a:t>
            </a:r>
          </a:p>
        </p:txBody>
      </p:sp>
      <p:sp>
        <p:nvSpPr>
          <p:cNvPr id="3" name="Freeform 3"/>
          <p:cNvSpPr/>
          <p:nvPr/>
        </p:nvSpPr>
        <p:spPr>
          <a:xfrm rot="-10141306">
            <a:off x="-2034775" y="4670550"/>
            <a:ext cx="4069550" cy="3891507"/>
          </a:xfrm>
          <a:custGeom>
            <a:avLst/>
            <a:gdLst/>
            <a:ahLst/>
            <a:cxnLst/>
            <a:rect l="l" t="t" r="r" b="b"/>
            <a:pathLst>
              <a:path w="4069550" h="3891507">
                <a:moveTo>
                  <a:pt x="0" y="0"/>
                </a:moveTo>
                <a:lnTo>
                  <a:pt x="4069550" y="0"/>
                </a:lnTo>
                <a:lnTo>
                  <a:pt x="4069550" y="3891507"/>
                </a:lnTo>
                <a:lnTo>
                  <a:pt x="0" y="3891507"/>
                </a:lnTo>
                <a:lnTo>
                  <a:pt x="0" y="0"/>
                </a:lnTo>
                <a:close/>
              </a:path>
            </a:pathLst>
          </a:custGeom>
          <a:blipFill>
            <a:blip r:embed="rId2"/>
            <a:stretch>
              <a:fillRect/>
            </a:stretch>
          </a:blipFill>
        </p:spPr>
      </p:sp>
      <p:sp>
        <p:nvSpPr>
          <p:cNvPr id="6" name="TextBox 6"/>
          <p:cNvSpPr txBox="1"/>
          <p:nvPr/>
        </p:nvSpPr>
        <p:spPr>
          <a:xfrm>
            <a:off x="1285462" y="7507606"/>
            <a:ext cx="7658557" cy="250346"/>
          </a:xfrm>
          <a:prstGeom prst="rect">
            <a:avLst/>
          </a:prstGeom>
        </p:spPr>
        <p:txBody>
          <a:bodyPr lIns="0" tIns="0" rIns="0" bIns="0" rtlCol="0" anchor="t">
            <a:spAutoFit/>
          </a:bodyPr>
          <a:lstStyle/>
          <a:p>
            <a:pPr algn="l">
              <a:lnSpc>
                <a:spcPts val="2145"/>
              </a:lnSpc>
              <a:spcBef>
                <a:spcPct val="0"/>
              </a:spcBef>
            </a:pPr>
            <a:endParaRPr/>
          </a:p>
        </p:txBody>
      </p:sp>
      <p:sp>
        <p:nvSpPr>
          <p:cNvPr id="7" name="Freeform 7"/>
          <p:cNvSpPr/>
          <p:nvPr/>
        </p:nvSpPr>
        <p:spPr>
          <a:xfrm rot="9440951">
            <a:off x="-716899" y="223696"/>
            <a:ext cx="1433798" cy="1358524"/>
          </a:xfrm>
          <a:custGeom>
            <a:avLst/>
            <a:gdLst/>
            <a:ahLst/>
            <a:cxnLst/>
            <a:rect l="l" t="t" r="r" b="b"/>
            <a:pathLst>
              <a:path w="1433798" h="1358524">
                <a:moveTo>
                  <a:pt x="0" y="0"/>
                </a:moveTo>
                <a:lnTo>
                  <a:pt x="1433798" y="0"/>
                </a:lnTo>
                <a:lnTo>
                  <a:pt x="1433798" y="1358523"/>
                </a:lnTo>
                <a:lnTo>
                  <a:pt x="0" y="1358523"/>
                </a:lnTo>
                <a:lnTo>
                  <a:pt x="0" y="0"/>
                </a:lnTo>
                <a:close/>
              </a:path>
            </a:pathLst>
          </a:custGeom>
          <a:blipFill>
            <a:blip r:embed="rId3"/>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p:cNvGrpSpPr/>
          <p:nvPr/>
        </p:nvGrpSpPr>
        <p:grpSpPr>
          <a:xfrm>
            <a:off x="609811" y="533538"/>
            <a:ext cx="8633276" cy="6776736"/>
            <a:chOff x="157480" y="-267335"/>
            <a:chExt cx="11511034" cy="9035642"/>
          </a:xfrm>
        </p:grpSpPr>
        <p:sp>
          <p:nvSpPr>
            <p:cNvPr id="6" name="TextBox 6"/>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E-Commerce Overview:</a:t>
              </a:r>
            </a:p>
          </p:txBody>
        </p:sp>
        <p:sp>
          <p:nvSpPr>
            <p:cNvPr id="7" name="TextBox 7"/>
            <p:cNvSpPr txBox="1"/>
            <p:nvPr/>
          </p:nvSpPr>
          <p:spPr>
            <a:xfrm>
              <a:off x="157480" y="746971"/>
              <a:ext cx="11204787" cy="8021336"/>
            </a:xfrm>
            <a:prstGeom prst="rect">
              <a:avLst/>
            </a:prstGeom>
          </p:spPr>
          <p:txBody>
            <a:bodyPr wrap="square" lIns="0" tIns="0" rIns="0" bIns="0" rtlCol="0" anchor="t">
              <a:spAutoFit/>
            </a:bodyPr>
            <a:lstStyle/>
            <a:p>
              <a:pPr algn="just">
                <a:lnSpc>
                  <a:spcPct val="150000"/>
                </a:lnSpc>
              </a:pPr>
              <a:r>
                <a:rPr lang="en-US" sz="2400" b="1" dirty="0"/>
                <a:t>Definition: </a:t>
              </a:r>
              <a:r>
                <a:rPr lang="en-US" sz="2400" dirty="0"/>
                <a:t>E‑commerce (Electronic Commerce) means buying and selling products or services using the internet. Instead of visiting a physical shop, customers can order products online through websites or mobile apps.</a:t>
              </a:r>
            </a:p>
            <a:p>
              <a:pPr algn="just">
                <a:lnSpc>
                  <a:spcPct val="150000"/>
                </a:lnSpc>
              </a:pPr>
              <a:r>
                <a:rPr lang="en-US" sz="2400" b="1" dirty="0"/>
                <a:t>Examples: </a:t>
              </a:r>
            </a:p>
            <a:p>
              <a:pPr algn="just">
                <a:lnSpc>
                  <a:spcPct val="150000"/>
                </a:lnSpc>
              </a:pPr>
              <a:r>
                <a:rPr lang="en-US" sz="2400" dirty="0"/>
                <a:t>• Online shopping stores </a:t>
              </a:r>
            </a:p>
            <a:p>
              <a:pPr algn="just">
                <a:lnSpc>
                  <a:spcPct val="150000"/>
                </a:lnSpc>
              </a:pPr>
              <a:r>
                <a:rPr lang="en-US" sz="2400" dirty="0"/>
                <a:t>• Online banking </a:t>
              </a:r>
            </a:p>
            <a:p>
              <a:pPr algn="just">
                <a:lnSpc>
                  <a:spcPct val="150000"/>
                </a:lnSpc>
              </a:pPr>
              <a:r>
                <a:rPr lang="en-US" sz="2400" dirty="0"/>
                <a:t>• Buying digital products like software or e‑books</a:t>
              </a:r>
            </a:p>
            <a:p>
              <a:pPr algn="just">
                <a:lnSpc>
                  <a:spcPct val="150000"/>
                </a:lnSpc>
              </a:pPr>
              <a:r>
                <a:rPr lang="en-US" sz="2400" dirty="0"/>
                <a:t>E‑commerce allows businesses to reach customers all over the world.</a:t>
              </a:r>
            </a:p>
            <a:p>
              <a:pPr algn="just">
                <a:lnSpc>
                  <a:spcPct val="150000"/>
                </a:lnSpc>
              </a:pPr>
              <a:endParaRPr lang="en-US" sz="2300"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B7CC2-72FE-407B-D4E1-E103678D4726}"/>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D75EF21-8FCC-D241-0471-D4D4E95E6C52}"/>
              </a:ext>
            </a:extLst>
          </p:cNvPr>
          <p:cNvSpPr/>
          <p:nvPr/>
        </p:nvSpPr>
        <p:spPr>
          <a:xfrm rot="-1100510">
            <a:off x="4118473" y="-409991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3E48B76F-6C50-1857-EB3E-D3B98803B103}"/>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81F653B-E06F-758E-1D77-4292309ADD67}"/>
              </a:ext>
            </a:extLst>
          </p:cNvPr>
          <p:cNvGrpSpPr/>
          <p:nvPr/>
        </p:nvGrpSpPr>
        <p:grpSpPr>
          <a:xfrm>
            <a:off x="609811" y="533538"/>
            <a:ext cx="8633276" cy="6776736"/>
            <a:chOff x="157480" y="-267335"/>
            <a:chExt cx="11511034" cy="9035642"/>
          </a:xfrm>
        </p:grpSpPr>
        <p:sp>
          <p:nvSpPr>
            <p:cNvPr id="6" name="TextBox 6">
              <a:extLst>
                <a:ext uri="{FF2B5EF4-FFF2-40B4-BE49-F238E27FC236}">
                  <a16:creationId xmlns:a16="http://schemas.microsoft.com/office/drawing/2014/main" id="{F81C81D8-D304-2FF9-9CDE-8688F27DF702}"/>
                </a:ext>
              </a:extLst>
            </p:cNvPr>
            <p:cNvSpPr txBox="1"/>
            <p:nvPr/>
          </p:nvSpPr>
          <p:spPr>
            <a:xfrm>
              <a:off x="157480" y="-267335"/>
              <a:ext cx="11511034" cy="10083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E-Commerce Basics:</a:t>
              </a:r>
            </a:p>
          </p:txBody>
        </p:sp>
        <p:sp>
          <p:nvSpPr>
            <p:cNvPr id="7" name="TextBox 7">
              <a:extLst>
                <a:ext uri="{FF2B5EF4-FFF2-40B4-BE49-F238E27FC236}">
                  <a16:creationId xmlns:a16="http://schemas.microsoft.com/office/drawing/2014/main" id="{CEA62A13-9429-E638-4823-FFF477F4BAA8}"/>
                </a:ext>
              </a:extLst>
            </p:cNvPr>
            <p:cNvSpPr txBox="1"/>
            <p:nvPr/>
          </p:nvSpPr>
          <p:spPr>
            <a:xfrm>
              <a:off x="157480" y="746971"/>
              <a:ext cx="11204787" cy="8021336"/>
            </a:xfrm>
            <a:prstGeom prst="rect">
              <a:avLst/>
            </a:prstGeom>
          </p:spPr>
          <p:txBody>
            <a:bodyPr wrap="square" lIns="0" tIns="0" rIns="0" bIns="0" rtlCol="0" anchor="t">
              <a:spAutoFit/>
            </a:bodyPr>
            <a:lstStyle/>
            <a:p>
              <a:pPr algn="just">
                <a:lnSpc>
                  <a:spcPct val="150000"/>
                </a:lnSpc>
              </a:pPr>
              <a:r>
                <a:rPr lang="en-US" sz="2400" dirty="0"/>
                <a:t>For an e‑commerce system to work, several basic components are required:</a:t>
              </a:r>
            </a:p>
            <a:p>
              <a:pPr marL="457200" indent="-457200" algn="just">
                <a:lnSpc>
                  <a:spcPct val="150000"/>
                </a:lnSpc>
                <a:buFont typeface="+mj-lt"/>
                <a:buAutoNum type="arabicPeriod"/>
              </a:pPr>
              <a:r>
                <a:rPr lang="en-US" sz="2400" b="1" dirty="0"/>
                <a:t>Online Store / Website</a:t>
              </a:r>
              <a:r>
                <a:rPr lang="en-US" sz="2400" dirty="0"/>
                <a:t> A website or app where products are displayed and customers place orders.</a:t>
              </a:r>
            </a:p>
            <a:p>
              <a:pPr marL="457200" indent="-457200" algn="just">
                <a:lnSpc>
                  <a:spcPct val="150000"/>
                </a:lnSpc>
                <a:buFont typeface="+mj-lt"/>
                <a:buAutoNum type="arabicPeriod"/>
              </a:pPr>
              <a:r>
                <a:rPr lang="en-US" sz="2400" b="1" dirty="0"/>
                <a:t>Electronic Payment Systems</a:t>
              </a:r>
              <a:r>
                <a:rPr lang="en-US" sz="2400" dirty="0"/>
                <a:t> Customers pay online using digital payment methods such as: </a:t>
              </a:r>
            </a:p>
            <a:p>
              <a:pPr algn="just">
                <a:lnSpc>
                  <a:spcPct val="150000"/>
                </a:lnSpc>
              </a:pPr>
              <a:r>
                <a:rPr lang="en-US" sz="2400" dirty="0"/>
                <a:t>      • Credit cards • Debit cards • Mobile wallets • Online banking</a:t>
              </a:r>
            </a:p>
            <a:p>
              <a:pPr marL="457200" indent="-457200" algn="just">
                <a:lnSpc>
                  <a:spcPct val="150000"/>
                </a:lnSpc>
                <a:buFont typeface="+mj-lt"/>
                <a:buAutoNum type="arabicPeriod"/>
              </a:pPr>
              <a:r>
                <a:rPr lang="en-US" sz="2400" b="1" dirty="0"/>
                <a:t>Order Processing and Delivery</a:t>
              </a:r>
              <a:r>
                <a:rPr lang="en-US" sz="2400" dirty="0"/>
                <a:t> After the payment is confirmed, the company processes the order and delivers the product to the customer either physically or digitally.</a:t>
              </a:r>
            </a:p>
            <a:p>
              <a:pPr algn="just">
                <a:lnSpc>
                  <a:spcPct val="150000"/>
                </a:lnSpc>
              </a:pPr>
              <a:endParaRPr lang="en-US" sz="2300" dirty="0"/>
            </a:p>
          </p:txBody>
        </p:sp>
      </p:grpSp>
    </p:spTree>
    <p:extLst>
      <p:ext uri="{BB962C8B-B14F-4D97-AF65-F5344CB8AC3E}">
        <p14:creationId xmlns:p14="http://schemas.microsoft.com/office/powerpoint/2010/main" val="264337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55D79-582B-A45D-07D8-7C3F99B102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7B54F39-1872-CCC2-2A8D-DC7F4FE4D123}"/>
              </a:ext>
            </a:extLst>
          </p:cNvPr>
          <p:cNvSpPr/>
          <p:nvPr/>
        </p:nvSpPr>
        <p:spPr>
          <a:xfrm rot="-1100510">
            <a:off x="4596659" y="-4273996"/>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47FCF6E9-B75D-C2B4-7527-1BFB6F0CD7AE}"/>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D36F75B8-32DB-BCFC-3E0B-D1310719F7B6}"/>
              </a:ext>
            </a:extLst>
          </p:cNvPr>
          <p:cNvGrpSpPr/>
          <p:nvPr/>
        </p:nvGrpSpPr>
        <p:grpSpPr>
          <a:xfrm>
            <a:off x="609811" y="533538"/>
            <a:ext cx="8633276" cy="6378350"/>
            <a:chOff x="157480" y="-267335"/>
            <a:chExt cx="11511034" cy="8504460"/>
          </a:xfrm>
        </p:grpSpPr>
        <p:sp>
          <p:nvSpPr>
            <p:cNvPr id="6" name="TextBox 6">
              <a:extLst>
                <a:ext uri="{FF2B5EF4-FFF2-40B4-BE49-F238E27FC236}">
                  <a16:creationId xmlns:a16="http://schemas.microsoft.com/office/drawing/2014/main" id="{C4AA3D99-F7A1-60EB-AEAD-2049457BD109}"/>
                </a:ext>
              </a:extLst>
            </p:cNvPr>
            <p:cNvSpPr txBox="1"/>
            <p:nvPr/>
          </p:nvSpPr>
          <p:spPr>
            <a:xfrm>
              <a:off x="157480" y="-267335"/>
              <a:ext cx="11511034" cy="19820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Business Applications of </a:t>
              </a:r>
            </a:p>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     E-Commerce:</a:t>
              </a:r>
            </a:p>
          </p:txBody>
        </p:sp>
        <p:sp>
          <p:nvSpPr>
            <p:cNvPr id="7" name="TextBox 7">
              <a:extLst>
                <a:ext uri="{FF2B5EF4-FFF2-40B4-BE49-F238E27FC236}">
                  <a16:creationId xmlns:a16="http://schemas.microsoft.com/office/drawing/2014/main" id="{84E5F1A8-7559-501B-4C9D-C446A08D9C10}"/>
                </a:ext>
              </a:extLst>
            </p:cNvPr>
            <p:cNvSpPr txBox="1"/>
            <p:nvPr/>
          </p:nvSpPr>
          <p:spPr>
            <a:xfrm>
              <a:off x="157480" y="1665501"/>
              <a:ext cx="11204787" cy="6571624"/>
            </a:xfrm>
            <a:prstGeom prst="rect">
              <a:avLst/>
            </a:prstGeom>
          </p:spPr>
          <p:txBody>
            <a:bodyPr wrap="square" lIns="0" tIns="0" rIns="0" bIns="0" rtlCol="0" anchor="t">
              <a:spAutoFit/>
            </a:bodyPr>
            <a:lstStyle/>
            <a:p>
              <a:pPr algn="just">
                <a:lnSpc>
                  <a:spcPct val="150000"/>
                </a:lnSpc>
              </a:pPr>
              <a:r>
                <a:rPr lang="en-US" sz="2400" dirty="0"/>
                <a:t>Businesses use e‑commerce in many different areas such as:</a:t>
              </a:r>
            </a:p>
            <a:p>
              <a:pPr marL="457200" indent="-457200" algn="just">
                <a:lnSpc>
                  <a:spcPct val="150000"/>
                </a:lnSpc>
                <a:buFont typeface="+mj-lt"/>
                <a:buAutoNum type="arabicPeriod"/>
              </a:pPr>
              <a:r>
                <a:rPr lang="en-US" sz="2400" b="1" dirty="0"/>
                <a:t>Online Retail: </a:t>
              </a:r>
              <a:r>
                <a:rPr lang="en-US" sz="2400" dirty="0"/>
                <a:t>Companies sell products directly to customers through online stores.</a:t>
              </a:r>
            </a:p>
            <a:p>
              <a:pPr marL="457200" indent="-457200" algn="just">
                <a:lnSpc>
                  <a:spcPct val="150000"/>
                </a:lnSpc>
                <a:buFont typeface="+mj-lt"/>
                <a:buAutoNum type="arabicPeriod"/>
              </a:pPr>
              <a:r>
                <a:rPr lang="en-US" sz="2400" b="1" dirty="0"/>
                <a:t>Online Banking: </a:t>
              </a:r>
              <a:r>
                <a:rPr lang="en-US" sz="2400" dirty="0"/>
                <a:t>Customers can transfer money, check balances, and pay bills online.</a:t>
              </a:r>
            </a:p>
            <a:p>
              <a:pPr marL="457200" indent="-457200" algn="just">
                <a:lnSpc>
                  <a:spcPct val="150000"/>
                </a:lnSpc>
                <a:buFont typeface="+mj-lt"/>
                <a:buAutoNum type="arabicPeriod"/>
              </a:pPr>
              <a:r>
                <a:rPr lang="en-US" sz="2400" b="1" dirty="0"/>
                <a:t>Online Ticketing: </a:t>
              </a:r>
              <a:r>
                <a:rPr lang="en-US" sz="2400" dirty="0"/>
                <a:t>People can buy airline, train, or event tickets through websites.</a:t>
              </a:r>
            </a:p>
            <a:p>
              <a:pPr marL="457200" indent="-457200" algn="just">
                <a:lnSpc>
                  <a:spcPct val="150000"/>
                </a:lnSpc>
                <a:buFont typeface="+mj-lt"/>
                <a:buAutoNum type="arabicPeriod"/>
              </a:pPr>
              <a:r>
                <a:rPr lang="en-US" sz="2400" b="1" dirty="0"/>
                <a:t>Digital Products: </a:t>
              </a:r>
              <a:r>
                <a:rPr lang="en-US" sz="2400" dirty="0"/>
                <a:t>Products such as software, games, music, and e‑books can be downloaded directly from the internet.</a:t>
              </a:r>
            </a:p>
          </p:txBody>
        </p:sp>
      </p:grpSp>
    </p:spTree>
    <p:extLst>
      <p:ext uri="{BB962C8B-B14F-4D97-AF65-F5344CB8AC3E}">
        <p14:creationId xmlns:p14="http://schemas.microsoft.com/office/powerpoint/2010/main" val="15336703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448F1-3FB4-4EE7-187C-CD3B364FE5E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4EB57B-749C-45F7-0EF2-A491D993618D}"/>
              </a:ext>
            </a:extLst>
          </p:cNvPr>
          <p:cNvSpPr/>
          <p:nvPr/>
        </p:nvSpPr>
        <p:spPr>
          <a:xfrm rot="-1100510">
            <a:off x="4672860" y="-4349520"/>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FA396482-0FA8-E440-D822-527FF8622807}"/>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19CD70A6-564C-175B-7402-F326078AD486}"/>
              </a:ext>
            </a:extLst>
          </p:cNvPr>
          <p:cNvGrpSpPr/>
          <p:nvPr/>
        </p:nvGrpSpPr>
        <p:grpSpPr>
          <a:xfrm>
            <a:off x="609811" y="533538"/>
            <a:ext cx="8633276" cy="5115469"/>
            <a:chOff x="157480" y="-267335"/>
            <a:chExt cx="11511034" cy="6820618"/>
          </a:xfrm>
        </p:grpSpPr>
        <p:sp>
          <p:nvSpPr>
            <p:cNvPr id="6" name="TextBox 6">
              <a:extLst>
                <a:ext uri="{FF2B5EF4-FFF2-40B4-BE49-F238E27FC236}">
                  <a16:creationId xmlns:a16="http://schemas.microsoft.com/office/drawing/2014/main" id="{D90011B7-9001-878D-7393-680D3B8FAAA6}"/>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Global Trends in E-Commerce:</a:t>
              </a:r>
            </a:p>
          </p:txBody>
        </p:sp>
        <p:sp>
          <p:nvSpPr>
            <p:cNvPr id="7" name="TextBox 7">
              <a:extLst>
                <a:ext uri="{FF2B5EF4-FFF2-40B4-BE49-F238E27FC236}">
                  <a16:creationId xmlns:a16="http://schemas.microsoft.com/office/drawing/2014/main" id="{139FF4F0-FDB6-6CDB-6991-555A6047B4ED}"/>
                </a:ext>
              </a:extLst>
            </p:cNvPr>
            <p:cNvSpPr txBox="1"/>
            <p:nvPr/>
          </p:nvSpPr>
          <p:spPr>
            <a:xfrm>
              <a:off x="244404" y="720324"/>
              <a:ext cx="11204787" cy="5832959"/>
            </a:xfrm>
            <a:prstGeom prst="rect">
              <a:avLst/>
            </a:prstGeom>
          </p:spPr>
          <p:txBody>
            <a:bodyPr wrap="square" lIns="0" tIns="0" rIns="0" bIns="0" rtlCol="0" anchor="t">
              <a:spAutoFit/>
            </a:bodyPr>
            <a:lstStyle/>
            <a:p>
              <a:pPr algn="just">
                <a:lnSpc>
                  <a:spcPct val="150000"/>
                </a:lnSpc>
              </a:pPr>
              <a:r>
                <a:rPr lang="en-US" sz="2400" dirty="0"/>
                <a:t>E‑commerce is growing rapidly around the world. Some important trends include: </a:t>
              </a:r>
            </a:p>
            <a:p>
              <a:pPr algn="just">
                <a:lnSpc>
                  <a:spcPct val="150000"/>
                </a:lnSpc>
              </a:pPr>
              <a:r>
                <a:rPr lang="en-US" sz="2400" dirty="0"/>
                <a:t>• Increase in mobile shopping (m‑commerce).</a:t>
              </a:r>
            </a:p>
            <a:p>
              <a:pPr algn="just">
                <a:lnSpc>
                  <a:spcPct val="150000"/>
                </a:lnSpc>
              </a:pPr>
              <a:r>
                <a:rPr lang="en-US" sz="2400" dirty="0"/>
                <a:t>• Growth of digital payment systems.</a:t>
              </a:r>
            </a:p>
            <a:p>
              <a:pPr algn="just">
                <a:lnSpc>
                  <a:spcPct val="150000"/>
                </a:lnSpc>
              </a:pPr>
              <a:r>
                <a:rPr lang="en-US" sz="2400" dirty="0"/>
                <a:t>• Expansion of global online marketplaces.</a:t>
              </a:r>
            </a:p>
            <a:p>
              <a:pPr algn="just">
                <a:lnSpc>
                  <a:spcPct val="150000"/>
                </a:lnSpc>
              </a:pPr>
              <a:r>
                <a:rPr lang="en-US" sz="2400" dirty="0"/>
                <a:t>• Shopping through social media platforms.</a:t>
              </a:r>
            </a:p>
            <a:p>
              <a:pPr algn="just">
                <a:lnSpc>
                  <a:spcPct val="150000"/>
                </a:lnSpc>
              </a:pPr>
              <a:r>
                <a:rPr lang="en-US" sz="2400" dirty="0"/>
                <a:t>These trends show that online business is becoming an important part of the global economy.</a:t>
              </a:r>
            </a:p>
          </p:txBody>
        </p:sp>
      </p:grpSp>
    </p:spTree>
    <p:extLst>
      <p:ext uri="{BB962C8B-B14F-4D97-AF65-F5344CB8AC3E}">
        <p14:creationId xmlns:p14="http://schemas.microsoft.com/office/powerpoint/2010/main" val="24098564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17CDB-35AC-B153-88BF-D28A050236F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78A13A3-CAF6-65C0-A081-D9EECD270782}"/>
              </a:ext>
            </a:extLst>
          </p:cNvPr>
          <p:cNvSpPr/>
          <p:nvPr/>
        </p:nvSpPr>
        <p:spPr>
          <a:xfrm rot="-1100510">
            <a:off x="4749059" y="-445776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84C818EF-455D-A1DF-F33A-B5DF4F57D286}"/>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D84EA24A-7094-1606-0E49-1E1D40AD3393}"/>
              </a:ext>
            </a:extLst>
          </p:cNvPr>
          <p:cNvGrpSpPr/>
          <p:nvPr/>
        </p:nvGrpSpPr>
        <p:grpSpPr>
          <a:xfrm>
            <a:off x="609811" y="609600"/>
            <a:ext cx="8633276" cy="3758932"/>
            <a:chOff x="157480" y="-165919"/>
            <a:chExt cx="11511034" cy="5011905"/>
          </a:xfrm>
        </p:grpSpPr>
        <p:sp>
          <p:nvSpPr>
            <p:cNvPr id="6" name="TextBox 6">
              <a:extLst>
                <a:ext uri="{FF2B5EF4-FFF2-40B4-BE49-F238E27FC236}">
                  <a16:creationId xmlns:a16="http://schemas.microsoft.com/office/drawing/2014/main" id="{C682D36B-C793-5DE4-F8A5-9CCA2D4F8E00}"/>
                </a:ext>
              </a:extLst>
            </p:cNvPr>
            <p:cNvSpPr txBox="1"/>
            <p:nvPr/>
          </p:nvSpPr>
          <p:spPr>
            <a:xfrm>
              <a:off x="157480" y="-165919"/>
              <a:ext cx="11511034" cy="19820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E-Commerce Impact on Market</a:t>
              </a:r>
            </a:p>
            <a:p>
              <a:pPr algn="l">
                <a:lnSpc>
                  <a:spcPts val="5900"/>
                </a:lnSpc>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     and Retailers:</a:t>
              </a:r>
            </a:p>
          </p:txBody>
        </p:sp>
        <p:sp>
          <p:nvSpPr>
            <p:cNvPr id="7" name="TextBox 7">
              <a:extLst>
                <a:ext uri="{FF2B5EF4-FFF2-40B4-BE49-F238E27FC236}">
                  <a16:creationId xmlns:a16="http://schemas.microsoft.com/office/drawing/2014/main" id="{53F98E76-63C2-A690-6B88-C31B8FBF1C92}"/>
                </a:ext>
              </a:extLst>
            </p:cNvPr>
            <p:cNvSpPr txBox="1"/>
            <p:nvPr/>
          </p:nvSpPr>
          <p:spPr>
            <a:xfrm>
              <a:off x="157480" y="1967679"/>
              <a:ext cx="11511034" cy="2878307"/>
            </a:xfrm>
            <a:prstGeom prst="rect">
              <a:avLst/>
            </a:prstGeom>
          </p:spPr>
          <p:txBody>
            <a:bodyPr wrap="square" lIns="0" tIns="0" rIns="0" bIns="0" rtlCol="0" anchor="t">
              <a:spAutoFit/>
            </a:bodyPr>
            <a:lstStyle/>
            <a:p>
              <a:pPr algn="just">
                <a:lnSpc>
                  <a:spcPct val="150000"/>
                </a:lnSpc>
              </a:pPr>
              <a:r>
                <a:rPr lang="en-US" sz="2400" dirty="0"/>
                <a:t>E‑commerce has changed the traditional market structure.</a:t>
              </a:r>
            </a:p>
            <a:p>
              <a:pPr algn="just">
                <a:lnSpc>
                  <a:spcPct val="150000"/>
                </a:lnSpc>
              </a:pPr>
              <a:r>
                <a:rPr lang="en-US" sz="2400" dirty="0"/>
                <a:t>Retailers can now sell products to customers worldwide instead of only local customers. However, traditional physical stores face strong competition from online businesses.</a:t>
              </a:r>
            </a:p>
          </p:txBody>
        </p:sp>
      </p:grpSp>
    </p:spTree>
    <p:extLst>
      <p:ext uri="{BB962C8B-B14F-4D97-AF65-F5344CB8AC3E}">
        <p14:creationId xmlns:p14="http://schemas.microsoft.com/office/powerpoint/2010/main" val="39828042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AB3A7-5B4C-B689-A640-FB005F1C632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F224008-8675-13B6-B2A7-F2003054CBCC}"/>
              </a:ext>
            </a:extLst>
          </p:cNvPr>
          <p:cNvSpPr/>
          <p:nvPr/>
        </p:nvSpPr>
        <p:spPr>
          <a:xfrm rot="-1100510">
            <a:off x="4749059" y="-445776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558C06A2-E785-2834-DC5E-1C8C0046D1B6}"/>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50BCF594-7BD2-C75E-33B0-2710F99F4617}"/>
              </a:ext>
            </a:extLst>
          </p:cNvPr>
          <p:cNvGrpSpPr/>
          <p:nvPr/>
        </p:nvGrpSpPr>
        <p:grpSpPr>
          <a:xfrm>
            <a:off x="609811" y="533538"/>
            <a:ext cx="8633276" cy="5420792"/>
            <a:chOff x="157480" y="-267335"/>
            <a:chExt cx="11511034" cy="7227713"/>
          </a:xfrm>
        </p:grpSpPr>
        <p:sp>
          <p:nvSpPr>
            <p:cNvPr id="6" name="TextBox 6">
              <a:extLst>
                <a:ext uri="{FF2B5EF4-FFF2-40B4-BE49-F238E27FC236}">
                  <a16:creationId xmlns:a16="http://schemas.microsoft.com/office/drawing/2014/main" id="{409B6CF3-9C96-109E-159B-E245A5263520}"/>
                </a:ext>
              </a:extLst>
            </p:cNvPr>
            <p:cNvSpPr txBox="1"/>
            <p:nvPr/>
          </p:nvSpPr>
          <p:spPr>
            <a:xfrm>
              <a:off x="157480" y="-267335"/>
              <a:ext cx="11511034" cy="1982080"/>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E-Commerce Impact on Supply Chain Management:</a:t>
              </a:r>
            </a:p>
          </p:txBody>
        </p:sp>
        <p:sp>
          <p:nvSpPr>
            <p:cNvPr id="7" name="TextBox 7">
              <a:extLst>
                <a:ext uri="{FF2B5EF4-FFF2-40B4-BE49-F238E27FC236}">
                  <a16:creationId xmlns:a16="http://schemas.microsoft.com/office/drawing/2014/main" id="{A73A1452-37E2-5FFA-3179-7B8ABD2E3B43}"/>
                </a:ext>
              </a:extLst>
            </p:cNvPr>
            <p:cNvSpPr txBox="1"/>
            <p:nvPr/>
          </p:nvSpPr>
          <p:spPr>
            <a:xfrm>
              <a:off x="310603" y="1866078"/>
              <a:ext cx="11204787" cy="5094300"/>
            </a:xfrm>
            <a:prstGeom prst="rect">
              <a:avLst/>
            </a:prstGeom>
          </p:spPr>
          <p:txBody>
            <a:bodyPr wrap="square" lIns="0" tIns="0" rIns="0" bIns="0" rtlCol="0" anchor="t">
              <a:spAutoFit/>
            </a:bodyPr>
            <a:lstStyle/>
            <a:p>
              <a:pPr algn="just">
                <a:lnSpc>
                  <a:spcPct val="150000"/>
                </a:lnSpc>
              </a:pPr>
              <a:r>
                <a:rPr lang="en-US" sz="2400" dirty="0"/>
                <a:t>Supply chain management refers to the process of moving products from manufacturers to customers.</a:t>
              </a:r>
            </a:p>
            <a:p>
              <a:pPr algn="just">
                <a:lnSpc>
                  <a:spcPct val="150000"/>
                </a:lnSpc>
              </a:pPr>
              <a:r>
                <a:rPr lang="en-US" sz="2400" b="1" dirty="0"/>
                <a:t>E‑commerce improves supply chain management by: </a:t>
              </a:r>
            </a:p>
            <a:p>
              <a:pPr algn="just">
                <a:lnSpc>
                  <a:spcPct val="150000"/>
                </a:lnSpc>
              </a:pPr>
              <a:r>
                <a:rPr lang="en-US" sz="2400" dirty="0"/>
                <a:t>• Using automated warehouses.</a:t>
              </a:r>
            </a:p>
            <a:p>
              <a:pPr algn="just">
                <a:lnSpc>
                  <a:spcPct val="150000"/>
                </a:lnSpc>
              </a:pPr>
              <a:r>
                <a:rPr lang="en-US" sz="2400" dirty="0"/>
                <a:t>• Managing inventory in real time .</a:t>
              </a:r>
            </a:p>
            <a:p>
              <a:pPr algn="just">
                <a:lnSpc>
                  <a:spcPct val="150000"/>
                </a:lnSpc>
              </a:pPr>
              <a:r>
                <a:rPr lang="en-US" sz="2400" dirty="0"/>
                <a:t>• Providing faster delivery services.</a:t>
              </a:r>
            </a:p>
            <a:p>
              <a:pPr algn="just">
                <a:lnSpc>
                  <a:spcPct val="150000"/>
                </a:lnSpc>
              </a:pPr>
              <a:endParaRPr lang="en-US" sz="2400" dirty="0"/>
            </a:p>
          </p:txBody>
        </p:sp>
      </p:grpSp>
    </p:spTree>
    <p:extLst>
      <p:ext uri="{BB962C8B-B14F-4D97-AF65-F5344CB8AC3E}">
        <p14:creationId xmlns:p14="http://schemas.microsoft.com/office/powerpoint/2010/main" val="33010027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1C20A-862A-4478-A289-2F5CC96C70F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1CC5D83-7196-AD7E-C035-BD2A0895A8F0}"/>
              </a:ext>
            </a:extLst>
          </p:cNvPr>
          <p:cNvSpPr/>
          <p:nvPr/>
        </p:nvSpPr>
        <p:spPr>
          <a:xfrm rot="-1100510">
            <a:off x="4749059" y="-445776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A20D3BD8-F350-F93B-754B-C28E29380697}"/>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1B291F05-60F8-1787-2EE1-077598ACD98E}"/>
              </a:ext>
            </a:extLst>
          </p:cNvPr>
          <p:cNvGrpSpPr/>
          <p:nvPr/>
        </p:nvGrpSpPr>
        <p:grpSpPr>
          <a:xfrm>
            <a:off x="609811" y="533538"/>
            <a:ext cx="8633276" cy="5420787"/>
            <a:chOff x="157480" y="-267335"/>
            <a:chExt cx="11511034" cy="7227708"/>
          </a:xfrm>
        </p:grpSpPr>
        <p:sp>
          <p:nvSpPr>
            <p:cNvPr id="6" name="TextBox 6">
              <a:extLst>
                <a:ext uri="{FF2B5EF4-FFF2-40B4-BE49-F238E27FC236}">
                  <a16:creationId xmlns:a16="http://schemas.microsoft.com/office/drawing/2014/main" id="{F6124DEC-DEBF-B691-5FD6-B731DA750C60}"/>
                </a:ext>
              </a:extLst>
            </p:cNvPr>
            <p:cNvSpPr txBox="1"/>
            <p:nvPr/>
          </p:nvSpPr>
          <p:spPr>
            <a:xfrm>
              <a:off x="157480" y="-267335"/>
              <a:ext cx="11511034" cy="1982079"/>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E-Commerce Impact on Employment:</a:t>
              </a:r>
            </a:p>
          </p:txBody>
        </p:sp>
        <p:sp>
          <p:nvSpPr>
            <p:cNvPr id="7" name="TextBox 7">
              <a:extLst>
                <a:ext uri="{FF2B5EF4-FFF2-40B4-BE49-F238E27FC236}">
                  <a16:creationId xmlns:a16="http://schemas.microsoft.com/office/drawing/2014/main" id="{4FAF239A-93B7-EB6F-5F80-17B07DB477A4}"/>
                </a:ext>
              </a:extLst>
            </p:cNvPr>
            <p:cNvSpPr txBox="1"/>
            <p:nvPr/>
          </p:nvSpPr>
          <p:spPr>
            <a:xfrm>
              <a:off x="157480" y="1866078"/>
              <a:ext cx="11511034" cy="5094295"/>
            </a:xfrm>
            <a:prstGeom prst="rect">
              <a:avLst/>
            </a:prstGeom>
          </p:spPr>
          <p:txBody>
            <a:bodyPr wrap="square" lIns="0" tIns="0" rIns="0" bIns="0" rtlCol="0" anchor="t">
              <a:spAutoFit/>
            </a:bodyPr>
            <a:lstStyle/>
            <a:p>
              <a:pPr algn="just">
                <a:lnSpc>
                  <a:spcPct val="150000"/>
                </a:lnSpc>
              </a:pPr>
              <a:r>
                <a:rPr lang="en-US" sz="2400" dirty="0"/>
                <a:t>E‑commerce has created new job opportunities but has also reduced some traditional retail jobs.</a:t>
              </a:r>
            </a:p>
            <a:p>
              <a:pPr algn="just">
                <a:lnSpc>
                  <a:spcPct val="150000"/>
                </a:lnSpc>
              </a:pPr>
              <a:r>
                <a:rPr lang="en-US" sz="2400" b="1" dirty="0"/>
                <a:t>New jobs created by e‑commerce include: </a:t>
              </a:r>
            </a:p>
            <a:p>
              <a:pPr algn="just">
                <a:lnSpc>
                  <a:spcPct val="150000"/>
                </a:lnSpc>
              </a:pPr>
              <a:r>
                <a:rPr lang="en-US" sz="2400" dirty="0"/>
                <a:t>• Web developers </a:t>
              </a:r>
            </a:p>
            <a:p>
              <a:pPr algn="just">
                <a:lnSpc>
                  <a:spcPct val="150000"/>
                </a:lnSpc>
              </a:pPr>
              <a:r>
                <a:rPr lang="en-US" sz="2400" dirty="0"/>
                <a:t>• Digital marketing specialists </a:t>
              </a:r>
            </a:p>
            <a:p>
              <a:pPr algn="just">
                <a:lnSpc>
                  <a:spcPct val="150000"/>
                </a:lnSpc>
              </a:pPr>
              <a:r>
                <a:rPr lang="en-US" sz="2400" dirty="0"/>
                <a:t>• Warehouse workers </a:t>
              </a:r>
            </a:p>
            <a:p>
              <a:pPr algn="just">
                <a:lnSpc>
                  <a:spcPct val="150000"/>
                </a:lnSpc>
              </a:pPr>
              <a:r>
                <a:rPr lang="en-US" sz="2400" dirty="0"/>
                <a:t>• Delivery and logistics staff</a:t>
              </a:r>
            </a:p>
          </p:txBody>
        </p:sp>
      </p:grpSp>
    </p:spTree>
    <p:extLst>
      <p:ext uri="{BB962C8B-B14F-4D97-AF65-F5344CB8AC3E}">
        <p14:creationId xmlns:p14="http://schemas.microsoft.com/office/powerpoint/2010/main" val="33379074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3C9E4-1951-0C61-FF6B-664D77355F9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7941249-57E3-4B0B-42DE-3D0DBBB9F997}"/>
              </a:ext>
            </a:extLst>
          </p:cNvPr>
          <p:cNvSpPr/>
          <p:nvPr/>
        </p:nvSpPr>
        <p:spPr>
          <a:xfrm rot="-1100510">
            <a:off x="4749059" y="-445776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929B2526-CE78-6791-55CF-B427951B2F19}"/>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6D1EA75F-1730-B709-4464-7F3B9C8CDB63}"/>
              </a:ext>
            </a:extLst>
          </p:cNvPr>
          <p:cNvGrpSpPr/>
          <p:nvPr/>
        </p:nvGrpSpPr>
        <p:grpSpPr>
          <a:xfrm>
            <a:off x="609811" y="533538"/>
            <a:ext cx="8633276" cy="4866790"/>
            <a:chOff x="157480" y="-267335"/>
            <a:chExt cx="11511034" cy="6489047"/>
          </a:xfrm>
        </p:grpSpPr>
        <p:sp>
          <p:nvSpPr>
            <p:cNvPr id="6" name="TextBox 6">
              <a:extLst>
                <a:ext uri="{FF2B5EF4-FFF2-40B4-BE49-F238E27FC236}">
                  <a16:creationId xmlns:a16="http://schemas.microsoft.com/office/drawing/2014/main" id="{0C6683E0-AAA4-C299-FE02-F72612C7009C}"/>
                </a:ext>
              </a:extLst>
            </p:cNvPr>
            <p:cNvSpPr txBox="1"/>
            <p:nvPr/>
          </p:nvSpPr>
          <p:spPr>
            <a:xfrm>
              <a:off x="157480" y="-267335"/>
              <a:ext cx="11511034" cy="1982079"/>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E-Commerce Impact on Customers:</a:t>
              </a:r>
            </a:p>
          </p:txBody>
        </p:sp>
        <p:sp>
          <p:nvSpPr>
            <p:cNvPr id="7" name="TextBox 7">
              <a:extLst>
                <a:ext uri="{FF2B5EF4-FFF2-40B4-BE49-F238E27FC236}">
                  <a16:creationId xmlns:a16="http://schemas.microsoft.com/office/drawing/2014/main" id="{73832097-53C9-F01C-0C1B-9A9F96B61BDE}"/>
                </a:ext>
              </a:extLst>
            </p:cNvPr>
            <p:cNvSpPr txBox="1"/>
            <p:nvPr/>
          </p:nvSpPr>
          <p:spPr>
            <a:xfrm>
              <a:off x="157480" y="1866079"/>
              <a:ext cx="11511034" cy="4355633"/>
            </a:xfrm>
            <a:prstGeom prst="rect">
              <a:avLst/>
            </a:prstGeom>
          </p:spPr>
          <p:txBody>
            <a:bodyPr wrap="square" lIns="0" tIns="0" rIns="0" bIns="0" rtlCol="0" anchor="t">
              <a:spAutoFit/>
            </a:bodyPr>
            <a:lstStyle/>
            <a:p>
              <a:pPr algn="just">
                <a:lnSpc>
                  <a:spcPct val="150000"/>
                </a:lnSpc>
              </a:pPr>
              <a:r>
                <a:rPr lang="en-US" sz="2400" dirty="0"/>
                <a:t>E‑commerce provides many benefits to customers.</a:t>
              </a:r>
            </a:p>
            <a:p>
              <a:pPr algn="just">
                <a:lnSpc>
                  <a:spcPct val="150000"/>
                </a:lnSpc>
              </a:pPr>
              <a:r>
                <a:rPr lang="en-US" sz="2400" b="1" dirty="0"/>
                <a:t>Advantages for customers: </a:t>
              </a:r>
            </a:p>
            <a:p>
              <a:pPr algn="just">
                <a:lnSpc>
                  <a:spcPct val="150000"/>
                </a:lnSpc>
              </a:pPr>
              <a:r>
                <a:rPr lang="en-US" sz="2400" dirty="0"/>
                <a:t>• Shopping anytime (24/7 availability) </a:t>
              </a:r>
            </a:p>
            <a:p>
              <a:pPr algn="just">
                <a:lnSpc>
                  <a:spcPct val="150000"/>
                </a:lnSpc>
              </a:pPr>
              <a:r>
                <a:rPr lang="en-US" sz="2400" dirty="0"/>
                <a:t>• Wide variety of products </a:t>
              </a:r>
            </a:p>
            <a:p>
              <a:pPr algn="just">
                <a:lnSpc>
                  <a:spcPct val="150000"/>
                </a:lnSpc>
              </a:pPr>
              <a:r>
                <a:rPr lang="en-US" sz="2400" dirty="0"/>
                <a:t>• Easy comparison of prices </a:t>
              </a:r>
            </a:p>
            <a:p>
              <a:pPr algn="just">
                <a:lnSpc>
                  <a:spcPct val="150000"/>
                </a:lnSpc>
              </a:pPr>
              <a:r>
                <a:rPr lang="en-US" sz="2400" dirty="0"/>
                <a:t>• Home delivery convenience</a:t>
              </a:r>
            </a:p>
          </p:txBody>
        </p:sp>
      </p:grpSp>
    </p:spTree>
    <p:extLst>
      <p:ext uri="{BB962C8B-B14F-4D97-AF65-F5344CB8AC3E}">
        <p14:creationId xmlns:p14="http://schemas.microsoft.com/office/powerpoint/2010/main" val="1110751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04C31-4CDC-FF23-C916-0CF9435DBBB2}"/>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4BFABE2-1C9D-7637-7AB3-919031D065D7}"/>
              </a:ext>
            </a:extLst>
          </p:cNvPr>
          <p:cNvSpPr/>
          <p:nvPr/>
        </p:nvSpPr>
        <p:spPr>
          <a:xfrm rot="-1100510">
            <a:off x="4749059" y="-445776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CEBCE921-01B5-71FA-B10D-7F973F4F186D}"/>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A98BE40D-7A03-216E-F207-9D895291F408}"/>
              </a:ext>
            </a:extLst>
          </p:cNvPr>
          <p:cNvGrpSpPr/>
          <p:nvPr/>
        </p:nvGrpSpPr>
        <p:grpSpPr>
          <a:xfrm>
            <a:off x="609811" y="533538"/>
            <a:ext cx="8633276" cy="5420788"/>
            <a:chOff x="157480" y="-267335"/>
            <a:chExt cx="11511034" cy="7227710"/>
          </a:xfrm>
        </p:grpSpPr>
        <p:sp>
          <p:nvSpPr>
            <p:cNvPr id="6" name="TextBox 6">
              <a:extLst>
                <a:ext uri="{FF2B5EF4-FFF2-40B4-BE49-F238E27FC236}">
                  <a16:creationId xmlns:a16="http://schemas.microsoft.com/office/drawing/2014/main" id="{C2079F3C-B198-97CA-C4C6-CA52F517FE2B}"/>
                </a:ext>
              </a:extLst>
            </p:cNvPr>
            <p:cNvSpPr txBox="1"/>
            <p:nvPr/>
          </p:nvSpPr>
          <p:spPr>
            <a:xfrm>
              <a:off x="157480" y="-267335"/>
              <a:ext cx="11511034" cy="1982079"/>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E-Commerce Impact on Environment:</a:t>
              </a:r>
            </a:p>
          </p:txBody>
        </p:sp>
        <p:sp>
          <p:nvSpPr>
            <p:cNvPr id="7" name="TextBox 7">
              <a:extLst>
                <a:ext uri="{FF2B5EF4-FFF2-40B4-BE49-F238E27FC236}">
                  <a16:creationId xmlns:a16="http://schemas.microsoft.com/office/drawing/2014/main" id="{6B696FAF-9461-25DF-3455-FDF9092BB3C3}"/>
                </a:ext>
              </a:extLst>
            </p:cNvPr>
            <p:cNvSpPr txBox="1"/>
            <p:nvPr/>
          </p:nvSpPr>
          <p:spPr>
            <a:xfrm>
              <a:off x="157480" y="1866079"/>
              <a:ext cx="11511034" cy="5094296"/>
            </a:xfrm>
            <a:prstGeom prst="rect">
              <a:avLst/>
            </a:prstGeom>
          </p:spPr>
          <p:txBody>
            <a:bodyPr wrap="square" lIns="0" tIns="0" rIns="0" bIns="0" rtlCol="0" anchor="t">
              <a:spAutoFit/>
            </a:bodyPr>
            <a:lstStyle/>
            <a:p>
              <a:pPr algn="just">
                <a:lnSpc>
                  <a:spcPct val="150000"/>
                </a:lnSpc>
              </a:pPr>
              <a:r>
                <a:rPr lang="en-US" sz="2400" dirty="0"/>
                <a:t>E‑commerce affects the environment in both positive and negative ways.</a:t>
              </a:r>
            </a:p>
            <a:p>
              <a:pPr algn="just">
                <a:lnSpc>
                  <a:spcPct val="150000"/>
                </a:lnSpc>
              </a:pPr>
              <a:r>
                <a:rPr lang="en-US" sz="2400" b="1" dirty="0"/>
                <a:t>Positive effects: </a:t>
              </a:r>
            </a:p>
            <a:p>
              <a:pPr algn="just">
                <a:lnSpc>
                  <a:spcPct val="150000"/>
                </a:lnSpc>
              </a:pPr>
              <a:r>
                <a:rPr lang="en-US" sz="2400" dirty="0"/>
                <a:t>• Less travel to physical stores</a:t>
              </a:r>
            </a:p>
            <a:p>
              <a:pPr algn="just">
                <a:lnSpc>
                  <a:spcPct val="150000"/>
                </a:lnSpc>
              </a:pPr>
              <a:r>
                <a:rPr lang="en-US" sz="2400" b="1" dirty="0"/>
                <a:t>Negative effects: </a:t>
              </a:r>
            </a:p>
            <a:p>
              <a:pPr algn="just">
                <a:lnSpc>
                  <a:spcPct val="150000"/>
                </a:lnSpc>
              </a:pPr>
              <a:r>
                <a:rPr lang="en-US" sz="2400" dirty="0"/>
                <a:t>• Increased packaging waste </a:t>
              </a:r>
            </a:p>
            <a:p>
              <a:pPr algn="just">
                <a:lnSpc>
                  <a:spcPct val="150000"/>
                </a:lnSpc>
              </a:pPr>
              <a:r>
                <a:rPr lang="en-US" sz="2400" dirty="0"/>
                <a:t>• More transportation for deliveries</a:t>
              </a:r>
            </a:p>
          </p:txBody>
        </p:sp>
      </p:grpSp>
    </p:spTree>
    <p:extLst>
      <p:ext uri="{BB962C8B-B14F-4D97-AF65-F5344CB8AC3E}">
        <p14:creationId xmlns:p14="http://schemas.microsoft.com/office/powerpoint/2010/main" val="2059876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FB434-8852-49E4-3587-8C59CB885B83}"/>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248D055-F4B9-7086-08C9-15AFB20A738F}"/>
              </a:ext>
            </a:extLst>
          </p:cNvPr>
          <p:cNvSpPr/>
          <p:nvPr/>
        </p:nvSpPr>
        <p:spPr>
          <a:xfrm rot="-1100510">
            <a:off x="4596659" y="-44257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E3150474-4108-F7EA-8EBD-807EBA0D0C08}"/>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306B3D40-10F7-DDC8-0B6B-7E6BD51EBC5E}"/>
              </a:ext>
            </a:extLst>
          </p:cNvPr>
          <p:cNvGrpSpPr/>
          <p:nvPr/>
        </p:nvGrpSpPr>
        <p:grpSpPr>
          <a:xfrm>
            <a:off x="609811" y="533538"/>
            <a:ext cx="8633276" cy="3643125"/>
            <a:chOff x="157480" y="-267335"/>
            <a:chExt cx="11511034" cy="4857496"/>
          </a:xfrm>
        </p:grpSpPr>
        <p:sp>
          <p:nvSpPr>
            <p:cNvPr id="6" name="TextBox 6">
              <a:extLst>
                <a:ext uri="{FF2B5EF4-FFF2-40B4-BE49-F238E27FC236}">
                  <a16:creationId xmlns:a16="http://schemas.microsoft.com/office/drawing/2014/main" id="{A51F2559-B0AB-1F77-4D57-F2EC3B1DAD29}"/>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Impact on Traditional Retail:</a:t>
              </a:r>
            </a:p>
          </p:txBody>
        </p:sp>
        <p:sp>
          <p:nvSpPr>
            <p:cNvPr id="7" name="TextBox 7">
              <a:extLst>
                <a:ext uri="{FF2B5EF4-FFF2-40B4-BE49-F238E27FC236}">
                  <a16:creationId xmlns:a16="http://schemas.microsoft.com/office/drawing/2014/main" id="{734FD850-8186-0C01-08E2-9E3A4E6A4530}"/>
                </a:ext>
              </a:extLst>
            </p:cNvPr>
            <p:cNvSpPr txBox="1"/>
            <p:nvPr/>
          </p:nvSpPr>
          <p:spPr>
            <a:xfrm>
              <a:off x="244404" y="850080"/>
              <a:ext cx="11204787" cy="3740081"/>
            </a:xfrm>
            <a:prstGeom prst="rect">
              <a:avLst/>
            </a:prstGeom>
          </p:spPr>
          <p:txBody>
            <a:bodyPr wrap="square" lIns="0" tIns="0" rIns="0" bIns="0" rtlCol="0" anchor="t">
              <a:spAutoFit/>
            </a:bodyPr>
            <a:lstStyle/>
            <a:p>
              <a:pPr algn="just">
                <a:lnSpc>
                  <a:spcPct val="150000"/>
                </a:lnSpc>
              </a:pPr>
              <a:r>
                <a:rPr lang="en-US" sz="2400" dirty="0"/>
                <a:t>Online stores create strong competition for traditional retail shops.</a:t>
              </a:r>
            </a:p>
            <a:p>
              <a:pPr algn="just">
                <a:lnSpc>
                  <a:spcPct val="150000"/>
                </a:lnSpc>
              </a:pPr>
              <a:r>
                <a:rPr lang="en-US" sz="2400" dirty="0"/>
                <a:t>Many traditional retailers now combine physical stores with online services.</a:t>
              </a:r>
            </a:p>
            <a:p>
              <a:pPr algn="just">
                <a:lnSpc>
                  <a:spcPct val="150000"/>
                </a:lnSpc>
              </a:pPr>
              <a:r>
                <a:rPr lang="en-US" sz="2800" b="1" dirty="0"/>
                <a:t>Example: </a:t>
              </a:r>
            </a:p>
            <a:p>
              <a:pPr algn="just">
                <a:lnSpc>
                  <a:spcPct val="150000"/>
                </a:lnSpc>
              </a:pPr>
              <a:r>
                <a:rPr lang="en-US" sz="2400" dirty="0"/>
                <a:t>Customers can order online and pick up the product from the store.</a:t>
              </a:r>
            </a:p>
          </p:txBody>
        </p:sp>
      </p:grpSp>
    </p:spTree>
    <p:extLst>
      <p:ext uri="{BB962C8B-B14F-4D97-AF65-F5344CB8AC3E}">
        <p14:creationId xmlns:p14="http://schemas.microsoft.com/office/powerpoint/2010/main" val="3648348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F7FC87-9EFB-96FE-9E95-4EB78AA0C75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CE8288F-4262-5212-A2FB-51ACC380E987}"/>
              </a:ext>
            </a:extLst>
          </p:cNvPr>
          <p:cNvSpPr/>
          <p:nvPr/>
        </p:nvSpPr>
        <p:spPr>
          <a:xfrm rot="-1100510">
            <a:off x="4596659" y="-44257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53351D58-BA4D-BC07-C530-F4BD17B820BF}"/>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CA013A10-1DD8-3E60-E72D-E5772CE5B198}"/>
              </a:ext>
            </a:extLst>
          </p:cNvPr>
          <p:cNvGrpSpPr/>
          <p:nvPr/>
        </p:nvGrpSpPr>
        <p:grpSpPr>
          <a:xfrm>
            <a:off x="609811" y="533538"/>
            <a:ext cx="8633276" cy="5212786"/>
            <a:chOff x="157480" y="-267335"/>
            <a:chExt cx="11511034" cy="6950376"/>
          </a:xfrm>
        </p:grpSpPr>
        <p:sp>
          <p:nvSpPr>
            <p:cNvPr id="6" name="TextBox 6">
              <a:extLst>
                <a:ext uri="{FF2B5EF4-FFF2-40B4-BE49-F238E27FC236}">
                  <a16:creationId xmlns:a16="http://schemas.microsoft.com/office/drawing/2014/main" id="{C08CD5A1-705D-41FA-6AE0-054B77F4BB66}"/>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Distribution Channels:</a:t>
              </a:r>
            </a:p>
          </p:txBody>
        </p:sp>
        <p:sp>
          <p:nvSpPr>
            <p:cNvPr id="7" name="TextBox 7">
              <a:extLst>
                <a:ext uri="{FF2B5EF4-FFF2-40B4-BE49-F238E27FC236}">
                  <a16:creationId xmlns:a16="http://schemas.microsoft.com/office/drawing/2014/main" id="{4F68DBE1-6E34-E6B2-2B4E-AE9B90E5412C}"/>
                </a:ext>
              </a:extLst>
            </p:cNvPr>
            <p:cNvSpPr txBox="1"/>
            <p:nvPr/>
          </p:nvSpPr>
          <p:spPr>
            <a:xfrm>
              <a:off x="244404" y="850080"/>
              <a:ext cx="11204787" cy="5832961"/>
            </a:xfrm>
            <a:prstGeom prst="rect">
              <a:avLst/>
            </a:prstGeom>
          </p:spPr>
          <p:txBody>
            <a:bodyPr wrap="square" lIns="0" tIns="0" rIns="0" bIns="0" rtlCol="0" anchor="t">
              <a:spAutoFit/>
            </a:bodyPr>
            <a:lstStyle/>
            <a:p>
              <a:pPr algn="just">
                <a:lnSpc>
                  <a:spcPct val="150000"/>
                </a:lnSpc>
              </a:pPr>
              <a:r>
                <a:rPr lang="en-US" sz="2400" dirty="0"/>
                <a:t>A distribution channel is the path that a product follows from the producer to the final customer.</a:t>
              </a:r>
            </a:p>
            <a:p>
              <a:pPr algn="just">
                <a:lnSpc>
                  <a:spcPct val="150000"/>
                </a:lnSpc>
              </a:pPr>
              <a:r>
                <a:rPr lang="en-US" sz="2400" b="1" dirty="0"/>
                <a:t>1)   Traditional Distribution Channel:</a:t>
              </a:r>
            </a:p>
            <a:p>
              <a:pPr algn="just">
                <a:lnSpc>
                  <a:spcPct val="150000"/>
                </a:lnSpc>
              </a:pPr>
              <a:r>
                <a:rPr lang="en-US" sz="2400" b="1" dirty="0"/>
                <a:t>       </a:t>
              </a:r>
              <a:r>
                <a:rPr lang="en-US" sz="2400" dirty="0"/>
                <a:t>Manufacturer → Wholesaler → Retailer → Customer</a:t>
              </a:r>
            </a:p>
            <a:p>
              <a:pPr algn="just">
                <a:lnSpc>
                  <a:spcPct val="150000"/>
                </a:lnSpc>
              </a:pPr>
              <a:r>
                <a:rPr lang="en-US" sz="2400" b="1" dirty="0"/>
                <a:t>2)   E‑Commerce Distribution Channel:</a:t>
              </a:r>
            </a:p>
            <a:p>
              <a:pPr algn="just">
                <a:lnSpc>
                  <a:spcPct val="150000"/>
                </a:lnSpc>
              </a:pPr>
              <a:r>
                <a:rPr lang="en-US" sz="2400" b="1" dirty="0"/>
                <a:t>       </a:t>
              </a:r>
              <a:r>
                <a:rPr lang="en-US" sz="2400" dirty="0"/>
                <a:t>Manufacturer → Online Store → Customer</a:t>
              </a:r>
            </a:p>
            <a:p>
              <a:pPr algn="just">
                <a:lnSpc>
                  <a:spcPct val="150000"/>
                </a:lnSpc>
              </a:pPr>
              <a:r>
                <a:rPr lang="en-US" sz="2400" dirty="0"/>
                <a:t>E‑commerce usually shortens the distribution channel, which reduces costs and delivery time.</a:t>
              </a:r>
            </a:p>
          </p:txBody>
        </p:sp>
      </p:grpSp>
    </p:spTree>
    <p:extLst>
      <p:ext uri="{BB962C8B-B14F-4D97-AF65-F5344CB8AC3E}">
        <p14:creationId xmlns:p14="http://schemas.microsoft.com/office/powerpoint/2010/main" val="4194854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D8538-C4AB-93FE-549D-F8578CD9B73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14E71B-0547-65B4-E994-6952FA0D47A5}"/>
              </a:ext>
            </a:extLst>
          </p:cNvPr>
          <p:cNvSpPr/>
          <p:nvPr/>
        </p:nvSpPr>
        <p:spPr>
          <a:xfrm rot="-1100510">
            <a:off x="4520458" y="-4349521"/>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A74055EF-C9B9-94E8-6FD6-39C02164BA4D}"/>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A537D904-5C60-9364-7EDC-C84C7EDF2E35}"/>
              </a:ext>
            </a:extLst>
          </p:cNvPr>
          <p:cNvGrpSpPr/>
          <p:nvPr/>
        </p:nvGrpSpPr>
        <p:grpSpPr>
          <a:xfrm>
            <a:off x="609811" y="533538"/>
            <a:ext cx="8633276" cy="2996794"/>
            <a:chOff x="157480" y="-267335"/>
            <a:chExt cx="11511034" cy="3995722"/>
          </a:xfrm>
        </p:grpSpPr>
        <p:sp>
          <p:nvSpPr>
            <p:cNvPr id="6" name="TextBox 6">
              <a:extLst>
                <a:ext uri="{FF2B5EF4-FFF2-40B4-BE49-F238E27FC236}">
                  <a16:creationId xmlns:a16="http://schemas.microsoft.com/office/drawing/2014/main" id="{E6F33B8C-6519-2BB0-4B4E-25D7C25ED012}"/>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Computer System Security:</a:t>
              </a:r>
            </a:p>
          </p:txBody>
        </p:sp>
        <p:sp>
          <p:nvSpPr>
            <p:cNvPr id="7" name="TextBox 7">
              <a:extLst>
                <a:ext uri="{FF2B5EF4-FFF2-40B4-BE49-F238E27FC236}">
                  <a16:creationId xmlns:a16="http://schemas.microsoft.com/office/drawing/2014/main" id="{1B017616-19B7-9DF9-49A0-08A9E8157ED1}"/>
                </a:ext>
              </a:extLst>
            </p:cNvPr>
            <p:cNvSpPr txBox="1"/>
            <p:nvPr/>
          </p:nvSpPr>
          <p:spPr>
            <a:xfrm>
              <a:off x="244404" y="850080"/>
              <a:ext cx="11204787" cy="2878307"/>
            </a:xfrm>
            <a:prstGeom prst="rect">
              <a:avLst/>
            </a:prstGeom>
          </p:spPr>
          <p:txBody>
            <a:bodyPr wrap="square" lIns="0" tIns="0" rIns="0" bIns="0" rtlCol="0" anchor="t">
              <a:spAutoFit/>
            </a:bodyPr>
            <a:lstStyle/>
            <a:p>
              <a:pPr algn="just">
                <a:lnSpc>
                  <a:spcPct val="150000"/>
                </a:lnSpc>
              </a:pPr>
              <a:r>
                <a:rPr lang="en-US" sz="2400" dirty="0"/>
                <a:t>Computer system </a:t>
              </a:r>
              <a:r>
                <a:rPr lang="en-US" sz="2400" b="1" dirty="0"/>
                <a:t>security</a:t>
              </a:r>
              <a:r>
                <a:rPr lang="en-US" sz="2400" dirty="0"/>
                <a:t> means protecting computers, networks, and data from unauthorized access, theft, damage, or misuse.</a:t>
              </a:r>
            </a:p>
            <a:p>
              <a:pPr algn="just">
                <a:lnSpc>
                  <a:spcPct val="150000"/>
                </a:lnSpc>
              </a:pPr>
              <a:r>
                <a:rPr lang="en-US" sz="2400" dirty="0"/>
                <a:t>The </a:t>
              </a:r>
              <a:r>
                <a:rPr lang="en-US" sz="2400" b="1" dirty="0"/>
                <a:t>main purpose </a:t>
              </a:r>
              <a:r>
                <a:rPr lang="en-US" sz="2400" dirty="0"/>
                <a:t>of security is to ensure that computer systems remain safe, reliable, and accessible only to authorized users.</a:t>
              </a:r>
            </a:p>
          </p:txBody>
        </p:sp>
      </p:grpSp>
    </p:spTree>
    <p:extLst>
      <p:ext uri="{BB962C8B-B14F-4D97-AF65-F5344CB8AC3E}">
        <p14:creationId xmlns:p14="http://schemas.microsoft.com/office/powerpoint/2010/main" val="2709394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767A9-7155-9132-3936-48926CAC3DE4}"/>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579C1E7-2974-23AD-1ECC-0843D341BAB4}"/>
              </a:ext>
            </a:extLst>
          </p:cNvPr>
          <p:cNvSpPr/>
          <p:nvPr/>
        </p:nvSpPr>
        <p:spPr>
          <a:xfrm rot="-1100510">
            <a:off x="4596659" y="-461953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1C21A822-C445-E9D7-6F57-B370E0B4C11F}"/>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96061EE4-F22D-362F-48C0-DEFD937B378C}"/>
              </a:ext>
            </a:extLst>
          </p:cNvPr>
          <p:cNvGrpSpPr/>
          <p:nvPr/>
        </p:nvGrpSpPr>
        <p:grpSpPr>
          <a:xfrm>
            <a:off x="609811" y="533538"/>
            <a:ext cx="8633276" cy="6320781"/>
            <a:chOff x="157480" y="-267335"/>
            <a:chExt cx="11511034" cy="8427699"/>
          </a:xfrm>
        </p:grpSpPr>
        <p:sp>
          <p:nvSpPr>
            <p:cNvPr id="6" name="TextBox 6">
              <a:extLst>
                <a:ext uri="{FF2B5EF4-FFF2-40B4-BE49-F238E27FC236}">
                  <a16:creationId xmlns:a16="http://schemas.microsoft.com/office/drawing/2014/main" id="{5C3508BA-517D-E091-21D0-E7208333A2C1}"/>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Computer System Privacy:</a:t>
              </a:r>
            </a:p>
          </p:txBody>
        </p:sp>
        <p:sp>
          <p:nvSpPr>
            <p:cNvPr id="7" name="TextBox 7">
              <a:extLst>
                <a:ext uri="{FF2B5EF4-FFF2-40B4-BE49-F238E27FC236}">
                  <a16:creationId xmlns:a16="http://schemas.microsoft.com/office/drawing/2014/main" id="{DBF74463-3609-D196-3415-CDCD36A055B2}"/>
                </a:ext>
              </a:extLst>
            </p:cNvPr>
            <p:cNvSpPr txBox="1"/>
            <p:nvPr/>
          </p:nvSpPr>
          <p:spPr>
            <a:xfrm>
              <a:off x="244404" y="850080"/>
              <a:ext cx="11204787" cy="7310284"/>
            </a:xfrm>
            <a:prstGeom prst="rect">
              <a:avLst/>
            </a:prstGeom>
          </p:spPr>
          <p:txBody>
            <a:bodyPr wrap="square" lIns="0" tIns="0" rIns="0" bIns="0" rtlCol="0" anchor="t">
              <a:spAutoFit/>
            </a:bodyPr>
            <a:lstStyle/>
            <a:p>
              <a:pPr algn="just">
                <a:lnSpc>
                  <a:spcPct val="150000"/>
                </a:lnSpc>
              </a:pPr>
              <a:r>
                <a:rPr lang="en-US" sz="2400" b="1" dirty="0"/>
                <a:t>Privacy</a:t>
              </a:r>
              <a:r>
                <a:rPr lang="en-US" sz="2400" dirty="0"/>
                <a:t> refers to protecting personal and sensitive information from being accessed or used without permission.</a:t>
              </a:r>
            </a:p>
            <a:p>
              <a:pPr algn="just">
                <a:lnSpc>
                  <a:spcPct val="150000"/>
                </a:lnSpc>
              </a:pPr>
              <a:r>
                <a:rPr lang="en-US" sz="2400" b="1" dirty="0"/>
                <a:t>Examples of private information include: </a:t>
              </a:r>
            </a:p>
            <a:p>
              <a:pPr algn="just">
                <a:lnSpc>
                  <a:spcPct val="150000"/>
                </a:lnSpc>
              </a:pPr>
              <a:r>
                <a:rPr lang="en-US" sz="2400" dirty="0"/>
                <a:t>• Passwords </a:t>
              </a:r>
            </a:p>
            <a:p>
              <a:pPr algn="just">
                <a:lnSpc>
                  <a:spcPct val="150000"/>
                </a:lnSpc>
              </a:pPr>
              <a:r>
                <a:rPr lang="en-US" sz="2400" dirty="0"/>
                <a:t>• Financial information </a:t>
              </a:r>
            </a:p>
            <a:p>
              <a:pPr algn="just">
                <a:lnSpc>
                  <a:spcPct val="150000"/>
                </a:lnSpc>
              </a:pPr>
              <a:r>
                <a:rPr lang="en-US" sz="2400" dirty="0"/>
                <a:t>• Personal messages </a:t>
              </a:r>
            </a:p>
            <a:p>
              <a:pPr algn="just">
                <a:lnSpc>
                  <a:spcPct val="150000"/>
                </a:lnSpc>
              </a:pPr>
              <a:r>
                <a:rPr lang="en-US" sz="2400" dirty="0"/>
                <a:t>• Medical records</a:t>
              </a:r>
            </a:p>
            <a:p>
              <a:pPr algn="just">
                <a:lnSpc>
                  <a:spcPct val="150000"/>
                </a:lnSpc>
              </a:pPr>
              <a:r>
                <a:rPr lang="en-US" sz="2400" dirty="0"/>
                <a:t>Organizations must protect user privacy when collecting and storing data.</a:t>
              </a:r>
            </a:p>
            <a:p>
              <a:pPr algn="just">
                <a:lnSpc>
                  <a:spcPct val="150000"/>
                </a:lnSpc>
              </a:pPr>
              <a:endParaRPr lang="en-US" sz="2400" dirty="0"/>
            </a:p>
          </p:txBody>
        </p:sp>
      </p:grpSp>
    </p:spTree>
    <p:extLst>
      <p:ext uri="{BB962C8B-B14F-4D97-AF65-F5344CB8AC3E}">
        <p14:creationId xmlns:p14="http://schemas.microsoft.com/office/powerpoint/2010/main" val="28857956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59BB0-A595-6925-D76E-4487AABA3B3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6A39A699-A8F6-6D4A-B798-206E94F97734}"/>
              </a:ext>
            </a:extLst>
          </p:cNvPr>
          <p:cNvSpPr/>
          <p:nvPr/>
        </p:nvSpPr>
        <p:spPr>
          <a:xfrm rot="-1100510">
            <a:off x="4596659" y="-461953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28339120-9727-4F83-C406-8110535F1F8D}"/>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2774DCBE-62D0-49F6-4B43-C575B962B5FD}"/>
              </a:ext>
            </a:extLst>
          </p:cNvPr>
          <p:cNvGrpSpPr/>
          <p:nvPr/>
        </p:nvGrpSpPr>
        <p:grpSpPr>
          <a:xfrm>
            <a:off x="609811" y="533538"/>
            <a:ext cx="8633276" cy="6320781"/>
            <a:chOff x="157480" y="-267335"/>
            <a:chExt cx="11511034" cy="8427698"/>
          </a:xfrm>
        </p:grpSpPr>
        <p:sp>
          <p:nvSpPr>
            <p:cNvPr id="6" name="TextBox 6">
              <a:extLst>
                <a:ext uri="{FF2B5EF4-FFF2-40B4-BE49-F238E27FC236}">
                  <a16:creationId xmlns:a16="http://schemas.microsoft.com/office/drawing/2014/main" id="{DA9D99F4-B7CC-9D5A-2D24-A03E27F009F3}"/>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Security Threats:</a:t>
              </a:r>
            </a:p>
          </p:txBody>
        </p:sp>
        <p:sp>
          <p:nvSpPr>
            <p:cNvPr id="7" name="TextBox 7">
              <a:extLst>
                <a:ext uri="{FF2B5EF4-FFF2-40B4-BE49-F238E27FC236}">
                  <a16:creationId xmlns:a16="http://schemas.microsoft.com/office/drawing/2014/main" id="{F1C28B90-E2B3-BEDC-CC0F-FE8A5FFB31E7}"/>
                </a:ext>
              </a:extLst>
            </p:cNvPr>
            <p:cNvSpPr txBox="1"/>
            <p:nvPr/>
          </p:nvSpPr>
          <p:spPr>
            <a:xfrm>
              <a:off x="244404" y="850080"/>
              <a:ext cx="11204787" cy="7310283"/>
            </a:xfrm>
            <a:prstGeom prst="rect">
              <a:avLst/>
            </a:prstGeom>
          </p:spPr>
          <p:txBody>
            <a:bodyPr wrap="square" lIns="0" tIns="0" rIns="0" bIns="0" rtlCol="0" anchor="t">
              <a:spAutoFit/>
            </a:bodyPr>
            <a:lstStyle/>
            <a:p>
              <a:pPr algn="just">
                <a:lnSpc>
                  <a:spcPct val="150000"/>
                </a:lnSpc>
              </a:pPr>
              <a:r>
                <a:rPr lang="en-US" sz="2400" dirty="0"/>
                <a:t>Computer systems can face several types of security threats.</a:t>
              </a:r>
            </a:p>
            <a:p>
              <a:pPr marL="457200" indent="-457200" algn="just">
                <a:lnSpc>
                  <a:spcPct val="150000"/>
                </a:lnSpc>
                <a:buAutoNum type="arabicPeriod"/>
              </a:pPr>
              <a:r>
                <a:rPr lang="en-US" sz="2400" b="1" dirty="0"/>
                <a:t>Hacking:</a:t>
              </a:r>
            </a:p>
            <a:p>
              <a:pPr algn="just">
                <a:lnSpc>
                  <a:spcPct val="150000"/>
                </a:lnSpc>
              </a:pPr>
              <a:r>
                <a:rPr lang="en-US" sz="2400" dirty="0"/>
                <a:t>Unauthorized access to computer systems or networks.</a:t>
              </a:r>
            </a:p>
            <a:p>
              <a:pPr marL="457200" indent="-457200" algn="just">
                <a:lnSpc>
                  <a:spcPct val="150000"/>
                </a:lnSpc>
                <a:buAutoNum type="arabicPeriod" startAt="2"/>
              </a:pPr>
              <a:r>
                <a:rPr lang="en-US" sz="2400" b="1" dirty="0"/>
                <a:t>Malware:</a:t>
              </a:r>
            </a:p>
            <a:p>
              <a:pPr algn="just">
                <a:lnSpc>
                  <a:spcPct val="150000"/>
                </a:lnSpc>
              </a:pPr>
              <a:r>
                <a:rPr lang="en-US" sz="2400" dirty="0"/>
                <a:t>Malicious software designed to damage systems or steal information. </a:t>
              </a:r>
            </a:p>
            <a:p>
              <a:pPr algn="just">
                <a:lnSpc>
                  <a:spcPct val="150000"/>
                </a:lnSpc>
              </a:pPr>
              <a:r>
                <a:rPr lang="en-US" sz="2400" dirty="0"/>
                <a:t>Examples include: • Virus • Worm • Trojan Horse</a:t>
              </a:r>
            </a:p>
            <a:p>
              <a:pPr algn="just">
                <a:lnSpc>
                  <a:spcPct val="150000"/>
                </a:lnSpc>
              </a:pPr>
              <a:r>
                <a:rPr lang="en-US" sz="2400" b="1" dirty="0"/>
                <a:t>3. Phishing:</a:t>
              </a:r>
            </a:p>
            <a:p>
              <a:pPr algn="just">
                <a:lnSpc>
                  <a:spcPct val="150000"/>
                </a:lnSpc>
              </a:pPr>
              <a:r>
                <a:rPr lang="en-US" sz="2400" dirty="0"/>
                <a:t>Fake emails or websites designed to trick users into revealing their passwords or personal information.</a:t>
              </a:r>
            </a:p>
          </p:txBody>
        </p:sp>
      </p:grpSp>
    </p:spTree>
    <p:extLst>
      <p:ext uri="{BB962C8B-B14F-4D97-AF65-F5344CB8AC3E}">
        <p14:creationId xmlns:p14="http://schemas.microsoft.com/office/powerpoint/2010/main" val="1847766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0CE25-3F11-90CA-44FB-216C572AD90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6EFAF6D-B295-D820-0AF5-B83772681850}"/>
              </a:ext>
            </a:extLst>
          </p:cNvPr>
          <p:cNvSpPr/>
          <p:nvPr/>
        </p:nvSpPr>
        <p:spPr>
          <a:xfrm rot="-1100510">
            <a:off x="4596659" y="-461953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4E5D4CF8-C888-8016-D9F7-1C28D9079FCA}"/>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80D0A8F2-2E5F-55AC-BFF9-42B1FE0D6303}"/>
              </a:ext>
            </a:extLst>
          </p:cNvPr>
          <p:cNvGrpSpPr/>
          <p:nvPr/>
        </p:nvGrpSpPr>
        <p:grpSpPr>
          <a:xfrm>
            <a:off x="609811" y="533538"/>
            <a:ext cx="8633276" cy="5212786"/>
            <a:chOff x="157480" y="-267335"/>
            <a:chExt cx="11511034" cy="6950374"/>
          </a:xfrm>
        </p:grpSpPr>
        <p:sp>
          <p:nvSpPr>
            <p:cNvPr id="6" name="TextBox 6">
              <a:extLst>
                <a:ext uri="{FF2B5EF4-FFF2-40B4-BE49-F238E27FC236}">
                  <a16:creationId xmlns:a16="http://schemas.microsoft.com/office/drawing/2014/main" id="{171C1286-ED5E-78B6-A36B-CE2F689AB1F0}"/>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Protection Methods:</a:t>
              </a:r>
            </a:p>
          </p:txBody>
        </p:sp>
        <p:sp>
          <p:nvSpPr>
            <p:cNvPr id="7" name="TextBox 7">
              <a:extLst>
                <a:ext uri="{FF2B5EF4-FFF2-40B4-BE49-F238E27FC236}">
                  <a16:creationId xmlns:a16="http://schemas.microsoft.com/office/drawing/2014/main" id="{3475AAC9-F64B-488D-592D-F94166890449}"/>
                </a:ext>
              </a:extLst>
            </p:cNvPr>
            <p:cNvSpPr txBox="1"/>
            <p:nvPr/>
          </p:nvSpPr>
          <p:spPr>
            <a:xfrm>
              <a:off x="244404" y="850080"/>
              <a:ext cx="11204787" cy="5832959"/>
            </a:xfrm>
            <a:prstGeom prst="rect">
              <a:avLst/>
            </a:prstGeom>
          </p:spPr>
          <p:txBody>
            <a:bodyPr wrap="square" lIns="0" tIns="0" rIns="0" bIns="0" rtlCol="0" anchor="t">
              <a:spAutoFit/>
            </a:bodyPr>
            <a:lstStyle/>
            <a:p>
              <a:pPr algn="just">
                <a:lnSpc>
                  <a:spcPct val="150000"/>
                </a:lnSpc>
              </a:pPr>
              <a:r>
                <a:rPr lang="en-US" sz="2400" dirty="0"/>
                <a:t>Organizations use different security techniques to protect computer systems and data.</a:t>
              </a:r>
            </a:p>
            <a:p>
              <a:pPr algn="just">
                <a:lnSpc>
                  <a:spcPct val="150000"/>
                </a:lnSpc>
              </a:pPr>
              <a:r>
                <a:rPr lang="en-US" sz="2400" b="1" dirty="0"/>
                <a:t>1. Antivirus Software: </a:t>
              </a:r>
            </a:p>
            <a:p>
              <a:pPr algn="just">
                <a:lnSpc>
                  <a:spcPct val="150000"/>
                </a:lnSpc>
              </a:pPr>
              <a:r>
                <a:rPr lang="en-US" sz="2400" dirty="0"/>
                <a:t>Programs that detect and remove viruses and other malicious software.</a:t>
              </a:r>
            </a:p>
            <a:p>
              <a:pPr algn="just">
                <a:lnSpc>
                  <a:spcPct val="150000"/>
                </a:lnSpc>
              </a:pPr>
              <a:r>
                <a:rPr lang="en-US" sz="2400" b="1" dirty="0"/>
                <a:t>2. Firewalls:</a:t>
              </a:r>
            </a:p>
            <a:p>
              <a:pPr algn="just">
                <a:lnSpc>
                  <a:spcPct val="150000"/>
                </a:lnSpc>
              </a:pPr>
              <a:r>
                <a:rPr lang="en-US" sz="2400" dirty="0"/>
                <a:t>Security systems that monitor and control network traffic to prevent unauthorized access.</a:t>
              </a:r>
            </a:p>
          </p:txBody>
        </p:sp>
      </p:grpSp>
    </p:spTree>
    <p:extLst>
      <p:ext uri="{BB962C8B-B14F-4D97-AF65-F5344CB8AC3E}">
        <p14:creationId xmlns:p14="http://schemas.microsoft.com/office/powerpoint/2010/main" val="1724657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B9216-0B6A-6A36-321B-24E349D1789E}"/>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7D0F8BD2-8EC7-D230-CFF3-1A45AC20F245}"/>
              </a:ext>
            </a:extLst>
          </p:cNvPr>
          <p:cNvSpPr/>
          <p:nvPr/>
        </p:nvSpPr>
        <p:spPr>
          <a:xfrm rot="-1100510">
            <a:off x="4596659" y="-4619537"/>
            <a:ext cx="5681080" cy="5432533"/>
          </a:xfrm>
          <a:custGeom>
            <a:avLst/>
            <a:gdLst/>
            <a:ahLst/>
            <a:cxnLst/>
            <a:rect l="l" t="t" r="r" b="b"/>
            <a:pathLst>
              <a:path w="5681080" h="5432533">
                <a:moveTo>
                  <a:pt x="0" y="0"/>
                </a:moveTo>
                <a:lnTo>
                  <a:pt x="5681080" y="0"/>
                </a:lnTo>
                <a:lnTo>
                  <a:pt x="5681080" y="5432533"/>
                </a:lnTo>
                <a:lnTo>
                  <a:pt x="0" y="5432533"/>
                </a:lnTo>
                <a:lnTo>
                  <a:pt x="0" y="0"/>
                </a:lnTo>
                <a:close/>
              </a:path>
            </a:pathLst>
          </a:custGeom>
          <a:blipFill>
            <a:blip r:embed="rId3"/>
            <a:stretch>
              <a:fillRect/>
            </a:stretch>
          </a:blipFill>
        </p:spPr>
      </p:sp>
      <p:sp>
        <p:nvSpPr>
          <p:cNvPr id="4" name="Freeform 4">
            <a:extLst>
              <a:ext uri="{FF2B5EF4-FFF2-40B4-BE49-F238E27FC236}">
                <a16:creationId xmlns:a16="http://schemas.microsoft.com/office/drawing/2014/main" id="{ED0A20BE-6FDA-C95B-7F90-BEB795DD4D95}"/>
              </a:ext>
            </a:extLst>
          </p:cNvPr>
          <p:cNvSpPr/>
          <p:nvPr/>
        </p:nvSpPr>
        <p:spPr>
          <a:xfrm rot="-795738">
            <a:off x="8882505" y="5853991"/>
            <a:ext cx="2852170" cy="2702431"/>
          </a:xfrm>
          <a:custGeom>
            <a:avLst/>
            <a:gdLst/>
            <a:ahLst/>
            <a:cxnLst/>
            <a:rect l="l" t="t" r="r" b="b"/>
            <a:pathLst>
              <a:path w="2852170" h="2702431">
                <a:moveTo>
                  <a:pt x="0" y="0"/>
                </a:moveTo>
                <a:lnTo>
                  <a:pt x="2852170" y="0"/>
                </a:lnTo>
                <a:lnTo>
                  <a:pt x="2852170" y="2702430"/>
                </a:lnTo>
                <a:lnTo>
                  <a:pt x="0" y="2702430"/>
                </a:lnTo>
                <a:lnTo>
                  <a:pt x="0" y="0"/>
                </a:lnTo>
                <a:close/>
              </a:path>
            </a:pathLst>
          </a:custGeom>
          <a:blipFill>
            <a:blip r:embed="rId4"/>
            <a:stretch>
              <a:fillRect/>
            </a:stretch>
          </a:blipFill>
        </p:spPr>
      </p:sp>
      <p:grpSp>
        <p:nvGrpSpPr>
          <p:cNvPr id="5" name="Group 5">
            <a:extLst>
              <a:ext uri="{FF2B5EF4-FFF2-40B4-BE49-F238E27FC236}">
                <a16:creationId xmlns:a16="http://schemas.microsoft.com/office/drawing/2014/main" id="{91F30D43-E34D-D27D-E071-72E7953331E5}"/>
              </a:ext>
            </a:extLst>
          </p:cNvPr>
          <p:cNvGrpSpPr/>
          <p:nvPr/>
        </p:nvGrpSpPr>
        <p:grpSpPr>
          <a:xfrm>
            <a:off x="609811" y="533538"/>
            <a:ext cx="8633276" cy="6320781"/>
            <a:chOff x="157480" y="-267335"/>
            <a:chExt cx="11511034" cy="8427698"/>
          </a:xfrm>
        </p:grpSpPr>
        <p:sp>
          <p:nvSpPr>
            <p:cNvPr id="6" name="TextBox 6">
              <a:extLst>
                <a:ext uri="{FF2B5EF4-FFF2-40B4-BE49-F238E27FC236}">
                  <a16:creationId xmlns:a16="http://schemas.microsoft.com/office/drawing/2014/main" id="{EF4DFA7B-C7AA-9B20-E367-488DDEF8E49D}"/>
                </a:ext>
              </a:extLst>
            </p:cNvPr>
            <p:cNvSpPr txBox="1"/>
            <p:nvPr/>
          </p:nvSpPr>
          <p:spPr>
            <a:xfrm>
              <a:off x="157480" y="-267335"/>
              <a:ext cx="11511034" cy="973257"/>
            </a:xfrm>
            <a:prstGeom prst="rect">
              <a:avLst/>
            </a:prstGeom>
          </p:spPr>
          <p:txBody>
            <a:bodyPr lIns="0" tIns="0" rIns="0" bIns="0" rtlCol="0" anchor="t">
              <a:spAutoFit/>
            </a:bodyPr>
            <a:lstStyle/>
            <a:p>
              <a:pPr marL="685800" indent="-685800" algn="l">
                <a:lnSpc>
                  <a:spcPts val="5900"/>
                </a:lnSpc>
                <a:buFont typeface="Wingdings" panose="05000000000000000000" pitchFamily="2" charset="2"/>
                <a:buChar char="q"/>
              </a:pPr>
              <a:r>
                <a:rPr lang="en-US" sz="4800" b="1" dirty="0">
                  <a:solidFill>
                    <a:srgbClr val="731F7D"/>
                  </a:solidFill>
                  <a:latin typeface="Calibri" panose="020F0502020204030204" charset="0"/>
                  <a:ea typeface="HK Grotesk Bold" panose="00000800000000000000"/>
                  <a:cs typeface="Calibri" panose="020F0502020204030204" charset="0"/>
                  <a:sym typeface="HK Grotesk Bold" panose="00000800000000000000"/>
                </a:rPr>
                <a:t>Protection Methods:</a:t>
              </a:r>
            </a:p>
          </p:txBody>
        </p:sp>
        <p:sp>
          <p:nvSpPr>
            <p:cNvPr id="7" name="TextBox 7">
              <a:extLst>
                <a:ext uri="{FF2B5EF4-FFF2-40B4-BE49-F238E27FC236}">
                  <a16:creationId xmlns:a16="http://schemas.microsoft.com/office/drawing/2014/main" id="{35171981-F8E1-F851-7C26-ADDDEF70EAD9}"/>
                </a:ext>
              </a:extLst>
            </p:cNvPr>
            <p:cNvSpPr txBox="1"/>
            <p:nvPr/>
          </p:nvSpPr>
          <p:spPr>
            <a:xfrm>
              <a:off x="244404" y="850080"/>
              <a:ext cx="11204787" cy="7310283"/>
            </a:xfrm>
            <a:prstGeom prst="rect">
              <a:avLst/>
            </a:prstGeom>
          </p:spPr>
          <p:txBody>
            <a:bodyPr wrap="square" lIns="0" tIns="0" rIns="0" bIns="0" rtlCol="0" anchor="t">
              <a:spAutoFit/>
            </a:bodyPr>
            <a:lstStyle/>
            <a:p>
              <a:pPr algn="just">
                <a:lnSpc>
                  <a:spcPct val="150000"/>
                </a:lnSpc>
              </a:pPr>
              <a:r>
                <a:rPr lang="en-US" sz="2400" b="1" dirty="0"/>
                <a:t>3. Encryption:</a:t>
              </a:r>
            </a:p>
            <a:p>
              <a:pPr algn="just">
                <a:lnSpc>
                  <a:spcPct val="150000"/>
                </a:lnSpc>
              </a:pPr>
              <a:r>
                <a:rPr lang="en-US" sz="2400" dirty="0"/>
                <a:t> A method of converting data into coded form so that only authorized users can read it.</a:t>
              </a:r>
            </a:p>
            <a:p>
              <a:pPr algn="just">
                <a:lnSpc>
                  <a:spcPct val="150000"/>
                </a:lnSpc>
              </a:pPr>
              <a:r>
                <a:rPr lang="en-US" sz="2400" b="1" dirty="0"/>
                <a:t>4. Authentication:</a:t>
              </a:r>
            </a:p>
            <a:p>
              <a:pPr algn="just">
                <a:lnSpc>
                  <a:spcPct val="150000"/>
                </a:lnSpc>
              </a:pPr>
              <a:r>
                <a:rPr lang="en-US" sz="2400" dirty="0"/>
                <a:t> A process used to verify the identity of users before giving them access to systems.</a:t>
              </a:r>
            </a:p>
            <a:p>
              <a:pPr algn="just">
                <a:lnSpc>
                  <a:spcPct val="150000"/>
                </a:lnSpc>
              </a:pPr>
              <a:r>
                <a:rPr lang="en-US" sz="2400" dirty="0"/>
                <a:t>Examples: </a:t>
              </a:r>
            </a:p>
            <a:p>
              <a:pPr algn="just">
                <a:lnSpc>
                  <a:spcPct val="150000"/>
                </a:lnSpc>
              </a:pPr>
              <a:r>
                <a:rPr lang="en-US" sz="2400" dirty="0"/>
                <a:t>• Passwords </a:t>
              </a:r>
            </a:p>
            <a:p>
              <a:pPr algn="just">
                <a:lnSpc>
                  <a:spcPct val="150000"/>
                </a:lnSpc>
              </a:pPr>
              <a:r>
                <a:rPr lang="en-US" sz="2400" dirty="0"/>
                <a:t>• Biometrics (fingerprint, face recognition) </a:t>
              </a:r>
            </a:p>
            <a:p>
              <a:pPr algn="just">
                <a:lnSpc>
                  <a:spcPct val="150000"/>
                </a:lnSpc>
              </a:pPr>
              <a:r>
                <a:rPr lang="en-US" sz="2400" dirty="0"/>
                <a:t>• One‑Time Passwords (OTP)</a:t>
              </a:r>
            </a:p>
          </p:txBody>
        </p:sp>
      </p:grpSp>
    </p:spTree>
    <p:extLst>
      <p:ext uri="{BB962C8B-B14F-4D97-AF65-F5344CB8AC3E}">
        <p14:creationId xmlns:p14="http://schemas.microsoft.com/office/powerpoint/2010/main" val="295195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D1354"/>
        </a:solidFill>
        <a:effectLst/>
      </p:bgPr>
    </p:bg>
    <p:spTree>
      <p:nvGrpSpPr>
        <p:cNvPr id="1" name=""/>
        <p:cNvGrpSpPr/>
        <p:nvPr/>
      </p:nvGrpSpPr>
      <p:grpSpPr>
        <a:xfrm>
          <a:off x="0" y="0"/>
          <a:ext cx="0" cy="0"/>
          <a:chOff x="0" y="0"/>
          <a:chExt cx="0" cy="0"/>
        </a:xfrm>
      </p:grpSpPr>
      <p:sp>
        <p:nvSpPr>
          <p:cNvPr id="2" name="Freeform 2"/>
          <p:cNvSpPr/>
          <p:nvPr/>
        </p:nvSpPr>
        <p:spPr>
          <a:xfrm rot="-5400000">
            <a:off x="5866787" y="-1370945"/>
            <a:ext cx="5550062" cy="4939555"/>
          </a:xfrm>
          <a:custGeom>
            <a:avLst/>
            <a:gdLst/>
            <a:ahLst/>
            <a:cxnLst/>
            <a:rect l="l" t="t" r="r" b="b"/>
            <a:pathLst>
              <a:path w="5550062" h="4939555">
                <a:moveTo>
                  <a:pt x="0" y="0"/>
                </a:moveTo>
                <a:lnTo>
                  <a:pt x="5550061" y="0"/>
                </a:lnTo>
                <a:lnTo>
                  <a:pt x="5550061" y="4939555"/>
                </a:lnTo>
                <a:lnTo>
                  <a:pt x="0" y="4939555"/>
                </a:lnTo>
                <a:lnTo>
                  <a:pt x="0" y="0"/>
                </a:lnTo>
                <a:close/>
              </a:path>
            </a:pathLst>
          </a:custGeom>
          <a:blipFill>
            <a:blip r:embed="rId2"/>
            <a:stretch>
              <a:fillRect/>
            </a:stretch>
          </a:blipFill>
        </p:spPr>
      </p:sp>
      <p:sp>
        <p:nvSpPr>
          <p:cNvPr id="3" name="Freeform 3"/>
          <p:cNvSpPr/>
          <p:nvPr/>
        </p:nvSpPr>
        <p:spPr>
          <a:xfrm rot="-5017281">
            <a:off x="6200148" y="787734"/>
            <a:ext cx="1060123" cy="1004466"/>
          </a:xfrm>
          <a:custGeom>
            <a:avLst/>
            <a:gdLst/>
            <a:ahLst/>
            <a:cxnLst/>
            <a:rect l="l" t="t" r="r" b="b"/>
            <a:pathLst>
              <a:path w="1060123" h="1004466">
                <a:moveTo>
                  <a:pt x="0" y="0"/>
                </a:moveTo>
                <a:lnTo>
                  <a:pt x="1060123" y="0"/>
                </a:lnTo>
                <a:lnTo>
                  <a:pt x="1060123" y="1004466"/>
                </a:lnTo>
                <a:lnTo>
                  <a:pt x="0" y="1004466"/>
                </a:lnTo>
                <a:lnTo>
                  <a:pt x="0" y="0"/>
                </a:lnTo>
                <a:close/>
              </a:path>
            </a:pathLst>
          </a:custGeom>
          <a:blipFill>
            <a:blip r:embed="rId3"/>
            <a:stretch>
              <a:fillRect/>
            </a:stretch>
          </a:blipFill>
        </p:spPr>
      </p:sp>
      <p:sp>
        <p:nvSpPr>
          <p:cNvPr id="4" name="Freeform 4"/>
          <p:cNvSpPr/>
          <p:nvPr/>
        </p:nvSpPr>
        <p:spPr>
          <a:xfrm rot="-10567437">
            <a:off x="8175470" y="5527229"/>
            <a:ext cx="2209570" cy="2112901"/>
          </a:xfrm>
          <a:custGeom>
            <a:avLst/>
            <a:gdLst/>
            <a:ahLst/>
            <a:cxnLst/>
            <a:rect l="l" t="t" r="r" b="b"/>
            <a:pathLst>
              <a:path w="2209570" h="2112901">
                <a:moveTo>
                  <a:pt x="0" y="0"/>
                </a:moveTo>
                <a:lnTo>
                  <a:pt x="2209570" y="0"/>
                </a:lnTo>
                <a:lnTo>
                  <a:pt x="2209570" y="2112902"/>
                </a:lnTo>
                <a:lnTo>
                  <a:pt x="0" y="2112902"/>
                </a:lnTo>
                <a:lnTo>
                  <a:pt x="0" y="0"/>
                </a:lnTo>
                <a:close/>
              </a:path>
            </a:pathLst>
          </a:custGeom>
          <a:blipFill>
            <a:blip r:embed="rId4"/>
            <a:stretch>
              <a:fillRect/>
            </a:stretch>
          </a:blipFill>
        </p:spPr>
      </p:sp>
      <p:sp>
        <p:nvSpPr>
          <p:cNvPr id="6" name="TextBox 6"/>
          <p:cNvSpPr txBox="1"/>
          <p:nvPr/>
        </p:nvSpPr>
        <p:spPr>
          <a:xfrm>
            <a:off x="633405" y="1981200"/>
            <a:ext cx="6300796" cy="4080604"/>
          </a:xfrm>
          <a:prstGeom prst="rect">
            <a:avLst/>
          </a:prstGeom>
        </p:spPr>
        <p:txBody>
          <a:bodyPr wrap="square" lIns="0" tIns="0" rIns="0" bIns="0" rtlCol="0" anchor="t">
            <a:spAutoFit/>
          </a:bodyPr>
          <a:lstStyle/>
          <a:p>
            <a:pPr algn="just">
              <a:lnSpc>
                <a:spcPts val="5900"/>
              </a:lnSpc>
            </a:pPr>
            <a:r>
              <a:rPr lang="en-US" sz="3600" b="1" dirty="0">
                <a:solidFill>
                  <a:schemeClr val="bg1"/>
                </a:solidFill>
                <a:latin typeface="Calibri" panose="020F0502020204030204" charset="0"/>
                <a:ea typeface="HK Grotesk Bold" panose="00000800000000000000"/>
                <a:cs typeface="Calibri" panose="020F0502020204030204" charset="0"/>
                <a:sym typeface="HK Grotesk Bold" panose="00000800000000000000"/>
              </a:rPr>
              <a:t>Summary of Lecture </a:t>
            </a:r>
          </a:p>
          <a:p>
            <a:pPr algn="just"/>
            <a:r>
              <a:rPr lang="en-US" sz="2400" dirty="0">
                <a:solidFill>
                  <a:schemeClr val="bg1"/>
                </a:solidFill>
              </a:rPr>
              <a:t>E‑commerce allows businesses to buy and sell goods and services through the internet and has changed how markets, retailers, and customers interact. It improves convenience and global reach but also creates challenges for traditional retail and the environment. At the same time, computer system security and privacy are important for protecting systems and personal data from threats such as hacking, malware, and phishing.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247</TotalTime>
  <Words>1112</Words>
  <Application>Microsoft Office PowerPoint</Application>
  <PresentationFormat>Custom</PresentationFormat>
  <Paragraphs>133</Paragraphs>
  <Slides>20</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Calibri</vt:lpstr>
      <vt:lpstr>Arial</vt:lpstr>
      <vt:lpstr>Arial Black</vt:lpstr>
      <vt:lpstr>Wingdings</vt:lpstr>
      <vt:lpstr>Halant Medium</vt:lpstr>
      <vt:lpstr>Halant Bold</vt:lpstr>
      <vt:lpstr>HK Grotesk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 Lecture 1</dc:title>
  <dc:creator/>
  <cp:lastModifiedBy>Admin</cp:lastModifiedBy>
  <cp:revision>46</cp:revision>
  <dcterms:created xsi:type="dcterms:W3CDTF">2006-08-16T00:00:00Z</dcterms:created>
  <dcterms:modified xsi:type="dcterms:W3CDTF">2026-03-15T10:17:21Z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0619587701084622B2FE28AD10B5130E_13</vt:lpwstr>
  </property>
  <property fmtid="{D5CDD505-2E9C-101B-9397-08002B2CF9AE}" pid="3" name="KSOProductBuildVer">
    <vt:lpwstr>1033-12.1.0.25242</vt:lpwstr>
  </property>
</Properties>
</file>