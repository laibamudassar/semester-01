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258" r:id="rId4"/>
    <p:sldId id="259" r:id="rId5"/>
    <p:sldId id="364" r:id="rId6"/>
    <p:sldId id="327" r:id="rId7"/>
    <p:sldId id="365" r:id="rId8"/>
    <p:sldId id="366" r:id="rId9"/>
    <p:sldId id="367" r:id="rId10"/>
    <p:sldId id="368" r:id="rId11"/>
    <p:sldId id="369" r:id="rId12"/>
    <p:sldId id="370" r:id="rId13"/>
    <p:sldId id="328" r:id="rId14"/>
    <p:sldId id="371" r:id="rId15"/>
    <p:sldId id="372" r:id="rId16"/>
    <p:sldId id="373" r:id="rId17"/>
    <p:sldId id="374" r:id="rId18"/>
    <p:sldId id="375" r:id="rId19"/>
    <p:sldId id="376" r:id="rId20"/>
    <p:sldId id="377" r:id="rId21"/>
    <p:sldId id="378" r:id="rId22"/>
    <p:sldId id="379" r:id="rId23"/>
    <p:sldId id="380" r:id="rId24"/>
    <p:sldId id="381" r:id="rId25"/>
    <p:sldId id="382" r:id="rId26"/>
    <p:sldId id="383" r:id="rId27"/>
    <p:sldId id="384" r:id="rId28"/>
    <p:sldId id="385" r:id="rId29"/>
    <p:sldId id="386" r:id="rId30"/>
    <p:sldId id="395" r:id="rId31"/>
    <p:sldId id="387" r:id="rId32"/>
    <p:sldId id="388" r:id="rId33"/>
    <p:sldId id="389" r:id="rId34"/>
    <p:sldId id="390" r:id="rId35"/>
    <p:sldId id="396" r:id="rId36"/>
    <p:sldId id="391" r:id="rId37"/>
    <p:sldId id="397" r:id="rId38"/>
    <p:sldId id="392" r:id="rId39"/>
    <p:sldId id="398" r:id="rId40"/>
    <p:sldId id="393" r:id="rId41"/>
    <p:sldId id="399" r:id="rId42"/>
    <p:sldId id="394" r:id="rId43"/>
    <p:sldId id="400" r:id="rId44"/>
    <p:sldId id="275" r:id="rId45"/>
  </p:sldIdLst>
  <p:sldSz cx="9753600" cy="7315200"/>
  <p:notesSz cx="6858000" cy="9144000"/>
  <p:embeddedFontLst>
    <p:embeddedFont>
      <p:font typeface="Arial Black" panose="020B0A04020102020204" pitchFamily="34" charset="0"/>
      <p:bold r:id="rId47"/>
    </p:embeddedFont>
    <p:embeddedFont>
      <p:font typeface="Halant Bold" panose="020B0604020202020204" charset="0"/>
      <p:bold r:id="rId48"/>
    </p:embeddedFont>
    <p:embeddedFont>
      <p:font typeface="Halant Medium" panose="020B0604020202020204" charset="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showGuides="1">
      <p:cViewPr varScale="1">
        <p:scale>
          <a:sx n="59" d="100"/>
          <a:sy n="59" d="100"/>
        </p:scale>
        <p:origin x="1388" y="60"/>
      </p:cViewPr>
      <p:guideLst>
        <p:guide orient="horz" pos="2304"/>
        <p:guide pos="29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3/15/2026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CBD8-A841-9EBD-CBF8-E9E8A2B99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0E809-FCE7-1F67-0893-304104B27D8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14DA473-DB0F-3948-ACD1-BBD46DF1C93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619158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32BD-BAA5-FCFC-6EC7-BA1BC9F9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C9788-E000-A778-DD25-353A18350AA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627A031-2DCC-8CEC-D8B4-1E5326E2AAF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71950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CFE24-05A2-14F3-56E3-C25A6801F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C290C-7724-C2DE-DE9F-7CF77D6842A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C68578D-1581-982F-6A27-8C8C7E669FA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631323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D606-ED73-4063-DD37-E122DC2B6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723CB-0ADD-6C84-C8E4-CAB780E0111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CCC37A72-0D5D-DBD7-BBBC-1E27EC88FCC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789215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F1FC-6E42-6F03-2775-114D914B3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BC4AD-2EFA-5D14-D18B-175534990A6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90DD22B-F9F9-160A-867F-FB673E2A2C5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423059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54975-D385-33B9-59C7-57213396C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D78F9-33EB-2CD8-3CFD-EBBA21538025}"/>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EE79D42-6BBE-5BB0-8F85-4346484AB16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244337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DAC9-011F-EE70-3496-6965BF655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74113-C2C1-A5F2-BE96-405FF3E98FA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0677BE9-62E6-E243-D27A-9FB7D55F711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264216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460-5088-5829-A024-702A4A0AC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7F234-9576-839B-4841-4C19F0627F6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B546EB6-E81C-D6D5-0246-0C60AD791CC0}"/>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98219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4A49D-455B-84D2-F283-1D754B422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B250E-BFBD-02BF-4956-09B40A10042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9F1A67D-1F3D-6786-DFAB-2A0AE612DA7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286598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F32CA-D6A7-5C77-4E82-9F35BC79A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E9957-5C0A-B3FD-8A15-86495A38878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79B10D8-044E-A373-9E58-E3AD70F554A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39018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13EF-3AC5-2A4A-2A9D-19E7886D3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B9731-4AAA-B0E4-54D3-E2BD1089520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9B7AD09-CFD2-FE05-EA90-28E69676F414}"/>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792822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95851-20A5-FA96-1EB1-66A4F86E8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66EF7-BF2B-C220-15AC-0056C85539F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A67FE6F-660C-4C8C-4CB1-A823DEEAA271}"/>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967034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466EC-5BB3-F637-8A7C-7F27FD498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A8665-6F44-1079-53AC-81ABF294388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C4F053A1-9623-3952-ED35-00F5DF16648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421651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B673-4411-CA2C-7F1F-F582F4285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BA98F-D655-1FC5-7778-64551B5BD89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6682C9F-8ABD-8223-C632-1D2C10853FB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6893275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A709E-D508-9E87-39C2-3E58D0092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31C0E-DE87-1426-0561-866DB8C5620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9724139-6C6F-C888-F605-3198C1401D1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815146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233AE-5854-2DE7-35F3-6AA353BAD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B5C1D-5328-B9C4-3E70-22328E859EC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4642F76-A794-D277-3A9B-CFD609DCDA0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3940987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9B51-7C70-515B-47AC-ADE9F0560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49430-43E2-3EC7-E70F-EEB2668E2B93}"/>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25A91FE-52B5-88A8-C9B2-FC6E0FCF0BF3}"/>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539600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3C15-7788-DAC3-8290-54FAB9AEC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8A1AD-F4BE-8A99-554C-361CF335F4BB}"/>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7BC5F0B-07C6-1CE6-2E18-34F0F4F4D2A1}"/>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770466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53314-52AA-2098-406E-E0F3301E5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5E55C-645F-6A06-9931-B268BAE0CA26}"/>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4CF5575-04FB-73D7-FADF-1700FD9E25A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885108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225A8-A792-46FF-DBEB-E1D4742D6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D3231-A766-B2A7-30E2-4799C1A7C30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493AC7A-BD05-3BDC-1449-03CF44BFEA4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390000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5631-27ED-784E-371C-05FF264F0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6BA31-7788-CDB6-BB51-CFDFF2344B7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143F0D2-3ADA-83FC-713C-528B4FEF1083}"/>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691632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BB118-3619-2499-9821-501B5E4E3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64DA5-484F-A991-2D20-0E9CE09A932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772E437-ADE4-51AC-F7A1-2BEB7DDF208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506804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36D2A-0119-7018-E4EE-7A72D8441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9F117-14A0-C539-9D25-115CDBFAE74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3B8954F-D528-DD45-8B64-41EE4A8BB4B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617714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705E9-EF3F-CF5A-9F90-C95879D81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C70D3-08C0-6514-7ABD-DA6887255C6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BAEEC3B-B6D7-3BA2-3C2E-B3D869C997D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9986224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90599-3E44-A1B4-292B-C3CE14981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D71E9-F10C-029D-808E-7612A24910ED}"/>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F7C96FB-DAF7-DF6C-3383-9C2C59ED3AA7}"/>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1247968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4F8E-F6A4-ABCF-7B94-7A7150B84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6469C-E3DD-346B-B823-5B5EB7D2BE2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A920AF9-8036-2C38-AC5D-3363A7597AC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197614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92518-BC2A-E354-9278-3D0C68067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FB491-0FDB-9461-5FE3-2608ADBF0BF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F5E9086-CDE6-8E73-0690-4379DD9DCCC4}"/>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842371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F76CF-0D15-6AAA-C02A-1EDA407B6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D321D-0C4F-8D3B-FB0E-834D87186DC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D61DBFA-7E28-4142-14F1-40BC26C9818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1669160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8A9E-AC1E-EFB7-BC91-F1375F89D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73EE6-CFA1-5B4B-C927-AE0098FB2C3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2866599-A7EE-CECC-48BC-A76B435D1F8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662327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A43F8-8CF3-C390-970A-6FE5AD7FC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23719-EBB9-63A6-33F7-2A6F5843D73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AA5FDBB-BEA9-CDF7-9B84-BBF271E02A4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461542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E66DD-FB44-44EC-35C5-9E37C67FD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6507D-36F7-1D09-E44A-4DE650F4A9D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4B7A3B4-EFED-681F-68EF-00CD4C0B5993}"/>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2494308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6833-5CC4-E646-B7A1-D5D4B49DB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C7656-2D33-C5E7-88EA-6835C5605AD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3DA460E0-186F-E9F8-2615-1725BBC1B4D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156077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DCA5-061B-5564-A43B-167C699C2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16A73-4F69-224B-4A0D-6606435133E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788B586-60F8-4B01-8F8C-2EF6D6149D08}"/>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50468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D3AEA-85E4-1FC8-3F92-66286D67F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8049E-6887-4C20-7A3E-9A1FFEB0A12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FDDA177F-456A-26D9-2E67-18919C95472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28623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dirty="0">
                  <a:solidFill>
                    <a:srgbClr val="000000"/>
                  </a:solidFill>
                  <a:latin typeface="+mj-lt"/>
                  <a:ea typeface="HK Grotesk Bold" panose="00000800000000000000"/>
                  <a:cs typeface="+mj-lt"/>
                  <a:sym typeface="HK Grotesk Bold" panose="00000800000000000000"/>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400" b="1" dirty="0">
                <a:solidFill>
                  <a:srgbClr val="731F7D"/>
                </a:solidFill>
                <a:latin typeface="Arial Black" panose="020B0A04020102020204" pitchFamily="34" charset="0"/>
                <a:ea typeface="Halant Bold" panose="00000800000000000000"/>
                <a:cs typeface="Halant Bold" panose="00000800000000000000"/>
                <a:sym typeface="Halant Bold" panose="00000800000000000000"/>
              </a:rPr>
              <a:t>Lecture 6</a:t>
            </a:r>
          </a:p>
          <a:p>
            <a:pPr algn="l">
              <a:lnSpc>
                <a:spcPts val="3780"/>
              </a:lnSpc>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p>
          <a:p>
            <a:pPr algn="l">
              <a:lnSpc>
                <a:spcPts val="3780"/>
              </a:lnSpc>
              <a:spcBef>
                <a:spcPct val="0"/>
              </a:spcBef>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524355" y="48260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457436" y="1752430"/>
            <a:ext cx="9112904" cy="5420388"/>
            <a:chOff x="-40828" y="0"/>
            <a:chExt cx="12150538" cy="7227184"/>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endParaRPr/>
            </a:p>
          </p:txBody>
        </p:sp>
        <p:sp>
          <p:nvSpPr>
            <p:cNvPr id="8" name="TextBox 8"/>
            <p:cNvSpPr txBox="1"/>
            <p:nvPr/>
          </p:nvSpPr>
          <p:spPr>
            <a:xfrm>
              <a:off x="60421" y="2032000"/>
              <a:ext cx="10667154" cy="5195184"/>
            </a:xfrm>
            <a:prstGeom prst="rect">
              <a:avLst/>
            </a:prstGeom>
          </p:spPr>
          <p:txBody>
            <a:bodyPr wrap="square" lIns="0" tIns="0" rIns="0" bIns="0" rtlCol="0" anchor="t">
              <a:spAutoFit/>
            </a:bodyPr>
            <a:lstStyle/>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Understanding Computers: Today and Tomorrow, Comprehensive – Deborah Morley &amp; Charles S. Parker, Cengage Learning, 2017</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Chapters 9, 12)</a:t>
              </a:r>
            </a:p>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12)</a:t>
              </a:r>
            </a:p>
            <a:p>
              <a:pPr lvl="1" indent="-457200" algn="just">
                <a:lnSpc>
                  <a:spcPts val="3360"/>
                </a:lnSpc>
                <a:buFont typeface="+mj-lt"/>
                <a:buAutoNum type="arabicPeriod"/>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457507"/>
            <a:ext cx="7502435" cy="7773923"/>
          </a:xfrm>
          <a:prstGeom prst="rect">
            <a:avLst/>
          </a:prstGeom>
        </p:spPr>
        <p:txBody>
          <a:bodyPr lIns="0" tIns="0" rIns="0" bIns="0" rtlCol="0" anchor="t">
            <a:spAutoFit/>
          </a:bodyPr>
          <a:lstStyle/>
          <a:p>
            <a:pPr>
              <a:lnSpc>
                <a:spcPts val="5900"/>
              </a:lnSpc>
            </a:pPr>
            <a:r>
              <a:rPr lang="en-US" sz="5000" b="1" dirty="0">
                <a:solidFill>
                  <a:srgbClr val="000000"/>
                </a:solidFill>
                <a:ea typeface="HK Grotesk Bold" panose="00000800000000000000"/>
                <a:cs typeface="Calibri" panose="020F0502020204030204" charset="0"/>
                <a:sym typeface="HK Grotesk Bold" panose="00000800000000000000"/>
              </a:rPr>
              <a:t>Contents</a:t>
            </a:r>
            <a:r>
              <a:rPr lang="en-US" sz="5000" b="1" dirty="0">
                <a:solidFill>
                  <a:srgbClr val="000000"/>
                </a:solidFill>
                <a:ea typeface="HK Grotesk Bold" panose="00000800000000000000"/>
                <a:cs typeface="HK Grotesk Bold" panose="00000800000000000000"/>
                <a:sym typeface="HK Grotesk Bold" panose="00000800000000000000"/>
              </a:rPr>
              <a:t>:</a:t>
            </a:r>
          </a:p>
          <a:p>
            <a:pPr marL="457200" indent="-457200">
              <a:buFont typeface="+mj-lt"/>
              <a:buAutoNum type="arabicPeriod"/>
            </a:pPr>
            <a:r>
              <a:rPr lang="en-US" sz="2400" dirty="0"/>
              <a:t>Basic Security Concepts</a:t>
            </a:r>
          </a:p>
          <a:p>
            <a:pPr marL="457200" indent="-457200">
              <a:buFont typeface="+mj-lt"/>
              <a:buAutoNum type="arabicPeriod"/>
            </a:pPr>
            <a:r>
              <a:rPr lang="en-US" sz="2400" dirty="0"/>
              <a:t>Threats to Users</a:t>
            </a:r>
          </a:p>
          <a:p>
            <a:pPr marL="457200" indent="-457200">
              <a:buFont typeface="+mj-lt"/>
              <a:buAutoNum type="arabicPeriod"/>
            </a:pPr>
            <a:r>
              <a:rPr lang="en-US" sz="2400" dirty="0"/>
              <a:t>Threats to Hardware</a:t>
            </a:r>
          </a:p>
          <a:p>
            <a:pPr marL="457200" indent="-457200">
              <a:buFont typeface="+mj-lt"/>
              <a:buAutoNum type="arabicPeriod"/>
            </a:pPr>
            <a:r>
              <a:rPr lang="en-US" sz="2400" dirty="0"/>
              <a:t>Threats to Data</a:t>
            </a:r>
          </a:p>
          <a:p>
            <a:pPr marL="457200" indent="-457200">
              <a:buFont typeface="+mj-lt"/>
              <a:buAutoNum type="arabicPeriod"/>
            </a:pPr>
            <a:r>
              <a:rPr lang="en-US" sz="2400" dirty="0"/>
              <a:t>Countermeasures</a:t>
            </a:r>
          </a:p>
          <a:p>
            <a:pPr marL="457200" indent="-457200">
              <a:buFont typeface="+mj-lt"/>
              <a:buAutoNum type="arabicPeriod"/>
            </a:pPr>
            <a:r>
              <a:rPr lang="en-US" sz="2400" dirty="0"/>
              <a:t>Information Systems</a:t>
            </a:r>
          </a:p>
          <a:p>
            <a:pPr marL="457200" indent="-457200">
              <a:buFont typeface="+mj-lt"/>
              <a:buAutoNum type="arabicPeriod"/>
            </a:pPr>
            <a:r>
              <a:rPr lang="en-US" sz="2400" dirty="0"/>
              <a:t>Need for System Development</a:t>
            </a:r>
          </a:p>
          <a:p>
            <a:pPr marL="457200" indent="-457200">
              <a:buFont typeface="+mj-lt"/>
              <a:buAutoNum type="arabicPeriod"/>
            </a:pPr>
            <a:r>
              <a:rPr lang="en-US" sz="2400" dirty="0"/>
              <a:t>Enterprise Architecture</a:t>
            </a:r>
          </a:p>
          <a:p>
            <a:pPr marL="457200" indent="-457200">
              <a:buFont typeface="+mj-lt"/>
              <a:buAutoNum type="arabicPeriod"/>
            </a:pPr>
            <a:r>
              <a:rPr lang="en-US" sz="2400" dirty="0"/>
              <a:t>Business Intelligence (BI)</a:t>
            </a:r>
          </a:p>
          <a:p>
            <a:pPr marL="457200" indent="-457200">
              <a:buFont typeface="+mj-lt"/>
              <a:buAutoNum type="arabicPeriod"/>
            </a:pPr>
            <a:r>
              <a:rPr lang="en-US" sz="2400" dirty="0"/>
              <a:t>Users of Information Systems</a:t>
            </a:r>
          </a:p>
          <a:p>
            <a:pPr marL="457200" indent="-457200">
              <a:buFont typeface="+mj-lt"/>
              <a:buAutoNum type="arabicPeriod"/>
            </a:pPr>
            <a:r>
              <a:rPr lang="en-US" sz="2400" dirty="0"/>
              <a:t>Types of Information Systems (TPS, MIS, DSS, EIS)</a:t>
            </a:r>
          </a:p>
          <a:p>
            <a:pPr marL="457200" indent="-457200">
              <a:buFont typeface="+mj-lt"/>
              <a:buAutoNum type="arabicPeriod"/>
            </a:pPr>
            <a:r>
              <a:rPr lang="en-US" sz="2400" dirty="0"/>
              <a:t>Responsibility for System Development</a:t>
            </a:r>
          </a:p>
          <a:p>
            <a:pPr marL="457200" indent="-457200">
              <a:buFont typeface="+mj-lt"/>
              <a:buAutoNum type="arabicPeriod"/>
            </a:pPr>
            <a:r>
              <a:rPr lang="en-US" sz="2400" dirty="0"/>
              <a:t>System Development Life Cycle (SDLC)</a:t>
            </a:r>
          </a:p>
          <a:p>
            <a:pPr marL="457200" indent="-457200">
              <a:buFont typeface="+mj-lt"/>
              <a:buAutoNum type="arabicPeriod"/>
            </a:pPr>
            <a:r>
              <a:rPr lang="en-US" sz="2400" dirty="0"/>
              <a:t>Approaches / Models of System Development</a:t>
            </a:r>
          </a:p>
          <a:p>
            <a:endParaRPr lang="en-US" altLang="en-US" sz="1200" dirty="0"/>
          </a:p>
          <a:p>
            <a:endParaRPr lang="en-US" altLang="en-US" sz="1200" dirty="0"/>
          </a:p>
          <a:p>
            <a:endParaRPr lang="en-US" altLang="en-US" sz="1200" dirty="0"/>
          </a:p>
          <a:p>
            <a:endParaRPr lang="en-US" altLang="en-US" sz="1200" dirty="0"/>
          </a:p>
          <a:p>
            <a:endParaRPr lang="en-US" altLang="en-US" sz="1200" dirty="0"/>
          </a:p>
          <a:p>
            <a:endParaRPr lang="en-US" altLang="en-US" sz="1200" dirty="0"/>
          </a:p>
          <a:p>
            <a:endParaRPr lang="en-US" altLang="en-US" sz="1200" dirty="0"/>
          </a:p>
          <a:p>
            <a:endParaRPr lang="en-US" altLang="en-US" sz="1200" dirty="0"/>
          </a:p>
          <a:p>
            <a:endParaRPr lang="en-US" altLang="en-US" sz="1200" dirty="0"/>
          </a:p>
          <a:p>
            <a:endParaRPr lang="en-US" sz="1200" b="1" dirty="0">
              <a:solidFill>
                <a:srgbClr val="000000"/>
              </a:solidFill>
              <a:ea typeface="HK Grotesk Bold" panose="00000800000000000000"/>
              <a:cs typeface="HK Grotesk Bold" panose="00000800000000000000"/>
              <a:sym typeface="HK Grotesk Bold" panose="00000800000000000000"/>
            </a:endParaRP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sp>
        <p:nvSpPr>
          <p:cNvPr id="6" name="TextBox 6"/>
          <p:cNvSpPr txBox="1"/>
          <p:nvPr/>
        </p:nvSpPr>
        <p:spPr>
          <a:xfrm>
            <a:off x="1285462" y="7507606"/>
            <a:ext cx="7658557" cy="250346"/>
          </a:xfrm>
          <a:prstGeom prst="rect">
            <a:avLst/>
          </a:prstGeom>
        </p:spPr>
        <p:txBody>
          <a:bodyPr lIns="0" tIns="0" rIns="0" bIns="0" rtlCol="0" anchor="t">
            <a:spAutoFit/>
          </a:bodyPr>
          <a:lstStyle/>
          <a:p>
            <a:pPr algn="l">
              <a:lnSpc>
                <a:spcPts val="2145"/>
              </a:lnSpc>
              <a:spcBef>
                <a:spcPct val="0"/>
              </a:spcBef>
            </a:pPr>
            <a:endParaRPr/>
          </a:p>
        </p:txBody>
      </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609811" y="533538"/>
            <a:ext cx="8633276" cy="6315071"/>
            <a:chOff x="157480" y="-267335"/>
            <a:chExt cx="11511034" cy="8420091"/>
          </a:xfrm>
        </p:grpSpPr>
        <p:sp>
          <p:nvSpPr>
            <p:cNvPr id="6" name="TextBox 6"/>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Computer Security:</a:t>
              </a:r>
            </a:p>
          </p:txBody>
        </p:sp>
        <p:sp>
          <p:nvSpPr>
            <p:cNvPr id="7" name="TextBox 7"/>
            <p:cNvSpPr txBox="1"/>
            <p:nvPr/>
          </p:nvSpPr>
          <p:spPr>
            <a:xfrm>
              <a:off x="157480" y="746971"/>
              <a:ext cx="11204787" cy="7405785"/>
            </a:xfrm>
            <a:prstGeom prst="rect">
              <a:avLst/>
            </a:prstGeom>
          </p:spPr>
          <p:txBody>
            <a:bodyPr wrap="square" lIns="0" tIns="0" rIns="0" bIns="0" rtlCol="0" anchor="t">
              <a:spAutoFit/>
            </a:bodyPr>
            <a:lstStyle/>
            <a:p>
              <a:pPr algn="just">
                <a:lnSpc>
                  <a:spcPct val="150000"/>
                </a:lnSpc>
              </a:pPr>
              <a:r>
                <a:rPr lang="en-US" sz="2800" b="1" dirty="0"/>
                <a:t>Definition: </a:t>
              </a:r>
            </a:p>
            <a:p>
              <a:pPr algn="just">
                <a:lnSpc>
                  <a:spcPct val="150000"/>
                </a:lnSpc>
              </a:pPr>
              <a:r>
                <a:rPr lang="en-US" sz="2400" dirty="0"/>
                <a:t>Computer security refers to the protection of computer systems, hardware, software, networks, and data from theft, damage, misuse, or unauthorized access.</a:t>
              </a:r>
            </a:p>
            <a:p>
              <a:pPr algn="just">
                <a:lnSpc>
                  <a:spcPct val="150000"/>
                </a:lnSpc>
              </a:pPr>
              <a:r>
                <a:rPr lang="en-US" sz="2400" dirty="0"/>
                <a:t>Security in information systems focuses on protecting three main components:</a:t>
              </a:r>
            </a:p>
            <a:p>
              <a:pPr algn="just">
                <a:lnSpc>
                  <a:spcPct val="150000"/>
                </a:lnSpc>
              </a:pPr>
              <a:r>
                <a:rPr lang="en-US" sz="2400" dirty="0"/>
                <a:t>• Users </a:t>
              </a:r>
            </a:p>
            <a:p>
              <a:pPr algn="just">
                <a:lnSpc>
                  <a:spcPct val="150000"/>
                </a:lnSpc>
              </a:pPr>
              <a:r>
                <a:rPr lang="en-US" sz="2400" dirty="0"/>
                <a:t>• Hardware </a:t>
              </a:r>
            </a:p>
            <a:p>
              <a:pPr algn="just">
                <a:lnSpc>
                  <a:spcPct val="150000"/>
                </a:lnSpc>
              </a:pPr>
              <a:r>
                <a:rPr lang="en-US" sz="2400" dirty="0"/>
                <a:t>• Data</a:t>
              </a:r>
            </a:p>
            <a:p>
              <a:pPr algn="just">
                <a:lnSpc>
                  <a:spcPct val="150000"/>
                </a:lnSpc>
              </a:pPr>
              <a:endParaRPr lang="en-US" sz="23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6F88E-C552-69FB-813C-A5A5CC5D2C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11FD1F-8AFB-C4EE-10F0-279E41E6EF8E}"/>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48083A37-9445-C340-19A0-ECBABD32D0A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3B785FF-F04E-FF0D-2B3E-DB95D3A21483}"/>
              </a:ext>
            </a:extLst>
          </p:cNvPr>
          <p:cNvGrpSpPr/>
          <p:nvPr/>
        </p:nvGrpSpPr>
        <p:grpSpPr>
          <a:xfrm>
            <a:off x="609811" y="533538"/>
            <a:ext cx="8633276" cy="5761073"/>
            <a:chOff x="157480" y="-267335"/>
            <a:chExt cx="11511034" cy="7681427"/>
          </a:xfrm>
        </p:grpSpPr>
        <p:sp>
          <p:nvSpPr>
            <p:cNvPr id="6" name="TextBox 6">
              <a:extLst>
                <a:ext uri="{FF2B5EF4-FFF2-40B4-BE49-F238E27FC236}">
                  <a16:creationId xmlns:a16="http://schemas.microsoft.com/office/drawing/2014/main" id="{5E51F0F3-4940-873A-CFFF-10AA8D545EDF}"/>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Computer Security:</a:t>
              </a:r>
            </a:p>
          </p:txBody>
        </p:sp>
        <p:sp>
          <p:nvSpPr>
            <p:cNvPr id="7" name="TextBox 7">
              <a:extLst>
                <a:ext uri="{FF2B5EF4-FFF2-40B4-BE49-F238E27FC236}">
                  <a16:creationId xmlns:a16="http://schemas.microsoft.com/office/drawing/2014/main" id="{5B64D967-4426-5914-C074-A1BCF2E6E3CA}"/>
                </a:ext>
              </a:extLst>
            </p:cNvPr>
            <p:cNvSpPr txBox="1"/>
            <p:nvPr/>
          </p:nvSpPr>
          <p:spPr>
            <a:xfrm>
              <a:off x="157480" y="746971"/>
              <a:ext cx="11204787" cy="6667121"/>
            </a:xfrm>
            <a:prstGeom prst="rect">
              <a:avLst/>
            </a:prstGeom>
          </p:spPr>
          <p:txBody>
            <a:bodyPr wrap="square" lIns="0" tIns="0" rIns="0" bIns="0" rtlCol="0" anchor="t">
              <a:spAutoFit/>
            </a:bodyPr>
            <a:lstStyle/>
            <a:p>
              <a:pPr algn="just">
                <a:lnSpc>
                  <a:spcPct val="150000"/>
                </a:lnSpc>
              </a:pPr>
              <a:r>
                <a:rPr lang="en-US" sz="2800" b="1" dirty="0"/>
                <a:t>Goals of Security: </a:t>
              </a:r>
            </a:p>
            <a:p>
              <a:pPr algn="just">
                <a:lnSpc>
                  <a:spcPct val="150000"/>
                </a:lnSpc>
              </a:pPr>
              <a:r>
                <a:rPr lang="en-US" sz="2400" dirty="0"/>
                <a:t>The main goals of security are:</a:t>
              </a:r>
            </a:p>
            <a:p>
              <a:pPr marL="457200" indent="-457200" algn="just">
                <a:lnSpc>
                  <a:spcPct val="150000"/>
                </a:lnSpc>
                <a:buFont typeface="+mj-lt"/>
                <a:buAutoNum type="arabicPeriod"/>
              </a:pPr>
              <a:r>
                <a:rPr lang="en-US" sz="2400" b="1" dirty="0"/>
                <a:t>Confidentiality – </a:t>
              </a:r>
              <a:r>
                <a:rPr lang="en-US" sz="2400" dirty="0"/>
                <a:t>information should only be accessed by authorized users.</a:t>
              </a:r>
            </a:p>
            <a:p>
              <a:pPr marL="457200" indent="-457200" algn="just">
                <a:lnSpc>
                  <a:spcPct val="150000"/>
                </a:lnSpc>
                <a:buFont typeface="+mj-lt"/>
                <a:buAutoNum type="arabicPeriod"/>
              </a:pPr>
              <a:r>
                <a:rPr lang="en-US" sz="2400" b="1" dirty="0"/>
                <a:t>Integrity – </a:t>
              </a:r>
              <a:r>
                <a:rPr lang="en-US" sz="2400" dirty="0"/>
                <a:t>information should remain accurate and not be altered illegally.</a:t>
              </a:r>
            </a:p>
            <a:p>
              <a:pPr marL="457200" indent="-457200" algn="just">
                <a:lnSpc>
                  <a:spcPct val="150000"/>
                </a:lnSpc>
                <a:buFont typeface="+mj-lt"/>
                <a:buAutoNum type="arabicPeriod"/>
              </a:pPr>
              <a:r>
                <a:rPr lang="en-US" sz="2400" b="1" dirty="0"/>
                <a:t>Availability – </a:t>
              </a:r>
              <a:r>
                <a:rPr lang="en-US" sz="2400" dirty="0"/>
                <a:t>systems and data should be available whenever they are needed.</a:t>
              </a:r>
            </a:p>
            <a:p>
              <a:pPr algn="just">
                <a:lnSpc>
                  <a:spcPct val="150000"/>
                </a:lnSpc>
              </a:pPr>
              <a:endParaRPr lang="en-US" sz="2300" dirty="0"/>
            </a:p>
          </p:txBody>
        </p:sp>
      </p:grpSp>
    </p:spTree>
    <p:extLst>
      <p:ext uri="{BB962C8B-B14F-4D97-AF65-F5344CB8AC3E}">
        <p14:creationId xmlns:p14="http://schemas.microsoft.com/office/powerpoint/2010/main" val="218898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CB19E-5AE4-7DEF-AED5-EEB87E6449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DA1D4D-C295-B450-091E-EFB6362273F3}"/>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917E676E-D273-7F19-8E46-50D2D7A6785E}"/>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0A93E594-A8B2-0F67-7F24-789BA9C04C23}"/>
              </a:ext>
            </a:extLst>
          </p:cNvPr>
          <p:cNvGrpSpPr/>
          <p:nvPr/>
        </p:nvGrpSpPr>
        <p:grpSpPr>
          <a:xfrm>
            <a:off x="560162" y="381000"/>
            <a:ext cx="8633276" cy="6243449"/>
            <a:chOff x="157480" y="-267335"/>
            <a:chExt cx="11511034" cy="8324592"/>
          </a:xfrm>
        </p:grpSpPr>
        <p:sp>
          <p:nvSpPr>
            <p:cNvPr id="6" name="TextBox 6">
              <a:extLst>
                <a:ext uri="{FF2B5EF4-FFF2-40B4-BE49-F238E27FC236}">
                  <a16:creationId xmlns:a16="http://schemas.microsoft.com/office/drawing/2014/main" id="{C48B1FC4-EB2F-C22D-E4DC-AD2AC71D4015}"/>
                </a:ext>
              </a:extLst>
            </p:cNvPr>
            <p:cNvSpPr txBox="1"/>
            <p:nvPr/>
          </p:nvSpPr>
          <p:spPr>
            <a:xfrm>
              <a:off x="157480" y="-267335"/>
              <a:ext cx="11511034" cy="1008379"/>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2B0FFF2B-DE04-C9DD-009C-723A75494016}"/>
                </a:ext>
              </a:extLst>
            </p:cNvPr>
            <p:cNvSpPr txBox="1"/>
            <p:nvPr/>
          </p:nvSpPr>
          <p:spPr>
            <a:xfrm>
              <a:off x="157480" y="746971"/>
              <a:ext cx="11204787" cy="7310286"/>
            </a:xfrm>
            <a:prstGeom prst="rect">
              <a:avLst/>
            </a:prstGeom>
          </p:spPr>
          <p:txBody>
            <a:bodyPr wrap="square" lIns="0" tIns="0" rIns="0" bIns="0" rtlCol="0" anchor="t">
              <a:spAutoFit/>
            </a:bodyPr>
            <a:lstStyle/>
            <a:p>
              <a:pPr algn="just">
                <a:lnSpc>
                  <a:spcPct val="150000"/>
                </a:lnSpc>
              </a:pPr>
              <a:r>
                <a:rPr lang="en-US" sz="2400" b="1" dirty="0"/>
                <a:t>Definition: </a:t>
              </a:r>
              <a:r>
                <a:rPr lang="en-US" sz="2400" dirty="0"/>
                <a:t>Threats to users occur when attackers attempt to steal personal information, misuse user accounts, or harm individuals through online activities.</a:t>
              </a:r>
            </a:p>
            <a:p>
              <a:pPr algn="just">
                <a:lnSpc>
                  <a:spcPct val="150000"/>
                </a:lnSpc>
              </a:pPr>
              <a:r>
                <a:rPr lang="en-US" sz="2400" b="1" dirty="0"/>
                <a:t>Types of Threats are:</a:t>
              </a:r>
            </a:p>
            <a:p>
              <a:pPr marL="457200" indent="-457200" algn="just">
                <a:lnSpc>
                  <a:spcPct val="150000"/>
                </a:lnSpc>
                <a:buFont typeface="+mj-lt"/>
                <a:buAutoNum type="arabicPeriod"/>
              </a:pPr>
              <a:r>
                <a:rPr lang="en-US" sz="2400" dirty="0"/>
                <a:t>Identity Theft</a:t>
              </a:r>
            </a:p>
            <a:p>
              <a:pPr marL="457200" indent="-457200" algn="just">
                <a:lnSpc>
                  <a:spcPct val="150000"/>
                </a:lnSpc>
                <a:buFont typeface="+mj-lt"/>
                <a:buAutoNum type="arabicPeriod"/>
              </a:pPr>
              <a:r>
                <a:rPr lang="en-US" sz="2400" dirty="0"/>
                <a:t>Loss of Privacy</a:t>
              </a:r>
            </a:p>
            <a:p>
              <a:pPr marL="457200" indent="-457200" algn="just">
                <a:lnSpc>
                  <a:spcPct val="150000"/>
                </a:lnSpc>
                <a:buFont typeface="+mj-lt"/>
                <a:buAutoNum type="arabicPeriod"/>
              </a:pPr>
              <a:r>
                <a:rPr lang="en-US" sz="2400" dirty="0"/>
                <a:t>Online Spying Tools</a:t>
              </a:r>
            </a:p>
            <a:p>
              <a:pPr marL="457200" indent="-457200" algn="just">
                <a:lnSpc>
                  <a:spcPct val="150000"/>
                </a:lnSpc>
                <a:buFont typeface="+mj-lt"/>
                <a:buAutoNum type="arabicPeriod"/>
              </a:pPr>
              <a:r>
                <a:rPr lang="en-US" sz="2400" dirty="0"/>
                <a:t>Online Theft</a:t>
              </a:r>
            </a:p>
            <a:p>
              <a:pPr marL="457200" indent="-457200" algn="just">
                <a:lnSpc>
                  <a:spcPct val="150000"/>
                </a:lnSpc>
                <a:buFont typeface="+mj-lt"/>
                <a:buAutoNum type="arabicPeriod"/>
              </a:pPr>
              <a:r>
                <a:rPr lang="en-US" sz="2400" dirty="0"/>
                <a:t>Online Fraud</a:t>
              </a:r>
            </a:p>
            <a:p>
              <a:pPr marL="457200" indent="-457200" algn="just">
                <a:lnSpc>
                  <a:spcPct val="150000"/>
                </a:lnSpc>
                <a:buFont typeface="+mj-lt"/>
                <a:buAutoNum type="arabicPeriod"/>
              </a:pPr>
              <a:r>
                <a:rPr lang="en-US" sz="2400" dirty="0"/>
                <a:t>Dots Cons (Internet Scams)</a:t>
              </a:r>
            </a:p>
          </p:txBody>
        </p:sp>
      </p:grpSp>
    </p:spTree>
    <p:extLst>
      <p:ext uri="{BB962C8B-B14F-4D97-AF65-F5344CB8AC3E}">
        <p14:creationId xmlns:p14="http://schemas.microsoft.com/office/powerpoint/2010/main" val="143859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067-7448-8255-4AB0-0874515949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83D83A-DDD2-C7B5-8F2C-68F5EEE66143}"/>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9F109348-E867-1243-CBD7-D58F6FD738A0}"/>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04120454-5424-EB0E-2FB7-54CCFB6A18A6}"/>
              </a:ext>
            </a:extLst>
          </p:cNvPr>
          <p:cNvGrpSpPr/>
          <p:nvPr/>
        </p:nvGrpSpPr>
        <p:grpSpPr>
          <a:xfrm>
            <a:off x="560162" y="212710"/>
            <a:ext cx="8633276" cy="6889780"/>
            <a:chOff x="157480" y="-267335"/>
            <a:chExt cx="11511034" cy="9186367"/>
          </a:xfrm>
        </p:grpSpPr>
        <p:sp>
          <p:nvSpPr>
            <p:cNvPr id="6" name="TextBox 6">
              <a:extLst>
                <a:ext uri="{FF2B5EF4-FFF2-40B4-BE49-F238E27FC236}">
                  <a16:creationId xmlns:a16="http://schemas.microsoft.com/office/drawing/2014/main" id="{C5797880-136B-5517-8EB0-FFF91F708D2F}"/>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9E373304-CA1A-3C85-0C58-D3D594D5BCB9}"/>
                </a:ext>
              </a:extLst>
            </p:cNvPr>
            <p:cNvSpPr txBox="1"/>
            <p:nvPr/>
          </p:nvSpPr>
          <p:spPr>
            <a:xfrm>
              <a:off x="157480" y="746971"/>
              <a:ext cx="11204787" cy="8172061"/>
            </a:xfrm>
            <a:prstGeom prst="rect">
              <a:avLst/>
            </a:prstGeom>
          </p:spPr>
          <p:txBody>
            <a:bodyPr wrap="square" lIns="0" tIns="0" rIns="0" bIns="0" rtlCol="0" anchor="t">
              <a:spAutoFit/>
            </a:bodyPr>
            <a:lstStyle/>
            <a:p>
              <a:pPr algn="just">
                <a:lnSpc>
                  <a:spcPct val="150000"/>
                </a:lnSpc>
              </a:pPr>
              <a:r>
                <a:rPr lang="en-US" sz="2800" b="1" dirty="0"/>
                <a:t>1. Identity Theft</a:t>
              </a:r>
            </a:p>
            <a:p>
              <a:pPr algn="just">
                <a:lnSpc>
                  <a:spcPct val="150000"/>
                </a:lnSpc>
              </a:pPr>
              <a:r>
                <a:rPr lang="en-US" sz="2400" dirty="0"/>
                <a:t>Identity theft occurs when someone steals another person's personal information and uses it without permission.</a:t>
              </a:r>
            </a:p>
            <a:p>
              <a:pPr algn="just">
                <a:lnSpc>
                  <a:spcPct val="150000"/>
                </a:lnSpc>
              </a:pPr>
              <a:r>
                <a:rPr lang="en-US" sz="2400" b="1" dirty="0"/>
                <a:t>Examples:</a:t>
              </a:r>
            </a:p>
            <a:p>
              <a:pPr algn="just">
                <a:lnSpc>
                  <a:spcPct val="150000"/>
                </a:lnSpc>
              </a:pPr>
              <a:r>
                <a:rPr lang="en-US" sz="2400" dirty="0"/>
                <a:t>• Using someone else's credit card </a:t>
              </a:r>
            </a:p>
            <a:p>
              <a:pPr algn="just">
                <a:lnSpc>
                  <a:spcPct val="150000"/>
                </a:lnSpc>
              </a:pPr>
              <a:r>
                <a:rPr lang="en-US" sz="2400" dirty="0"/>
                <a:t>• Opening bank accounts using stolen identity </a:t>
              </a:r>
            </a:p>
            <a:p>
              <a:pPr algn="just">
                <a:lnSpc>
                  <a:spcPct val="150000"/>
                </a:lnSpc>
              </a:pPr>
              <a:r>
                <a:rPr lang="en-US" sz="2400" dirty="0"/>
                <a:t>• Using another person's login credentials</a:t>
              </a:r>
            </a:p>
            <a:p>
              <a:pPr algn="just">
                <a:lnSpc>
                  <a:spcPct val="150000"/>
                </a:lnSpc>
              </a:pPr>
              <a:r>
                <a:rPr lang="en-US" sz="2400" b="1" dirty="0"/>
                <a:t>Prevention:</a:t>
              </a:r>
            </a:p>
            <a:p>
              <a:pPr algn="just">
                <a:lnSpc>
                  <a:spcPct val="150000"/>
                </a:lnSpc>
              </a:pPr>
              <a:r>
                <a:rPr lang="en-US" sz="2400" dirty="0"/>
                <a:t>• Strong passwords </a:t>
              </a:r>
            </a:p>
            <a:p>
              <a:pPr algn="just">
                <a:lnSpc>
                  <a:spcPct val="150000"/>
                </a:lnSpc>
              </a:pPr>
              <a:r>
                <a:rPr lang="en-US" sz="2400" dirty="0"/>
                <a:t>• Two‑factor authentication </a:t>
              </a:r>
            </a:p>
            <a:p>
              <a:pPr algn="just">
                <a:lnSpc>
                  <a:spcPct val="150000"/>
                </a:lnSpc>
              </a:pPr>
              <a:r>
                <a:rPr lang="en-US" sz="2400" dirty="0"/>
                <a:t>• Avoid sharing personal information online</a:t>
              </a:r>
            </a:p>
          </p:txBody>
        </p:sp>
      </p:grpSp>
    </p:spTree>
    <p:extLst>
      <p:ext uri="{BB962C8B-B14F-4D97-AF65-F5344CB8AC3E}">
        <p14:creationId xmlns:p14="http://schemas.microsoft.com/office/powerpoint/2010/main" val="2655506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FF8D7-A3FF-F2F6-3509-FFF38A9E8B9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A63F991-FE04-6616-CB00-CEE2FB53019B}"/>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CFBC651C-B1CF-BBB3-FE53-DD057E3622C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06B1843D-FF0E-9992-DF8F-1BEDB3D56887}"/>
              </a:ext>
            </a:extLst>
          </p:cNvPr>
          <p:cNvGrpSpPr/>
          <p:nvPr/>
        </p:nvGrpSpPr>
        <p:grpSpPr>
          <a:xfrm>
            <a:off x="560162" y="489709"/>
            <a:ext cx="8633276" cy="6335782"/>
            <a:chOff x="157480" y="-267335"/>
            <a:chExt cx="11511034" cy="8447704"/>
          </a:xfrm>
        </p:grpSpPr>
        <p:sp>
          <p:nvSpPr>
            <p:cNvPr id="6" name="TextBox 6">
              <a:extLst>
                <a:ext uri="{FF2B5EF4-FFF2-40B4-BE49-F238E27FC236}">
                  <a16:creationId xmlns:a16="http://schemas.microsoft.com/office/drawing/2014/main" id="{5601F74F-BC8E-20A8-45FC-D9B96F888516}"/>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F47E21A2-3A94-591D-D10C-9196FDD8214D}"/>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2. Loss of Privacy</a:t>
              </a:r>
            </a:p>
            <a:p>
              <a:pPr algn="just">
                <a:lnSpc>
                  <a:spcPct val="150000"/>
                </a:lnSpc>
              </a:pPr>
              <a:r>
                <a:rPr lang="en-US" sz="2400" dirty="0"/>
                <a:t>Loss of privacy happens when personal information becomes accessible to others without the user's consent.</a:t>
              </a:r>
            </a:p>
            <a:p>
              <a:pPr algn="just">
                <a:lnSpc>
                  <a:spcPct val="150000"/>
                </a:lnSpc>
              </a:pPr>
              <a:r>
                <a:rPr lang="en-US" sz="2400" b="1" dirty="0"/>
                <a:t>Examples:</a:t>
              </a:r>
            </a:p>
            <a:p>
              <a:pPr algn="just">
                <a:lnSpc>
                  <a:spcPct val="150000"/>
                </a:lnSpc>
              </a:pPr>
              <a:r>
                <a:rPr lang="en-US" sz="2400" dirty="0"/>
                <a:t>• Personal photos leaked online </a:t>
              </a:r>
            </a:p>
            <a:p>
              <a:pPr algn="just">
                <a:lnSpc>
                  <a:spcPct val="150000"/>
                </a:lnSpc>
              </a:pPr>
              <a:r>
                <a:rPr lang="en-US" sz="2400" dirty="0"/>
                <a:t>• Personal data collected without permission </a:t>
              </a:r>
            </a:p>
            <a:p>
              <a:pPr algn="just">
                <a:lnSpc>
                  <a:spcPct val="150000"/>
                </a:lnSpc>
              </a:pPr>
              <a:r>
                <a:rPr lang="en-US" sz="2400" dirty="0"/>
                <a:t>• Private messages exposed</a:t>
              </a:r>
            </a:p>
            <a:p>
              <a:pPr algn="just">
                <a:lnSpc>
                  <a:spcPct val="150000"/>
                </a:lnSpc>
              </a:pPr>
              <a:r>
                <a:rPr lang="en-US" sz="2400" b="1" dirty="0"/>
                <a:t>Protection:</a:t>
              </a:r>
            </a:p>
            <a:p>
              <a:pPr algn="just">
                <a:lnSpc>
                  <a:spcPct val="150000"/>
                </a:lnSpc>
              </a:pPr>
              <a:r>
                <a:rPr lang="en-US" sz="2400" dirty="0"/>
                <a:t>• Use privacy settings on social media </a:t>
              </a:r>
            </a:p>
            <a:p>
              <a:pPr algn="just">
                <a:lnSpc>
                  <a:spcPct val="150000"/>
                </a:lnSpc>
              </a:pPr>
              <a:r>
                <a:rPr lang="en-US" sz="2400" dirty="0"/>
                <a:t>• Avoid sharing sensitive data online</a:t>
              </a:r>
            </a:p>
          </p:txBody>
        </p:sp>
      </p:grpSp>
    </p:spTree>
    <p:extLst>
      <p:ext uri="{BB962C8B-B14F-4D97-AF65-F5344CB8AC3E}">
        <p14:creationId xmlns:p14="http://schemas.microsoft.com/office/powerpoint/2010/main" val="230279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F750-7F98-A91C-024D-4BAE055869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435F2C-A21D-97CF-D780-FA05B8515166}"/>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F94D31A0-79E1-BBA6-7473-45F52962EE91}"/>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85058188-9435-A6AE-F7A6-6A74C96EB7F7}"/>
              </a:ext>
            </a:extLst>
          </p:cNvPr>
          <p:cNvGrpSpPr/>
          <p:nvPr/>
        </p:nvGrpSpPr>
        <p:grpSpPr>
          <a:xfrm>
            <a:off x="560162" y="489709"/>
            <a:ext cx="8633276" cy="6335782"/>
            <a:chOff x="157480" y="-267335"/>
            <a:chExt cx="11511034" cy="8447704"/>
          </a:xfrm>
        </p:grpSpPr>
        <p:sp>
          <p:nvSpPr>
            <p:cNvPr id="6" name="TextBox 6">
              <a:extLst>
                <a:ext uri="{FF2B5EF4-FFF2-40B4-BE49-F238E27FC236}">
                  <a16:creationId xmlns:a16="http://schemas.microsoft.com/office/drawing/2014/main" id="{20E697B9-8573-204F-A55D-7F09C88B33F2}"/>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043B3ECD-64D9-B641-5B41-3E46E32AB7E5}"/>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3. Online Spying Tools</a:t>
              </a:r>
            </a:p>
            <a:p>
              <a:pPr algn="just">
                <a:lnSpc>
                  <a:spcPct val="150000"/>
                </a:lnSpc>
              </a:pPr>
              <a:r>
                <a:rPr lang="en-US" sz="2400" dirty="0"/>
                <a:t>Online spying tools are programs that secretly monitor user activities.</a:t>
              </a:r>
            </a:p>
            <a:p>
              <a:pPr algn="just">
                <a:lnSpc>
                  <a:spcPct val="150000"/>
                </a:lnSpc>
              </a:pPr>
              <a:r>
                <a:rPr lang="en-US" sz="2400" b="1" dirty="0"/>
                <a:t>Examples:</a:t>
              </a:r>
            </a:p>
            <a:p>
              <a:pPr algn="just">
                <a:lnSpc>
                  <a:spcPct val="150000"/>
                </a:lnSpc>
              </a:pPr>
              <a:r>
                <a:rPr lang="en-US" sz="2400" dirty="0"/>
                <a:t>• Spyware • Keyloggers • Tracking software</a:t>
              </a:r>
            </a:p>
            <a:p>
              <a:pPr algn="just">
                <a:lnSpc>
                  <a:spcPct val="150000"/>
                </a:lnSpc>
              </a:pPr>
              <a:r>
                <a:rPr lang="en-US" sz="2400" b="1" dirty="0"/>
                <a:t>These tools can record:</a:t>
              </a:r>
            </a:p>
            <a:p>
              <a:pPr algn="just">
                <a:lnSpc>
                  <a:spcPct val="150000"/>
                </a:lnSpc>
              </a:pPr>
              <a:r>
                <a:rPr lang="en-US" sz="2400" dirty="0"/>
                <a:t>• Passwords • Keystrokes • Browsing history</a:t>
              </a:r>
            </a:p>
            <a:p>
              <a:pPr algn="just">
                <a:lnSpc>
                  <a:spcPct val="150000"/>
                </a:lnSpc>
              </a:pPr>
              <a:r>
                <a:rPr lang="en-US" sz="2400" b="1" dirty="0"/>
                <a:t>Protection:</a:t>
              </a:r>
            </a:p>
            <a:p>
              <a:pPr algn="just">
                <a:lnSpc>
                  <a:spcPct val="150000"/>
                </a:lnSpc>
              </a:pPr>
              <a:r>
                <a:rPr lang="en-US" sz="2400" dirty="0"/>
                <a:t>• Install antivirus software </a:t>
              </a:r>
            </a:p>
            <a:p>
              <a:pPr algn="just">
                <a:lnSpc>
                  <a:spcPct val="150000"/>
                </a:lnSpc>
              </a:pPr>
              <a:r>
                <a:rPr lang="en-US" sz="2400" dirty="0"/>
                <a:t>• Avoid downloading unknown applications</a:t>
              </a:r>
            </a:p>
          </p:txBody>
        </p:sp>
      </p:grpSp>
    </p:spTree>
    <p:extLst>
      <p:ext uri="{BB962C8B-B14F-4D97-AF65-F5344CB8AC3E}">
        <p14:creationId xmlns:p14="http://schemas.microsoft.com/office/powerpoint/2010/main" val="327976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B8042-B764-7EDB-3A7E-8FCA4913CD5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F82E2B-9789-B94E-2D1E-E25449DF5208}"/>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115EAFE2-7DA7-A2BE-6CBA-1492858F1A25}"/>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D9C77C33-F71F-1FA0-8A9D-8414FE2D3180}"/>
              </a:ext>
            </a:extLst>
          </p:cNvPr>
          <p:cNvGrpSpPr/>
          <p:nvPr/>
        </p:nvGrpSpPr>
        <p:grpSpPr>
          <a:xfrm>
            <a:off x="560162" y="457200"/>
            <a:ext cx="8633276" cy="4673789"/>
            <a:chOff x="157480" y="-267335"/>
            <a:chExt cx="11511034" cy="6231715"/>
          </a:xfrm>
        </p:grpSpPr>
        <p:sp>
          <p:nvSpPr>
            <p:cNvPr id="6" name="TextBox 6">
              <a:extLst>
                <a:ext uri="{FF2B5EF4-FFF2-40B4-BE49-F238E27FC236}">
                  <a16:creationId xmlns:a16="http://schemas.microsoft.com/office/drawing/2014/main" id="{86B02F34-148D-4FC8-71CD-0F95D40503E3}"/>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1EB284EE-500A-4102-5E1A-9FD32F4DBE52}"/>
                </a:ext>
              </a:extLst>
            </p:cNvPr>
            <p:cNvSpPr txBox="1"/>
            <p:nvPr/>
          </p:nvSpPr>
          <p:spPr>
            <a:xfrm>
              <a:off x="157480" y="746971"/>
              <a:ext cx="11204787" cy="5217409"/>
            </a:xfrm>
            <a:prstGeom prst="rect">
              <a:avLst/>
            </a:prstGeom>
          </p:spPr>
          <p:txBody>
            <a:bodyPr wrap="square" lIns="0" tIns="0" rIns="0" bIns="0" rtlCol="0" anchor="t">
              <a:spAutoFit/>
            </a:bodyPr>
            <a:lstStyle/>
            <a:p>
              <a:pPr algn="just">
                <a:lnSpc>
                  <a:spcPct val="150000"/>
                </a:lnSpc>
              </a:pPr>
              <a:r>
                <a:rPr lang="en-US" sz="2800" b="1" dirty="0"/>
                <a:t>4. Online Theft</a:t>
              </a:r>
            </a:p>
            <a:p>
              <a:pPr algn="just">
                <a:lnSpc>
                  <a:spcPct val="150000"/>
                </a:lnSpc>
              </a:pPr>
              <a:r>
                <a:rPr lang="en-US" sz="2400" dirty="0"/>
                <a:t>Online theft refers to stealing money or valuable information using the internet.</a:t>
              </a:r>
            </a:p>
            <a:p>
              <a:pPr algn="just">
                <a:lnSpc>
                  <a:spcPct val="150000"/>
                </a:lnSpc>
              </a:pPr>
              <a:r>
                <a:rPr lang="en-US" sz="2400" b="1" dirty="0"/>
                <a:t>Examples:</a:t>
              </a:r>
            </a:p>
            <a:p>
              <a:pPr algn="just">
                <a:lnSpc>
                  <a:spcPct val="150000"/>
                </a:lnSpc>
              </a:pPr>
              <a:r>
                <a:rPr lang="en-US" sz="2400" dirty="0"/>
                <a:t>• Hacking bank accounts </a:t>
              </a:r>
            </a:p>
            <a:p>
              <a:pPr algn="just">
                <a:lnSpc>
                  <a:spcPct val="150000"/>
                </a:lnSpc>
              </a:pPr>
              <a:r>
                <a:rPr lang="en-US" sz="2400" dirty="0"/>
                <a:t>• Stealing digital wallets </a:t>
              </a:r>
            </a:p>
            <a:p>
              <a:pPr algn="just">
                <a:lnSpc>
                  <a:spcPct val="150000"/>
                </a:lnSpc>
              </a:pPr>
              <a:r>
                <a:rPr lang="en-US" sz="2400" dirty="0"/>
                <a:t>• Unauthorized financial transactions</a:t>
              </a:r>
            </a:p>
          </p:txBody>
        </p:sp>
      </p:grpSp>
    </p:spTree>
    <p:extLst>
      <p:ext uri="{BB962C8B-B14F-4D97-AF65-F5344CB8AC3E}">
        <p14:creationId xmlns:p14="http://schemas.microsoft.com/office/powerpoint/2010/main" val="312758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80D59-5DB1-D1DC-3E8E-81C4479BC7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36A6D5A-DE34-61D4-1D71-EBE7946B3B32}"/>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9A1DB88E-97E2-E4EB-53CC-E293ADC3A6C0}"/>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2ACD4C81-272E-B7B3-E475-2F3D3C9DE9A5}"/>
              </a:ext>
            </a:extLst>
          </p:cNvPr>
          <p:cNvGrpSpPr/>
          <p:nvPr/>
        </p:nvGrpSpPr>
        <p:grpSpPr>
          <a:xfrm>
            <a:off x="560162" y="457200"/>
            <a:ext cx="8633276" cy="4673789"/>
            <a:chOff x="157480" y="-267336"/>
            <a:chExt cx="11511034" cy="6231716"/>
          </a:xfrm>
        </p:grpSpPr>
        <p:sp>
          <p:nvSpPr>
            <p:cNvPr id="6" name="TextBox 6">
              <a:extLst>
                <a:ext uri="{FF2B5EF4-FFF2-40B4-BE49-F238E27FC236}">
                  <a16:creationId xmlns:a16="http://schemas.microsoft.com/office/drawing/2014/main" id="{1D115DC9-C071-8668-0063-9D2AFFDEB277}"/>
                </a:ext>
              </a:extLst>
            </p:cNvPr>
            <p:cNvSpPr txBox="1"/>
            <p:nvPr/>
          </p:nvSpPr>
          <p:spPr>
            <a:xfrm>
              <a:off x="157480" y="-267336"/>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8FE5BC4D-D987-18C1-DFBB-DAC7B9B41D77}"/>
                </a:ext>
              </a:extLst>
            </p:cNvPr>
            <p:cNvSpPr txBox="1"/>
            <p:nvPr/>
          </p:nvSpPr>
          <p:spPr>
            <a:xfrm>
              <a:off x="157480" y="746971"/>
              <a:ext cx="11204787" cy="5217409"/>
            </a:xfrm>
            <a:prstGeom prst="rect">
              <a:avLst/>
            </a:prstGeom>
          </p:spPr>
          <p:txBody>
            <a:bodyPr wrap="square" lIns="0" tIns="0" rIns="0" bIns="0" rtlCol="0" anchor="t">
              <a:spAutoFit/>
            </a:bodyPr>
            <a:lstStyle/>
            <a:p>
              <a:pPr algn="just">
                <a:lnSpc>
                  <a:spcPct val="150000"/>
                </a:lnSpc>
              </a:pPr>
              <a:r>
                <a:rPr lang="en-US" sz="2800" b="1" dirty="0"/>
                <a:t>5. Online Fraud</a:t>
              </a:r>
            </a:p>
            <a:p>
              <a:pPr algn="just">
                <a:lnSpc>
                  <a:spcPct val="150000"/>
                </a:lnSpc>
              </a:pPr>
              <a:r>
                <a:rPr lang="en-US" sz="2400" dirty="0"/>
                <a:t>Online fraud occurs when criminals deceive people through the internet in order to obtain money or confidential information.</a:t>
              </a:r>
            </a:p>
            <a:p>
              <a:pPr algn="just">
                <a:lnSpc>
                  <a:spcPct val="150000"/>
                </a:lnSpc>
              </a:pPr>
              <a:r>
                <a:rPr lang="en-US" sz="2400" b="1" dirty="0"/>
                <a:t>Examples:</a:t>
              </a:r>
            </a:p>
            <a:p>
              <a:pPr algn="just">
                <a:lnSpc>
                  <a:spcPct val="150000"/>
                </a:lnSpc>
              </a:pPr>
              <a:r>
                <a:rPr lang="en-US" sz="2400" dirty="0"/>
                <a:t>• Fake online shopping websites </a:t>
              </a:r>
            </a:p>
            <a:p>
              <a:pPr algn="just">
                <a:lnSpc>
                  <a:spcPct val="150000"/>
                </a:lnSpc>
              </a:pPr>
              <a:r>
                <a:rPr lang="en-US" sz="2400" dirty="0"/>
                <a:t>• Lottery scams </a:t>
              </a:r>
            </a:p>
            <a:p>
              <a:pPr algn="just">
                <a:lnSpc>
                  <a:spcPct val="150000"/>
                </a:lnSpc>
              </a:pPr>
              <a:r>
                <a:rPr lang="en-US" sz="2400" dirty="0"/>
                <a:t>• Fake job offers</a:t>
              </a:r>
            </a:p>
          </p:txBody>
        </p:sp>
      </p:grpSp>
    </p:spTree>
    <p:extLst>
      <p:ext uri="{BB962C8B-B14F-4D97-AF65-F5344CB8AC3E}">
        <p14:creationId xmlns:p14="http://schemas.microsoft.com/office/powerpoint/2010/main" val="10624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6E75-B36F-D436-7472-DD6252AE7A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D71EC1-20BC-C0F3-C845-0F39077A80D7}"/>
              </a:ext>
            </a:extLst>
          </p:cNvPr>
          <p:cNvSpPr/>
          <p:nvPr/>
        </p:nvSpPr>
        <p:spPr>
          <a:xfrm rot="-1100510">
            <a:off x="4291859" y="-4229293"/>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E83B7A60-0FE5-6D3C-0B80-3027A5102DC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3666B72-B05B-3451-2F6F-D06D01B4376B}"/>
              </a:ext>
            </a:extLst>
          </p:cNvPr>
          <p:cNvGrpSpPr/>
          <p:nvPr/>
        </p:nvGrpSpPr>
        <p:grpSpPr>
          <a:xfrm>
            <a:off x="560162" y="533400"/>
            <a:ext cx="8633276" cy="4119791"/>
            <a:chOff x="157480" y="-267335"/>
            <a:chExt cx="11511034" cy="5493051"/>
          </a:xfrm>
        </p:grpSpPr>
        <p:sp>
          <p:nvSpPr>
            <p:cNvPr id="6" name="TextBox 6">
              <a:extLst>
                <a:ext uri="{FF2B5EF4-FFF2-40B4-BE49-F238E27FC236}">
                  <a16:creationId xmlns:a16="http://schemas.microsoft.com/office/drawing/2014/main" id="{BED23F1F-F4D2-272F-4B44-10E2F71F5BEC}"/>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Users:</a:t>
              </a:r>
            </a:p>
          </p:txBody>
        </p:sp>
        <p:sp>
          <p:nvSpPr>
            <p:cNvPr id="7" name="TextBox 7">
              <a:extLst>
                <a:ext uri="{FF2B5EF4-FFF2-40B4-BE49-F238E27FC236}">
                  <a16:creationId xmlns:a16="http://schemas.microsoft.com/office/drawing/2014/main" id="{16D42F42-11A4-3818-4212-86B070586B62}"/>
                </a:ext>
              </a:extLst>
            </p:cNvPr>
            <p:cNvSpPr txBox="1"/>
            <p:nvPr/>
          </p:nvSpPr>
          <p:spPr>
            <a:xfrm>
              <a:off x="157480" y="746971"/>
              <a:ext cx="11204787" cy="4478745"/>
            </a:xfrm>
            <a:prstGeom prst="rect">
              <a:avLst/>
            </a:prstGeom>
          </p:spPr>
          <p:txBody>
            <a:bodyPr wrap="square" lIns="0" tIns="0" rIns="0" bIns="0" rtlCol="0" anchor="t">
              <a:spAutoFit/>
            </a:bodyPr>
            <a:lstStyle/>
            <a:p>
              <a:pPr algn="just">
                <a:lnSpc>
                  <a:spcPct val="150000"/>
                </a:lnSpc>
              </a:pPr>
              <a:r>
                <a:rPr lang="en-US" sz="2800" b="1" dirty="0"/>
                <a:t>6. Dot Cons (Internet Scams)</a:t>
              </a:r>
            </a:p>
            <a:p>
              <a:pPr algn="just">
                <a:lnSpc>
                  <a:spcPct val="150000"/>
                </a:lnSpc>
              </a:pPr>
              <a:r>
                <a:rPr lang="en-US" sz="2400" dirty="0"/>
                <a:t>Dot cons refer to fraudulent activities conducted on the internet.</a:t>
              </a:r>
            </a:p>
            <a:p>
              <a:pPr algn="just">
                <a:lnSpc>
                  <a:spcPct val="150000"/>
                </a:lnSpc>
              </a:pPr>
              <a:r>
                <a:rPr lang="en-US" sz="2400" b="1" dirty="0"/>
                <a:t>Examples:</a:t>
              </a:r>
            </a:p>
            <a:p>
              <a:pPr algn="just">
                <a:lnSpc>
                  <a:spcPct val="150000"/>
                </a:lnSpc>
              </a:pPr>
              <a:r>
                <a:rPr lang="en-US" sz="2400" dirty="0"/>
                <a:t>• Fake investment schemes </a:t>
              </a:r>
            </a:p>
            <a:p>
              <a:pPr algn="just">
                <a:lnSpc>
                  <a:spcPct val="150000"/>
                </a:lnSpc>
              </a:pPr>
              <a:r>
                <a:rPr lang="en-US" sz="2400" dirty="0"/>
                <a:t>• Phishing emails </a:t>
              </a:r>
            </a:p>
            <a:p>
              <a:pPr algn="just">
                <a:lnSpc>
                  <a:spcPct val="150000"/>
                </a:lnSpc>
              </a:pPr>
              <a:r>
                <a:rPr lang="en-US" sz="2400" dirty="0"/>
                <a:t>• Fake charity websites</a:t>
              </a:r>
            </a:p>
          </p:txBody>
        </p:sp>
      </p:grpSp>
    </p:spTree>
    <p:extLst>
      <p:ext uri="{BB962C8B-B14F-4D97-AF65-F5344CB8AC3E}">
        <p14:creationId xmlns:p14="http://schemas.microsoft.com/office/powerpoint/2010/main" val="356097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A485-F6D6-9D31-81A2-6A0C4BD74C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A5F2E7-A6FF-2B13-54A2-5E8074E70EB6}"/>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C6E4E024-0E4C-428E-BBBC-7834E07B9FC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1CD824ED-E4D2-FA6B-3E73-BCE364BF3105}"/>
              </a:ext>
            </a:extLst>
          </p:cNvPr>
          <p:cNvGrpSpPr/>
          <p:nvPr/>
        </p:nvGrpSpPr>
        <p:grpSpPr>
          <a:xfrm>
            <a:off x="560162" y="258876"/>
            <a:ext cx="8633276" cy="6889780"/>
            <a:chOff x="157480" y="-267335"/>
            <a:chExt cx="11511034" cy="9186368"/>
          </a:xfrm>
        </p:grpSpPr>
        <p:sp>
          <p:nvSpPr>
            <p:cNvPr id="6" name="TextBox 6">
              <a:extLst>
                <a:ext uri="{FF2B5EF4-FFF2-40B4-BE49-F238E27FC236}">
                  <a16:creationId xmlns:a16="http://schemas.microsoft.com/office/drawing/2014/main" id="{980BB8ED-CF90-9B1F-CFE1-E71EBC619D29}"/>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925CCD39-A018-881C-B5C7-89F2CC14EA6A}"/>
                </a:ext>
              </a:extLst>
            </p:cNvPr>
            <p:cNvSpPr txBox="1"/>
            <p:nvPr/>
          </p:nvSpPr>
          <p:spPr>
            <a:xfrm>
              <a:off x="157480" y="746971"/>
              <a:ext cx="11204787" cy="8172062"/>
            </a:xfrm>
            <a:prstGeom prst="rect">
              <a:avLst/>
            </a:prstGeom>
          </p:spPr>
          <p:txBody>
            <a:bodyPr wrap="square" lIns="0" tIns="0" rIns="0" bIns="0" rtlCol="0" anchor="t">
              <a:spAutoFit/>
            </a:bodyPr>
            <a:lstStyle/>
            <a:p>
              <a:pPr algn="just">
                <a:lnSpc>
                  <a:spcPct val="150000"/>
                </a:lnSpc>
              </a:pPr>
              <a:r>
                <a:rPr lang="en-US" sz="2400" dirty="0"/>
                <a:t>Hardware threats refer to risks that can damage or destroy computer equipment.</a:t>
              </a:r>
            </a:p>
            <a:p>
              <a:pPr algn="just">
                <a:lnSpc>
                  <a:spcPct val="150000"/>
                </a:lnSpc>
              </a:pPr>
              <a:r>
                <a:rPr lang="en-US" sz="2800" b="1" dirty="0"/>
                <a:t>1. Power Related Threats</a:t>
              </a:r>
            </a:p>
            <a:p>
              <a:pPr algn="just">
                <a:lnSpc>
                  <a:spcPct val="150000"/>
                </a:lnSpc>
              </a:pPr>
              <a:r>
                <a:rPr lang="en-US" sz="2400" dirty="0"/>
                <a:t>Electrical problems can damage computer hardware.</a:t>
              </a:r>
            </a:p>
            <a:p>
              <a:pPr algn="just">
                <a:lnSpc>
                  <a:spcPct val="150000"/>
                </a:lnSpc>
              </a:pPr>
              <a:r>
                <a:rPr lang="en-US" sz="2400" b="1" dirty="0"/>
                <a:t>Examples:</a:t>
              </a:r>
            </a:p>
            <a:p>
              <a:pPr algn="just">
                <a:lnSpc>
                  <a:spcPct val="150000"/>
                </a:lnSpc>
              </a:pPr>
              <a:r>
                <a:rPr lang="en-US" sz="2400" dirty="0"/>
                <a:t>• Power failures </a:t>
              </a:r>
            </a:p>
            <a:p>
              <a:pPr algn="just">
                <a:lnSpc>
                  <a:spcPct val="150000"/>
                </a:lnSpc>
              </a:pPr>
              <a:r>
                <a:rPr lang="en-US" sz="2400" dirty="0"/>
                <a:t>• Voltage fluctuations </a:t>
              </a:r>
            </a:p>
            <a:p>
              <a:pPr algn="just">
                <a:lnSpc>
                  <a:spcPct val="150000"/>
                </a:lnSpc>
              </a:pPr>
              <a:r>
                <a:rPr lang="en-US" sz="2400" dirty="0"/>
                <a:t>• Power surges</a:t>
              </a:r>
            </a:p>
            <a:p>
              <a:pPr algn="just">
                <a:lnSpc>
                  <a:spcPct val="150000"/>
                </a:lnSpc>
              </a:pPr>
              <a:r>
                <a:rPr lang="en-US" sz="2400" b="1" dirty="0"/>
                <a:t>Protection:</a:t>
              </a:r>
            </a:p>
            <a:p>
              <a:pPr algn="just">
                <a:lnSpc>
                  <a:spcPct val="150000"/>
                </a:lnSpc>
              </a:pPr>
              <a:r>
                <a:rPr lang="en-US" sz="2400" dirty="0"/>
                <a:t>• Use UPS (Uninterruptible Power Supply) </a:t>
              </a:r>
            </a:p>
            <a:p>
              <a:pPr algn="just">
                <a:lnSpc>
                  <a:spcPct val="150000"/>
                </a:lnSpc>
              </a:pPr>
              <a:r>
                <a:rPr lang="en-US" sz="2400" dirty="0"/>
                <a:t>• Use surge protectors</a:t>
              </a:r>
            </a:p>
          </p:txBody>
        </p:sp>
      </p:grpSp>
    </p:spTree>
    <p:extLst>
      <p:ext uri="{BB962C8B-B14F-4D97-AF65-F5344CB8AC3E}">
        <p14:creationId xmlns:p14="http://schemas.microsoft.com/office/powerpoint/2010/main" val="1071237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8B267-18C2-FE0F-8FCA-F949A1B72F1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17644C-BD09-EF9F-F5CB-4E6AB62DE785}"/>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A4C41A6A-E2D1-7593-6E48-70477CACFBA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19923CD-6E68-6D1C-9D50-64C8F30DBA39}"/>
              </a:ext>
            </a:extLst>
          </p:cNvPr>
          <p:cNvGrpSpPr/>
          <p:nvPr/>
        </p:nvGrpSpPr>
        <p:grpSpPr>
          <a:xfrm>
            <a:off x="560162" y="258876"/>
            <a:ext cx="8633276" cy="5227787"/>
            <a:chOff x="157480" y="-267335"/>
            <a:chExt cx="11511034" cy="6970379"/>
          </a:xfrm>
        </p:grpSpPr>
        <p:sp>
          <p:nvSpPr>
            <p:cNvPr id="6" name="TextBox 6">
              <a:extLst>
                <a:ext uri="{FF2B5EF4-FFF2-40B4-BE49-F238E27FC236}">
                  <a16:creationId xmlns:a16="http://schemas.microsoft.com/office/drawing/2014/main" id="{246A5D26-C5F0-0349-9841-F3C604B7C6C9}"/>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ED613556-C47D-C4D7-A2F5-2C195FB93E9B}"/>
                </a:ext>
              </a:extLst>
            </p:cNvPr>
            <p:cNvSpPr txBox="1"/>
            <p:nvPr/>
          </p:nvSpPr>
          <p:spPr>
            <a:xfrm>
              <a:off x="157480" y="746971"/>
              <a:ext cx="11204787" cy="5956073"/>
            </a:xfrm>
            <a:prstGeom prst="rect">
              <a:avLst/>
            </a:prstGeom>
          </p:spPr>
          <p:txBody>
            <a:bodyPr wrap="square" lIns="0" tIns="0" rIns="0" bIns="0" rtlCol="0" anchor="t">
              <a:spAutoFit/>
            </a:bodyPr>
            <a:lstStyle/>
            <a:p>
              <a:pPr algn="just">
                <a:lnSpc>
                  <a:spcPct val="150000"/>
                </a:lnSpc>
              </a:pPr>
              <a:r>
                <a:rPr lang="en-US" sz="2800" b="1" dirty="0"/>
                <a:t>2. Hardware Loss</a:t>
              </a:r>
            </a:p>
            <a:p>
              <a:pPr algn="just">
                <a:lnSpc>
                  <a:spcPct val="150000"/>
                </a:lnSpc>
              </a:pPr>
              <a:r>
                <a:rPr lang="en-US" sz="2400" dirty="0"/>
                <a:t>Hardware loss occurs when equipment is stolen or misplaced.</a:t>
              </a:r>
            </a:p>
            <a:p>
              <a:pPr algn="just">
                <a:lnSpc>
                  <a:spcPct val="150000"/>
                </a:lnSpc>
              </a:pPr>
              <a:r>
                <a:rPr lang="en-US" sz="2400" dirty="0"/>
                <a:t>Examples:</a:t>
              </a:r>
            </a:p>
            <a:p>
              <a:pPr algn="just">
                <a:lnSpc>
                  <a:spcPct val="150000"/>
                </a:lnSpc>
              </a:pPr>
              <a:r>
                <a:rPr lang="en-US" sz="2400" dirty="0"/>
                <a:t>• Laptop theft </a:t>
              </a:r>
            </a:p>
            <a:p>
              <a:pPr algn="just">
                <a:lnSpc>
                  <a:spcPct val="150000"/>
                </a:lnSpc>
              </a:pPr>
              <a:r>
                <a:rPr lang="en-US" sz="2400" dirty="0"/>
                <a:t>• Lost USB drives</a:t>
              </a:r>
            </a:p>
            <a:p>
              <a:pPr algn="just">
                <a:lnSpc>
                  <a:spcPct val="150000"/>
                </a:lnSpc>
              </a:pPr>
              <a:r>
                <a:rPr lang="en-US" sz="2400" b="1" dirty="0"/>
                <a:t>Protection:</a:t>
              </a:r>
            </a:p>
            <a:p>
              <a:pPr algn="just">
                <a:lnSpc>
                  <a:spcPct val="150000"/>
                </a:lnSpc>
              </a:pPr>
              <a:r>
                <a:rPr lang="en-US" sz="2400" dirty="0"/>
                <a:t>• Physical security </a:t>
              </a:r>
            </a:p>
            <a:p>
              <a:pPr algn="just">
                <a:lnSpc>
                  <a:spcPct val="150000"/>
                </a:lnSpc>
              </a:pPr>
              <a:r>
                <a:rPr lang="en-US" sz="2400" dirty="0"/>
                <a:t>• Device tracking systems</a:t>
              </a:r>
            </a:p>
          </p:txBody>
        </p:sp>
      </p:grpSp>
    </p:spTree>
    <p:extLst>
      <p:ext uri="{BB962C8B-B14F-4D97-AF65-F5344CB8AC3E}">
        <p14:creationId xmlns:p14="http://schemas.microsoft.com/office/powerpoint/2010/main" val="188606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4F9E-FAC1-DF30-01FE-35CFF004C5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DDC757-D0DC-2175-D44C-5E8D2172295D}"/>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822F4DDB-4BB4-EBF3-AC85-9D55E9A4D22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54442B3-5DBA-929E-B9DC-45AFC0AF26EC}"/>
              </a:ext>
            </a:extLst>
          </p:cNvPr>
          <p:cNvGrpSpPr/>
          <p:nvPr/>
        </p:nvGrpSpPr>
        <p:grpSpPr>
          <a:xfrm>
            <a:off x="560162" y="258876"/>
            <a:ext cx="8633276" cy="6335782"/>
            <a:chOff x="157480" y="-267335"/>
            <a:chExt cx="11511034" cy="8447704"/>
          </a:xfrm>
        </p:grpSpPr>
        <p:sp>
          <p:nvSpPr>
            <p:cNvPr id="6" name="TextBox 6">
              <a:extLst>
                <a:ext uri="{FF2B5EF4-FFF2-40B4-BE49-F238E27FC236}">
                  <a16:creationId xmlns:a16="http://schemas.microsoft.com/office/drawing/2014/main" id="{6B1FECF8-10E0-9EBE-39A6-C6361F10C5BC}"/>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E1895824-4389-51F4-C96B-949A13DBAAF9}"/>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3. Hardware Damage</a:t>
              </a:r>
            </a:p>
            <a:p>
              <a:pPr algn="just">
                <a:lnSpc>
                  <a:spcPct val="150000"/>
                </a:lnSpc>
              </a:pPr>
              <a:r>
                <a:rPr lang="en-US" sz="2400" dirty="0"/>
                <a:t>Hardware damage occurs due to environmental or physical conditions.</a:t>
              </a:r>
            </a:p>
            <a:p>
              <a:pPr algn="just">
                <a:lnSpc>
                  <a:spcPct val="150000"/>
                </a:lnSpc>
              </a:pPr>
              <a:r>
                <a:rPr lang="en-US" sz="2400" b="1" dirty="0"/>
                <a:t>Examples:</a:t>
              </a:r>
            </a:p>
            <a:p>
              <a:pPr algn="just">
                <a:lnSpc>
                  <a:spcPct val="150000"/>
                </a:lnSpc>
              </a:pPr>
              <a:r>
                <a:rPr lang="en-US" sz="2400" dirty="0"/>
                <a:t>• Water damage </a:t>
              </a:r>
            </a:p>
            <a:p>
              <a:pPr algn="just">
                <a:lnSpc>
                  <a:spcPct val="150000"/>
                </a:lnSpc>
              </a:pPr>
              <a:r>
                <a:rPr lang="en-US" sz="2400" dirty="0"/>
                <a:t>• Dust </a:t>
              </a:r>
            </a:p>
            <a:p>
              <a:pPr algn="just">
                <a:lnSpc>
                  <a:spcPct val="150000"/>
                </a:lnSpc>
              </a:pPr>
              <a:r>
                <a:rPr lang="en-US" sz="2400" dirty="0"/>
                <a:t>• Overheating</a:t>
              </a:r>
            </a:p>
            <a:p>
              <a:pPr algn="just">
                <a:lnSpc>
                  <a:spcPct val="150000"/>
                </a:lnSpc>
              </a:pPr>
              <a:r>
                <a:rPr lang="en-US" sz="2400" b="1" dirty="0"/>
                <a:t>Protection:</a:t>
              </a:r>
            </a:p>
            <a:p>
              <a:pPr algn="just">
                <a:lnSpc>
                  <a:spcPct val="150000"/>
                </a:lnSpc>
              </a:pPr>
              <a:r>
                <a:rPr lang="en-US" sz="2400" dirty="0"/>
                <a:t>• Proper ventilation </a:t>
              </a:r>
            </a:p>
            <a:p>
              <a:pPr algn="just">
                <a:lnSpc>
                  <a:spcPct val="150000"/>
                </a:lnSpc>
              </a:pPr>
              <a:r>
                <a:rPr lang="en-US" sz="2400" dirty="0"/>
                <a:t>• Safe storage</a:t>
              </a:r>
            </a:p>
          </p:txBody>
        </p:sp>
      </p:grpSp>
    </p:spTree>
    <p:extLst>
      <p:ext uri="{BB962C8B-B14F-4D97-AF65-F5344CB8AC3E}">
        <p14:creationId xmlns:p14="http://schemas.microsoft.com/office/powerpoint/2010/main" val="3841638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2F391-724D-C070-36D1-7BDD9C6CE9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160E0A-F5CC-C016-45A4-171D8D406E2E}"/>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EA618F76-8CEE-5793-A454-A424E83C7D9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039116A-AA1F-60F3-02FA-075E3F384E6E}"/>
              </a:ext>
            </a:extLst>
          </p:cNvPr>
          <p:cNvGrpSpPr/>
          <p:nvPr/>
        </p:nvGrpSpPr>
        <p:grpSpPr>
          <a:xfrm>
            <a:off x="560162" y="258876"/>
            <a:ext cx="8633276" cy="5781785"/>
            <a:chOff x="157480" y="-267335"/>
            <a:chExt cx="11511034" cy="7709042"/>
          </a:xfrm>
        </p:grpSpPr>
        <p:sp>
          <p:nvSpPr>
            <p:cNvPr id="6" name="TextBox 6">
              <a:extLst>
                <a:ext uri="{FF2B5EF4-FFF2-40B4-BE49-F238E27FC236}">
                  <a16:creationId xmlns:a16="http://schemas.microsoft.com/office/drawing/2014/main" id="{448389F5-61F5-482F-08AF-DFA166FDB6AB}"/>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BE5F841A-D9F7-C572-3A3C-581F8062145F}"/>
                </a:ext>
              </a:extLst>
            </p:cNvPr>
            <p:cNvSpPr txBox="1"/>
            <p:nvPr/>
          </p:nvSpPr>
          <p:spPr>
            <a:xfrm>
              <a:off x="157480" y="746971"/>
              <a:ext cx="11204787" cy="6694736"/>
            </a:xfrm>
            <a:prstGeom prst="rect">
              <a:avLst/>
            </a:prstGeom>
          </p:spPr>
          <p:txBody>
            <a:bodyPr wrap="square" lIns="0" tIns="0" rIns="0" bIns="0" rtlCol="0" anchor="t">
              <a:spAutoFit/>
            </a:bodyPr>
            <a:lstStyle/>
            <a:p>
              <a:pPr algn="just">
                <a:lnSpc>
                  <a:spcPct val="150000"/>
                </a:lnSpc>
              </a:pPr>
              <a:r>
                <a:rPr lang="en-US" sz="2800" b="1" dirty="0"/>
                <a:t>4. System Failure</a:t>
              </a:r>
            </a:p>
            <a:p>
              <a:pPr algn="just">
                <a:lnSpc>
                  <a:spcPct val="150000"/>
                </a:lnSpc>
              </a:pPr>
              <a:r>
                <a:rPr lang="en-US" sz="2400" dirty="0"/>
                <a:t>System failure occurs when the computer system stops working properly.</a:t>
              </a:r>
            </a:p>
            <a:p>
              <a:pPr algn="just">
                <a:lnSpc>
                  <a:spcPct val="150000"/>
                </a:lnSpc>
              </a:pPr>
              <a:r>
                <a:rPr lang="en-US" sz="2400" b="1" dirty="0"/>
                <a:t>Examples:</a:t>
              </a:r>
            </a:p>
            <a:p>
              <a:pPr algn="just">
                <a:lnSpc>
                  <a:spcPct val="150000"/>
                </a:lnSpc>
              </a:pPr>
              <a:r>
                <a:rPr lang="en-US" sz="2400" dirty="0"/>
                <a:t>• Operating system crash </a:t>
              </a:r>
            </a:p>
            <a:p>
              <a:pPr algn="just">
                <a:lnSpc>
                  <a:spcPct val="150000"/>
                </a:lnSpc>
              </a:pPr>
              <a:r>
                <a:rPr lang="en-US" sz="2400" dirty="0"/>
                <a:t>• Hard disk failure</a:t>
              </a:r>
            </a:p>
            <a:p>
              <a:pPr algn="just">
                <a:lnSpc>
                  <a:spcPct val="150000"/>
                </a:lnSpc>
              </a:pPr>
              <a:r>
                <a:rPr lang="en-US" sz="2400" b="1" dirty="0"/>
                <a:t>Protection:</a:t>
              </a:r>
            </a:p>
            <a:p>
              <a:pPr algn="just">
                <a:lnSpc>
                  <a:spcPct val="150000"/>
                </a:lnSpc>
              </a:pPr>
              <a:r>
                <a:rPr lang="en-US" sz="2400" dirty="0"/>
                <a:t>• Regular maintenance </a:t>
              </a:r>
            </a:p>
            <a:p>
              <a:pPr algn="just">
                <a:lnSpc>
                  <a:spcPct val="150000"/>
                </a:lnSpc>
              </a:pPr>
              <a:r>
                <a:rPr lang="en-US" sz="2400" dirty="0"/>
                <a:t>• Data backups</a:t>
              </a:r>
            </a:p>
          </p:txBody>
        </p:sp>
      </p:grpSp>
    </p:spTree>
    <p:extLst>
      <p:ext uri="{BB962C8B-B14F-4D97-AF65-F5344CB8AC3E}">
        <p14:creationId xmlns:p14="http://schemas.microsoft.com/office/powerpoint/2010/main" val="427385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C7A08-F278-B5DA-AF01-9D9209D0C1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CA230B-3407-B644-A57F-2C4012023925}"/>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F09F51DC-D27F-3E87-9D88-2183A56AF8C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81F87DA-7445-B710-0D79-04B5BF618F71}"/>
              </a:ext>
            </a:extLst>
          </p:cNvPr>
          <p:cNvGrpSpPr/>
          <p:nvPr/>
        </p:nvGrpSpPr>
        <p:grpSpPr>
          <a:xfrm>
            <a:off x="560162" y="258876"/>
            <a:ext cx="8633276" cy="6889780"/>
            <a:chOff x="157480" y="-267335"/>
            <a:chExt cx="11511034" cy="9186368"/>
          </a:xfrm>
        </p:grpSpPr>
        <p:sp>
          <p:nvSpPr>
            <p:cNvPr id="6" name="TextBox 6">
              <a:extLst>
                <a:ext uri="{FF2B5EF4-FFF2-40B4-BE49-F238E27FC236}">
                  <a16:creationId xmlns:a16="http://schemas.microsoft.com/office/drawing/2014/main" id="{D64AD009-B017-62DF-5295-A7F3EED2E773}"/>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BF0D4FD4-59E3-145B-50F7-B2E0644A093C}"/>
                </a:ext>
              </a:extLst>
            </p:cNvPr>
            <p:cNvSpPr txBox="1"/>
            <p:nvPr/>
          </p:nvSpPr>
          <p:spPr>
            <a:xfrm>
              <a:off x="157480" y="746971"/>
              <a:ext cx="11204787" cy="8172062"/>
            </a:xfrm>
            <a:prstGeom prst="rect">
              <a:avLst/>
            </a:prstGeom>
          </p:spPr>
          <p:txBody>
            <a:bodyPr wrap="square" lIns="0" tIns="0" rIns="0" bIns="0" rtlCol="0" anchor="t">
              <a:spAutoFit/>
            </a:bodyPr>
            <a:lstStyle/>
            <a:p>
              <a:pPr algn="just">
                <a:lnSpc>
                  <a:spcPct val="150000"/>
                </a:lnSpc>
              </a:pPr>
              <a:r>
                <a:rPr lang="en-US" sz="2800" b="1" dirty="0"/>
                <a:t>5. Unauthorized Access and Unauthorized Use</a:t>
              </a:r>
            </a:p>
            <a:p>
              <a:pPr algn="just">
                <a:lnSpc>
                  <a:spcPct val="150000"/>
                </a:lnSpc>
              </a:pPr>
              <a:r>
                <a:rPr lang="en-US" sz="2400" dirty="0"/>
                <a:t>Unauthorized access occurs when someone enters a system without permission.</a:t>
              </a:r>
            </a:p>
            <a:p>
              <a:pPr algn="just">
                <a:lnSpc>
                  <a:spcPct val="150000"/>
                </a:lnSpc>
              </a:pPr>
              <a:r>
                <a:rPr lang="en-US" sz="2400" dirty="0"/>
                <a:t>Unauthorized use occurs when a person uses a system in a way that is not allowed by the organization.</a:t>
              </a:r>
            </a:p>
            <a:p>
              <a:pPr algn="just">
                <a:lnSpc>
                  <a:spcPct val="150000"/>
                </a:lnSpc>
              </a:pPr>
              <a:r>
                <a:rPr lang="en-US" sz="2400" b="1" dirty="0"/>
                <a:t>Examples:</a:t>
              </a:r>
            </a:p>
            <a:p>
              <a:pPr algn="just">
                <a:lnSpc>
                  <a:spcPct val="150000"/>
                </a:lnSpc>
              </a:pPr>
              <a:r>
                <a:rPr lang="en-US" sz="2400" dirty="0"/>
                <a:t>• Accessing confidential files </a:t>
              </a:r>
            </a:p>
            <a:p>
              <a:pPr algn="just">
                <a:lnSpc>
                  <a:spcPct val="150000"/>
                </a:lnSpc>
              </a:pPr>
              <a:r>
                <a:rPr lang="en-US" sz="2400" dirty="0"/>
                <a:t>• Using someone else's account</a:t>
              </a:r>
            </a:p>
            <a:p>
              <a:pPr algn="just">
                <a:lnSpc>
                  <a:spcPct val="150000"/>
                </a:lnSpc>
              </a:pPr>
              <a:r>
                <a:rPr lang="en-US" sz="2400" b="1" dirty="0"/>
                <a:t>Protection:</a:t>
              </a:r>
            </a:p>
            <a:p>
              <a:pPr algn="just">
                <a:lnSpc>
                  <a:spcPct val="150000"/>
                </a:lnSpc>
              </a:pPr>
              <a:r>
                <a:rPr lang="en-US" sz="2400" dirty="0"/>
                <a:t>• Password protection </a:t>
              </a:r>
            </a:p>
            <a:p>
              <a:pPr algn="just">
                <a:lnSpc>
                  <a:spcPct val="150000"/>
                </a:lnSpc>
              </a:pPr>
              <a:r>
                <a:rPr lang="en-US" sz="2400" dirty="0"/>
                <a:t>• Authentication systems</a:t>
              </a:r>
            </a:p>
          </p:txBody>
        </p:sp>
      </p:grpSp>
    </p:spTree>
    <p:extLst>
      <p:ext uri="{BB962C8B-B14F-4D97-AF65-F5344CB8AC3E}">
        <p14:creationId xmlns:p14="http://schemas.microsoft.com/office/powerpoint/2010/main" val="4131531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ABD3-FFC8-4CB5-9178-475EE0AC0BB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28B605-07F8-0399-78C9-B77F2C9FC2E8}"/>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4C32BAF5-E64A-EAD5-27FE-52C0971993D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B1E53A05-D08B-535E-40D4-269E0787492E}"/>
              </a:ext>
            </a:extLst>
          </p:cNvPr>
          <p:cNvGrpSpPr/>
          <p:nvPr/>
        </p:nvGrpSpPr>
        <p:grpSpPr>
          <a:xfrm>
            <a:off x="560162" y="258876"/>
            <a:ext cx="8633276" cy="5781785"/>
            <a:chOff x="157480" y="-267335"/>
            <a:chExt cx="11511034" cy="7709042"/>
          </a:xfrm>
        </p:grpSpPr>
        <p:sp>
          <p:nvSpPr>
            <p:cNvPr id="6" name="TextBox 6">
              <a:extLst>
                <a:ext uri="{FF2B5EF4-FFF2-40B4-BE49-F238E27FC236}">
                  <a16:creationId xmlns:a16="http://schemas.microsoft.com/office/drawing/2014/main" id="{F97435E9-92BC-1F80-B1C1-5A482510CF12}"/>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Hardware:</a:t>
              </a:r>
            </a:p>
          </p:txBody>
        </p:sp>
        <p:sp>
          <p:nvSpPr>
            <p:cNvPr id="7" name="TextBox 7">
              <a:extLst>
                <a:ext uri="{FF2B5EF4-FFF2-40B4-BE49-F238E27FC236}">
                  <a16:creationId xmlns:a16="http://schemas.microsoft.com/office/drawing/2014/main" id="{286B6549-05FF-BD37-F271-5A44826C861A}"/>
                </a:ext>
              </a:extLst>
            </p:cNvPr>
            <p:cNvSpPr txBox="1"/>
            <p:nvPr/>
          </p:nvSpPr>
          <p:spPr>
            <a:xfrm>
              <a:off x="157480" y="746971"/>
              <a:ext cx="11204787" cy="6694736"/>
            </a:xfrm>
            <a:prstGeom prst="rect">
              <a:avLst/>
            </a:prstGeom>
          </p:spPr>
          <p:txBody>
            <a:bodyPr wrap="square" lIns="0" tIns="0" rIns="0" bIns="0" rtlCol="0" anchor="t">
              <a:spAutoFit/>
            </a:bodyPr>
            <a:lstStyle/>
            <a:p>
              <a:pPr algn="just">
                <a:lnSpc>
                  <a:spcPct val="150000"/>
                </a:lnSpc>
              </a:pPr>
              <a:r>
                <a:rPr lang="en-US" sz="2800" b="1" dirty="0"/>
                <a:t>6. Natural Disasters</a:t>
              </a:r>
            </a:p>
            <a:p>
              <a:pPr algn="just">
                <a:lnSpc>
                  <a:spcPct val="150000"/>
                </a:lnSpc>
              </a:pPr>
              <a:r>
                <a:rPr lang="en-US" sz="2400" dirty="0"/>
                <a:t>Natural disasters can damage computer systems and infrastructure.</a:t>
              </a:r>
            </a:p>
            <a:p>
              <a:pPr algn="just">
                <a:lnSpc>
                  <a:spcPct val="150000"/>
                </a:lnSpc>
              </a:pPr>
              <a:r>
                <a:rPr lang="en-US" sz="2400" b="1" dirty="0"/>
                <a:t>Examples:</a:t>
              </a:r>
            </a:p>
            <a:p>
              <a:pPr algn="just">
                <a:lnSpc>
                  <a:spcPct val="150000"/>
                </a:lnSpc>
              </a:pPr>
              <a:r>
                <a:rPr lang="en-US" sz="2400" dirty="0"/>
                <a:t>• Floods </a:t>
              </a:r>
            </a:p>
            <a:p>
              <a:pPr algn="just">
                <a:lnSpc>
                  <a:spcPct val="150000"/>
                </a:lnSpc>
              </a:pPr>
              <a:r>
                <a:rPr lang="en-US" sz="2400" dirty="0"/>
                <a:t>• Earthquakes </a:t>
              </a:r>
            </a:p>
            <a:p>
              <a:pPr algn="just">
                <a:lnSpc>
                  <a:spcPct val="150000"/>
                </a:lnSpc>
              </a:pPr>
              <a:r>
                <a:rPr lang="en-US" sz="2400" dirty="0"/>
                <a:t>• Fires</a:t>
              </a:r>
            </a:p>
            <a:p>
              <a:pPr algn="just">
                <a:lnSpc>
                  <a:spcPct val="150000"/>
                </a:lnSpc>
              </a:pPr>
              <a:r>
                <a:rPr lang="en-US" sz="2400" b="1" dirty="0"/>
                <a:t>Protection:</a:t>
              </a:r>
            </a:p>
            <a:p>
              <a:pPr algn="just">
                <a:lnSpc>
                  <a:spcPct val="150000"/>
                </a:lnSpc>
              </a:pPr>
              <a:r>
                <a:rPr lang="en-US" sz="2400" dirty="0"/>
                <a:t>• Disaster recovery planning </a:t>
              </a:r>
            </a:p>
            <a:p>
              <a:pPr algn="just">
                <a:lnSpc>
                  <a:spcPct val="150000"/>
                </a:lnSpc>
              </a:pPr>
              <a:r>
                <a:rPr lang="en-US" sz="2400" dirty="0"/>
                <a:t>• Off‑site data backups</a:t>
              </a:r>
            </a:p>
          </p:txBody>
        </p:sp>
      </p:grpSp>
    </p:spTree>
    <p:extLst>
      <p:ext uri="{BB962C8B-B14F-4D97-AF65-F5344CB8AC3E}">
        <p14:creationId xmlns:p14="http://schemas.microsoft.com/office/powerpoint/2010/main" val="3692194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C8FE-FD81-7A53-B514-DE1A5AC587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A6B5DF-F564-8504-9CB7-8F34A69C0ECE}"/>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98BC6B4C-D48B-6731-5EB3-3AB7C382CE1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629E2F1E-FD7B-D753-87C6-19DA08175439}"/>
              </a:ext>
            </a:extLst>
          </p:cNvPr>
          <p:cNvGrpSpPr/>
          <p:nvPr/>
        </p:nvGrpSpPr>
        <p:grpSpPr>
          <a:xfrm>
            <a:off x="560162" y="258876"/>
            <a:ext cx="8633276" cy="7443778"/>
            <a:chOff x="157480" y="-267335"/>
            <a:chExt cx="11511034" cy="9925031"/>
          </a:xfrm>
        </p:grpSpPr>
        <p:sp>
          <p:nvSpPr>
            <p:cNvPr id="6" name="TextBox 6">
              <a:extLst>
                <a:ext uri="{FF2B5EF4-FFF2-40B4-BE49-F238E27FC236}">
                  <a16:creationId xmlns:a16="http://schemas.microsoft.com/office/drawing/2014/main" id="{0A841C22-58F7-1C30-6824-C151ED6BD406}"/>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Data:</a:t>
              </a:r>
            </a:p>
          </p:txBody>
        </p:sp>
        <p:sp>
          <p:nvSpPr>
            <p:cNvPr id="7" name="TextBox 7">
              <a:extLst>
                <a:ext uri="{FF2B5EF4-FFF2-40B4-BE49-F238E27FC236}">
                  <a16:creationId xmlns:a16="http://schemas.microsoft.com/office/drawing/2014/main" id="{A0C4BC0A-BEA2-F864-0692-E9DEDFECFE5C}"/>
                </a:ext>
              </a:extLst>
            </p:cNvPr>
            <p:cNvSpPr txBox="1"/>
            <p:nvPr/>
          </p:nvSpPr>
          <p:spPr>
            <a:xfrm>
              <a:off x="157480" y="746971"/>
              <a:ext cx="11204787" cy="8910725"/>
            </a:xfrm>
            <a:prstGeom prst="rect">
              <a:avLst/>
            </a:prstGeom>
          </p:spPr>
          <p:txBody>
            <a:bodyPr wrap="square" lIns="0" tIns="0" rIns="0" bIns="0" rtlCol="0" anchor="t">
              <a:spAutoFit/>
            </a:bodyPr>
            <a:lstStyle/>
            <a:p>
              <a:pPr algn="just">
                <a:lnSpc>
                  <a:spcPct val="150000"/>
                </a:lnSpc>
              </a:pPr>
              <a:r>
                <a:rPr lang="en-US" sz="2400" dirty="0"/>
                <a:t>Data threats involve the destruction, corruption, or theft of digital information.</a:t>
              </a:r>
            </a:p>
            <a:p>
              <a:pPr algn="just">
                <a:lnSpc>
                  <a:spcPct val="150000"/>
                </a:lnSpc>
              </a:pPr>
              <a:r>
                <a:rPr lang="en-US" sz="2800" b="1" dirty="0"/>
                <a:t>1. Malware</a:t>
              </a:r>
            </a:p>
            <a:p>
              <a:pPr algn="just">
                <a:lnSpc>
                  <a:spcPct val="150000"/>
                </a:lnSpc>
              </a:pPr>
              <a:r>
                <a:rPr lang="en-US" sz="2400" dirty="0"/>
                <a:t>Malware means malicious software designed to damage systems or steal data.</a:t>
              </a:r>
            </a:p>
            <a:p>
              <a:pPr algn="just">
                <a:lnSpc>
                  <a:spcPct val="150000"/>
                </a:lnSpc>
              </a:pPr>
              <a:r>
                <a:rPr lang="en-US" sz="2400" b="1" dirty="0"/>
                <a:t>Types of malware:</a:t>
              </a:r>
            </a:p>
            <a:p>
              <a:pPr algn="just">
                <a:lnSpc>
                  <a:spcPct val="150000"/>
                </a:lnSpc>
              </a:pPr>
              <a:r>
                <a:rPr lang="en-US" sz="2400" dirty="0"/>
                <a:t>• Virus • Worm • Trojan Horse • Spyware • Ransomware</a:t>
              </a:r>
            </a:p>
            <a:p>
              <a:pPr algn="just">
                <a:lnSpc>
                  <a:spcPct val="150000"/>
                </a:lnSpc>
              </a:pPr>
              <a:r>
                <a:rPr lang="en-US" sz="2400" b="1" dirty="0"/>
                <a:t>Effects:</a:t>
              </a:r>
            </a:p>
            <a:p>
              <a:pPr algn="just">
                <a:lnSpc>
                  <a:spcPct val="150000"/>
                </a:lnSpc>
              </a:pPr>
              <a:r>
                <a:rPr lang="en-US" sz="2400" dirty="0"/>
                <a:t>• Data loss </a:t>
              </a:r>
            </a:p>
            <a:p>
              <a:pPr algn="just">
                <a:lnSpc>
                  <a:spcPct val="150000"/>
                </a:lnSpc>
              </a:pPr>
              <a:r>
                <a:rPr lang="en-US" sz="2400" dirty="0"/>
                <a:t>• System slowdown </a:t>
              </a:r>
            </a:p>
            <a:p>
              <a:pPr algn="just">
                <a:lnSpc>
                  <a:spcPct val="150000"/>
                </a:lnSpc>
              </a:pPr>
              <a:r>
                <a:rPr lang="en-US" sz="2400" dirty="0"/>
                <a:t>• Unauthorized access</a:t>
              </a:r>
            </a:p>
            <a:p>
              <a:pPr algn="just">
                <a:lnSpc>
                  <a:spcPct val="150000"/>
                </a:lnSpc>
              </a:pPr>
              <a:endParaRPr lang="en-US" sz="2400" dirty="0"/>
            </a:p>
          </p:txBody>
        </p:sp>
      </p:grpSp>
    </p:spTree>
    <p:extLst>
      <p:ext uri="{BB962C8B-B14F-4D97-AF65-F5344CB8AC3E}">
        <p14:creationId xmlns:p14="http://schemas.microsoft.com/office/powerpoint/2010/main" val="281830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6B41C-CB14-C15A-266E-F65593C95D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B38A30C-69C3-9330-B0DD-B95F95C871F0}"/>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2CCB3255-B2E3-A2BA-35BF-08FCF980B73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7DC7DB9F-E10A-9D95-B56E-6E1A937953C9}"/>
              </a:ext>
            </a:extLst>
          </p:cNvPr>
          <p:cNvGrpSpPr/>
          <p:nvPr/>
        </p:nvGrpSpPr>
        <p:grpSpPr>
          <a:xfrm>
            <a:off x="560162" y="258876"/>
            <a:ext cx="8633276" cy="6335782"/>
            <a:chOff x="157480" y="-267335"/>
            <a:chExt cx="11511034" cy="8447704"/>
          </a:xfrm>
        </p:grpSpPr>
        <p:sp>
          <p:nvSpPr>
            <p:cNvPr id="6" name="TextBox 6">
              <a:extLst>
                <a:ext uri="{FF2B5EF4-FFF2-40B4-BE49-F238E27FC236}">
                  <a16:creationId xmlns:a16="http://schemas.microsoft.com/office/drawing/2014/main" id="{AC363599-6EFB-6219-1402-3FF37B452EC6}"/>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Data:</a:t>
              </a:r>
            </a:p>
          </p:txBody>
        </p:sp>
        <p:sp>
          <p:nvSpPr>
            <p:cNvPr id="7" name="TextBox 7">
              <a:extLst>
                <a:ext uri="{FF2B5EF4-FFF2-40B4-BE49-F238E27FC236}">
                  <a16:creationId xmlns:a16="http://schemas.microsoft.com/office/drawing/2014/main" id="{C023D2AD-7FCB-9C22-B21D-696A05667AD7}"/>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2. Virus and Malicious Programs</a:t>
              </a:r>
            </a:p>
            <a:p>
              <a:pPr algn="just">
                <a:lnSpc>
                  <a:spcPct val="150000"/>
                </a:lnSpc>
              </a:pPr>
              <a:r>
                <a:rPr lang="en-US" sz="2400" dirty="0"/>
                <a:t>A virus is a program that attaches itself to files and spreads between computers.</a:t>
              </a:r>
            </a:p>
            <a:p>
              <a:pPr algn="just">
                <a:lnSpc>
                  <a:spcPct val="150000"/>
                </a:lnSpc>
              </a:pPr>
              <a:r>
                <a:rPr lang="en-US" sz="2400" b="1" dirty="0"/>
                <a:t>Effects:</a:t>
              </a:r>
            </a:p>
            <a:p>
              <a:pPr algn="just">
                <a:lnSpc>
                  <a:spcPct val="150000"/>
                </a:lnSpc>
              </a:pPr>
              <a:r>
                <a:rPr lang="en-US" sz="2400" dirty="0"/>
                <a:t>• Corrupt files </a:t>
              </a:r>
            </a:p>
            <a:p>
              <a:pPr algn="just">
                <a:lnSpc>
                  <a:spcPct val="150000"/>
                </a:lnSpc>
              </a:pPr>
              <a:r>
                <a:rPr lang="en-US" sz="2400" dirty="0"/>
                <a:t>• Delete important data </a:t>
              </a:r>
            </a:p>
            <a:p>
              <a:pPr algn="just">
                <a:lnSpc>
                  <a:spcPct val="150000"/>
                </a:lnSpc>
              </a:pPr>
              <a:r>
                <a:rPr lang="en-US" sz="2400" dirty="0"/>
                <a:t>• Damage operating systems</a:t>
              </a:r>
            </a:p>
            <a:p>
              <a:pPr algn="just">
                <a:lnSpc>
                  <a:spcPct val="150000"/>
                </a:lnSpc>
              </a:pPr>
              <a:r>
                <a:rPr lang="en-US" sz="2400" b="1" dirty="0"/>
                <a:t>Protection:</a:t>
              </a:r>
            </a:p>
            <a:p>
              <a:pPr algn="just">
                <a:lnSpc>
                  <a:spcPct val="150000"/>
                </a:lnSpc>
              </a:pPr>
              <a:r>
                <a:rPr lang="en-US" sz="2400" dirty="0"/>
                <a:t>• Antivirus software </a:t>
              </a:r>
            </a:p>
            <a:p>
              <a:pPr algn="just">
                <a:lnSpc>
                  <a:spcPct val="150000"/>
                </a:lnSpc>
              </a:pPr>
              <a:r>
                <a:rPr lang="en-US" sz="2400" dirty="0"/>
                <a:t>• Avoid suspicious downloads</a:t>
              </a:r>
            </a:p>
          </p:txBody>
        </p:sp>
      </p:grpSp>
    </p:spTree>
    <p:extLst>
      <p:ext uri="{BB962C8B-B14F-4D97-AF65-F5344CB8AC3E}">
        <p14:creationId xmlns:p14="http://schemas.microsoft.com/office/powerpoint/2010/main" val="2114141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04BB5-270F-08F8-8972-D7B7DB3FAA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5F6CF27-68C5-D48A-6BE2-DF5219C01B76}"/>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1D2CFD19-5DFF-4DDD-D06E-6754157F44EC}"/>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E4AEDE8C-714D-0CF9-AE7C-BCC56ECD7C08}"/>
              </a:ext>
            </a:extLst>
          </p:cNvPr>
          <p:cNvGrpSpPr/>
          <p:nvPr/>
        </p:nvGrpSpPr>
        <p:grpSpPr>
          <a:xfrm>
            <a:off x="560162" y="258876"/>
            <a:ext cx="8633276" cy="6335782"/>
            <a:chOff x="157480" y="-267335"/>
            <a:chExt cx="11511034" cy="8447704"/>
          </a:xfrm>
        </p:grpSpPr>
        <p:sp>
          <p:nvSpPr>
            <p:cNvPr id="6" name="TextBox 6">
              <a:extLst>
                <a:ext uri="{FF2B5EF4-FFF2-40B4-BE49-F238E27FC236}">
                  <a16:creationId xmlns:a16="http://schemas.microsoft.com/office/drawing/2014/main" id="{27F355FE-E151-89AD-D777-17E94AD78CA2}"/>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Data:</a:t>
              </a:r>
            </a:p>
          </p:txBody>
        </p:sp>
        <p:sp>
          <p:nvSpPr>
            <p:cNvPr id="7" name="TextBox 7">
              <a:extLst>
                <a:ext uri="{FF2B5EF4-FFF2-40B4-BE49-F238E27FC236}">
                  <a16:creationId xmlns:a16="http://schemas.microsoft.com/office/drawing/2014/main" id="{260034DA-39EC-6028-4E27-4795E3B6121D}"/>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3. Cybercrime</a:t>
              </a:r>
            </a:p>
            <a:p>
              <a:pPr algn="just">
                <a:lnSpc>
                  <a:spcPct val="150000"/>
                </a:lnSpc>
              </a:pPr>
              <a:r>
                <a:rPr lang="en-US" sz="2400" dirty="0"/>
                <a:t>Cybercrime refers to illegal activities performed using computers or the internet.</a:t>
              </a:r>
            </a:p>
            <a:p>
              <a:pPr algn="just">
                <a:lnSpc>
                  <a:spcPct val="150000"/>
                </a:lnSpc>
              </a:pPr>
              <a:r>
                <a:rPr lang="en-US" sz="2400" b="1" dirty="0"/>
                <a:t>Examples:</a:t>
              </a:r>
            </a:p>
            <a:p>
              <a:pPr algn="just">
                <a:lnSpc>
                  <a:spcPct val="150000"/>
                </a:lnSpc>
              </a:pPr>
              <a:r>
                <a:rPr lang="en-US" sz="2400" dirty="0"/>
                <a:t>• Hacking </a:t>
              </a:r>
            </a:p>
            <a:p>
              <a:pPr algn="just">
                <a:lnSpc>
                  <a:spcPct val="150000"/>
                </a:lnSpc>
              </a:pPr>
              <a:r>
                <a:rPr lang="en-US" sz="2400" dirty="0"/>
                <a:t>• Identity theft </a:t>
              </a:r>
            </a:p>
            <a:p>
              <a:pPr algn="just">
                <a:lnSpc>
                  <a:spcPct val="150000"/>
                </a:lnSpc>
              </a:pPr>
              <a:r>
                <a:rPr lang="en-US" sz="2400" dirty="0"/>
                <a:t>• Online fraud</a:t>
              </a:r>
            </a:p>
            <a:p>
              <a:pPr algn="just">
                <a:lnSpc>
                  <a:spcPct val="150000"/>
                </a:lnSpc>
              </a:pPr>
              <a:br>
                <a:rPr lang="en-US" sz="2400" dirty="0"/>
              </a:br>
              <a:endParaRPr lang="en-US" sz="2400" dirty="0"/>
            </a:p>
            <a:p>
              <a:pPr algn="just">
                <a:lnSpc>
                  <a:spcPct val="150000"/>
                </a:lnSpc>
              </a:pPr>
              <a:endParaRPr lang="en-US" sz="2400" dirty="0"/>
            </a:p>
          </p:txBody>
        </p:sp>
      </p:grpSp>
    </p:spTree>
    <p:extLst>
      <p:ext uri="{BB962C8B-B14F-4D97-AF65-F5344CB8AC3E}">
        <p14:creationId xmlns:p14="http://schemas.microsoft.com/office/powerpoint/2010/main" val="1768907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CD0CD-D068-457E-5D1B-46F94A5628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44762F5-F993-214C-78D8-83F396D542EF}"/>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F427ABEC-5309-60E9-BB47-A2549FDD209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BF1ADF2C-54D7-3E73-5073-064FE7706AF1}"/>
              </a:ext>
            </a:extLst>
          </p:cNvPr>
          <p:cNvGrpSpPr/>
          <p:nvPr/>
        </p:nvGrpSpPr>
        <p:grpSpPr>
          <a:xfrm>
            <a:off x="560162" y="258876"/>
            <a:ext cx="8633276" cy="4673789"/>
            <a:chOff x="157480" y="-267335"/>
            <a:chExt cx="11511034" cy="6231715"/>
          </a:xfrm>
        </p:grpSpPr>
        <p:sp>
          <p:nvSpPr>
            <p:cNvPr id="6" name="TextBox 6">
              <a:extLst>
                <a:ext uri="{FF2B5EF4-FFF2-40B4-BE49-F238E27FC236}">
                  <a16:creationId xmlns:a16="http://schemas.microsoft.com/office/drawing/2014/main" id="{6954C9F8-6629-1ABC-02FF-50C14728FD25}"/>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Threats to Data:</a:t>
              </a:r>
            </a:p>
          </p:txBody>
        </p:sp>
        <p:sp>
          <p:nvSpPr>
            <p:cNvPr id="7" name="TextBox 7">
              <a:extLst>
                <a:ext uri="{FF2B5EF4-FFF2-40B4-BE49-F238E27FC236}">
                  <a16:creationId xmlns:a16="http://schemas.microsoft.com/office/drawing/2014/main" id="{A05DFB3A-7AD2-79C7-DD08-EF4468AE182B}"/>
                </a:ext>
              </a:extLst>
            </p:cNvPr>
            <p:cNvSpPr txBox="1"/>
            <p:nvPr/>
          </p:nvSpPr>
          <p:spPr>
            <a:xfrm>
              <a:off x="157480" y="746971"/>
              <a:ext cx="11204787" cy="5217409"/>
            </a:xfrm>
            <a:prstGeom prst="rect">
              <a:avLst/>
            </a:prstGeom>
          </p:spPr>
          <p:txBody>
            <a:bodyPr wrap="square" lIns="0" tIns="0" rIns="0" bIns="0" rtlCol="0" anchor="t">
              <a:spAutoFit/>
            </a:bodyPr>
            <a:lstStyle/>
            <a:p>
              <a:pPr algn="just">
                <a:lnSpc>
                  <a:spcPct val="150000"/>
                </a:lnSpc>
              </a:pPr>
              <a:r>
                <a:rPr lang="en-US" sz="2800" b="1" dirty="0"/>
                <a:t>4. Cyber‑Terrorism</a:t>
              </a:r>
            </a:p>
            <a:p>
              <a:pPr algn="just">
                <a:lnSpc>
                  <a:spcPct val="150000"/>
                </a:lnSpc>
              </a:pPr>
              <a:r>
                <a:rPr lang="en-US" sz="2400" dirty="0"/>
                <a:t>Cyber‑terrorism involves attacks on computer networks intended to cause fear, interruption , or damage to national infrastructure.</a:t>
              </a:r>
            </a:p>
            <a:p>
              <a:pPr algn="just">
                <a:lnSpc>
                  <a:spcPct val="150000"/>
                </a:lnSpc>
              </a:pPr>
              <a:r>
                <a:rPr lang="en-US" sz="2400" b="1" dirty="0"/>
                <a:t>Targets:</a:t>
              </a:r>
            </a:p>
            <a:p>
              <a:pPr algn="just">
                <a:lnSpc>
                  <a:spcPct val="150000"/>
                </a:lnSpc>
              </a:pPr>
              <a:r>
                <a:rPr lang="en-US" sz="2400" dirty="0"/>
                <a:t>• Government systems </a:t>
              </a:r>
            </a:p>
            <a:p>
              <a:pPr algn="just">
                <a:lnSpc>
                  <a:spcPct val="150000"/>
                </a:lnSpc>
              </a:pPr>
              <a:r>
                <a:rPr lang="en-US" sz="2400" dirty="0"/>
                <a:t>• Banking systems </a:t>
              </a:r>
            </a:p>
            <a:p>
              <a:pPr algn="just">
                <a:lnSpc>
                  <a:spcPct val="150000"/>
                </a:lnSpc>
              </a:pPr>
              <a:r>
                <a:rPr lang="en-US" sz="2400" dirty="0"/>
                <a:t>• Power grids</a:t>
              </a:r>
            </a:p>
          </p:txBody>
        </p:sp>
      </p:grpSp>
    </p:spTree>
    <p:extLst>
      <p:ext uri="{BB962C8B-B14F-4D97-AF65-F5344CB8AC3E}">
        <p14:creationId xmlns:p14="http://schemas.microsoft.com/office/powerpoint/2010/main" val="1229246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ED889-A32B-9ECE-5098-2B9DFC1492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1260CA-D0FD-EEF9-CCED-1D26CBDE39CD}"/>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EA2CD35B-065B-A415-D3CF-446990BC881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F1F49D41-BBB3-D538-0D0E-14B92F6B947F}"/>
              </a:ext>
            </a:extLst>
          </p:cNvPr>
          <p:cNvGrpSpPr/>
          <p:nvPr/>
        </p:nvGrpSpPr>
        <p:grpSpPr>
          <a:xfrm>
            <a:off x="560162" y="609600"/>
            <a:ext cx="8633276" cy="5227787"/>
            <a:chOff x="157480" y="-267335"/>
            <a:chExt cx="11511034" cy="6970378"/>
          </a:xfrm>
        </p:grpSpPr>
        <p:sp>
          <p:nvSpPr>
            <p:cNvPr id="6" name="TextBox 6">
              <a:extLst>
                <a:ext uri="{FF2B5EF4-FFF2-40B4-BE49-F238E27FC236}">
                  <a16:creationId xmlns:a16="http://schemas.microsoft.com/office/drawing/2014/main" id="{132564F4-A7A9-B413-3F35-CAC519FAB82B}"/>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Countermeasures:</a:t>
              </a:r>
            </a:p>
          </p:txBody>
        </p:sp>
        <p:sp>
          <p:nvSpPr>
            <p:cNvPr id="7" name="TextBox 7">
              <a:extLst>
                <a:ext uri="{FF2B5EF4-FFF2-40B4-BE49-F238E27FC236}">
                  <a16:creationId xmlns:a16="http://schemas.microsoft.com/office/drawing/2014/main" id="{1C9BDC1B-E932-63F0-743E-B08F23DB7A32}"/>
                </a:ext>
              </a:extLst>
            </p:cNvPr>
            <p:cNvSpPr txBox="1"/>
            <p:nvPr/>
          </p:nvSpPr>
          <p:spPr>
            <a:xfrm>
              <a:off x="157480" y="746971"/>
              <a:ext cx="11204787" cy="5956072"/>
            </a:xfrm>
            <a:prstGeom prst="rect">
              <a:avLst/>
            </a:prstGeom>
          </p:spPr>
          <p:txBody>
            <a:bodyPr wrap="square" lIns="0" tIns="0" rIns="0" bIns="0" rtlCol="0" anchor="t">
              <a:spAutoFit/>
            </a:bodyPr>
            <a:lstStyle/>
            <a:p>
              <a:pPr algn="just">
                <a:lnSpc>
                  <a:spcPct val="150000"/>
                </a:lnSpc>
              </a:pPr>
              <a:r>
                <a:rPr lang="en-US" sz="2400" dirty="0"/>
                <a:t>Countermeasures are techniques used to protect systems from threats.</a:t>
              </a:r>
            </a:p>
            <a:p>
              <a:pPr algn="just">
                <a:lnSpc>
                  <a:spcPct val="150000"/>
                </a:lnSpc>
              </a:pPr>
              <a:r>
                <a:rPr lang="en-US" sz="2400" b="1" dirty="0"/>
                <a:t>Examples:</a:t>
              </a:r>
            </a:p>
            <a:p>
              <a:pPr algn="just">
                <a:lnSpc>
                  <a:spcPct val="150000"/>
                </a:lnSpc>
              </a:pPr>
              <a:r>
                <a:rPr lang="en-US" sz="2400" dirty="0"/>
                <a:t>• Antivirus software </a:t>
              </a:r>
            </a:p>
            <a:p>
              <a:pPr algn="just">
                <a:lnSpc>
                  <a:spcPct val="150000"/>
                </a:lnSpc>
              </a:pPr>
              <a:r>
                <a:rPr lang="en-US" sz="2400" dirty="0"/>
                <a:t>• Firewalls </a:t>
              </a:r>
            </a:p>
            <a:p>
              <a:pPr algn="just">
                <a:lnSpc>
                  <a:spcPct val="150000"/>
                </a:lnSpc>
              </a:pPr>
              <a:r>
                <a:rPr lang="en-US" sz="2400" dirty="0"/>
                <a:t>• Encryption </a:t>
              </a:r>
            </a:p>
            <a:p>
              <a:pPr algn="just">
                <a:lnSpc>
                  <a:spcPct val="150000"/>
                </a:lnSpc>
              </a:pPr>
              <a:r>
                <a:rPr lang="en-US" sz="2400" dirty="0"/>
                <a:t>• Regular backups </a:t>
              </a:r>
            </a:p>
            <a:p>
              <a:pPr algn="just">
                <a:lnSpc>
                  <a:spcPct val="150000"/>
                </a:lnSpc>
              </a:pPr>
              <a:r>
                <a:rPr lang="en-US" sz="2400" dirty="0"/>
                <a:t>• Security policies</a:t>
              </a:r>
            </a:p>
          </p:txBody>
        </p:sp>
      </p:grpSp>
    </p:spTree>
    <p:extLst>
      <p:ext uri="{BB962C8B-B14F-4D97-AF65-F5344CB8AC3E}">
        <p14:creationId xmlns:p14="http://schemas.microsoft.com/office/powerpoint/2010/main" val="1882628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AAC57-0FE6-9ABF-E6C5-9EC0C7E38B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1B9D72-0BDD-C475-757D-B46DC8B4CF42}"/>
              </a:ext>
            </a:extLst>
          </p:cNvPr>
          <p:cNvSpPr/>
          <p:nvPr/>
        </p:nvSpPr>
        <p:spPr>
          <a:xfrm rot="-1100510">
            <a:off x="4118475" y="-4273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30B0B0B4-2A37-5994-AC7E-A49C01AAFE2C}"/>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68E1573-DFC0-BDFF-CB37-845ED2D9FB95}"/>
              </a:ext>
            </a:extLst>
          </p:cNvPr>
          <p:cNvGrpSpPr/>
          <p:nvPr/>
        </p:nvGrpSpPr>
        <p:grpSpPr>
          <a:xfrm>
            <a:off x="560162" y="535875"/>
            <a:ext cx="8633276" cy="6243449"/>
            <a:chOff x="157480" y="-267335"/>
            <a:chExt cx="11511034" cy="8324593"/>
          </a:xfrm>
        </p:grpSpPr>
        <p:sp>
          <p:nvSpPr>
            <p:cNvPr id="6" name="TextBox 6">
              <a:extLst>
                <a:ext uri="{FF2B5EF4-FFF2-40B4-BE49-F238E27FC236}">
                  <a16:creationId xmlns:a16="http://schemas.microsoft.com/office/drawing/2014/main" id="{B4E89194-6354-FD98-9A78-BF4EBB3CF202}"/>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Information Systems:</a:t>
              </a:r>
            </a:p>
          </p:txBody>
        </p:sp>
        <p:sp>
          <p:nvSpPr>
            <p:cNvPr id="7" name="TextBox 7">
              <a:extLst>
                <a:ext uri="{FF2B5EF4-FFF2-40B4-BE49-F238E27FC236}">
                  <a16:creationId xmlns:a16="http://schemas.microsoft.com/office/drawing/2014/main" id="{A06D1D52-B58F-E0F9-92E2-2E0EE7A60CB7}"/>
                </a:ext>
              </a:extLst>
            </p:cNvPr>
            <p:cNvSpPr txBox="1"/>
            <p:nvPr/>
          </p:nvSpPr>
          <p:spPr>
            <a:xfrm>
              <a:off x="157480" y="746971"/>
              <a:ext cx="11204787" cy="7310287"/>
            </a:xfrm>
            <a:prstGeom prst="rect">
              <a:avLst/>
            </a:prstGeom>
          </p:spPr>
          <p:txBody>
            <a:bodyPr wrap="square" lIns="0" tIns="0" rIns="0" bIns="0" rtlCol="0" anchor="t">
              <a:spAutoFit/>
            </a:bodyPr>
            <a:lstStyle/>
            <a:p>
              <a:pPr algn="just">
                <a:lnSpc>
                  <a:spcPct val="150000"/>
                </a:lnSpc>
              </a:pPr>
              <a:r>
                <a:rPr lang="en-US" sz="2400" b="1" dirty="0"/>
                <a:t>Definition: </a:t>
              </a:r>
            </a:p>
            <a:p>
              <a:pPr algn="just">
                <a:lnSpc>
                  <a:spcPct val="150000"/>
                </a:lnSpc>
              </a:pPr>
              <a:r>
                <a:rPr lang="en-US" sz="2400" dirty="0"/>
                <a:t>An Information System is a collection of people, hardware, software, data, and procedures that work together to collect, process, store, and distribute information.</a:t>
              </a:r>
            </a:p>
            <a:p>
              <a:pPr algn="just">
                <a:lnSpc>
                  <a:spcPct val="150000"/>
                </a:lnSpc>
              </a:pPr>
              <a:r>
                <a:rPr lang="en-US" sz="2400" b="1" dirty="0"/>
                <a:t>Components of Information Systems:</a:t>
              </a:r>
            </a:p>
            <a:p>
              <a:pPr algn="just">
                <a:lnSpc>
                  <a:spcPct val="150000"/>
                </a:lnSpc>
              </a:pPr>
              <a:r>
                <a:rPr lang="en-US" sz="2400" dirty="0"/>
                <a:t>• Hardware • Software • Data • Procedures • People</a:t>
              </a:r>
            </a:p>
            <a:p>
              <a:pPr algn="just">
                <a:lnSpc>
                  <a:spcPct val="150000"/>
                </a:lnSpc>
              </a:pPr>
              <a:r>
                <a:rPr lang="en-US" sz="2400" b="1" dirty="0"/>
                <a:t>Purpose:</a:t>
              </a:r>
            </a:p>
            <a:p>
              <a:pPr algn="just">
                <a:lnSpc>
                  <a:spcPct val="150000"/>
                </a:lnSpc>
              </a:pPr>
              <a:r>
                <a:rPr lang="en-US" sz="2400" dirty="0"/>
                <a:t>• Support business operations </a:t>
              </a:r>
            </a:p>
            <a:p>
              <a:pPr algn="just">
                <a:lnSpc>
                  <a:spcPct val="150000"/>
                </a:lnSpc>
              </a:pPr>
              <a:r>
                <a:rPr lang="en-US" sz="2400" dirty="0"/>
                <a:t>• Improve decision making </a:t>
              </a:r>
            </a:p>
            <a:p>
              <a:pPr algn="just">
                <a:lnSpc>
                  <a:spcPct val="150000"/>
                </a:lnSpc>
              </a:pPr>
              <a:r>
                <a:rPr lang="en-US" sz="2400" dirty="0"/>
                <a:t>• Increase organizational efficiency</a:t>
              </a:r>
            </a:p>
          </p:txBody>
        </p:sp>
      </p:grpSp>
    </p:spTree>
    <p:extLst>
      <p:ext uri="{BB962C8B-B14F-4D97-AF65-F5344CB8AC3E}">
        <p14:creationId xmlns:p14="http://schemas.microsoft.com/office/powerpoint/2010/main" val="2072632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B422-DB8D-6D8A-C9BB-DB2A8E4DF4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E328CB-478B-E99F-BC58-0330ECBBB6AC}"/>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181FEBAD-7E8B-3680-3FD8-8AE38357685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F3CCB69B-6C17-28DC-7B41-97856D8B74C4}"/>
              </a:ext>
            </a:extLst>
          </p:cNvPr>
          <p:cNvGrpSpPr/>
          <p:nvPr/>
        </p:nvGrpSpPr>
        <p:grpSpPr>
          <a:xfrm>
            <a:off x="560162" y="685800"/>
            <a:ext cx="8633276" cy="4581456"/>
            <a:chOff x="157480" y="-267335"/>
            <a:chExt cx="11511034" cy="6108604"/>
          </a:xfrm>
        </p:grpSpPr>
        <p:sp>
          <p:nvSpPr>
            <p:cNvPr id="6" name="TextBox 6">
              <a:extLst>
                <a:ext uri="{FF2B5EF4-FFF2-40B4-BE49-F238E27FC236}">
                  <a16:creationId xmlns:a16="http://schemas.microsoft.com/office/drawing/2014/main" id="{6316AD50-1D98-0A40-F7A4-52A1922ECA17}"/>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Need for System Development:</a:t>
              </a:r>
            </a:p>
          </p:txBody>
        </p:sp>
        <p:sp>
          <p:nvSpPr>
            <p:cNvPr id="7" name="TextBox 7">
              <a:extLst>
                <a:ext uri="{FF2B5EF4-FFF2-40B4-BE49-F238E27FC236}">
                  <a16:creationId xmlns:a16="http://schemas.microsoft.com/office/drawing/2014/main" id="{DEE56486-8BD4-1802-95CA-1253E979D6D3}"/>
                </a:ext>
              </a:extLst>
            </p:cNvPr>
            <p:cNvSpPr txBox="1"/>
            <p:nvPr/>
          </p:nvSpPr>
          <p:spPr>
            <a:xfrm>
              <a:off x="157480" y="746971"/>
              <a:ext cx="11204787" cy="5094298"/>
            </a:xfrm>
            <a:prstGeom prst="rect">
              <a:avLst/>
            </a:prstGeom>
          </p:spPr>
          <p:txBody>
            <a:bodyPr wrap="square" lIns="0" tIns="0" rIns="0" bIns="0" rtlCol="0" anchor="t">
              <a:spAutoFit/>
            </a:bodyPr>
            <a:lstStyle/>
            <a:p>
              <a:pPr algn="just">
                <a:lnSpc>
                  <a:spcPct val="150000"/>
                </a:lnSpc>
              </a:pPr>
              <a:r>
                <a:rPr lang="en-US" sz="2400" dirty="0"/>
                <a:t>Organizations develop information systems to:</a:t>
              </a:r>
            </a:p>
            <a:p>
              <a:pPr algn="just">
                <a:lnSpc>
                  <a:spcPct val="150000"/>
                </a:lnSpc>
              </a:pPr>
              <a:r>
                <a:rPr lang="en-US" sz="2400" dirty="0"/>
                <a:t>• Improve efficiency </a:t>
              </a:r>
            </a:p>
            <a:p>
              <a:pPr algn="just">
                <a:lnSpc>
                  <a:spcPct val="150000"/>
                </a:lnSpc>
              </a:pPr>
              <a:r>
                <a:rPr lang="en-US" sz="2400" dirty="0"/>
                <a:t>• Handle large volumes of data </a:t>
              </a:r>
            </a:p>
            <a:p>
              <a:pPr algn="just">
                <a:lnSpc>
                  <a:spcPct val="150000"/>
                </a:lnSpc>
              </a:pPr>
              <a:r>
                <a:rPr lang="en-US" sz="2400" dirty="0"/>
                <a:t>• Automate business operations </a:t>
              </a:r>
            </a:p>
            <a:p>
              <a:pPr algn="just">
                <a:lnSpc>
                  <a:spcPct val="150000"/>
                </a:lnSpc>
              </a:pPr>
              <a:r>
                <a:rPr lang="en-US" sz="2400" dirty="0"/>
                <a:t>• Improve decision making</a:t>
              </a:r>
            </a:p>
            <a:p>
              <a:pPr algn="just">
                <a:lnSpc>
                  <a:spcPct val="150000"/>
                </a:lnSpc>
              </a:pPr>
              <a:r>
                <a:rPr lang="en-US" sz="2400" dirty="0"/>
                <a:t>System development ensures that systems meet organizational requirements.</a:t>
              </a:r>
            </a:p>
          </p:txBody>
        </p:sp>
      </p:grpSp>
    </p:spTree>
    <p:extLst>
      <p:ext uri="{BB962C8B-B14F-4D97-AF65-F5344CB8AC3E}">
        <p14:creationId xmlns:p14="http://schemas.microsoft.com/office/powerpoint/2010/main" val="52981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CCC5E-6507-F0DE-D118-79B0AC0D62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FF1A69-2EA1-1B97-ECC7-719FCF95AB14}"/>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1CF0A7DB-3742-17DF-99FB-3FBB8C98FDE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E872F860-78A2-2688-8E23-F67556578CB3}"/>
              </a:ext>
            </a:extLst>
          </p:cNvPr>
          <p:cNvGrpSpPr/>
          <p:nvPr/>
        </p:nvGrpSpPr>
        <p:grpSpPr>
          <a:xfrm>
            <a:off x="560162" y="533400"/>
            <a:ext cx="8633276" cy="5689452"/>
            <a:chOff x="157480" y="-267335"/>
            <a:chExt cx="11511034" cy="7585931"/>
          </a:xfrm>
        </p:grpSpPr>
        <p:sp>
          <p:nvSpPr>
            <p:cNvPr id="6" name="TextBox 6">
              <a:extLst>
                <a:ext uri="{FF2B5EF4-FFF2-40B4-BE49-F238E27FC236}">
                  <a16:creationId xmlns:a16="http://schemas.microsoft.com/office/drawing/2014/main" id="{68DDE87C-3871-8F1E-039B-E8D42319EB9F}"/>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Enterprise Architecture:</a:t>
              </a:r>
            </a:p>
          </p:txBody>
        </p:sp>
        <p:sp>
          <p:nvSpPr>
            <p:cNvPr id="7" name="TextBox 7">
              <a:extLst>
                <a:ext uri="{FF2B5EF4-FFF2-40B4-BE49-F238E27FC236}">
                  <a16:creationId xmlns:a16="http://schemas.microsoft.com/office/drawing/2014/main" id="{7D6760F3-E2C8-6EB4-EDC2-898FF4519781}"/>
                </a:ext>
              </a:extLst>
            </p:cNvPr>
            <p:cNvSpPr txBox="1"/>
            <p:nvPr/>
          </p:nvSpPr>
          <p:spPr>
            <a:xfrm>
              <a:off x="157480" y="746971"/>
              <a:ext cx="11204787" cy="6571625"/>
            </a:xfrm>
            <a:prstGeom prst="rect">
              <a:avLst/>
            </a:prstGeom>
          </p:spPr>
          <p:txBody>
            <a:bodyPr wrap="square" lIns="0" tIns="0" rIns="0" bIns="0" rtlCol="0" anchor="t">
              <a:spAutoFit/>
            </a:bodyPr>
            <a:lstStyle/>
            <a:p>
              <a:pPr algn="just">
                <a:lnSpc>
                  <a:spcPct val="150000"/>
                </a:lnSpc>
              </a:pPr>
              <a:r>
                <a:rPr lang="en-US" sz="2400" dirty="0"/>
                <a:t>Enterprise Architecture is the overall design and structure of an organization's information systems and IT infrastructure.</a:t>
              </a:r>
            </a:p>
            <a:p>
              <a:pPr algn="just">
                <a:lnSpc>
                  <a:spcPct val="150000"/>
                </a:lnSpc>
              </a:pPr>
              <a:r>
                <a:rPr lang="en-US" sz="2400" b="1" dirty="0"/>
                <a:t>It includes:</a:t>
              </a:r>
            </a:p>
            <a:p>
              <a:pPr algn="just">
                <a:lnSpc>
                  <a:spcPct val="150000"/>
                </a:lnSpc>
              </a:pPr>
              <a:r>
                <a:rPr lang="en-US" sz="2400" dirty="0"/>
                <a:t>• Applications </a:t>
              </a:r>
            </a:p>
            <a:p>
              <a:pPr algn="just">
                <a:lnSpc>
                  <a:spcPct val="150000"/>
                </a:lnSpc>
              </a:pPr>
              <a:r>
                <a:rPr lang="en-US" sz="2400" dirty="0"/>
                <a:t>• Databases </a:t>
              </a:r>
            </a:p>
            <a:p>
              <a:pPr algn="just">
                <a:lnSpc>
                  <a:spcPct val="150000"/>
                </a:lnSpc>
              </a:pPr>
              <a:r>
                <a:rPr lang="en-US" sz="2400" dirty="0"/>
                <a:t>• Networks </a:t>
              </a:r>
            </a:p>
            <a:p>
              <a:pPr algn="just">
                <a:lnSpc>
                  <a:spcPct val="150000"/>
                </a:lnSpc>
              </a:pPr>
              <a:r>
                <a:rPr lang="en-US" sz="2400" dirty="0"/>
                <a:t>• Technology infrastructure</a:t>
              </a:r>
            </a:p>
            <a:p>
              <a:pPr algn="just">
                <a:lnSpc>
                  <a:spcPct val="150000"/>
                </a:lnSpc>
              </a:pPr>
              <a:r>
                <a:rPr lang="en-US" sz="2400" b="1" dirty="0"/>
                <a:t>Purpose:</a:t>
              </a:r>
            </a:p>
            <a:p>
              <a:pPr algn="just">
                <a:lnSpc>
                  <a:spcPct val="150000"/>
                </a:lnSpc>
              </a:pPr>
              <a:r>
                <a:rPr lang="en-US" sz="2400" dirty="0"/>
                <a:t>• Align IT systems with business goals</a:t>
              </a:r>
            </a:p>
          </p:txBody>
        </p:sp>
      </p:grpSp>
    </p:spTree>
    <p:extLst>
      <p:ext uri="{BB962C8B-B14F-4D97-AF65-F5344CB8AC3E}">
        <p14:creationId xmlns:p14="http://schemas.microsoft.com/office/powerpoint/2010/main" val="2332697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9BAD-F495-6110-0D29-5057EFE32C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A569D9-47B8-0D91-4771-22619E35C424}"/>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txBody>
          <a:bodyPr/>
          <a:lstStyle/>
          <a:p>
            <a:endParaRPr lang="en-US" dirty="0"/>
          </a:p>
        </p:txBody>
      </p:sp>
      <p:sp>
        <p:nvSpPr>
          <p:cNvPr id="4" name="Freeform 4">
            <a:extLst>
              <a:ext uri="{FF2B5EF4-FFF2-40B4-BE49-F238E27FC236}">
                <a16:creationId xmlns:a16="http://schemas.microsoft.com/office/drawing/2014/main" id="{4C18AAD1-5F93-3330-70CC-ECA20BDE7BB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8662A01A-E1BC-AF90-8D48-97DB318751C6}"/>
              </a:ext>
            </a:extLst>
          </p:cNvPr>
          <p:cNvGrpSpPr/>
          <p:nvPr/>
        </p:nvGrpSpPr>
        <p:grpSpPr>
          <a:xfrm>
            <a:off x="560162" y="533400"/>
            <a:ext cx="8633276" cy="5689452"/>
            <a:chOff x="157480" y="-267335"/>
            <a:chExt cx="11511034" cy="7585931"/>
          </a:xfrm>
        </p:grpSpPr>
        <p:sp>
          <p:nvSpPr>
            <p:cNvPr id="6" name="TextBox 6">
              <a:extLst>
                <a:ext uri="{FF2B5EF4-FFF2-40B4-BE49-F238E27FC236}">
                  <a16:creationId xmlns:a16="http://schemas.microsoft.com/office/drawing/2014/main" id="{61632BC2-955F-9D51-E945-8A9C8068C6AD}"/>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Business Intelligence (BI):</a:t>
              </a:r>
            </a:p>
          </p:txBody>
        </p:sp>
        <p:sp>
          <p:nvSpPr>
            <p:cNvPr id="7" name="TextBox 7">
              <a:extLst>
                <a:ext uri="{FF2B5EF4-FFF2-40B4-BE49-F238E27FC236}">
                  <a16:creationId xmlns:a16="http://schemas.microsoft.com/office/drawing/2014/main" id="{B8430A6F-D44F-C857-7560-74DD5577276D}"/>
                </a:ext>
              </a:extLst>
            </p:cNvPr>
            <p:cNvSpPr txBox="1"/>
            <p:nvPr/>
          </p:nvSpPr>
          <p:spPr>
            <a:xfrm>
              <a:off x="157480" y="746971"/>
              <a:ext cx="11204787" cy="6571625"/>
            </a:xfrm>
            <a:prstGeom prst="rect">
              <a:avLst/>
            </a:prstGeom>
          </p:spPr>
          <p:txBody>
            <a:bodyPr wrap="square" lIns="0" tIns="0" rIns="0" bIns="0" rtlCol="0" anchor="t">
              <a:spAutoFit/>
            </a:bodyPr>
            <a:lstStyle/>
            <a:p>
              <a:pPr algn="just">
                <a:lnSpc>
                  <a:spcPct val="150000"/>
                </a:lnSpc>
              </a:pPr>
              <a:r>
                <a:rPr lang="en-US" sz="2400" dirty="0"/>
                <a:t>Business Intelligence refers to technologies and processes used to analyze business data and support better decision making.</a:t>
              </a:r>
            </a:p>
            <a:p>
              <a:pPr algn="just">
                <a:lnSpc>
                  <a:spcPct val="150000"/>
                </a:lnSpc>
              </a:pPr>
              <a:r>
                <a:rPr lang="en-US" sz="2400" b="1" dirty="0"/>
                <a:t>Examples:</a:t>
              </a:r>
            </a:p>
            <a:p>
              <a:pPr algn="just">
                <a:lnSpc>
                  <a:spcPct val="150000"/>
                </a:lnSpc>
              </a:pPr>
              <a:r>
                <a:rPr lang="en-US" sz="2400" dirty="0"/>
                <a:t>• Data analytics </a:t>
              </a:r>
            </a:p>
            <a:p>
              <a:pPr algn="just">
                <a:lnSpc>
                  <a:spcPct val="150000"/>
                </a:lnSpc>
              </a:pPr>
              <a:r>
                <a:rPr lang="en-US" sz="2400" dirty="0"/>
                <a:t>• Dashboards </a:t>
              </a:r>
            </a:p>
            <a:p>
              <a:pPr algn="just">
                <a:lnSpc>
                  <a:spcPct val="150000"/>
                </a:lnSpc>
              </a:pPr>
              <a:r>
                <a:rPr lang="en-US" sz="2400" dirty="0"/>
                <a:t>• Data warehouses</a:t>
              </a:r>
            </a:p>
            <a:p>
              <a:pPr algn="just">
                <a:lnSpc>
                  <a:spcPct val="150000"/>
                </a:lnSpc>
              </a:pPr>
              <a:r>
                <a:rPr lang="en-US" sz="2400" b="1" dirty="0"/>
                <a:t>Benefits:</a:t>
              </a:r>
            </a:p>
            <a:p>
              <a:pPr algn="just">
                <a:lnSpc>
                  <a:spcPct val="150000"/>
                </a:lnSpc>
              </a:pPr>
              <a:r>
                <a:rPr lang="en-US" sz="2400" dirty="0"/>
                <a:t>• Identifies business trends </a:t>
              </a:r>
            </a:p>
            <a:p>
              <a:pPr algn="just">
                <a:lnSpc>
                  <a:spcPct val="150000"/>
                </a:lnSpc>
              </a:pPr>
              <a:r>
                <a:rPr lang="en-US" sz="2400" dirty="0"/>
                <a:t>• Improves strategic planning</a:t>
              </a:r>
            </a:p>
          </p:txBody>
        </p:sp>
      </p:grpSp>
    </p:spTree>
    <p:extLst>
      <p:ext uri="{BB962C8B-B14F-4D97-AF65-F5344CB8AC3E}">
        <p14:creationId xmlns:p14="http://schemas.microsoft.com/office/powerpoint/2010/main" val="1588606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77FF-7944-5C8D-0D13-08264884BE0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CE917D6C-F144-71BE-B866-71E05D8303B9}"/>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204E8178-5162-920B-B57D-E707C5956255}"/>
              </a:ext>
            </a:extLst>
          </p:cNvPr>
          <p:cNvGrpSpPr/>
          <p:nvPr/>
        </p:nvGrpSpPr>
        <p:grpSpPr>
          <a:xfrm>
            <a:off x="560162" y="258876"/>
            <a:ext cx="8633276" cy="6900039"/>
            <a:chOff x="157480" y="-267335"/>
            <a:chExt cx="11511034" cy="9200045"/>
          </a:xfrm>
        </p:grpSpPr>
        <p:sp>
          <p:nvSpPr>
            <p:cNvPr id="6" name="TextBox 6">
              <a:extLst>
                <a:ext uri="{FF2B5EF4-FFF2-40B4-BE49-F238E27FC236}">
                  <a16:creationId xmlns:a16="http://schemas.microsoft.com/office/drawing/2014/main" id="{84C502D4-538A-33C0-21E8-08AFEE0AD86B}"/>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Users of Information Systems:</a:t>
              </a:r>
            </a:p>
          </p:txBody>
        </p:sp>
        <p:sp>
          <p:nvSpPr>
            <p:cNvPr id="7" name="TextBox 7">
              <a:extLst>
                <a:ext uri="{FF2B5EF4-FFF2-40B4-BE49-F238E27FC236}">
                  <a16:creationId xmlns:a16="http://schemas.microsoft.com/office/drawing/2014/main" id="{EA2F15CE-F6CC-6B19-8ECA-85C4B194C61E}"/>
                </a:ext>
              </a:extLst>
            </p:cNvPr>
            <p:cNvSpPr txBox="1"/>
            <p:nvPr/>
          </p:nvSpPr>
          <p:spPr>
            <a:xfrm>
              <a:off x="157480" y="746971"/>
              <a:ext cx="11204787" cy="8185739"/>
            </a:xfrm>
            <a:prstGeom prst="rect">
              <a:avLst/>
            </a:prstGeom>
          </p:spPr>
          <p:txBody>
            <a:bodyPr wrap="square" lIns="0" tIns="0" rIns="0" bIns="0" rtlCol="0" anchor="t">
              <a:spAutoFit/>
            </a:bodyPr>
            <a:lstStyle/>
            <a:p>
              <a:pPr algn="just">
                <a:lnSpc>
                  <a:spcPct val="150000"/>
                </a:lnSpc>
                <a:spcBef>
                  <a:spcPts val="100"/>
                </a:spcBef>
              </a:pPr>
              <a:r>
                <a:rPr lang="en-US" sz="2400" dirty="0"/>
                <a:t>Different people interact with information systems for different purposes.</a:t>
              </a:r>
            </a:p>
            <a:p>
              <a:pPr algn="just">
                <a:lnSpc>
                  <a:spcPct val="150000"/>
                </a:lnSpc>
                <a:spcBef>
                  <a:spcPts val="100"/>
                </a:spcBef>
              </a:pPr>
              <a:r>
                <a:rPr lang="en-US" sz="2400" b="1" dirty="0"/>
                <a:t>1. End Users</a:t>
              </a:r>
            </a:p>
            <a:p>
              <a:pPr algn="just">
                <a:lnSpc>
                  <a:spcPct val="150000"/>
                </a:lnSpc>
                <a:spcBef>
                  <a:spcPts val="100"/>
                </a:spcBef>
              </a:pPr>
              <a:r>
                <a:rPr lang="en-US" sz="2400" dirty="0"/>
                <a:t>Employees who use systems to perform daily tasks.</a:t>
              </a:r>
            </a:p>
            <a:p>
              <a:pPr algn="just">
                <a:lnSpc>
                  <a:spcPct val="150000"/>
                </a:lnSpc>
                <a:spcBef>
                  <a:spcPts val="100"/>
                </a:spcBef>
              </a:pPr>
              <a:r>
                <a:rPr lang="en-US" sz="2400" b="1" dirty="0"/>
                <a:t>2. Managers</a:t>
              </a:r>
            </a:p>
            <a:p>
              <a:pPr algn="just">
                <a:lnSpc>
                  <a:spcPct val="150000"/>
                </a:lnSpc>
                <a:spcBef>
                  <a:spcPts val="100"/>
                </a:spcBef>
              </a:pPr>
              <a:r>
                <a:rPr lang="en-US" sz="2400" dirty="0"/>
                <a:t>Managers use information systems to monitor performance and make decisions.</a:t>
              </a:r>
            </a:p>
            <a:p>
              <a:pPr algn="just">
                <a:lnSpc>
                  <a:spcPct val="150000"/>
                </a:lnSpc>
                <a:spcBef>
                  <a:spcPts val="100"/>
                </a:spcBef>
              </a:pPr>
              <a:r>
                <a:rPr lang="en-US" sz="2400" b="1" dirty="0"/>
                <a:t>3. IT Specialists</a:t>
              </a:r>
            </a:p>
            <a:p>
              <a:pPr algn="just">
                <a:lnSpc>
                  <a:spcPct val="150000"/>
                </a:lnSpc>
                <a:spcBef>
                  <a:spcPts val="100"/>
                </a:spcBef>
              </a:pPr>
              <a:r>
                <a:rPr lang="en-US" sz="2400" dirty="0"/>
                <a:t>IT professionals design, develop, and maintain systems.</a:t>
              </a:r>
            </a:p>
            <a:p>
              <a:pPr algn="just">
                <a:lnSpc>
                  <a:spcPct val="150000"/>
                </a:lnSpc>
                <a:spcBef>
                  <a:spcPts val="100"/>
                </a:spcBef>
              </a:pPr>
              <a:r>
                <a:rPr lang="en-US" sz="2400" b="1" dirty="0"/>
                <a:t>Examples:</a:t>
              </a:r>
            </a:p>
            <a:p>
              <a:pPr algn="just">
                <a:lnSpc>
                  <a:spcPct val="150000"/>
                </a:lnSpc>
                <a:spcBef>
                  <a:spcPts val="100"/>
                </a:spcBef>
              </a:pPr>
              <a:r>
                <a:rPr lang="en-US" sz="2400" dirty="0"/>
                <a:t>• System analysts • Programmers • Database administrators</a:t>
              </a:r>
            </a:p>
          </p:txBody>
        </p:sp>
      </p:grpSp>
      <p:sp>
        <p:nvSpPr>
          <p:cNvPr id="3" name="Freeform 2">
            <a:extLst>
              <a:ext uri="{FF2B5EF4-FFF2-40B4-BE49-F238E27FC236}">
                <a16:creationId xmlns:a16="http://schemas.microsoft.com/office/drawing/2014/main" id="{B4637BDD-50AB-E2A0-5E7A-74C600D3F27E}"/>
              </a:ext>
            </a:extLst>
          </p:cNvPr>
          <p:cNvSpPr/>
          <p:nvPr/>
        </p:nvSpPr>
        <p:spPr>
          <a:xfrm rot="-1100510">
            <a:off x="4749059" y="-46543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4182036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ADB2B-AC25-797A-1E90-6CE534CDE24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35FDD41A-3074-8922-211D-0738EE37E062}"/>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C215FB9E-F8C2-8A98-21C8-19D27F8BBB66}"/>
              </a:ext>
            </a:extLst>
          </p:cNvPr>
          <p:cNvGrpSpPr/>
          <p:nvPr/>
        </p:nvGrpSpPr>
        <p:grpSpPr>
          <a:xfrm>
            <a:off x="560162" y="609600"/>
            <a:ext cx="8633276" cy="6335782"/>
            <a:chOff x="157480" y="-267335"/>
            <a:chExt cx="11511034" cy="8447704"/>
          </a:xfrm>
        </p:grpSpPr>
        <p:sp>
          <p:nvSpPr>
            <p:cNvPr id="6" name="TextBox 6">
              <a:extLst>
                <a:ext uri="{FF2B5EF4-FFF2-40B4-BE49-F238E27FC236}">
                  <a16:creationId xmlns:a16="http://schemas.microsoft.com/office/drawing/2014/main" id="{0087C822-B2AB-BE73-833F-6DFB0713C86F}"/>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Information Systems:</a:t>
              </a:r>
            </a:p>
          </p:txBody>
        </p:sp>
        <p:sp>
          <p:nvSpPr>
            <p:cNvPr id="7" name="TextBox 7">
              <a:extLst>
                <a:ext uri="{FF2B5EF4-FFF2-40B4-BE49-F238E27FC236}">
                  <a16:creationId xmlns:a16="http://schemas.microsoft.com/office/drawing/2014/main" id="{EBD8E197-5814-89D2-E4FC-1110A2C91645}"/>
                </a:ext>
              </a:extLst>
            </p:cNvPr>
            <p:cNvSpPr txBox="1"/>
            <p:nvPr/>
          </p:nvSpPr>
          <p:spPr>
            <a:xfrm>
              <a:off x="157480" y="746971"/>
              <a:ext cx="11204787" cy="7433398"/>
            </a:xfrm>
            <a:prstGeom prst="rect">
              <a:avLst/>
            </a:prstGeom>
          </p:spPr>
          <p:txBody>
            <a:bodyPr wrap="square" lIns="0" tIns="0" rIns="0" bIns="0" rtlCol="0" anchor="t">
              <a:spAutoFit/>
            </a:bodyPr>
            <a:lstStyle/>
            <a:p>
              <a:pPr algn="just">
                <a:lnSpc>
                  <a:spcPct val="150000"/>
                </a:lnSpc>
              </a:pPr>
              <a:r>
                <a:rPr lang="en-US" sz="2800" b="1" dirty="0"/>
                <a:t>1. Transaction Processing System (TPS)</a:t>
              </a:r>
            </a:p>
            <a:p>
              <a:pPr algn="just">
                <a:lnSpc>
                  <a:spcPct val="150000"/>
                </a:lnSpc>
              </a:pPr>
              <a:r>
                <a:rPr lang="en-US" sz="2400" dirty="0"/>
                <a:t>TPS processes routine daily business transactions.</a:t>
              </a:r>
            </a:p>
            <a:p>
              <a:pPr algn="just">
                <a:lnSpc>
                  <a:spcPct val="150000"/>
                </a:lnSpc>
              </a:pPr>
              <a:r>
                <a:rPr lang="en-US" sz="2400" b="1" dirty="0"/>
                <a:t>Examples:</a:t>
              </a:r>
            </a:p>
            <a:p>
              <a:pPr algn="just">
                <a:lnSpc>
                  <a:spcPct val="150000"/>
                </a:lnSpc>
              </a:pPr>
              <a:r>
                <a:rPr lang="en-US" sz="2400" dirty="0"/>
                <a:t>• ATM transactions </a:t>
              </a:r>
            </a:p>
            <a:p>
              <a:pPr algn="just">
                <a:lnSpc>
                  <a:spcPct val="150000"/>
                </a:lnSpc>
              </a:pPr>
              <a:r>
                <a:rPr lang="en-US" sz="2400" dirty="0"/>
                <a:t>• Point of Sale (POS) systems </a:t>
              </a:r>
            </a:p>
            <a:p>
              <a:pPr algn="just">
                <a:lnSpc>
                  <a:spcPct val="150000"/>
                </a:lnSpc>
              </a:pPr>
              <a:r>
                <a:rPr lang="en-US" sz="2400" dirty="0"/>
                <a:t>• Payroll processing</a:t>
              </a:r>
            </a:p>
            <a:p>
              <a:pPr algn="just">
                <a:lnSpc>
                  <a:spcPct val="150000"/>
                </a:lnSpc>
              </a:pPr>
              <a:r>
                <a:rPr lang="en-US" sz="2400" b="1" dirty="0"/>
                <a:t>Characteristics:</a:t>
              </a:r>
            </a:p>
            <a:p>
              <a:pPr algn="just">
                <a:lnSpc>
                  <a:spcPct val="150000"/>
                </a:lnSpc>
              </a:pPr>
              <a:r>
                <a:rPr lang="en-US" sz="2400" dirty="0"/>
                <a:t>• Handles large volumes of data </a:t>
              </a:r>
            </a:p>
            <a:p>
              <a:pPr algn="just">
                <a:lnSpc>
                  <a:spcPct val="150000"/>
                </a:lnSpc>
              </a:pPr>
              <a:r>
                <a:rPr lang="en-US" sz="2400" dirty="0"/>
                <a:t>• Fast processing </a:t>
              </a:r>
            </a:p>
            <a:p>
              <a:pPr algn="just">
                <a:lnSpc>
                  <a:spcPct val="150000"/>
                </a:lnSpc>
              </a:pPr>
              <a:r>
                <a:rPr lang="en-US" sz="2400" dirty="0"/>
                <a:t>• High accuracy</a:t>
              </a:r>
            </a:p>
          </p:txBody>
        </p:sp>
      </p:grpSp>
      <p:sp>
        <p:nvSpPr>
          <p:cNvPr id="9" name="Freeform 2">
            <a:extLst>
              <a:ext uri="{FF2B5EF4-FFF2-40B4-BE49-F238E27FC236}">
                <a16:creationId xmlns:a16="http://schemas.microsoft.com/office/drawing/2014/main" id="{E17BB7FB-AAC9-D9D2-BA02-E94255A2A2E4}"/>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1119382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E1968-535F-FBD7-3D14-708774F53775}"/>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E88234E6-A06C-AF27-FF9F-FB929CA8CD7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FCB3599C-4759-74BB-8405-76DD0DAFEC5C}"/>
              </a:ext>
            </a:extLst>
          </p:cNvPr>
          <p:cNvGrpSpPr/>
          <p:nvPr/>
        </p:nvGrpSpPr>
        <p:grpSpPr>
          <a:xfrm>
            <a:off x="560162" y="685800"/>
            <a:ext cx="8633276" cy="4673789"/>
            <a:chOff x="157480" y="-267335"/>
            <a:chExt cx="11511034" cy="6231715"/>
          </a:xfrm>
        </p:grpSpPr>
        <p:sp>
          <p:nvSpPr>
            <p:cNvPr id="6" name="TextBox 6">
              <a:extLst>
                <a:ext uri="{FF2B5EF4-FFF2-40B4-BE49-F238E27FC236}">
                  <a16:creationId xmlns:a16="http://schemas.microsoft.com/office/drawing/2014/main" id="{5A3D15CD-2197-9246-CB6C-B565DE3DF9B0}"/>
                </a:ext>
              </a:extLst>
            </p:cNvPr>
            <p:cNvSpPr txBox="1"/>
            <p:nvPr/>
          </p:nvSpPr>
          <p:spPr>
            <a:xfrm>
              <a:off x="157480" y="-267335"/>
              <a:ext cx="11511034" cy="1008379"/>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Information Systems:</a:t>
              </a:r>
            </a:p>
          </p:txBody>
        </p:sp>
        <p:sp>
          <p:nvSpPr>
            <p:cNvPr id="7" name="TextBox 7">
              <a:extLst>
                <a:ext uri="{FF2B5EF4-FFF2-40B4-BE49-F238E27FC236}">
                  <a16:creationId xmlns:a16="http://schemas.microsoft.com/office/drawing/2014/main" id="{D0952C6A-7CD2-B78F-1628-9717BC74BC7A}"/>
                </a:ext>
              </a:extLst>
            </p:cNvPr>
            <p:cNvSpPr txBox="1"/>
            <p:nvPr/>
          </p:nvSpPr>
          <p:spPr>
            <a:xfrm>
              <a:off x="157480" y="746971"/>
              <a:ext cx="11204787" cy="5217409"/>
            </a:xfrm>
            <a:prstGeom prst="rect">
              <a:avLst/>
            </a:prstGeom>
          </p:spPr>
          <p:txBody>
            <a:bodyPr wrap="square" lIns="0" tIns="0" rIns="0" bIns="0" rtlCol="0" anchor="t">
              <a:spAutoFit/>
            </a:bodyPr>
            <a:lstStyle/>
            <a:p>
              <a:pPr algn="just">
                <a:lnSpc>
                  <a:spcPct val="150000"/>
                </a:lnSpc>
              </a:pPr>
              <a:r>
                <a:rPr lang="en-US" sz="2800" b="1" dirty="0"/>
                <a:t>2. Management Information System (MIS)</a:t>
              </a:r>
            </a:p>
            <a:p>
              <a:pPr algn="just">
                <a:lnSpc>
                  <a:spcPct val="150000"/>
                </a:lnSpc>
              </a:pPr>
              <a:r>
                <a:rPr lang="en-US" sz="2400" dirty="0"/>
                <a:t>MIS converts data from TPS into useful reports for managers.</a:t>
              </a:r>
            </a:p>
            <a:p>
              <a:pPr algn="just">
                <a:lnSpc>
                  <a:spcPct val="150000"/>
                </a:lnSpc>
              </a:pPr>
              <a:r>
                <a:rPr lang="en-US" sz="2400" b="1" dirty="0"/>
                <a:t>Examples:</a:t>
              </a:r>
            </a:p>
            <a:p>
              <a:pPr algn="just">
                <a:lnSpc>
                  <a:spcPct val="150000"/>
                </a:lnSpc>
              </a:pPr>
              <a:r>
                <a:rPr lang="en-US" sz="2400" dirty="0"/>
                <a:t>• Monthly sales reports </a:t>
              </a:r>
            </a:p>
            <a:p>
              <a:pPr algn="just">
                <a:lnSpc>
                  <a:spcPct val="150000"/>
                </a:lnSpc>
              </a:pPr>
              <a:r>
                <a:rPr lang="en-US" sz="2400" dirty="0"/>
                <a:t>• Inventory reports</a:t>
              </a:r>
            </a:p>
            <a:p>
              <a:pPr algn="just">
                <a:lnSpc>
                  <a:spcPct val="150000"/>
                </a:lnSpc>
              </a:pPr>
              <a:r>
                <a:rPr lang="en-US" sz="2400" b="1" dirty="0"/>
                <a:t>Purpose:</a:t>
              </a:r>
            </a:p>
            <a:p>
              <a:pPr algn="just">
                <a:lnSpc>
                  <a:spcPct val="150000"/>
                </a:lnSpc>
              </a:pPr>
              <a:r>
                <a:rPr lang="en-US" sz="2400" dirty="0"/>
                <a:t>• Support managerial decision making</a:t>
              </a:r>
            </a:p>
          </p:txBody>
        </p:sp>
      </p:grpSp>
      <p:sp>
        <p:nvSpPr>
          <p:cNvPr id="2" name="Freeform 2">
            <a:extLst>
              <a:ext uri="{FF2B5EF4-FFF2-40B4-BE49-F238E27FC236}">
                <a16:creationId xmlns:a16="http://schemas.microsoft.com/office/drawing/2014/main" id="{662A002B-8805-B8A1-DA76-55AFC1AFD88A}"/>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2156657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C387-C8EF-AF2D-E964-BFACA29EE000}"/>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7716932C-63C0-F646-F41E-6D6C715B71DB}"/>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30EAE1C1-E605-7B07-9E2A-3326412C2495}"/>
              </a:ext>
            </a:extLst>
          </p:cNvPr>
          <p:cNvGrpSpPr/>
          <p:nvPr/>
        </p:nvGrpSpPr>
        <p:grpSpPr>
          <a:xfrm>
            <a:off x="560162" y="685800"/>
            <a:ext cx="8633276" cy="4119791"/>
            <a:chOff x="157480" y="-267335"/>
            <a:chExt cx="11511034" cy="5493051"/>
          </a:xfrm>
        </p:grpSpPr>
        <p:sp>
          <p:nvSpPr>
            <p:cNvPr id="6" name="TextBox 6">
              <a:extLst>
                <a:ext uri="{FF2B5EF4-FFF2-40B4-BE49-F238E27FC236}">
                  <a16:creationId xmlns:a16="http://schemas.microsoft.com/office/drawing/2014/main" id="{B47EC19E-3F71-C5BF-475F-5A3245DC6977}"/>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Information Systems:</a:t>
              </a:r>
            </a:p>
          </p:txBody>
        </p:sp>
        <p:sp>
          <p:nvSpPr>
            <p:cNvPr id="7" name="TextBox 7">
              <a:extLst>
                <a:ext uri="{FF2B5EF4-FFF2-40B4-BE49-F238E27FC236}">
                  <a16:creationId xmlns:a16="http://schemas.microsoft.com/office/drawing/2014/main" id="{356EEA74-27CC-8CC9-79C0-A1B5BABC67AD}"/>
                </a:ext>
              </a:extLst>
            </p:cNvPr>
            <p:cNvSpPr txBox="1"/>
            <p:nvPr/>
          </p:nvSpPr>
          <p:spPr>
            <a:xfrm>
              <a:off x="157480" y="746971"/>
              <a:ext cx="11204787" cy="4478745"/>
            </a:xfrm>
            <a:prstGeom prst="rect">
              <a:avLst/>
            </a:prstGeom>
          </p:spPr>
          <p:txBody>
            <a:bodyPr wrap="square" lIns="0" tIns="0" rIns="0" bIns="0" rtlCol="0" anchor="t">
              <a:spAutoFit/>
            </a:bodyPr>
            <a:lstStyle/>
            <a:p>
              <a:pPr algn="just">
                <a:lnSpc>
                  <a:spcPct val="150000"/>
                </a:lnSpc>
              </a:pPr>
              <a:r>
                <a:rPr lang="en-US" sz="2800" b="1" dirty="0"/>
                <a:t>3. Decision Support System (DSS)</a:t>
              </a:r>
            </a:p>
            <a:p>
              <a:pPr algn="just">
                <a:lnSpc>
                  <a:spcPct val="150000"/>
                </a:lnSpc>
              </a:pPr>
              <a:r>
                <a:rPr lang="en-US" sz="2400" dirty="0"/>
                <a:t>DSS helps managers analyze complex problems and evaluate different solutions.</a:t>
              </a:r>
            </a:p>
            <a:p>
              <a:pPr algn="just">
                <a:lnSpc>
                  <a:spcPct val="150000"/>
                </a:lnSpc>
              </a:pPr>
              <a:r>
                <a:rPr lang="en-US" sz="2400" b="1" dirty="0"/>
                <a:t>Examples:</a:t>
              </a:r>
            </a:p>
            <a:p>
              <a:pPr algn="just">
                <a:lnSpc>
                  <a:spcPct val="150000"/>
                </a:lnSpc>
              </a:pPr>
              <a:r>
                <a:rPr lang="en-US" sz="2400" dirty="0"/>
                <a:t>• Financial planning systems </a:t>
              </a:r>
            </a:p>
            <a:p>
              <a:pPr algn="just">
                <a:lnSpc>
                  <a:spcPct val="150000"/>
                </a:lnSpc>
              </a:pPr>
              <a:r>
                <a:rPr lang="en-US" sz="2400" dirty="0"/>
                <a:t>• Forecasting systems</a:t>
              </a:r>
            </a:p>
          </p:txBody>
        </p:sp>
      </p:grpSp>
      <p:sp>
        <p:nvSpPr>
          <p:cNvPr id="3" name="Freeform 2">
            <a:extLst>
              <a:ext uri="{FF2B5EF4-FFF2-40B4-BE49-F238E27FC236}">
                <a16:creationId xmlns:a16="http://schemas.microsoft.com/office/drawing/2014/main" id="{F02DE24C-0BED-E774-15B2-E6FC1F5A3025}"/>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1632959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027E0-B95D-545B-ABB9-18D3EC8DB9D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16DB7736-CFD7-E98F-DBBD-C9EDCD3EC62E}"/>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6ACB279B-7654-DBC3-E9AD-BAA9BDED7542}"/>
              </a:ext>
            </a:extLst>
          </p:cNvPr>
          <p:cNvGrpSpPr/>
          <p:nvPr/>
        </p:nvGrpSpPr>
        <p:grpSpPr>
          <a:xfrm>
            <a:off x="560162" y="685800"/>
            <a:ext cx="8633276" cy="4119791"/>
            <a:chOff x="157480" y="-267335"/>
            <a:chExt cx="11511034" cy="5493051"/>
          </a:xfrm>
        </p:grpSpPr>
        <p:sp>
          <p:nvSpPr>
            <p:cNvPr id="6" name="TextBox 6">
              <a:extLst>
                <a:ext uri="{FF2B5EF4-FFF2-40B4-BE49-F238E27FC236}">
                  <a16:creationId xmlns:a16="http://schemas.microsoft.com/office/drawing/2014/main" id="{AA1728FB-78E0-3167-4315-D0D872450E8A}"/>
                </a:ext>
              </a:extLst>
            </p:cNvPr>
            <p:cNvSpPr txBox="1"/>
            <p:nvPr/>
          </p:nvSpPr>
          <p:spPr>
            <a:xfrm>
              <a:off x="157480" y="-267335"/>
              <a:ext cx="11511034" cy="1008380"/>
            </a:xfrm>
            <a:prstGeom prst="rect">
              <a:avLst/>
            </a:prstGeom>
          </p:spPr>
          <p:txBody>
            <a:bodyPr lIns="0" tIns="0" rIns="0" bIns="0" rtlCol="0" anchor="t">
              <a:spAutoFit/>
            </a:bodyPr>
            <a:lstStyle/>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Types of Information Systems:</a:t>
              </a:r>
            </a:p>
          </p:txBody>
        </p:sp>
        <p:sp>
          <p:nvSpPr>
            <p:cNvPr id="7" name="TextBox 7">
              <a:extLst>
                <a:ext uri="{FF2B5EF4-FFF2-40B4-BE49-F238E27FC236}">
                  <a16:creationId xmlns:a16="http://schemas.microsoft.com/office/drawing/2014/main" id="{79996913-166F-2BC0-BB46-3C2614CA1C0F}"/>
                </a:ext>
              </a:extLst>
            </p:cNvPr>
            <p:cNvSpPr txBox="1"/>
            <p:nvPr/>
          </p:nvSpPr>
          <p:spPr>
            <a:xfrm>
              <a:off x="157480" y="746971"/>
              <a:ext cx="11204787" cy="4478745"/>
            </a:xfrm>
            <a:prstGeom prst="rect">
              <a:avLst/>
            </a:prstGeom>
          </p:spPr>
          <p:txBody>
            <a:bodyPr wrap="square" lIns="0" tIns="0" rIns="0" bIns="0" rtlCol="0" anchor="t">
              <a:spAutoFit/>
            </a:bodyPr>
            <a:lstStyle/>
            <a:p>
              <a:pPr algn="just">
                <a:lnSpc>
                  <a:spcPct val="150000"/>
                </a:lnSpc>
              </a:pPr>
              <a:r>
                <a:rPr lang="en-US" sz="2800" b="1" dirty="0"/>
                <a:t>4. Executive Information System (EIS)</a:t>
              </a:r>
            </a:p>
            <a:p>
              <a:pPr algn="just">
                <a:lnSpc>
                  <a:spcPct val="150000"/>
                </a:lnSpc>
              </a:pPr>
              <a:r>
                <a:rPr lang="en-US" sz="2400" dirty="0"/>
                <a:t>EIS provides summarized information to top executives for strategic decisions.</a:t>
              </a:r>
            </a:p>
            <a:p>
              <a:pPr algn="just">
                <a:lnSpc>
                  <a:spcPct val="150000"/>
                </a:lnSpc>
              </a:pPr>
              <a:r>
                <a:rPr lang="en-US" sz="2400" b="1" dirty="0"/>
                <a:t>Examples:</a:t>
              </a:r>
            </a:p>
            <a:p>
              <a:pPr algn="just">
                <a:lnSpc>
                  <a:spcPct val="150000"/>
                </a:lnSpc>
              </a:pPr>
              <a:r>
                <a:rPr lang="en-US" sz="2400" dirty="0"/>
                <a:t>• Executive dashboards </a:t>
              </a:r>
            </a:p>
            <a:p>
              <a:pPr algn="just">
                <a:lnSpc>
                  <a:spcPct val="150000"/>
                </a:lnSpc>
              </a:pPr>
              <a:r>
                <a:rPr lang="en-US" sz="2400" dirty="0"/>
                <a:t>• Corporate performance monitoring</a:t>
              </a:r>
            </a:p>
          </p:txBody>
        </p:sp>
      </p:grpSp>
      <p:sp>
        <p:nvSpPr>
          <p:cNvPr id="2" name="Freeform 2">
            <a:extLst>
              <a:ext uri="{FF2B5EF4-FFF2-40B4-BE49-F238E27FC236}">
                <a16:creationId xmlns:a16="http://schemas.microsoft.com/office/drawing/2014/main" id="{492DA7AB-48D6-9282-4FCB-725D7F7C2DD0}"/>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4132653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68E8F-D3C9-2F74-2608-283D62E78DC3}"/>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E743A452-A48E-2E97-24CF-D7946259EE14}"/>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0CC5AE98-5FE0-A6A9-4EC0-D5E1013E93D3}"/>
              </a:ext>
            </a:extLst>
          </p:cNvPr>
          <p:cNvGrpSpPr/>
          <p:nvPr/>
        </p:nvGrpSpPr>
        <p:grpSpPr>
          <a:xfrm>
            <a:off x="560162" y="449958"/>
            <a:ext cx="8583838" cy="6415283"/>
            <a:chOff x="157480" y="-267335"/>
            <a:chExt cx="11511034" cy="7680262"/>
          </a:xfrm>
        </p:grpSpPr>
        <p:sp>
          <p:nvSpPr>
            <p:cNvPr id="6" name="TextBox 6">
              <a:extLst>
                <a:ext uri="{FF2B5EF4-FFF2-40B4-BE49-F238E27FC236}">
                  <a16:creationId xmlns:a16="http://schemas.microsoft.com/office/drawing/2014/main" id="{338BC782-C6AF-A03C-1CF9-45E1F154554B}"/>
                </a:ext>
              </a:extLst>
            </p:cNvPr>
            <p:cNvSpPr txBox="1"/>
            <p:nvPr/>
          </p:nvSpPr>
          <p:spPr>
            <a:xfrm>
              <a:off x="157480" y="-267335"/>
              <a:ext cx="11511034" cy="1779684"/>
            </a:xfrm>
            <a:prstGeom prst="rect">
              <a:avLst/>
            </a:prstGeom>
          </p:spPr>
          <p:txBody>
            <a:bodyPr lIns="0" tIns="0" rIns="0" bIns="0" rtlCol="0" anchor="t">
              <a:spAutoFit/>
            </a:bodyPr>
            <a:lstStyle/>
            <a:p>
              <a:pPr marL="685800" indent="-685800" algn="just">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Responsibility for System</a:t>
              </a:r>
            </a:p>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     Development:</a:t>
              </a:r>
            </a:p>
          </p:txBody>
        </p:sp>
        <p:sp>
          <p:nvSpPr>
            <p:cNvPr id="7" name="TextBox 7">
              <a:extLst>
                <a:ext uri="{FF2B5EF4-FFF2-40B4-BE49-F238E27FC236}">
                  <a16:creationId xmlns:a16="http://schemas.microsoft.com/office/drawing/2014/main" id="{66B74255-4377-D735-369F-966B54D07438}"/>
                </a:ext>
              </a:extLst>
            </p:cNvPr>
            <p:cNvSpPr txBox="1"/>
            <p:nvPr/>
          </p:nvSpPr>
          <p:spPr>
            <a:xfrm>
              <a:off x="157480" y="1512349"/>
              <a:ext cx="11511034" cy="5900578"/>
            </a:xfrm>
            <a:prstGeom prst="rect">
              <a:avLst/>
            </a:prstGeom>
          </p:spPr>
          <p:txBody>
            <a:bodyPr wrap="square" lIns="0" tIns="0" rIns="0" bIns="0" rtlCol="0" anchor="t">
              <a:spAutoFit/>
            </a:bodyPr>
            <a:lstStyle/>
            <a:p>
              <a:pPr algn="just">
                <a:lnSpc>
                  <a:spcPct val="150000"/>
                </a:lnSpc>
              </a:pPr>
              <a:r>
                <a:rPr lang="en-US" sz="2400" dirty="0"/>
                <a:t>System development requires teamwork among different professionals.</a:t>
              </a:r>
            </a:p>
            <a:p>
              <a:pPr algn="just">
                <a:lnSpc>
                  <a:spcPct val="150000"/>
                </a:lnSpc>
              </a:pPr>
              <a:r>
                <a:rPr lang="en-US" sz="2400" b="1" dirty="0"/>
                <a:t>Key participants:</a:t>
              </a:r>
            </a:p>
            <a:p>
              <a:pPr marL="457200" indent="-457200" algn="just">
                <a:lnSpc>
                  <a:spcPct val="150000"/>
                </a:lnSpc>
                <a:buFont typeface="+mj-lt"/>
                <a:buAutoNum type="arabicPeriod"/>
              </a:pPr>
              <a:r>
                <a:rPr lang="en-US" sz="2400" b="1" dirty="0"/>
                <a:t>System Analysts – </a:t>
              </a:r>
              <a:r>
                <a:rPr lang="en-US" sz="2400" dirty="0"/>
                <a:t>analyze system requirements.</a:t>
              </a:r>
            </a:p>
            <a:p>
              <a:pPr marL="457200" indent="-457200" algn="just">
                <a:lnSpc>
                  <a:spcPct val="150000"/>
                </a:lnSpc>
                <a:buFont typeface="+mj-lt"/>
                <a:buAutoNum type="arabicPeriod"/>
              </a:pPr>
              <a:r>
                <a:rPr lang="en-US" sz="2400" b="1" dirty="0"/>
                <a:t>Programmers – </a:t>
              </a:r>
              <a:r>
                <a:rPr lang="en-US" sz="2400" dirty="0"/>
                <a:t>write software code.</a:t>
              </a:r>
            </a:p>
            <a:p>
              <a:pPr marL="457200" indent="-457200" algn="just">
                <a:lnSpc>
                  <a:spcPct val="150000"/>
                </a:lnSpc>
                <a:buFont typeface="+mj-lt"/>
                <a:buAutoNum type="arabicPeriod"/>
              </a:pPr>
              <a:r>
                <a:rPr lang="en-US" sz="2400" b="1" dirty="0"/>
                <a:t>Project Managers – </a:t>
              </a:r>
              <a:r>
                <a:rPr lang="en-US" sz="2400" dirty="0"/>
                <a:t>manage development projects.</a:t>
              </a:r>
            </a:p>
            <a:p>
              <a:pPr marL="457200" indent="-457200" algn="just">
                <a:lnSpc>
                  <a:spcPct val="150000"/>
                </a:lnSpc>
                <a:buFont typeface="+mj-lt"/>
                <a:buAutoNum type="arabicPeriod"/>
              </a:pPr>
              <a:r>
                <a:rPr lang="en-US" sz="2400" b="1" dirty="0"/>
                <a:t>Database Administrators – </a:t>
              </a:r>
              <a:r>
                <a:rPr lang="en-US" sz="2400" dirty="0"/>
                <a:t>manage organizational data.</a:t>
              </a:r>
            </a:p>
            <a:p>
              <a:pPr marL="457200" indent="-457200" algn="just">
                <a:lnSpc>
                  <a:spcPct val="150000"/>
                </a:lnSpc>
                <a:buFont typeface="+mj-lt"/>
                <a:buAutoNum type="arabicPeriod"/>
              </a:pPr>
              <a:r>
                <a:rPr lang="en-US" sz="2400" b="1" dirty="0"/>
                <a:t>End Users – </a:t>
              </a:r>
              <a:r>
                <a:rPr lang="en-US" sz="2400" dirty="0"/>
                <a:t>provide feedback and use the system.</a:t>
              </a:r>
            </a:p>
            <a:p>
              <a:pPr algn="just">
                <a:lnSpc>
                  <a:spcPct val="150000"/>
                </a:lnSpc>
              </a:pPr>
              <a:endParaRPr lang="en-US" sz="2400" dirty="0"/>
            </a:p>
          </p:txBody>
        </p:sp>
      </p:grpSp>
      <p:sp>
        <p:nvSpPr>
          <p:cNvPr id="2" name="Freeform 2">
            <a:extLst>
              <a:ext uri="{FF2B5EF4-FFF2-40B4-BE49-F238E27FC236}">
                <a16:creationId xmlns:a16="http://schemas.microsoft.com/office/drawing/2014/main" id="{1BE1BB11-7FA9-DE02-9ACB-C0B87D417225}"/>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3892420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3CD2-1777-B6B5-81F2-A9648F2A4188}"/>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A8E73DC4-3E1C-7355-9A2B-84CFD15FEF47}"/>
              </a:ext>
            </a:extLst>
          </p:cNvPr>
          <p:cNvSpPr/>
          <p:nvPr/>
        </p:nvSpPr>
        <p:spPr>
          <a:xfrm rot="-795738">
            <a:off x="9187348" y="5396519"/>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9FA31EA0-E47F-CB07-C5C7-3536852F3679}"/>
              </a:ext>
            </a:extLst>
          </p:cNvPr>
          <p:cNvGrpSpPr/>
          <p:nvPr/>
        </p:nvGrpSpPr>
        <p:grpSpPr>
          <a:xfrm>
            <a:off x="584881" y="332138"/>
            <a:ext cx="8583838" cy="6650923"/>
            <a:chOff x="157480" y="-267335"/>
            <a:chExt cx="11511034" cy="7962365"/>
          </a:xfrm>
        </p:grpSpPr>
        <p:sp>
          <p:nvSpPr>
            <p:cNvPr id="6" name="TextBox 6">
              <a:extLst>
                <a:ext uri="{FF2B5EF4-FFF2-40B4-BE49-F238E27FC236}">
                  <a16:creationId xmlns:a16="http://schemas.microsoft.com/office/drawing/2014/main" id="{C4E8BD57-827B-34F2-3898-F8F4412D1EDA}"/>
                </a:ext>
              </a:extLst>
            </p:cNvPr>
            <p:cNvSpPr txBox="1"/>
            <p:nvPr/>
          </p:nvSpPr>
          <p:spPr>
            <a:xfrm>
              <a:off x="157480" y="-267335"/>
              <a:ext cx="11511034" cy="1779684"/>
            </a:xfrm>
            <a:prstGeom prst="rect">
              <a:avLst/>
            </a:prstGeom>
          </p:spPr>
          <p:txBody>
            <a:bodyPr lIns="0" tIns="0" rIns="0" bIns="0" rtlCol="0" anchor="t">
              <a:spAutoFit/>
            </a:bodyPr>
            <a:lstStyle/>
            <a:p>
              <a:pPr marL="685800" indent="-685800" algn="just">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System Development Life Cycle (SDLC):</a:t>
              </a:r>
            </a:p>
          </p:txBody>
        </p:sp>
        <p:sp>
          <p:nvSpPr>
            <p:cNvPr id="7" name="TextBox 7">
              <a:extLst>
                <a:ext uri="{FF2B5EF4-FFF2-40B4-BE49-F238E27FC236}">
                  <a16:creationId xmlns:a16="http://schemas.microsoft.com/office/drawing/2014/main" id="{64DE10EB-D916-3395-4374-8F1627F207E5}"/>
                </a:ext>
              </a:extLst>
            </p:cNvPr>
            <p:cNvSpPr txBox="1"/>
            <p:nvPr/>
          </p:nvSpPr>
          <p:spPr>
            <a:xfrm>
              <a:off x="157480" y="1512349"/>
              <a:ext cx="11511034" cy="6182681"/>
            </a:xfrm>
            <a:prstGeom prst="rect">
              <a:avLst/>
            </a:prstGeom>
          </p:spPr>
          <p:txBody>
            <a:bodyPr wrap="square" lIns="0" tIns="0" rIns="0" bIns="0" rtlCol="0" anchor="t">
              <a:spAutoFit/>
            </a:bodyPr>
            <a:lstStyle/>
            <a:p>
              <a:pPr algn="just">
                <a:lnSpc>
                  <a:spcPct val="150000"/>
                </a:lnSpc>
              </a:pPr>
              <a:r>
                <a:rPr lang="en-US" sz="2200" dirty="0"/>
                <a:t>SDLC is a structured process used to design and develop information systems.</a:t>
              </a:r>
            </a:p>
            <a:p>
              <a:pPr algn="just">
                <a:lnSpc>
                  <a:spcPct val="150000"/>
                </a:lnSpc>
              </a:pPr>
              <a:r>
                <a:rPr lang="en-US" sz="2800" b="1" dirty="0"/>
                <a:t>Phases of SDLC</a:t>
              </a:r>
            </a:p>
            <a:p>
              <a:pPr marL="457200" indent="-457200" algn="just">
                <a:lnSpc>
                  <a:spcPct val="150000"/>
                </a:lnSpc>
                <a:buFont typeface="+mj-lt"/>
                <a:buAutoNum type="arabicPeriod"/>
              </a:pPr>
              <a:r>
                <a:rPr lang="en-US" sz="2200" b="1" dirty="0"/>
                <a:t>Planning - </a:t>
              </a:r>
              <a:r>
                <a:rPr lang="en-US" sz="2200" dirty="0"/>
                <a:t>Identify problems and determine project feasibility.</a:t>
              </a:r>
            </a:p>
            <a:p>
              <a:pPr marL="457200" indent="-457200" algn="just">
                <a:lnSpc>
                  <a:spcPct val="150000"/>
                </a:lnSpc>
                <a:buFont typeface="+mj-lt"/>
                <a:buAutoNum type="arabicPeriod"/>
              </a:pPr>
              <a:r>
                <a:rPr lang="en-US" sz="2200" b="1" dirty="0"/>
                <a:t>Analysis - </a:t>
              </a:r>
              <a:r>
                <a:rPr lang="en-US" sz="2200" dirty="0"/>
                <a:t>Gather and analyze user requirements.</a:t>
              </a:r>
            </a:p>
            <a:p>
              <a:pPr marL="457200" indent="-457200" algn="just">
                <a:lnSpc>
                  <a:spcPct val="150000"/>
                </a:lnSpc>
                <a:buFont typeface="+mj-lt"/>
                <a:buAutoNum type="arabicPeriod"/>
              </a:pPr>
              <a:r>
                <a:rPr lang="en-US" sz="2200" b="1" dirty="0"/>
                <a:t>Design - </a:t>
              </a:r>
              <a:r>
                <a:rPr lang="en-US" sz="2200" dirty="0"/>
                <a:t>Create system architecture and database design.</a:t>
              </a:r>
            </a:p>
            <a:p>
              <a:pPr marL="457200" indent="-457200" algn="just">
                <a:lnSpc>
                  <a:spcPct val="150000"/>
                </a:lnSpc>
                <a:buFont typeface="+mj-lt"/>
                <a:buAutoNum type="arabicPeriod"/>
              </a:pPr>
              <a:r>
                <a:rPr lang="en-US" sz="2200" b="1" dirty="0"/>
                <a:t>Development - </a:t>
              </a:r>
              <a:r>
                <a:rPr lang="en-US" sz="2200" dirty="0"/>
                <a:t>Develop software through coding.</a:t>
              </a:r>
            </a:p>
            <a:p>
              <a:pPr marL="457200" indent="-457200" algn="just">
                <a:lnSpc>
                  <a:spcPct val="150000"/>
                </a:lnSpc>
                <a:buFont typeface="+mj-lt"/>
                <a:buAutoNum type="arabicPeriod"/>
              </a:pPr>
              <a:r>
                <a:rPr lang="en-US" sz="2200" b="1" dirty="0"/>
                <a:t>Testing -</a:t>
              </a:r>
              <a:r>
                <a:rPr lang="en-US" sz="2200" dirty="0"/>
                <a:t> Test the system to detect and correct errors.</a:t>
              </a:r>
            </a:p>
            <a:p>
              <a:pPr marL="457200" indent="-457200" algn="just">
                <a:lnSpc>
                  <a:spcPct val="150000"/>
                </a:lnSpc>
                <a:buFont typeface="+mj-lt"/>
                <a:buAutoNum type="arabicPeriod"/>
              </a:pPr>
              <a:r>
                <a:rPr lang="en-US" sz="2200" b="1" dirty="0"/>
                <a:t>Implementation - </a:t>
              </a:r>
              <a:r>
                <a:rPr lang="en-US" sz="2200" dirty="0"/>
                <a:t>Install the system and make it operational.</a:t>
              </a:r>
            </a:p>
            <a:p>
              <a:pPr marL="457200" indent="-457200" algn="just">
                <a:lnSpc>
                  <a:spcPct val="150000"/>
                </a:lnSpc>
                <a:buFont typeface="+mj-lt"/>
                <a:buAutoNum type="arabicPeriod"/>
              </a:pPr>
              <a:r>
                <a:rPr lang="en-US" sz="2200" b="1" dirty="0"/>
                <a:t>Maintenance - </a:t>
              </a:r>
              <a:r>
                <a:rPr lang="en-US" sz="2200" dirty="0"/>
                <a:t>Update and maintain the system after deployment.</a:t>
              </a:r>
            </a:p>
          </p:txBody>
        </p:sp>
      </p:grpSp>
      <p:sp>
        <p:nvSpPr>
          <p:cNvPr id="2" name="AutoShape 2" descr="The 7 SDLC Phases Explained for Real-World Software Teams">
            <a:extLst>
              <a:ext uri="{FF2B5EF4-FFF2-40B4-BE49-F238E27FC236}">
                <a16:creationId xmlns:a16="http://schemas.microsoft.com/office/drawing/2014/main" id="{8C91B118-3DC0-9FE0-7FEC-E62DECFA90E7}"/>
              </a:ext>
            </a:extLst>
          </p:cNvPr>
          <p:cNvSpPr>
            <a:spLocks noChangeAspect="1" noChangeArrowheads="1"/>
          </p:cNvSpPr>
          <p:nvPr/>
        </p:nvSpPr>
        <p:spPr bwMode="auto">
          <a:xfrm>
            <a:off x="4724400" y="350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468492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A12F3D-1AFD-BDB6-D137-2ACC8F8BED0D}"/>
              </a:ext>
            </a:extLst>
          </p:cNvPr>
          <p:cNvPicPr>
            <a:picLocks noChangeAspect="1"/>
          </p:cNvPicPr>
          <p:nvPr/>
        </p:nvPicPr>
        <p:blipFill>
          <a:blip r:embed="rId2"/>
          <a:stretch>
            <a:fillRect/>
          </a:stretch>
        </p:blipFill>
        <p:spPr>
          <a:xfrm>
            <a:off x="742950" y="973931"/>
            <a:ext cx="8267700" cy="5367338"/>
          </a:xfrm>
          <a:prstGeom prst="rect">
            <a:avLst/>
          </a:prstGeom>
        </p:spPr>
      </p:pic>
    </p:spTree>
    <p:extLst>
      <p:ext uri="{BB962C8B-B14F-4D97-AF65-F5344CB8AC3E}">
        <p14:creationId xmlns:p14="http://schemas.microsoft.com/office/powerpoint/2010/main" val="922887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6913-46CE-364B-1A71-E3A87955249D}"/>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EC043315-9FC9-A429-47C3-EDFB27EAE49F}"/>
              </a:ext>
            </a:extLst>
          </p:cNvPr>
          <p:cNvSpPr/>
          <p:nvPr/>
        </p:nvSpPr>
        <p:spPr>
          <a:xfrm rot="-795738">
            <a:off x="9187348" y="5396519"/>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6F936703-72E0-1E24-DE37-8137F558A975}"/>
              </a:ext>
            </a:extLst>
          </p:cNvPr>
          <p:cNvGrpSpPr/>
          <p:nvPr/>
        </p:nvGrpSpPr>
        <p:grpSpPr>
          <a:xfrm>
            <a:off x="584881" y="680790"/>
            <a:ext cx="8583838" cy="5953619"/>
            <a:chOff x="157480" y="-267335"/>
            <a:chExt cx="11511034" cy="7127564"/>
          </a:xfrm>
        </p:grpSpPr>
        <p:sp>
          <p:nvSpPr>
            <p:cNvPr id="6" name="TextBox 6">
              <a:extLst>
                <a:ext uri="{FF2B5EF4-FFF2-40B4-BE49-F238E27FC236}">
                  <a16:creationId xmlns:a16="http://schemas.microsoft.com/office/drawing/2014/main" id="{6613BCFF-7211-330D-4DBB-76D7F97E61C0}"/>
                </a:ext>
              </a:extLst>
            </p:cNvPr>
            <p:cNvSpPr txBox="1"/>
            <p:nvPr/>
          </p:nvSpPr>
          <p:spPr>
            <a:xfrm>
              <a:off x="157480" y="-267335"/>
              <a:ext cx="11511034" cy="1779684"/>
            </a:xfrm>
            <a:prstGeom prst="rect">
              <a:avLst/>
            </a:prstGeom>
          </p:spPr>
          <p:txBody>
            <a:bodyPr lIns="0" tIns="0" rIns="0" bIns="0" rtlCol="0" anchor="t">
              <a:spAutoFit/>
            </a:bodyPr>
            <a:lstStyle/>
            <a:p>
              <a:pPr marL="685800" indent="-685800" algn="just">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Approaches/Models of System</a:t>
              </a:r>
            </a:p>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     Development:</a:t>
              </a:r>
            </a:p>
          </p:txBody>
        </p:sp>
        <p:sp>
          <p:nvSpPr>
            <p:cNvPr id="7" name="TextBox 7">
              <a:extLst>
                <a:ext uri="{FF2B5EF4-FFF2-40B4-BE49-F238E27FC236}">
                  <a16:creationId xmlns:a16="http://schemas.microsoft.com/office/drawing/2014/main" id="{1D01375D-199F-A0CD-0615-E9CAD6851AE6}"/>
                </a:ext>
              </a:extLst>
            </p:cNvPr>
            <p:cNvSpPr txBox="1"/>
            <p:nvPr/>
          </p:nvSpPr>
          <p:spPr>
            <a:xfrm>
              <a:off x="157480" y="1512349"/>
              <a:ext cx="11511034" cy="5347880"/>
            </a:xfrm>
            <a:prstGeom prst="rect">
              <a:avLst/>
            </a:prstGeom>
          </p:spPr>
          <p:txBody>
            <a:bodyPr wrap="square" lIns="0" tIns="0" rIns="0" bIns="0" rtlCol="0" anchor="t">
              <a:spAutoFit/>
            </a:bodyPr>
            <a:lstStyle/>
            <a:p>
              <a:pPr algn="just">
                <a:lnSpc>
                  <a:spcPct val="150000"/>
                </a:lnSpc>
              </a:pPr>
              <a:r>
                <a:rPr lang="en-US" sz="2400" dirty="0"/>
                <a:t>Approaches or Models are used for System Development are:</a:t>
              </a:r>
            </a:p>
            <a:p>
              <a:pPr algn="just">
                <a:lnSpc>
                  <a:spcPct val="150000"/>
                </a:lnSpc>
              </a:pPr>
              <a:r>
                <a:rPr lang="en-US" sz="2400" b="1" dirty="0"/>
                <a:t> 1. </a:t>
              </a:r>
              <a:r>
                <a:rPr lang="en-US" sz="2800" b="1" dirty="0"/>
                <a:t>Waterfall Model</a:t>
              </a:r>
            </a:p>
            <a:p>
              <a:pPr algn="just">
                <a:lnSpc>
                  <a:spcPct val="150000"/>
                </a:lnSpc>
              </a:pPr>
              <a:r>
                <a:rPr lang="en-US" sz="2400" dirty="0"/>
                <a:t>A sequential model where each phase must be completed before the next begins.</a:t>
              </a:r>
            </a:p>
            <a:p>
              <a:pPr algn="just">
                <a:lnSpc>
                  <a:spcPct val="150000"/>
                </a:lnSpc>
              </a:pPr>
              <a:r>
                <a:rPr lang="en-US" sz="2400" b="1" dirty="0"/>
                <a:t>Advantages:</a:t>
              </a:r>
            </a:p>
            <a:p>
              <a:pPr algn="just">
                <a:lnSpc>
                  <a:spcPct val="150000"/>
                </a:lnSpc>
              </a:pPr>
              <a:r>
                <a:rPr lang="en-US" sz="2400" dirty="0"/>
                <a:t>• Simple and structured</a:t>
              </a:r>
            </a:p>
            <a:p>
              <a:pPr algn="just">
                <a:lnSpc>
                  <a:spcPct val="150000"/>
                </a:lnSpc>
              </a:pPr>
              <a:r>
                <a:rPr lang="en-US" sz="2400" b="1" dirty="0"/>
                <a:t>Disadvantages:</a:t>
              </a:r>
            </a:p>
            <a:p>
              <a:pPr algn="just">
                <a:lnSpc>
                  <a:spcPct val="150000"/>
                </a:lnSpc>
              </a:pPr>
              <a:r>
                <a:rPr lang="en-US" sz="2400" dirty="0"/>
                <a:t>• Difficult to make changes during development</a:t>
              </a:r>
            </a:p>
          </p:txBody>
        </p:sp>
      </p:grpSp>
      <p:sp>
        <p:nvSpPr>
          <p:cNvPr id="8" name="Freeform 2">
            <a:extLst>
              <a:ext uri="{FF2B5EF4-FFF2-40B4-BE49-F238E27FC236}">
                <a16:creationId xmlns:a16="http://schemas.microsoft.com/office/drawing/2014/main" id="{2E57ABE8-919F-4F86-2DBF-D95623F89FD8}"/>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1026195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DLC – Waterfall Model | Chipkidz">
            <a:extLst>
              <a:ext uri="{FF2B5EF4-FFF2-40B4-BE49-F238E27FC236}">
                <a16:creationId xmlns:a16="http://schemas.microsoft.com/office/drawing/2014/main" id="{882A42B4-349F-5D80-C08D-C9F0AC3CA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114425"/>
            <a:ext cx="7543800" cy="508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097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91D02-22AA-E9E1-6E97-EABCD85F2CDB}"/>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91F72C7C-7D98-8AE8-A8D4-54102A6CEB13}"/>
              </a:ext>
            </a:extLst>
          </p:cNvPr>
          <p:cNvSpPr/>
          <p:nvPr/>
        </p:nvSpPr>
        <p:spPr>
          <a:xfrm rot="-795738">
            <a:off x="9187348" y="5396519"/>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208DF010-A876-C360-1DE7-F5DBAC9D8320}"/>
              </a:ext>
            </a:extLst>
          </p:cNvPr>
          <p:cNvGrpSpPr/>
          <p:nvPr/>
        </p:nvGrpSpPr>
        <p:grpSpPr>
          <a:xfrm>
            <a:off x="584881" y="680791"/>
            <a:ext cx="8583838" cy="5953618"/>
            <a:chOff x="157480" y="-267335"/>
            <a:chExt cx="11511034" cy="7127560"/>
          </a:xfrm>
        </p:grpSpPr>
        <p:sp>
          <p:nvSpPr>
            <p:cNvPr id="6" name="TextBox 6">
              <a:extLst>
                <a:ext uri="{FF2B5EF4-FFF2-40B4-BE49-F238E27FC236}">
                  <a16:creationId xmlns:a16="http://schemas.microsoft.com/office/drawing/2014/main" id="{68266293-2FB6-372A-1576-87EFBE6EDC71}"/>
                </a:ext>
              </a:extLst>
            </p:cNvPr>
            <p:cNvSpPr txBox="1"/>
            <p:nvPr/>
          </p:nvSpPr>
          <p:spPr>
            <a:xfrm>
              <a:off x="157480" y="-267335"/>
              <a:ext cx="11511034" cy="1779684"/>
            </a:xfrm>
            <a:prstGeom prst="rect">
              <a:avLst/>
            </a:prstGeom>
          </p:spPr>
          <p:txBody>
            <a:bodyPr lIns="0" tIns="0" rIns="0" bIns="0" rtlCol="0" anchor="t">
              <a:spAutoFit/>
            </a:bodyPr>
            <a:lstStyle/>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Approaches/Models of System</a:t>
              </a:r>
            </a:p>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Development:</a:t>
              </a:r>
            </a:p>
          </p:txBody>
        </p:sp>
        <p:sp>
          <p:nvSpPr>
            <p:cNvPr id="7" name="TextBox 7">
              <a:extLst>
                <a:ext uri="{FF2B5EF4-FFF2-40B4-BE49-F238E27FC236}">
                  <a16:creationId xmlns:a16="http://schemas.microsoft.com/office/drawing/2014/main" id="{406965CB-FD8C-1B6E-465A-0C69A9FC34F9}"/>
                </a:ext>
              </a:extLst>
            </p:cNvPr>
            <p:cNvSpPr txBox="1"/>
            <p:nvPr/>
          </p:nvSpPr>
          <p:spPr>
            <a:xfrm>
              <a:off x="157480" y="1512348"/>
              <a:ext cx="11511034" cy="5347877"/>
            </a:xfrm>
            <a:prstGeom prst="rect">
              <a:avLst/>
            </a:prstGeom>
          </p:spPr>
          <p:txBody>
            <a:bodyPr wrap="square" lIns="0" tIns="0" rIns="0" bIns="0" rtlCol="0" anchor="t">
              <a:spAutoFit/>
            </a:bodyPr>
            <a:lstStyle/>
            <a:p>
              <a:pPr algn="just">
                <a:lnSpc>
                  <a:spcPct val="150000"/>
                </a:lnSpc>
              </a:pPr>
              <a:r>
                <a:rPr lang="en-US" sz="2800" b="1" dirty="0"/>
                <a:t>2. Agile Model</a:t>
              </a:r>
            </a:p>
            <a:p>
              <a:pPr algn="just">
                <a:lnSpc>
                  <a:spcPct val="150000"/>
                </a:lnSpc>
              </a:pPr>
              <a:r>
                <a:rPr lang="en-US" sz="2400" dirty="0"/>
                <a:t>An iterative development model that focuses on flexibility and user feedback.</a:t>
              </a:r>
            </a:p>
            <a:p>
              <a:pPr algn="just">
                <a:lnSpc>
                  <a:spcPct val="150000"/>
                </a:lnSpc>
              </a:pPr>
              <a:r>
                <a:rPr lang="en-US" sz="2400" b="1" dirty="0"/>
                <a:t>Advantages:</a:t>
              </a:r>
            </a:p>
            <a:p>
              <a:pPr algn="just">
                <a:lnSpc>
                  <a:spcPct val="150000"/>
                </a:lnSpc>
              </a:pPr>
              <a:r>
                <a:rPr lang="en-US" sz="2400" dirty="0"/>
                <a:t>• Faster development </a:t>
              </a:r>
            </a:p>
            <a:p>
              <a:pPr algn="just">
                <a:lnSpc>
                  <a:spcPct val="150000"/>
                </a:lnSpc>
              </a:pPr>
              <a:r>
                <a:rPr lang="en-US" sz="2400" dirty="0"/>
                <a:t>• Adaptable to changes</a:t>
              </a:r>
            </a:p>
            <a:p>
              <a:pPr algn="just">
                <a:lnSpc>
                  <a:spcPct val="150000"/>
                </a:lnSpc>
              </a:pPr>
              <a:br>
                <a:rPr lang="en-US" sz="2400" dirty="0"/>
              </a:br>
              <a:endParaRPr lang="en-US" sz="2400" dirty="0"/>
            </a:p>
          </p:txBody>
        </p:sp>
      </p:grpSp>
      <p:sp>
        <p:nvSpPr>
          <p:cNvPr id="2" name="Freeform 2">
            <a:extLst>
              <a:ext uri="{FF2B5EF4-FFF2-40B4-BE49-F238E27FC236}">
                <a16:creationId xmlns:a16="http://schemas.microsoft.com/office/drawing/2014/main" id="{FBD37E0F-5831-B3C3-6B6E-6529BDE4EB28}"/>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2339640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ow the SDLC (Software Development Life Cycle) fits into Agile - Silicon  Valley Project Management">
            <a:extLst>
              <a:ext uri="{FF2B5EF4-FFF2-40B4-BE49-F238E27FC236}">
                <a16:creationId xmlns:a16="http://schemas.microsoft.com/office/drawing/2014/main" id="{C8C70951-F546-1EDA-4DF3-7060D598F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4825"/>
            <a:ext cx="9753600" cy="630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701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CCAA-02CC-6566-A55B-AC1A1FDF0661}"/>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B52EE3C7-0730-A567-302B-B6A5EF669A18}"/>
              </a:ext>
            </a:extLst>
          </p:cNvPr>
          <p:cNvSpPr/>
          <p:nvPr/>
        </p:nvSpPr>
        <p:spPr>
          <a:xfrm rot="-795738">
            <a:off x="9187348" y="5396519"/>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2FC29A94-8D80-BAE1-1DB4-EBE726311F32}"/>
              </a:ext>
            </a:extLst>
          </p:cNvPr>
          <p:cNvGrpSpPr/>
          <p:nvPr/>
        </p:nvGrpSpPr>
        <p:grpSpPr>
          <a:xfrm>
            <a:off x="584881" y="680791"/>
            <a:ext cx="8583838" cy="5399620"/>
            <a:chOff x="157480" y="-267335"/>
            <a:chExt cx="11511034" cy="6464323"/>
          </a:xfrm>
        </p:grpSpPr>
        <p:sp>
          <p:nvSpPr>
            <p:cNvPr id="6" name="TextBox 6">
              <a:extLst>
                <a:ext uri="{FF2B5EF4-FFF2-40B4-BE49-F238E27FC236}">
                  <a16:creationId xmlns:a16="http://schemas.microsoft.com/office/drawing/2014/main" id="{45333A7F-859F-3A38-A2AC-1BF7F6956CCE}"/>
                </a:ext>
              </a:extLst>
            </p:cNvPr>
            <p:cNvSpPr txBox="1"/>
            <p:nvPr/>
          </p:nvSpPr>
          <p:spPr>
            <a:xfrm>
              <a:off x="157480" y="-267335"/>
              <a:ext cx="11511034" cy="1779684"/>
            </a:xfrm>
            <a:prstGeom prst="rect">
              <a:avLst/>
            </a:prstGeom>
          </p:spPr>
          <p:txBody>
            <a:bodyPr lIns="0" tIns="0" rIns="0" bIns="0" rtlCol="0" anchor="t">
              <a:spAutoFit/>
            </a:bodyPr>
            <a:lstStyle/>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Approaches/Models of System</a:t>
              </a:r>
            </a:p>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Development:</a:t>
              </a:r>
            </a:p>
          </p:txBody>
        </p:sp>
        <p:sp>
          <p:nvSpPr>
            <p:cNvPr id="7" name="TextBox 7">
              <a:extLst>
                <a:ext uri="{FF2B5EF4-FFF2-40B4-BE49-F238E27FC236}">
                  <a16:creationId xmlns:a16="http://schemas.microsoft.com/office/drawing/2014/main" id="{693F8CC7-9610-E83D-35F1-B1885DBBFECD}"/>
                </a:ext>
              </a:extLst>
            </p:cNvPr>
            <p:cNvSpPr txBox="1"/>
            <p:nvPr/>
          </p:nvSpPr>
          <p:spPr>
            <a:xfrm>
              <a:off x="157480" y="1512348"/>
              <a:ext cx="11511034" cy="4684640"/>
            </a:xfrm>
            <a:prstGeom prst="rect">
              <a:avLst/>
            </a:prstGeom>
          </p:spPr>
          <p:txBody>
            <a:bodyPr wrap="square" lIns="0" tIns="0" rIns="0" bIns="0" rtlCol="0" anchor="t">
              <a:spAutoFit/>
            </a:bodyPr>
            <a:lstStyle/>
            <a:p>
              <a:pPr algn="just">
                <a:lnSpc>
                  <a:spcPct val="150000"/>
                </a:lnSpc>
              </a:pPr>
              <a:r>
                <a:rPr lang="en-US" sz="2800" b="1" dirty="0"/>
                <a:t>3. Prototyping Model</a:t>
              </a:r>
            </a:p>
            <a:p>
              <a:pPr algn="just">
                <a:lnSpc>
                  <a:spcPct val="150000"/>
                </a:lnSpc>
              </a:pPr>
              <a:r>
                <a:rPr lang="en-US" sz="2400" dirty="0"/>
                <a:t>A preliminary version of the system is built to understand user requirements.</a:t>
              </a:r>
            </a:p>
            <a:p>
              <a:pPr algn="just">
                <a:lnSpc>
                  <a:spcPct val="150000"/>
                </a:lnSpc>
              </a:pPr>
              <a:r>
                <a:rPr lang="en-US" sz="2400" b="1" dirty="0"/>
                <a:t>Steps:</a:t>
              </a:r>
            </a:p>
            <a:p>
              <a:pPr algn="just">
                <a:lnSpc>
                  <a:spcPct val="150000"/>
                </a:lnSpc>
              </a:pPr>
              <a:r>
                <a:rPr lang="en-US" sz="2400" dirty="0"/>
                <a:t>• Build prototype </a:t>
              </a:r>
            </a:p>
            <a:p>
              <a:pPr algn="just">
                <a:lnSpc>
                  <a:spcPct val="150000"/>
                </a:lnSpc>
              </a:pPr>
              <a:r>
                <a:rPr lang="en-US" sz="2400" dirty="0"/>
                <a:t>• Gather feedback </a:t>
              </a:r>
            </a:p>
            <a:p>
              <a:pPr algn="just">
                <a:lnSpc>
                  <a:spcPct val="150000"/>
                </a:lnSpc>
              </a:pPr>
              <a:r>
                <a:rPr lang="en-US" sz="2400" dirty="0"/>
                <a:t>• Improve design</a:t>
              </a:r>
            </a:p>
          </p:txBody>
        </p:sp>
      </p:grpSp>
      <p:sp>
        <p:nvSpPr>
          <p:cNvPr id="2" name="Freeform 2">
            <a:extLst>
              <a:ext uri="{FF2B5EF4-FFF2-40B4-BE49-F238E27FC236}">
                <a16:creationId xmlns:a16="http://schemas.microsoft.com/office/drawing/2014/main" id="{7FE29281-49FE-8C69-4626-F8B716423DE1}"/>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19148611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rototype Model in Software Development Life Cycle (SDLC) - XB Software">
            <a:extLst>
              <a:ext uri="{FF2B5EF4-FFF2-40B4-BE49-F238E27FC236}">
                <a16:creationId xmlns:a16="http://schemas.microsoft.com/office/drawing/2014/main" id="{64B8348F-7227-DD9D-C613-DBD3E5019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14388"/>
            <a:ext cx="9753600" cy="568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3813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A0BC-8B33-2EAB-9E72-11872431C24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2E057C60-115F-74B1-59CC-11B59A3E5A30}"/>
              </a:ext>
            </a:extLst>
          </p:cNvPr>
          <p:cNvSpPr/>
          <p:nvPr/>
        </p:nvSpPr>
        <p:spPr>
          <a:xfrm rot="-795738">
            <a:off x="9187348" y="5396519"/>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a:extLst>
              <a:ext uri="{FF2B5EF4-FFF2-40B4-BE49-F238E27FC236}">
                <a16:creationId xmlns:a16="http://schemas.microsoft.com/office/drawing/2014/main" id="{83E49AAE-10AF-2845-08FD-0FD22008B80A}"/>
              </a:ext>
            </a:extLst>
          </p:cNvPr>
          <p:cNvGrpSpPr/>
          <p:nvPr/>
        </p:nvGrpSpPr>
        <p:grpSpPr>
          <a:xfrm>
            <a:off x="584881" y="680791"/>
            <a:ext cx="8583838" cy="4845623"/>
            <a:chOff x="157480" y="-267335"/>
            <a:chExt cx="11511034" cy="5801088"/>
          </a:xfrm>
        </p:grpSpPr>
        <p:sp>
          <p:nvSpPr>
            <p:cNvPr id="6" name="TextBox 6">
              <a:extLst>
                <a:ext uri="{FF2B5EF4-FFF2-40B4-BE49-F238E27FC236}">
                  <a16:creationId xmlns:a16="http://schemas.microsoft.com/office/drawing/2014/main" id="{B3BBF747-BC45-23C9-117B-9A5E53AF912F}"/>
                </a:ext>
              </a:extLst>
            </p:cNvPr>
            <p:cNvSpPr txBox="1"/>
            <p:nvPr/>
          </p:nvSpPr>
          <p:spPr>
            <a:xfrm>
              <a:off x="157480" y="-267335"/>
              <a:ext cx="11511034" cy="1779684"/>
            </a:xfrm>
            <a:prstGeom prst="rect">
              <a:avLst/>
            </a:prstGeom>
          </p:spPr>
          <p:txBody>
            <a:bodyPr lIns="0" tIns="0" rIns="0" bIns="0" rtlCol="0" anchor="t">
              <a:spAutoFit/>
            </a:bodyPr>
            <a:lstStyle/>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Approaches/Models of System</a:t>
              </a:r>
            </a:p>
            <a:p>
              <a:pPr algn="just">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Development:</a:t>
              </a:r>
            </a:p>
          </p:txBody>
        </p:sp>
        <p:sp>
          <p:nvSpPr>
            <p:cNvPr id="7" name="TextBox 7">
              <a:extLst>
                <a:ext uri="{FF2B5EF4-FFF2-40B4-BE49-F238E27FC236}">
                  <a16:creationId xmlns:a16="http://schemas.microsoft.com/office/drawing/2014/main" id="{9874A5F8-7460-5F55-48F3-9244D48436DC}"/>
                </a:ext>
              </a:extLst>
            </p:cNvPr>
            <p:cNvSpPr txBox="1"/>
            <p:nvPr/>
          </p:nvSpPr>
          <p:spPr>
            <a:xfrm>
              <a:off x="157480" y="1512348"/>
              <a:ext cx="11511034" cy="4021405"/>
            </a:xfrm>
            <a:prstGeom prst="rect">
              <a:avLst/>
            </a:prstGeom>
          </p:spPr>
          <p:txBody>
            <a:bodyPr wrap="square" lIns="0" tIns="0" rIns="0" bIns="0" rtlCol="0" anchor="t">
              <a:spAutoFit/>
            </a:bodyPr>
            <a:lstStyle/>
            <a:p>
              <a:pPr algn="just">
                <a:lnSpc>
                  <a:spcPct val="150000"/>
                </a:lnSpc>
              </a:pPr>
              <a:r>
                <a:rPr lang="en-US" sz="2800" b="1" dirty="0"/>
                <a:t>4. Rapid Application Development (RAD)</a:t>
              </a:r>
            </a:p>
            <a:p>
              <a:pPr algn="just">
                <a:lnSpc>
                  <a:spcPct val="150000"/>
                </a:lnSpc>
              </a:pPr>
              <a:r>
                <a:rPr lang="en-US" sz="2400" dirty="0"/>
                <a:t>RAD focuses on fast development using reusable components and automated tools.</a:t>
              </a:r>
            </a:p>
            <a:p>
              <a:pPr algn="just">
                <a:lnSpc>
                  <a:spcPct val="150000"/>
                </a:lnSpc>
              </a:pPr>
              <a:r>
                <a:rPr lang="en-US" sz="2400" b="1" dirty="0"/>
                <a:t>Advantages:</a:t>
              </a:r>
            </a:p>
            <a:p>
              <a:pPr algn="just">
                <a:lnSpc>
                  <a:spcPct val="150000"/>
                </a:lnSpc>
              </a:pPr>
              <a:r>
                <a:rPr lang="en-US" sz="2400" dirty="0"/>
                <a:t>• Quick system delivery </a:t>
              </a:r>
            </a:p>
            <a:p>
              <a:pPr algn="just">
                <a:lnSpc>
                  <a:spcPct val="150000"/>
                </a:lnSpc>
              </a:pPr>
              <a:r>
                <a:rPr lang="en-US" sz="2400" dirty="0"/>
                <a:t>• High user involvement</a:t>
              </a:r>
            </a:p>
          </p:txBody>
        </p:sp>
      </p:grpSp>
      <p:sp>
        <p:nvSpPr>
          <p:cNvPr id="2" name="Freeform 2">
            <a:extLst>
              <a:ext uri="{FF2B5EF4-FFF2-40B4-BE49-F238E27FC236}">
                <a16:creationId xmlns:a16="http://schemas.microsoft.com/office/drawing/2014/main" id="{850818F4-5E63-88AB-6768-B0924E05882E}"/>
              </a:ext>
            </a:extLst>
          </p:cNvPr>
          <p:cNvSpPr/>
          <p:nvPr/>
        </p:nvSpPr>
        <p:spPr>
          <a:xfrm rot="-1100510">
            <a:off x="4215659" y="-44257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4"/>
            <a:stretch>
              <a:fillRect/>
            </a:stretch>
          </a:blipFill>
        </p:spPr>
        <p:txBody>
          <a:bodyPr/>
          <a:lstStyle/>
          <a:p>
            <a:endParaRPr lang="en-US" dirty="0"/>
          </a:p>
        </p:txBody>
      </p:sp>
    </p:spTree>
    <p:extLst>
      <p:ext uri="{BB962C8B-B14F-4D97-AF65-F5344CB8AC3E}">
        <p14:creationId xmlns:p14="http://schemas.microsoft.com/office/powerpoint/2010/main" val="3908793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7E91BC-6AF4-7634-8494-52063165345B}"/>
              </a:ext>
            </a:extLst>
          </p:cNvPr>
          <p:cNvPicPr>
            <a:picLocks noChangeAspect="1"/>
          </p:cNvPicPr>
          <p:nvPr/>
        </p:nvPicPr>
        <p:blipFill>
          <a:blip r:embed="rId2"/>
          <a:srcRect l="1563"/>
          <a:stretch>
            <a:fillRect/>
          </a:stretch>
        </p:blipFill>
        <p:spPr>
          <a:xfrm>
            <a:off x="0" y="1336580"/>
            <a:ext cx="9753600" cy="4642040"/>
          </a:xfrm>
          <a:prstGeom prst="rect">
            <a:avLst/>
          </a:prstGeom>
        </p:spPr>
      </p:pic>
    </p:spTree>
    <p:extLst>
      <p:ext uri="{BB962C8B-B14F-4D97-AF65-F5344CB8AC3E}">
        <p14:creationId xmlns:p14="http://schemas.microsoft.com/office/powerpoint/2010/main" val="29675266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sp>
        <p:nvSpPr>
          <p:cNvPr id="6" name="TextBox 6"/>
          <p:cNvSpPr txBox="1"/>
          <p:nvPr/>
        </p:nvSpPr>
        <p:spPr>
          <a:xfrm>
            <a:off x="633405" y="1981200"/>
            <a:ext cx="6300796" cy="4449936"/>
          </a:xfrm>
          <a:prstGeom prst="rect">
            <a:avLst/>
          </a:prstGeom>
        </p:spPr>
        <p:txBody>
          <a:bodyPr wrap="square" lIns="0" tIns="0" rIns="0" bIns="0" rtlCol="0" anchor="t">
            <a:spAutoFit/>
          </a:bodyPr>
          <a:lstStyle/>
          <a:p>
            <a:pPr algn="just">
              <a:lnSpc>
                <a:spcPts val="5900"/>
              </a:lnSpc>
            </a:pPr>
            <a:r>
              <a:rPr lang="en-US" sz="3600" b="1" dirty="0">
                <a:solidFill>
                  <a:schemeClr val="bg1"/>
                </a:solidFill>
                <a:latin typeface="Calibri" panose="020F0502020204030204" charset="0"/>
                <a:ea typeface="HK Grotesk Bold" panose="00000800000000000000"/>
                <a:cs typeface="Calibri" panose="020F0502020204030204" charset="0"/>
                <a:sym typeface="HK Grotesk Bold" panose="00000800000000000000"/>
              </a:rPr>
              <a:t>Summary of Lecture </a:t>
            </a:r>
          </a:p>
          <a:p>
            <a:pPr algn="just"/>
            <a:r>
              <a:rPr lang="en-US" sz="2400" dirty="0">
                <a:solidFill>
                  <a:schemeClr val="bg1"/>
                </a:solidFill>
              </a:rPr>
              <a:t>Computer security protects users, hardware, and data from threats such as identity theft, malware, and online fraud. Organizations use information systems to collect, process, and manage information for daily operations and decision making. Different systems like TPS, MIS, DSS, and EIS support different management levels. Systems are developed using the SDLC process and various development models such as Waterfall, Agile, and Prototyping.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1821</Words>
  <Application>Microsoft Office PowerPoint</Application>
  <PresentationFormat>Custom</PresentationFormat>
  <Paragraphs>337</Paragraphs>
  <Slides>44</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Calibri</vt:lpstr>
      <vt:lpstr>Arial</vt:lpstr>
      <vt:lpstr>Arial Black</vt:lpstr>
      <vt:lpstr>Wingdings</vt:lpstr>
      <vt:lpstr>Halant Medium</vt:lpstr>
      <vt:lpstr>Halant Bold</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cp:lastModifiedBy>
  <cp:revision>45</cp:revision>
  <dcterms:created xsi:type="dcterms:W3CDTF">2006-08-16T00:00:00Z</dcterms:created>
  <dcterms:modified xsi:type="dcterms:W3CDTF">2026-03-15T10:17:01Z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