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401" r:id="rId6"/>
    <p:sldId id="421" r:id="rId7"/>
    <p:sldId id="422" r:id="rId8"/>
    <p:sldId id="423" r:id="rId9"/>
    <p:sldId id="424" r:id="rId10"/>
    <p:sldId id="425" r:id="rId11"/>
    <p:sldId id="426" r:id="rId12"/>
    <p:sldId id="427" r:id="rId13"/>
    <p:sldId id="430" r:id="rId14"/>
    <p:sldId id="429" r:id="rId15"/>
    <p:sldId id="275" r:id="rId16"/>
  </p:sldIdLst>
  <p:sldSz cx="9753600" cy="7315200"/>
  <p:notesSz cx="6858000" cy="9144000"/>
  <p:embeddedFontLst>
    <p:embeddedFont>
      <p:font typeface="Arial Black" panose="020B0A04020102020204" pitchFamily="34" charset="0"/>
      <p:bold r:id="rId18"/>
    </p:embeddedFont>
    <p:embeddedFont>
      <p:font typeface="Halant Bold" panose="020B0604020202020204" charset="0"/>
      <p:bold r:id="rId19"/>
    </p:embeddedFont>
    <p:embeddedFont>
      <p:font typeface="Halant Medium"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userDrawn="1">
          <p15:clr>
            <a:srgbClr val="A4A3A4"/>
          </p15:clr>
        </p15:guide>
        <p15:guide id="2" pos="2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showGuides="1">
      <p:cViewPr varScale="1">
        <p:scale>
          <a:sx n="63" d="100"/>
          <a:sy n="63" d="100"/>
        </p:scale>
        <p:origin x="1260" y="32"/>
      </p:cViewPr>
      <p:guideLst>
        <p:guide orient="horz" pos="2304"/>
        <p:guide pos="293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0D1A6-AFC0-4378-A879-247687974856}" type="datetimeFigureOut">
              <a:rPr lang="en-US" smtClean="0"/>
              <a:t>4/5/2026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7AA2C-B60B-4B49-A158-C68B6DC0318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FC16-F706-6F09-B377-BAB4DEEBC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68C93-5BFA-9C29-81C0-CCA41A928D3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77C2B6F-AA5C-0955-8329-AAB3A346A69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076430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909DB-C0F6-50D5-E9CE-3D4C714CB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60445-6C81-A4DF-340C-D600DF68A51F}"/>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489018E1-9579-D2BC-0702-A913614BE5FC}"/>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77723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D41E8-4C9D-22D9-665D-1CF2CE05E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40166-ED4E-FEC4-2F9B-8713E5FBDE43}"/>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629BB59-0C9A-F1E5-9D56-8F1FE5C7651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671113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46C13-17FE-1FB0-2F39-EE9A02AFA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DF21B-581E-57EB-AEE6-1ABD3E8DC365}"/>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28D83EA8-2912-4756-8DAF-884D77ED60AA}"/>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184714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CB210-4085-9886-E795-DA29CF68F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D4FEC-A600-E246-66B7-A3509DC96F4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38288490-F81A-BFC8-4E1A-E845DF1CE9F0}"/>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26463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2A2B7-AF3E-2EC7-B7D1-E8A5BDFCC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7092D-D0D1-0840-9B1C-CE275A85140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0D4469FC-FF4E-0795-CA29-F5DB67791A4E}"/>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74973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A3529-9B34-B90E-1AA0-ABEA951A0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3F88D-E35B-9D82-CC77-57651FD41E7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4C6B1517-C4B4-61B7-4E93-A612ED4C933D}"/>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563646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23875-765F-B9DE-2B2F-A83C9F6BB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F246D-8926-D010-43A4-96ADB8F9C09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F3BD7EE5-583C-AA8D-B32D-7B962DD0BEBA}"/>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700899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E2736-97DF-CCEB-044D-6AB30BA9E4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77C1F-7F2D-897B-8A4D-F900E7E663AB}"/>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1187708C-E33E-054F-7C43-B62DD41CC8AA}"/>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009732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9B741-728F-6CEA-75EE-EE33AFE21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CF48B-B553-A0A6-414A-8A91381CDC90}"/>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1B911378-77D1-94A7-F387-C96BC2DEC31A}"/>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109775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2505" y="1981362"/>
            <a:ext cx="6200241" cy="3225074"/>
            <a:chOff x="0" y="-160655"/>
            <a:chExt cx="8266987" cy="4300099"/>
          </a:xfrm>
        </p:grpSpPr>
        <p:sp>
          <p:nvSpPr>
            <p:cNvPr id="3" name="TextBox 3"/>
            <p:cNvSpPr txBox="1"/>
            <p:nvPr/>
          </p:nvSpPr>
          <p:spPr>
            <a:xfrm>
              <a:off x="0" y="3548259"/>
              <a:ext cx="3020201" cy="591185"/>
            </a:xfrm>
            <a:prstGeom prst="rect">
              <a:avLst/>
            </a:prstGeom>
          </p:spPr>
          <p:txBody>
            <a:bodyPr lIns="0" tIns="0" rIns="0" bIns="0" rtlCol="0" anchor="t">
              <a:spAutoFit/>
            </a:bodyPr>
            <a:lstStyle/>
            <a:p>
              <a:pPr algn="l">
                <a:lnSpc>
                  <a:spcPts val="3780"/>
                </a:lnSpc>
                <a:spcBef>
                  <a:spcPct val="0"/>
                </a:spcBef>
              </a:pPr>
              <a:r>
                <a:rPr lang="en-US" sz="2700" b="1">
                  <a:solidFill>
                    <a:srgbClr val="731F7D"/>
                  </a:solidFill>
                  <a:latin typeface="Halant Medium" panose="00000600000000000000"/>
                  <a:ea typeface="Halant Medium" panose="00000600000000000000"/>
                  <a:cs typeface="Halant Medium" panose="00000600000000000000"/>
                  <a:sym typeface="Halant Medium" panose="00000600000000000000"/>
                </a:rPr>
                <a:t> </a:t>
              </a: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  (CSC101)</a:t>
              </a:r>
            </a:p>
          </p:txBody>
        </p:sp>
        <p:sp>
          <p:nvSpPr>
            <p:cNvPr id="4" name="TextBox 4"/>
            <p:cNvSpPr txBox="1"/>
            <p:nvPr/>
          </p:nvSpPr>
          <p:spPr>
            <a:xfrm>
              <a:off x="183005" y="-160655"/>
              <a:ext cx="8083982" cy="3631353"/>
            </a:xfrm>
            <a:prstGeom prst="rect">
              <a:avLst/>
            </a:prstGeom>
          </p:spPr>
          <p:txBody>
            <a:bodyPr lIns="0" tIns="0" rIns="0" bIns="0" rtlCol="0" anchor="t">
              <a:spAutoFit/>
            </a:bodyPr>
            <a:lstStyle/>
            <a:p>
              <a:pPr algn="l">
                <a:lnSpc>
                  <a:spcPts val="7080"/>
                </a:lnSpc>
              </a:pPr>
              <a:r>
                <a:rPr lang="en-US" sz="6000" b="1" dirty="0">
                  <a:solidFill>
                    <a:srgbClr val="000000"/>
                  </a:solidFill>
                  <a:latin typeface="+mj-lt"/>
                  <a:ea typeface="HK Grotesk Bold" panose="00000800000000000000"/>
                  <a:cs typeface="+mj-lt"/>
                  <a:sym typeface="HK Grotesk Bold" panose="00000800000000000000"/>
                </a:rPr>
                <a:t>Information Communication Technology </a:t>
              </a:r>
            </a:p>
          </p:txBody>
        </p:sp>
      </p:grpSp>
      <p:sp>
        <p:nvSpPr>
          <p:cNvPr id="5" name="Freeform 5"/>
          <p:cNvSpPr/>
          <p:nvPr/>
        </p:nvSpPr>
        <p:spPr>
          <a:xfrm rot="-5550229">
            <a:off x="4207487" y="-1075063"/>
            <a:ext cx="5867962" cy="5088881"/>
          </a:xfrm>
          <a:custGeom>
            <a:avLst/>
            <a:gdLst/>
            <a:ahLst/>
            <a:cxnLst/>
            <a:rect l="l" t="t" r="r" b="b"/>
            <a:pathLst>
              <a:path w="5867962" h="5222486">
                <a:moveTo>
                  <a:pt x="0" y="0"/>
                </a:moveTo>
                <a:lnTo>
                  <a:pt x="5867963" y="0"/>
                </a:lnTo>
                <a:lnTo>
                  <a:pt x="5867963" y="5222487"/>
                </a:lnTo>
                <a:lnTo>
                  <a:pt x="0" y="5222487"/>
                </a:lnTo>
                <a:lnTo>
                  <a:pt x="0" y="0"/>
                </a:lnTo>
                <a:close/>
              </a:path>
            </a:pathLst>
          </a:custGeom>
          <a:blipFill>
            <a:blip r:embed="rId2"/>
            <a:stretch>
              <a:fillRect/>
            </a:stretch>
          </a:blipFill>
        </p:spPr>
      </p:sp>
      <p:sp>
        <p:nvSpPr>
          <p:cNvPr id="6" name="Freeform 6"/>
          <p:cNvSpPr/>
          <p:nvPr/>
        </p:nvSpPr>
        <p:spPr>
          <a:xfrm rot="-5017281">
            <a:off x="3529970" y="912669"/>
            <a:ext cx="1170984" cy="1109507"/>
          </a:xfrm>
          <a:custGeom>
            <a:avLst/>
            <a:gdLst/>
            <a:ahLst/>
            <a:cxnLst/>
            <a:rect l="l" t="t" r="r" b="b"/>
            <a:pathLst>
              <a:path w="1170984" h="1109507">
                <a:moveTo>
                  <a:pt x="0" y="0"/>
                </a:moveTo>
                <a:lnTo>
                  <a:pt x="1170984" y="0"/>
                </a:lnTo>
                <a:lnTo>
                  <a:pt x="1170984" y="1109508"/>
                </a:lnTo>
                <a:lnTo>
                  <a:pt x="0" y="1109508"/>
                </a:lnTo>
                <a:lnTo>
                  <a:pt x="0" y="0"/>
                </a:lnTo>
                <a:close/>
              </a:path>
            </a:pathLst>
          </a:custGeom>
          <a:blipFill>
            <a:blip r:embed="rId3"/>
            <a:stretch>
              <a:fillRect/>
            </a:stretch>
          </a:blipFill>
        </p:spPr>
      </p:sp>
      <p:sp>
        <p:nvSpPr>
          <p:cNvPr id="7" name="Freeform 7"/>
          <p:cNvSpPr/>
          <p:nvPr/>
        </p:nvSpPr>
        <p:spPr>
          <a:xfrm rot="-10567437">
            <a:off x="8110392" y="5055177"/>
            <a:ext cx="2588757" cy="2475499"/>
          </a:xfrm>
          <a:custGeom>
            <a:avLst/>
            <a:gdLst/>
            <a:ahLst/>
            <a:cxnLst/>
            <a:rect l="l" t="t" r="r" b="b"/>
            <a:pathLst>
              <a:path w="2588757" h="2475499">
                <a:moveTo>
                  <a:pt x="0" y="0"/>
                </a:moveTo>
                <a:lnTo>
                  <a:pt x="2588756" y="0"/>
                </a:lnTo>
                <a:lnTo>
                  <a:pt x="2588756" y="2475498"/>
                </a:lnTo>
                <a:lnTo>
                  <a:pt x="0" y="2475498"/>
                </a:lnTo>
                <a:lnTo>
                  <a:pt x="0" y="0"/>
                </a:lnTo>
                <a:close/>
              </a:path>
            </a:pathLst>
          </a:custGeom>
          <a:blipFill>
            <a:blip r:embed="rId4"/>
            <a:stretch>
              <a:fillRect/>
            </a:stretch>
          </a:blipFill>
        </p:spPr>
      </p:sp>
      <p:sp>
        <p:nvSpPr>
          <p:cNvPr id="8" name="TextBox 8"/>
          <p:cNvSpPr txBox="1"/>
          <p:nvPr/>
        </p:nvSpPr>
        <p:spPr>
          <a:xfrm>
            <a:off x="467602" y="5313139"/>
            <a:ext cx="7099307" cy="1454150"/>
          </a:xfrm>
          <a:prstGeom prst="rect">
            <a:avLst/>
          </a:prstGeom>
        </p:spPr>
        <p:txBody>
          <a:bodyPr lIns="0" tIns="0" rIns="0" bIns="0" rtlCol="0" anchor="t">
            <a:spAutoFit/>
          </a:bodyPr>
          <a:lstStyle/>
          <a:p>
            <a:pPr algn="l">
              <a:lnSpc>
                <a:spcPts val="3780"/>
              </a:lnSpc>
            </a:pPr>
            <a:r>
              <a:rPr lang="en-US" sz="2400" b="1" dirty="0">
                <a:solidFill>
                  <a:srgbClr val="731F7D"/>
                </a:solidFill>
                <a:latin typeface="Arial Black" panose="020B0A04020102020204" pitchFamily="34" charset="0"/>
                <a:ea typeface="Halant Bold" panose="00000800000000000000"/>
                <a:cs typeface="Halant Bold" panose="00000800000000000000"/>
                <a:sym typeface="Halant Bold" panose="00000800000000000000"/>
              </a:rPr>
              <a:t>Lecture 10</a:t>
            </a:r>
          </a:p>
          <a:p>
            <a:pPr algn="l">
              <a:lnSpc>
                <a:spcPts val="3780"/>
              </a:lnSpc>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Instructor: Mariam Fiaz</a:t>
            </a:r>
          </a:p>
          <a:p>
            <a:pPr algn="l">
              <a:lnSpc>
                <a:spcPts val="3780"/>
              </a:lnSpc>
              <a:spcBef>
                <a:spcPct val="0"/>
              </a:spcBef>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email: mariamsherwani434@gmail.com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98132">
            <a:off x="7524355" y="4826078"/>
            <a:ext cx="3828488" cy="4232275"/>
          </a:xfrm>
          <a:custGeom>
            <a:avLst/>
            <a:gdLst/>
            <a:ahLst/>
            <a:cxnLst/>
            <a:rect l="l" t="t" r="r" b="b"/>
            <a:pathLst>
              <a:path w="3828488" h="4232275">
                <a:moveTo>
                  <a:pt x="0" y="0"/>
                </a:moveTo>
                <a:lnTo>
                  <a:pt x="3828488" y="0"/>
                </a:lnTo>
                <a:lnTo>
                  <a:pt x="3828488" y="4232275"/>
                </a:lnTo>
                <a:lnTo>
                  <a:pt x="0" y="4232275"/>
                </a:lnTo>
                <a:lnTo>
                  <a:pt x="0" y="0"/>
                </a:lnTo>
                <a:close/>
              </a:path>
            </a:pathLst>
          </a:custGeom>
          <a:blipFill>
            <a:blip r:embed="rId2"/>
            <a:stretch>
              <a:fillRect r="-381" b="-1174"/>
            </a:stretch>
          </a:blipFill>
        </p:spPr>
      </p:sp>
      <p:sp>
        <p:nvSpPr>
          <p:cNvPr id="3" name="Freeform 3"/>
          <p:cNvSpPr/>
          <p:nvPr/>
        </p:nvSpPr>
        <p:spPr>
          <a:xfrm rot="-2715964">
            <a:off x="5760526" y="5871583"/>
            <a:ext cx="983734" cy="932088"/>
          </a:xfrm>
          <a:custGeom>
            <a:avLst/>
            <a:gdLst/>
            <a:ahLst/>
            <a:cxnLst/>
            <a:rect l="l" t="t" r="r" b="b"/>
            <a:pathLst>
              <a:path w="983734" h="932088">
                <a:moveTo>
                  <a:pt x="0" y="0"/>
                </a:moveTo>
                <a:lnTo>
                  <a:pt x="983734" y="0"/>
                </a:lnTo>
                <a:lnTo>
                  <a:pt x="983734" y="932087"/>
                </a:lnTo>
                <a:lnTo>
                  <a:pt x="0" y="932087"/>
                </a:lnTo>
                <a:lnTo>
                  <a:pt x="0" y="0"/>
                </a:lnTo>
                <a:close/>
              </a:path>
            </a:pathLst>
          </a:custGeom>
          <a:blipFill>
            <a:blip r:embed="rId3"/>
            <a:stretch>
              <a:fillRect/>
            </a:stretch>
          </a:blipFill>
        </p:spPr>
      </p:sp>
      <p:sp>
        <p:nvSpPr>
          <p:cNvPr id="4" name="Freeform 4"/>
          <p:cNvSpPr/>
          <p:nvPr/>
        </p:nvSpPr>
        <p:spPr>
          <a:xfrm rot="-3212463">
            <a:off x="5642474" y="-928349"/>
            <a:ext cx="2866520" cy="3318692"/>
          </a:xfrm>
          <a:custGeom>
            <a:avLst/>
            <a:gdLst/>
            <a:ahLst/>
            <a:cxnLst/>
            <a:rect l="l" t="t" r="r" b="b"/>
            <a:pathLst>
              <a:path w="2866520" h="3318692">
                <a:moveTo>
                  <a:pt x="0" y="0"/>
                </a:moveTo>
                <a:lnTo>
                  <a:pt x="2866520" y="0"/>
                </a:lnTo>
                <a:lnTo>
                  <a:pt x="2866520" y="3318693"/>
                </a:lnTo>
                <a:lnTo>
                  <a:pt x="0" y="3318693"/>
                </a:lnTo>
                <a:lnTo>
                  <a:pt x="0" y="0"/>
                </a:lnTo>
                <a:close/>
              </a:path>
            </a:pathLst>
          </a:custGeom>
          <a:blipFill>
            <a:blip r:embed="rId4"/>
            <a:stretch>
              <a:fillRect/>
            </a:stretch>
          </a:blipFill>
        </p:spPr>
      </p:sp>
      <p:grpSp>
        <p:nvGrpSpPr>
          <p:cNvPr id="5" name="Group 5"/>
          <p:cNvGrpSpPr/>
          <p:nvPr/>
        </p:nvGrpSpPr>
        <p:grpSpPr>
          <a:xfrm>
            <a:off x="491572" y="2255770"/>
            <a:ext cx="9112904" cy="4112337"/>
            <a:chOff x="-40828" y="0"/>
            <a:chExt cx="12150538" cy="5483116"/>
          </a:xfrm>
        </p:grpSpPr>
        <p:sp>
          <p:nvSpPr>
            <p:cNvPr id="6" name="TextBox 6"/>
            <p:cNvSpPr txBox="1"/>
            <p:nvPr/>
          </p:nvSpPr>
          <p:spPr>
            <a:xfrm>
              <a:off x="-40828" y="503147"/>
              <a:ext cx="8342712" cy="1260687"/>
            </a:xfrm>
            <a:prstGeom prst="rect">
              <a:avLst/>
            </a:prstGeom>
          </p:spPr>
          <p:txBody>
            <a:bodyPr lIns="0" tIns="0" rIns="0" bIns="0" rtlCol="0" anchor="t">
              <a:spAutoFit/>
            </a:bodyPr>
            <a:lstStyle/>
            <a:p>
              <a:pPr algn="l">
                <a:lnSpc>
                  <a:spcPts val="7375"/>
                </a:lnSpc>
              </a:pPr>
              <a:r>
                <a:rPr lang="en-US" sz="6250" b="1" dirty="0">
                  <a:solidFill>
                    <a:srgbClr val="FFFFFF"/>
                  </a:solidFill>
                  <a:latin typeface="Calibri" panose="020F0502020204030204" charset="0"/>
                  <a:ea typeface="HK Grotesk Bold" panose="00000800000000000000"/>
                  <a:cs typeface="Calibri" panose="020F0502020204030204" charset="0"/>
                  <a:sym typeface="HK Grotesk Bold" panose="00000800000000000000"/>
                </a:rPr>
                <a:t>Reference Books:</a:t>
              </a:r>
            </a:p>
          </p:txBody>
        </p:sp>
        <p:sp>
          <p:nvSpPr>
            <p:cNvPr id="7" name="TextBox 7"/>
            <p:cNvSpPr txBox="1"/>
            <p:nvPr/>
          </p:nvSpPr>
          <p:spPr>
            <a:xfrm>
              <a:off x="10542219" y="0"/>
              <a:ext cx="1567491" cy="1138744"/>
            </a:xfrm>
            <a:prstGeom prst="rect">
              <a:avLst/>
            </a:prstGeom>
          </p:spPr>
          <p:txBody>
            <a:bodyPr lIns="0" tIns="0" rIns="0" bIns="0" rtlCol="0" anchor="t">
              <a:spAutoFit/>
            </a:bodyPr>
            <a:lstStyle/>
            <a:p>
              <a:pPr marL="0" lvl="0" indent="0" algn="l">
                <a:lnSpc>
                  <a:spcPts val="6635"/>
                </a:lnSpc>
                <a:spcBef>
                  <a:spcPct val="0"/>
                </a:spcBef>
              </a:pPr>
              <a:endParaRPr/>
            </a:p>
          </p:txBody>
        </p:sp>
        <p:sp>
          <p:nvSpPr>
            <p:cNvPr id="8" name="TextBox 8"/>
            <p:cNvSpPr txBox="1"/>
            <p:nvPr/>
          </p:nvSpPr>
          <p:spPr>
            <a:xfrm>
              <a:off x="60421" y="2032000"/>
              <a:ext cx="10667154" cy="3451116"/>
            </a:xfrm>
            <a:prstGeom prst="rect">
              <a:avLst/>
            </a:prstGeom>
          </p:spPr>
          <p:txBody>
            <a:bodyPr wrap="square" lIns="0" tIns="0" rIns="0" bIns="0" rtlCol="0" anchor="t">
              <a:spAutoFit/>
            </a:bodyPr>
            <a:lstStyle/>
            <a:p>
              <a:pPr lvl="1" indent="-457200" algn="just">
                <a:lnSpc>
                  <a:spcPts val="3360"/>
                </a:lnSpc>
                <a:buFont typeface="+mj-lt"/>
                <a:buAutoNum type="arabicPeriod"/>
              </a:pPr>
              <a:r>
                <a:rPr lang="en-US" sz="2400" spc="-24" dirty="0">
                  <a:solidFill>
                    <a:srgbClr val="FFFFFF"/>
                  </a:solidFill>
                  <a:latin typeface="Calibri" panose="020F0502020204030204" charset="0"/>
                  <a:ea typeface="Assistant" panose="00000500000000000000"/>
                  <a:cs typeface="Calibri" panose="020F0502020204030204" charset="0"/>
                  <a:sym typeface="Assistant" panose="00000500000000000000"/>
                </a:rPr>
                <a:t>Computer Science Illuminated – Nell Dale &amp; John Lewis,     Jones &amp; Bartlett Learning, LLC, 2020</a:t>
              </a:r>
              <a:r>
                <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rPr>
                <a:t> (Read Chapter 13 and 14)</a:t>
              </a:r>
            </a:p>
            <a:p>
              <a:pPr lvl="1" indent="-457200" algn="just">
                <a:lnSpc>
                  <a:spcPts val="3360"/>
                </a:lnSpc>
                <a:buFont typeface="+mj-lt"/>
                <a:buAutoNum type="arabicPeriod"/>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marL="259080" lvl="1" indent="0" algn="just">
                <a:lnSpc>
                  <a:spcPts val="3360"/>
                </a:lnSpc>
                <a:buNone/>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1584" y="457507"/>
            <a:ext cx="7502435" cy="6539098"/>
          </a:xfrm>
          <a:prstGeom prst="rect">
            <a:avLst/>
          </a:prstGeom>
        </p:spPr>
        <p:txBody>
          <a:bodyPr lIns="0" tIns="0" rIns="0" bIns="0" rtlCol="0" anchor="t">
            <a:spAutoFit/>
          </a:bodyPr>
          <a:lstStyle/>
          <a:p>
            <a:pPr>
              <a:lnSpc>
                <a:spcPts val="5900"/>
              </a:lnSpc>
            </a:pPr>
            <a:r>
              <a:rPr lang="en-US" sz="2400" b="1" dirty="0"/>
              <a:t>Augmented Reality (AR) &amp; Artificial Intelligence (AI) </a:t>
            </a:r>
          </a:p>
          <a:p>
            <a:pPr>
              <a:lnSpc>
                <a:spcPts val="5900"/>
              </a:lnSpc>
            </a:pPr>
            <a:r>
              <a:rPr lang="en-US" sz="5000" b="1" dirty="0">
                <a:solidFill>
                  <a:srgbClr val="000000"/>
                </a:solidFill>
                <a:ea typeface="HK Grotesk Bold" panose="00000800000000000000"/>
                <a:cs typeface="Calibri" panose="020F0502020204030204" charset="0"/>
                <a:sym typeface="HK Grotesk Bold" panose="00000800000000000000"/>
              </a:rPr>
              <a:t>Contents</a:t>
            </a:r>
            <a:r>
              <a:rPr lang="en-US" sz="5000" b="1" dirty="0">
                <a:solidFill>
                  <a:srgbClr val="000000"/>
                </a:solidFill>
                <a:ea typeface="HK Grotesk Bold" panose="00000800000000000000"/>
                <a:cs typeface="HK Grotesk Bold" panose="00000800000000000000"/>
                <a:sym typeface="HK Grotesk Bold" panose="00000800000000000000"/>
              </a:rPr>
              <a:t>:</a:t>
            </a:r>
          </a:p>
          <a:p>
            <a:pPr marL="342900" lvl="0" indent="-342900">
              <a:lnSpc>
                <a:spcPct val="150000"/>
              </a:lnSpc>
              <a:buFont typeface="+mj-lt"/>
              <a:buAutoNum type="arabicPeriod"/>
            </a:pPr>
            <a:r>
              <a:rPr lang="en-US" sz="2200" dirty="0"/>
              <a:t>Augmented Reality (AR)</a:t>
            </a:r>
          </a:p>
          <a:p>
            <a:pPr marL="742950" lvl="1" indent="-285750">
              <a:lnSpc>
                <a:spcPct val="150000"/>
              </a:lnSpc>
              <a:buFont typeface="Arial" panose="020B0604020202020204" pitchFamily="34" charset="0"/>
              <a:buChar char="•"/>
            </a:pPr>
            <a:r>
              <a:rPr lang="en-US" sz="2200" dirty="0"/>
              <a:t>Technology</a:t>
            </a:r>
          </a:p>
          <a:p>
            <a:pPr marL="742950" lvl="1" indent="-285750">
              <a:lnSpc>
                <a:spcPct val="150000"/>
              </a:lnSpc>
              <a:buFont typeface="Arial" panose="020B0604020202020204" pitchFamily="34" charset="0"/>
              <a:buChar char="•"/>
            </a:pPr>
            <a:r>
              <a:rPr lang="en-US" sz="2200" dirty="0"/>
              <a:t>Possible Applications</a:t>
            </a:r>
          </a:p>
          <a:p>
            <a:pPr marL="742950" lvl="1" indent="-285750">
              <a:lnSpc>
                <a:spcPct val="150000"/>
              </a:lnSpc>
              <a:buFont typeface="Arial" panose="020B0604020202020204" pitchFamily="34" charset="0"/>
              <a:buChar char="•"/>
            </a:pPr>
            <a:r>
              <a:rPr lang="en-US" sz="2200" dirty="0"/>
              <a:t>Remote Collaboration</a:t>
            </a:r>
          </a:p>
          <a:p>
            <a:pPr marL="742950" lvl="1" indent="-285750">
              <a:lnSpc>
                <a:spcPct val="150000"/>
              </a:lnSpc>
              <a:buFont typeface="Arial" panose="020B0604020202020204" pitchFamily="34" charset="0"/>
              <a:buChar char="•"/>
            </a:pPr>
            <a:r>
              <a:rPr lang="en-US" sz="2200" dirty="0"/>
              <a:t>Dangers of AR</a:t>
            </a:r>
          </a:p>
          <a:p>
            <a:pPr marL="742950" lvl="1" indent="-285750">
              <a:lnSpc>
                <a:spcPct val="150000"/>
              </a:lnSpc>
              <a:buFont typeface="Arial" panose="020B0604020202020204" pitchFamily="34" charset="0"/>
              <a:buChar char="•"/>
            </a:pPr>
            <a:r>
              <a:rPr lang="en-US" sz="2200" dirty="0"/>
              <a:t>AR vs VR (Quick Difference)</a:t>
            </a:r>
          </a:p>
          <a:p>
            <a:pPr marL="342900" lvl="0" indent="-342900">
              <a:lnSpc>
                <a:spcPct val="150000"/>
              </a:lnSpc>
              <a:buFont typeface="+mj-lt"/>
              <a:buAutoNum type="arabicPeriod"/>
            </a:pPr>
            <a:r>
              <a:rPr lang="en-US" sz="2200" dirty="0"/>
              <a:t>Artificial Intelligence (AI)</a:t>
            </a:r>
          </a:p>
          <a:p>
            <a:pPr marL="742950" lvl="1" indent="-285750">
              <a:lnSpc>
                <a:spcPct val="150000"/>
              </a:lnSpc>
              <a:buFont typeface="Arial" panose="020B0604020202020204" pitchFamily="34" charset="0"/>
              <a:buChar char="•"/>
            </a:pPr>
            <a:r>
              <a:rPr lang="en-US" sz="2200" dirty="0"/>
              <a:t>Uses of AI</a:t>
            </a:r>
          </a:p>
          <a:p>
            <a:pPr marL="742950" lvl="1" indent="-285750">
              <a:lnSpc>
                <a:spcPct val="150000"/>
              </a:lnSpc>
              <a:buFont typeface="Arial" panose="020B0604020202020204" pitchFamily="34" charset="0"/>
              <a:buChar char="•"/>
            </a:pPr>
            <a:r>
              <a:rPr lang="en-US" sz="2200" dirty="0"/>
              <a:t>Applications of AI</a:t>
            </a:r>
          </a:p>
          <a:p>
            <a:pPr marL="742950" lvl="1" indent="-285750">
              <a:lnSpc>
                <a:spcPct val="150000"/>
              </a:lnSpc>
              <a:buFont typeface="Arial" panose="020B0604020202020204" pitchFamily="34" charset="0"/>
              <a:buChar char="•"/>
            </a:pPr>
            <a:r>
              <a:rPr lang="en-US" sz="2200" dirty="0"/>
              <a:t>Types of AI</a:t>
            </a:r>
          </a:p>
        </p:txBody>
      </p:sp>
      <p:sp>
        <p:nvSpPr>
          <p:cNvPr id="3" name="Freeform 3"/>
          <p:cNvSpPr/>
          <p:nvPr/>
        </p:nvSpPr>
        <p:spPr>
          <a:xfrm rot="-10141306">
            <a:off x="-2034775" y="4670550"/>
            <a:ext cx="4069550" cy="3891507"/>
          </a:xfrm>
          <a:custGeom>
            <a:avLst/>
            <a:gdLst/>
            <a:ahLst/>
            <a:cxnLst/>
            <a:rect l="l" t="t" r="r" b="b"/>
            <a:pathLst>
              <a:path w="4069550" h="3891507">
                <a:moveTo>
                  <a:pt x="0" y="0"/>
                </a:moveTo>
                <a:lnTo>
                  <a:pt x="4069550" y="0"/>
                </a:lnTo>
                <a:lnTo>
                  <a:pt x="4069550" y="3891507"/>
                </a:lnTo>
                <a:lnTo>
                  <a:pt x="0" y="3891507"/>
                </a:lnTo>
                <a:lnTo>
                  <a:pt x="0" y="0"/>
                </a:lnTo>
                <a:close/>
              </a:path>
            </a:pathLst>
          </a:custGeom>
          <a:blipFill>
            <a:blip r:embed="rId2"/>
            <a:stretch>
              <a:fillRect/>
            </a:stretch>
          </a:blipFill>
        </p:spPr>
      </p:sp>
      <p:sp>
        <p:nvSpPr>
          <p:cNvPr id="6" name="TextBox 6"/>
          <p:cNvSpPr txBox="1"/>
          <p:nvPr/>
        </p:nvSpPr>
        <p:spPr>
          <a:xfrm>
            <a:off x="1285462" y="7507606"/>
            <a:ext cx="7658557" cy="250346"/>
          </a:xfrm>
          <a:prstGeom prst="rect">
            <a:avLst/>
          </a:prstGeom>
        </p:spPr>
        <p:txBody>
          <a:bodyPr lIns="0" tIns="0" rIns="0" bIns="0" rtlCol="0" anchor="t">
            <a:spAutoFit/>
          </a:bodyPr>
          <a:lstStyle/>
          <a:p>
            <a:pPr algn="l">
              <a:lnSpc>
                <a:spcPts val="2145"/>
              </a:lnSpc>
              <a:spcBef>
                <a:spcPct val="0"/>
              </a:spcBef>
            </a:pPr>
            <a:endParaRPr/>
          </a:p>
        </p:txBody>
      </p:sp>
      <p:sp>
        <p:nvSpPr>
          <p:cNvPr id="7" name="Freeform 7"/>
          <p:cNvSpPr/>
          <p:nvPr/>
        </p:nvSpPr>
        <p:spPr>
          <a:xfrm rot="9440951">
            <a:off x="-716899" y="223696"/>
            <a:ext cx="1433798" cy="1358524"/>
          </a:xfrm>
          <a:custGeom>
            <a:avLst/>
            <a:gdLst/>
            <a:ahLst/>
            <a:cxnLst/>
            <a:rect l="l" t="t" r="r" b="b"/>
            <a:pathLst>
              <a:path w="1433798" h="1358524">
                <a:moveTo>
                  <a:pt x="0" y="0"/>
                </a:moveTo>
                <a:lnTo>
                  <a:pt x="1433798" y="0"/>
                </a:lnTo>
                <a:lnTo>
                  <a:pt x="1433798" y="1358523"/>
                </a:lnTo>
                <a:lnTo>
                  <a:pt x="0" y="1358523"/>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4063260" y="-38161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p:cNvGrpSpPr/>
          <p:nvPr/>
        </p:nvGrpSpPr>
        <p:grpSpPr>
          <a:xfrm>
            <a:off x="560162" y="1219200"/>
            <a:ext cx="8633276" cy="4581456"/>
            <a:chOff x="157480" y="-267335"/>
            <a:chExt cx="11511034" cy="6108604"/>
          </a:xfrm>
        </p:grpSpPr>
        <p:sp>
          <p:nvSpPr>
            <p:cNvPr id="6" name="TextBox 6"/>
            <p:cNvSpPr txBox="1"/>
            <p:nvPr/>
          </p:nvSpPr>
          <p:spPr>
            <a:xfrm>
              <a:off x="157480" y="-267335"/>
              <a:ext cx="11511034" cy="1008379"/>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Augmented Reality (AR):</a:t>
              </a:r>
            </a:p>
          </p:txBody>
        </p:sp>
        <p:sp>
          <p:nvSpPr>
            <p:cNvPr id="7" name="TextBox 7"/>
            <p:cNvSpPr txBox="1"/>
            <p:nvPr/>
          </p:nvSpPr>
          <p:spPr>
            <a:xfrm>
              <a:off x="157480" y="746971"/>
              <a:ext cx="11204787" cy="5094298"/>
            </a:xfrm>
            <a:prstGeom prst="rect">
              <a:avLst/>
            </a:prstGeom>
          </p:spPr>
          <p:txBody>
            <a:bodyPr wrap="square" lIns="0" tIns="0" rIns="0" bIns="0" rtlCol="0" anchor="t">
              <a:spAutoFit/>
            </a:bodyPr>
            <a:lstStyle/>
            <a:p>
              <a:pPr algn="just">
                <a:lnSpc>
                  <a:spcPct val="150000"/>
                </a:lnSpc>
              </a:pPr>
              <a:r>
                <a:rPr lang="en-US" sz="2400" b="1" dirty="0"/>
                <a:t>Definition: </a:t>
              </a:r>
              <a:r>
                <a:rPr lang="en-US" sz="2400" dirty="0"/>
                <a:t>Augmented Reality (AR) is a technology that adds digital elements (images, videos, 3D objects) into the real-world environment so users can see both real and virtual objects together.</a:t>
              </a:r>
            </a:p>
            <a:p>
              <a:pPr algn="just">
                <a:lnSpc>
                  <a:spcPct val="150000"/>
                </a:lnSpc>
              </a:pPr>
              <a:r>
                <a:rPr lang="en-US" sz="2400" dirty="0"/>
                <a:t>This means you can see the real world along with additional digital content.</a:t>
              </a:r>
            </a:p>
            <a:p>
              <a:pPr algn="just">
                <a:lnSpc>
                  <a:spcPct val="150000"/>
                </a:lnSpc>
              </a:pPr>
              <a:r>
                <a:rPr lang="en-US" sz="2400" b="1" dirty="0"/>
                <a:t>Example:</a:t>
              </a:r>
            </a:p>
            <a:p>
              <a:pPr algn="just">
                <a:lnSpc>
                  <a:spcPct val="150000"/>
                </a:lnSpc>
              </a:pPr>
              <a:r>
                <a:rPr lang="en-US" sz="2400" dirty="0"/>
                <a:t>Such as Snapchat filters or interactive games.</a:t>
              </a:r>
              <a:endParaRPr lang="en-US" sz="23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7CC2-72FE-407B-D4E1-E103678D472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75EF21-8FCC-D241-0471-D4D4E95E6C52}"/>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3E48B76F-6C50-1857-EB3E-D3B98803B10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C81F653B-E06F-758E-1D77-4292309ADD67}"/>
              </a:ext>
            </a:extLst>
          </p:cNvPr>
          <p:cNvGrpSpPr/>
          <p:nvPr/>
        </p:nvGrpSpPr>
        <p:grpSpPr>
          <a:xfrm>
            <a:off x="560162" y="698882"/>
            <a:ext cx="8633276" cy="6243449"/>
            <a:chOff x="157480" y="-267335"/>
            <a:chExt cx="11511034" cy="8324593"/>
          </a:xfrm>
        </p:grpSpPr>
        <p:sp>
          <p:nvSpPr>
            <p:cNvPr id="6" name="TextBox 6">
              <a:extLst>
                <a:ext uri="{FF2B5EF4-FFF2-40B4-BE49-F238E27FC236}">
                  <a16:creationId xmlns:a16="http://schemas.microsoft.com/office/drawing/2014/main" id="{F81C81D8-D304-2FF9-9CDE-8688F27DF702}"/>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Technology:</a:t>
              </a:r>
            </a:p>
          </p:txBody>
        </p:sp>
        <p:sp>
          <p:nvSpPr>
            <p:cNvPr id="7" name="TextBox 7">
              <a:extLst>
                <a:ext uri="{FF2B5EF4-FFF2-40B4-BE49-F238E27FC236}">
                  <a16:creationId xmlns:a16="http://schemas.microsoft.com/office/drawing/2014/main" id="{CEA62A13-9429-E638-4823-FFF477F4BAA8}"/>
                </a:ext>
              </a:extLst>
            </p:cNvPr>
            <p:cNvSpPr txBox="1"/>
            <p:nvPr/>
          </p:nvSpPr>
          <p:spPr>
            <a:xfrm>
              <a:off x="157480" y="746971"/>
              <a:ext cx="11204787" cy="7310287"/>
            </a:xfrm>
            <a:prstGeom prst="rect">
              <a:avLst/>
            </a:prstGeom>
          </p:spPr>
          <p:txBody>
            <a:bodyPr wrap="square" lIns="0" tIns="0" rIns="0" bIns="0" rtlCol="0" anchor="t">
              <a:spAutoFit/>
            </a:bodyPr>
            <a:lstStyle/>
            <a:p>
              <a:pPr algn="just">
                <a:lnSpc>
                  <a:spcPct val="150000"/>
                </a:lnSpc>
              </a:pPr>
              <a:r>
                <a:rPr lang="en-US" sz="2400" dirty="0"/>
                <a:t>AR consists of </a:t>
              </a:r>
              <a:r>
                <a:rPr lang="en-US" sz="2400" b="1" dirty="0"/>
                <a:t>three main components</a:t>
              </a:r>
              <a:r>
                <a:rPr lang="en-US" sz="2400" dirty="0"/>
                <a:t>:</a:t>
              </a:r>
            </a:p>
            <a:p>
              <a:pPr marL="342900" indent="-342900" algn="just">
                <a:lnSpc>
                  <a:spcPct val="150000"/>
                </a:lnSpc>
                <a:buFont typeface="Arial" panose="020B0604020202020204" pitchFamily="34" charset="0"/>
                <a:buChar char="•"/>
              </a:pPr>
              <a:r>
                <a:rPr lang="en-US" sz="2400" dirty="0"/>
                <a:t>Camera (captures the real-world environment) </a:t>
              </a:r>
            </a:p>
            <a:p>
              <a:pPr marL="342900" indent="-342900" algn="just">
                <a:lnSpc>
                  <a:spcPct val="150000"/>
                </a:lnSpc>
                <a:buFont typeface="Arial" panose="020B0604020202020204" pitchFamily="34" charset="0"/>
                <a:buChar char="•"/>
              </a:pPr>
              <a:r>
                <a:rPr lang="en-US" sz="2400" dirty="0"/>
                <a:t>Software (processes the data) </a:t>
              </a:r>
            </a:p>
            <a:p>
              <a:pPr marL="342900" indent="-342900" algn="just">
                <a:lnSpc>
                  <a:spcPct val="150000"/>
                </a:lnSpc>
                <a:buFont typeface="Arial" panose="020B0604020202020204" pitchFamily="34" charset="0"/>
                <a:buChar char="•"/>
              </a:pPr>
              <a:r>
                <a:rPr lang="en-US" sz="2400" dirty="0"/>
                <a:t>Display (shows the output on screen) </a:t>
              </a:r>
            </a:p>
            <a:p>
              <a:pPr algn="just">
                <a:lnSpc>
                  <a:spcPct val="150000"/>
                </a:lnSpc>
              </a:pPr>
              <a:r>
                <a:rPr lang="en-US" sz="2400" dirty="0"/>
                <a:t>“The camera captures the real scene, and then the system adds digital objects to it.”</a:t>
              </a:r>
            </a:p>
            <a:p>
              <a:pPr algn="just">
                <a:lnSpc>
                  <a:spcPct val="150000"/>
                </a:lnSpc>
              </a:pPr>
              <a:r>
                <a:rPr lang="en-US" sz="2400" b="1" dirty="0"/>
                <a:t>AR uses devices like: </a:t>
              </a:r>
            </a:p>
            <a:p>
              <a:pPr algn="just">
                <a:lnSpc>
                  <a:spcPct val="150000"/>
                </a:lnSpc>
              </a:pPr>
              <a:r>
                <a:rPr lang="en-US" sz="2400" dirty="0"/>
                <a:t>1. Smartphones     2. Tablets       3. AR Glasses</a:t>
              </a:r>
            </a:p>
            <a:p>
              <a:pPr algn="just">
                <a:lnSpc>
                  <a:spcPct val="150000"/>
                </a:lnSpc>
              </a:pPr>
              <a:r>
                <a:rPr lang="en-US" sz="2400" b="1" dirty="0"/>
                <a:t>Working: </a:t>
              </a:r>
              <a:r>
                <a:rPr lang="en-US" sz="2400" dirty="0"/>
                <a:t>AR combines camera input with computer-generated content to enhance the user’s view of the real world.</a:t>
              </a:r>
            </a:p>
          </p:txBody>
        </p:sp>
      </p:grpSp>
    </p:spTree>
    <p:extLst>
      <p:ext uri="{BB962C8B-B14F-4D97-AF65-F5344CB8AC3E}">
        <p14:creationId xmlns:p14="http://schemas.microsoft.com/office/powerpoint/2010/main" val="2643379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0C5C9-41F5-EDAC-48ED-CB37AAC774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3DFCB1-70BF-CE46-7637-DDF7D8CB677E}"/>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82D37AA1-6299-41E8-853E-80A4BE805D07}"/>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9EE75080-1D3C-A799-1E5E-F731909EF026}"/>
              </a:ext>
            </a:extLst>
          </p:cNvPr>
          <p:cNvGrpSpPr/>
          <p:nvPr/>
        </p:nvGrpSpPr>
        <p:grpSpPr>
          <a:xfrm>
            <a:off x="560162" y="914400"/>
            <a:ext cx="8633276" cy="4581457"/>
            <a:chOff x="157480" y="-267335"/>
            <a:chExt cx="11511034" cy="6108608"/>
          </a:xfrm>
        </p:grpSpPr>
        <p:sp>
          <p:nvSpPr>
            <p:cNvPr id="6" name="TextBox 6">
              <a:extLst>
                <a:ext uri="{FF2B5EF4-FFF2-40B4-BE49-F238E27FC236}">
                  <a16:creationId xmlns:a16="http://schemas.microsoft.com/office/drawing/2014/main" id="{8A66E7C3-1497-0DF3-64D2-8A4A8289EB34}"/>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Possible Applications:</a:t>
              </a:r>
            </a:p>
          </p:txBody>
        </p:sp>
        <p:sp>
          <p:nvSpPr>
            <p:cNvPr id="7" name="TextBox 7">
              <a:extLst>
                <a:ext uri="{FF2B5EF4-FFF2-40B4-BE49-F238E27FC236}">
                  <a16:creationId xmlns:a16="http://schemas.microsoft.com/office/drawing/2014/main" id="{D5424744-8C8E-32D9-8CC0-168F92989151}"/>
                </a:ext>
              </a:extLst>
            </p:cNvPr>
            <p:cNvSpPr txBox="1"/>
            <p:nvPr/>
          </p:nvSpPr>
          <p:spPr>
            <a:xfrm>
              <a:off x="157480" y="746973"/>
              <a:ext cx="11204787" cy="5094300"/>
            </a:xfrm>
            <a:prstGeom prst="rect">
              <a:avLst/>
            </a:prstGeom>
          </p:spPr>
          <p:txBody>
            <a:bodyPr wrap="square" lIns="0" tIns="0" rIns="0" bIns="0" rtlCol="0" anchor="t">
              <a:spAutoFit/>
            </a:bodyPr>
            <a:lstStyle/>
            <a:p>
              <a:pPr algn="just">
                <a:lnSpc>
                  <a:spcPct val="150000"/>
                </a:lnSpc>
              </a:pPr>
              <a:r>
                <a:rPr lang="en-US" sz="2400" dirty="0"/>
                <a:t>AR is used in many fields to improve user experience and efficiency.</a:t>
              </a:r>
            </a:p>
            <a:p>
              <a:pPr algn="just">
                <a:lnSpc>
                  <a:spcPct val="150000"/>
                </a:lnSpc>
              </a:pPr>
              <a:r>
                <a:rPr lang="en-US" sz="2400" b="1" dirty="0"/>
                <a:t>Examples: </a:t>
              </a:r>
            </a:p>
            <a:p>
              <a:pPr algn="just">
                <a:lnSpc>
                  <a:spcPct val="150000"/>
                </a:lnSpc>
              </a:pPr>
              <a:r>
                <a:rPr lang="en-US" sz="2400" dirty="0"/>
                <a:t>• </a:t>
              </a:r>
              <a:r>
                <a:rPr lang="en-US" sz="2400" b="1" dirty="0"/>
                <a:t>Education</a:t>
              </a:r>
              <a:r>
                <a:rPr lang="en-US" sz="2400" dirty="0"/>
                <a:t> – interactive learning with 3D models </a:t>
              </a:r>
            </a:p>
            <a:p>
              <a:pPr algn="just">
                <a:lnSpc>
                  <a:spcPct val="150000"/>
                </a:lnSpc>
              </a:pPr>
              <a:r>
                <a:rPr lang="en-US" sz="2400" dirty="0"/>
                <a:t>• </a:t>
              </a:r>
              <a:r>
                <a:rPr lang="en-US" sz="2400" b="1" dirty="0"/>
                <a:t>Healthcare </a:t>
              </a:r>
              <a:r>
                <a:rPr lang="en-US" sz="2400" dirty="0"/>
                <a:t>– visualizing organs during surgery </a:t>
              </a:r>
            </a:p>
            <a:p>
              <a:pPr algn="just">
                <a:lnSpc>
                  <a:spcPct val="150000"/>
                </a:lnSpc>
              </a:pPr>
              <a:r>
                <a:rPr lang="en-US" sz="2400" dirty="0"/>
                <a:t>• </a:t>
              </a:r>
              <a:r>
                <a:rPr lang="en-US" sz="2400" b="1" dirty="0"/>
                <a:t>Gaming</a:t>
              </a:r>
              <a:r>
                <a:rPr lang="en-US" sz="2400" dirty="0"/>
                <a:t> – interactive games </a:t>
              </a:r>
            </a:p>
            <a:p>
              <a:pPr algn="just">
                <a:lnSpc>
                  <a:spcPct val="150000"/>
                </a:lnSpc>
              </a:pPr>
              <a:r>
                <a:rPr lang="en-US" sz="2400" dirty="0"/>
                <a:t>•</a:t>
              </a:r>
              <a:r>
                <a:rPr lang="en-US" sz="2400" b="1" dirty="0"/>
                <a:t> Retail </a:t>
              </a:r>
              <a:r>
                <a:rPr lang="en-US" sz="2400" dirty="0"/>
                <a:t>– trying products virtually (clothes, furniture)</a:t>
              </a:r>
            </a:p>
            <a:p>
              <a:pPr algn="just">
                <a:lnSpc>
                  <a:spcPct val="150000"/>
                </a:lnSpc>
              </a:pPr>
              <a:r>
                <a:rPr lang="en-US" sz="2400" dirty="0"/>
                <a:t>Note: In simple words, AR makes real life smarter.</a:t>
              </a:r>
            </a:p>
          </p:txBody>
        </p:sp>
      </p:grpSp>
    </p:spTree>
    <p:extLst>
      <p:ext uri="{BB962C8B-B14F-4D97-AF65-F5344CB8AC3E}">
        <p14:creationId xmlns:p14="http://schemas.microsoft.com/office/powerpoint/2010/main" val="3834544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8C74D-9FE9-5EB4-51CD-02049AECEF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FEA05B3-EA3C-7585-7605-4B6A2CDD806F}"/>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CA0D670D-5E31-E665-A9FF-9C263E2CED11}"/>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CA2C55E2-02AB-BC9A-0D2D-480370D0DDDE}"/>
              </a:ext>
            </a:extLst>
          </p:cNvPr>
          <p:cNvGrpSpPr/>
          <p:nvPr/>
        </p:nvGrpSpPr>
        <p:grpSpPr>
          <a:xfrm>
            <a:off x="560162" y="812873"/>
            <a:ext cx="8633276" cy="6243450"/>
            <a:chOff x="157480" y="-267335"/>
            <a:chExt cx="11511034" cy="8324601"/>
          </a:xfrm>
        </p:grpSpPr>
        <p:sp>
          <p:nvSpPr>
            <p:cNvPr id="6" name="TextBox 6">
              <a:extLst>
                <a:ext uri="{FF2B5EF4-FFF2-40B4-BE49-F238E27FC236}">
                  <a16:creationId xmlns:a16="http://schemas.microsoft.com/office/drawing/2014/main" id="{100E6C8A-515E-CDA9-0EA1-DDC6E137E06B}"/>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Remote Collaboration:</a:t>
              </a:r>
            </a:p>
          </p:txBody>
        </p:sp>
        <p:sp>
          <p:nvSpPr>
            <p:cNvPr id="7" name="TextBox 7">
              <a:extLst>
                <a:ext uri="{FF2B5EF4-FFF2-40B4-BE49-F238E27FC236}">
                  <a16:creationId xmlns:a16="http://schemas.microsoft.com/office/drawing/2014/main" id="{F253581E-2E39-EA3B-60F8-B395A1F7A74B}"/>
                </a:ext>
              </a:extLst>
            </p:cNvPr>
            <p:cNvSpPr txBox="1"/>
            <p:nvPr/>
          </p:nvSpPr>
          <p:spPr>
            <a:xfrm>
              <a:off x="157480" y="746973"/>
              <a:ext cx="11204787" cy="7310293"/>
            </a:xfrm>
            <a:prstGeom prst="rect">
              <a:avLst/>
            </a:prstGeom>
          </p:spPr>
          <p:txBody>
            <a:bodyPr wrap="square" lIns="0" tIns="0" rIns="0" bIns="0" rtlCol="0" anchor="t">
              <a:spAutoFit/>
            </a:bodyPr>
            <a:lstStyle/>
            <a:p>
              <a:pPr algn="just">
                <a:lnSpc>
                  <a:spcPct val="150000"/>
                </a:lnSpc>
              </a:pPr>
              <a:r>
                <a:rPr lang="en-US" sz="2400" dirty="0"/>
                <a:t>One powerful use of AR is remote collaboration. AR allows people to work together from different locations.</a:t>
              </a:r>
            </a:p>
            <a:p>
              <a:pPr algn="just">
                <a:lnSpc>
                  <a:spcPct val="150000"/>
                </a:lnSpc>
              </a:pPr>
              <a:r>
                <a:rPr lang="en-US" sz="2400" b="1" dirty="0"/>
                <a:t>Examples: </a:t>
              </a:r>
            </a:p>
            <a:p>
              <a:pPr algn="just">
                <a:lnSpc>
                  <a:spcPct val="150000"/>
                </a:lnSpc>
              </a:pPr>
              <a:r>
                <a:rPr lang="en-US" sz="2400" dirty="0"/>
                <a:t>• Remote meetings with visual instructions </a:t>
              </a:r>
            </a:p>
            <a:p>
              <a:pPr algn="just">
                <a:lnSpc>
                  <a:spcPct val="150000"/>
                </a:lnSpc>
              </a:pPr>
              <a:r>
                <a:rPr lang="en-US" sz="2400" dirty="0"/>
                <a:t>• Engineers guiding workers using AR visuals </a:t>
              </a:r>
            </a:p>
            <a:p>
              <a:pPr algn="just">
                <a:lnSpc>
                  <a:spcPct val="150000"/>
                </a:lnSpc>
              </a:pPr>
              <a:r>
                <a:rPr lang="en-US" sz="2400" dirty="0"/>
                <a:t>• Training sessions with real-time support</a:t>
              </a:r>
            </a:p>
            <a:p>
              <a:pPr algn="just">
                <a:lnSpc>
                  <a:spcPct val="150000"/>
                </a:lnSpc>
              </a:pPr>
              <a:r>
                <a:rPr lang="en-US" sz="2400" b="1" dirty="0"/>
                <a:t>Benefits: </a:t>
              </a:r>
            </a:p>
            <a:p>
              <a:pPr algn="just">
                <a:lnSpc>
                  <a:spcPct val="150000"/>
                </a:lnSpc>
              </a:pPr>
              <a:r>
                <a:rPr lang="en-US" sz="2400" dirty="0"/>
                <a:t>• Saves time and travel cost </a:t>
              </a:r>
            </a:p>
            <a:p>
              <a:pPr algn="just">
                <a:lnSpc>
                  <a:spcPct val="150000"/>
                </a:lnSpc>
              </a:pPr>
              <a:r>
                <a:rPr lang="en-US" sz="2400" dirty="0"/>
                <a:t>• Improves communication </a:t>
              </a:r>
            </a:p>
            <a:p>
              <a:pPr algn="just">
                <a:lnSpc>
                  <a:spcPct val="150000"/>
                </a:lnSpc>
              </a:pPr>
              <a:r>
                <a:rPr lang="en-US" sz="2400" dirty="0"/>
                <a:t>• Enhances productivity</a:t>
              </a:r>
              <a:endParaRPr lang="en-US" sz="3200" dirty="0"/>
            </a:p>
          </p:txBody>
        </p:sp>
      </p:grpSp>
    </p:spTree>
    <p:extLst>
      <p:ext uri="{BB962C8B-B14F-4D97-AF65-F5344CB8AC3E}">
        <p14:creationId xmlns:p14="http://schemas.microsoft.com/office/powerpoint/2010/main" val="1032742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89F9-B519-3F41-4280-5735822A91C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F92503-1268-04B3-6938-8E6618909105}"/>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6997CBDE-4B07-A93D-62C3-87BE9FAD656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895FA994-411F-12D8-E265-15E4D2C53700}"/>
              </a:ext>
            </a:extLst>
          </p:cNvPr>
          <p:cNvGrpSpPr/>
          <p:nvPr/>
        </p:nvGrpSpPr>
        <p:grpSpPr>
          <a:xfrm>
            <a:off x="560162" y="258876"/>
            <a:ext cx="8633276" cy="6797448"/>
            <a:chOff x="157480" y="-267335"/>
            <a:chExt cx="11511034" cy="9063265"/>
          </a:xfrm>
        </p:grpSpPr>
        <p:sp>
          <p:nvSpPr>
            <p:cNvPr id="6" name="TextBox 6">
              <a:extLst>
                <a:ext uri="{FF2B5EF4-FFF2-40B4-BE49-F238E27FC236}">
                  <a16:creationId xmlns:a16="http://schemas.microsoft.com/office/drawing/2014/main" id="{114DE6FD-81D1-14D1-1780-CD0AF3B6900E}"/>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Dangers of AR:</a:t>
              </a:r>
            </a:p>
          </p:txBody>
        </p:sp>
        <p:sp>
          <p:nvSpPr>
            <p:cNvPr id="7" name="TextBox 7">
              <a:extLst>
                <a:ext uri="{FF2B5EF4-FFF2-40B4-BE49-F238E27FC236}">
                  <a16:creationId xmlns:a16="http://schemas.microsoft.com/office/drawing/2014/main" id="{196272EA-1493-2520-3D00-DF932294DEBD}"/>
                </a:ext>
              </a:extLst>
            </p:cNvPr>
            <p:cNvSpPr txBox="1"/>
            <p:nvPr/>
          </p:nvSpPr>
          <p:spPr>
            <a:xfrm>
              <a:off x="157480" y="746973"/>
              <a:ext cx="11204787" cy="8048957"/>
            </a:xfrm>
            <a:prstGeom prst="rect">
              <a:avLst/>
            </a:prstGeom>
          </p:spPr>
          <p:txBody>
            <a:bodyPr wrap="square" lIns="0" tIns="0" rIns="0" bIns="0" rtlCol="0" anchor="t">
              <a:spAutoFit/>
            </a:bodyPr>
            <a:lstStyle/>
            <a:p>
              <a:pPr algn="just">
                <a:lnSpc>
                  <a:spcPct val="150000"/>
                </a:lnSpc>
              </a:pPr>
              <a:r>
                <a:rPr lang="en-US" sz="2400" dirty="0"/>
                <a:t>Although AR is useful, it also has some risks.</a:t>
              </a:r>
            </a:p>
            <a:p>
              <a:pPr algn="just">
                <a:lnSpc>
                  <a:spcPct val="150000"/>
                </a:lnSpc>
              </a:pPr>
              <a:r>
                <a:rPr lang="en-US" sz="2400" b="1" dirty="0"/>
                <a:t>Examples: </a:t>
              </a:r>
            </a:p>
            <a:p>
              <a:pPr algn="just">
                <a:lnSpc>
                  <a:spcPct val="150000"/>
                </a:lnSpc>
              </a:pPr>
              <a:r>
                <a:rPr lang="en-US" sz="2400" b="1" dirty="0"/>
                <a:t>1. Distraction</a:t>
              </a:r>
              <a:r>
                <a:rPr lang="en-US" sz="2400" dirty="0"/>
                <a:t> from real-world environment </a:t>
              </a:r>
            </a:p>
            <a:p>
              <a:pPr marL="342900" indent="-342900" algn="just">
                <a:lnSpc>
                  <a:spcPct val="150000"/>
                </a:lnSpc>
                <a:buFont typeface="Arial" panose="020B0604020202020204" pitchFamily="34" charset="0"/>
                <a:buChar char="•"/>
              </a:pPr>
              <a:r>
                <a:rPr lang="en-US" sz="2400" dirty="0"/>
                <a:t>Users may lose focus on the real world.</a:t>
              </a:r>
            </a:p>
            <a:p>
              <a:pPr algn="just">
                <a:lnSpc>
                  <a:spcPct val="150000"/>
                </a:lnSpc>
              </a:pPr>
              <a:r>
                <a:rPr lang="en-US" sz="2400" b="1" dirty="0"/>
                <a:t>2. Privacy concerns (camera access) </a:t>
              </a:r>
            </a:p>
            <a:p>
              <a:pPr marL="342900" indent="-342900" algn="just">
                <a:lnSpc>
                  <a:spcPct val="150000"/>
                </a:lnSpc>
                <a:buFont typeface="Arial" panose="020B0604020202020204" pitchFamily="34" charset="0"/>
                <a:buChar char="•"/>
              </a:pPr>
              <a:r>
                <a:rPr lang="en-US" sz="2400" dirty="0"/>
                <a:t>The camera may continuously capture surroundings.</a:t>
              </a:r>
            </a:p>
            <a:p>
              <a:pPr algn="just">
                <a:lnSpc>
                  <a:spcPct val="150000"/>
                </a:lnSpc>
              </a:pPr>
              <a:r>
                <a:rPr lang="en-US" sz="2400" b="1" dirty="0"/>
                <a:t>3. Security Risks</a:t>
              </a:r>
            </a:p>
            <a:p>
              <a:pPr algn="just">
                <a:lnSpc>
                  <a:spcPct val="150000"/>
                </a:lnSpc>
              </a:pPr>
              <a:r>
                <a:rPr lang="en-US" sz="2400" dirty="0"/>
                <a:t>User data may be misused</a:t>
              </a:r>
            </a:p>
            <a:p>
              <a:pPr algn="just">
                <a:lnSpc>
                  <a:spcPct val="150000"/>
                </a:lnSpc>
              </a:pPr>
              <a:r>
                <a:rPr lang="en-US" sz="2400" b="1" dirty="0"/>
                <a:t>4. Health issues </a:t>
              </a:r>
            </a:p>
            <a:p>
              <a:pPr marL="342900" indent="-342900" algn="just">
                <a:lnSpc>
                  <a:spcPct val="150000"/>
                </a:lnSpc>
                <a:buFont typeface="Arial" panose="020B0604020202020204" pitchFamily="34" charset="0"/>
                <a:buChar char="•"/>
              </a:pPr>
              <a:r>
                <a:rPr lang="en-US" sz="2400" dirty="0"/>
                <a:t>Excessive use may affect eyes or mental health.</a:t>
              </a:r>
            </a:p>
            <a:p>
              <a:pPr algn="just">
                <a:lnSpc>
                  <a:spcPct val="150000"/>
                </a:lnSpc>
              </a:pPr>
              <a:r>
                <a:rPr lang="en-US" sz="2400" dirty="0"/>
                <a:t>Therefore, AR should be used responsibly.</a:t>
              </a:r>
            </a:p>
          </p:txBody>
        </p:sp>
      </p:grpSp>
    </p:spTree>
    <p:extLst>
      <p:ext uri="{BB962C8B-B14F-4D97-AF65-F5344CB8AC3E}">
        <p14:creationId xmlns:p14="http://schemas.microsoft.com/office/powerpoint/2010/main" val="929084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20C5C-7C57-6CE0-6D7E-432831E8F2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25FF16-4977-0E3F-944A-1CC9B225FD05}"/>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D4B552BE-A0CA-2982-7DA3-CAD5E23F50BA}"/>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751F3082-AB6D-91EC-E155-692979F5DDA8}"/>
              </a:ext>
            </a:extLst>
          </p:cNvPr>
          <p:cNvGrpSpPr/>
          <p:nvPr/>
        </p:nvGrpSpPr>
        <p:grpSpPr>
          <a:xfrm>
            <a:off x="560162" y="812873"/>
            <a:ext cx="8633276" cy="3473461"/>
            <a:chOff x="157480" y="-267335"/>
            <a:chExt cx="11511034" cy="4631282"/>
          </a:xfrm>
        </p:grpSpPr>
        <p:sp>
          <p:nvSpPr>
            <p:cNvPr id="6" name="TextBox 6">
              <a:extLst>
                <a:ext uri="{FF2B5EF4-FFF2-40B4-BE49-F238E27FC236}">
                  <a16:creationId xmlns:a16="http://schemas.microsoft.com/office/drawing/2014/main" id="{F4EB7554-2D41-29D7-DC5A-03C5658F4EF1}"/>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AR Vs VR:</a:t>
              </a:r>
            </a:p>
          </p:txBody>
        </p:sp>
        <p:sp>
          <p:nvSpPr>
            <p:cNvPr id="7" name="TextBox 7">
              <a:extLst>
                <a:ext uri="{FF2B5EF4-FFF2-40B4-BE49-F238E27FC236}">
                  <a16:creationId xmlns:a16="http://schemas.microsoft.com/office/drawing/2014/main" id="{BDE933DB-CDFC-F684-CAAE-980C4ABC0C95}"/>
                </a:ext>
              </a:extLst>
            </p:cNvPr>
            <p:cNvSpPr txBox="1"/>
            <p:nvPr/>
          </p:nvSpPr>
          <p:spPr>
            <a:xfrm>
              <a:off x="157480" y="746973"/>
              <a:ext cx="11204787" cy="3616974"/>
            </a:xfrm>
            <a:prstGeom prst="rect">
              <a:avLst/>
            </a:prstGeom>
          </p:spPr>
          <p:txBody>
            <a:bodyPr wrap="square" lIns="0" tIns="0" rIns="0" bIns="0" rtlCol="0" anchor="t">
              <a:spAutoFit/>
            </a:bodyPr>
            <a:lstStyle/>
            <a:p>
              <a:pPr algn="just">
                <a:lnSpc>
                  <a:spcPct val="150000"/>
                </a:lnSpc>
              </a:pPr>
              <a:r>
                <a:rPr lang="en-US" sz="2400" dirty="0"/>
                <a:t>• AR adds digital objects to the real world.</a:t>
              </a:r>
            </a:p>
            <a:p>
              <a:pPr algn="just">
                <a:lnSpc>
                  <a:spcPct val="150000"/>
                </a:lnSpc>
              </a:pPr>
              <a:r>
                <a:rPr lang="en-US" sz="2400" dirty="0"/>
                <a:t>• VR (Virtual Reality) creates a completely virtual environment. </a:t>
              </a:r>
            </a:p>
            <a:p>
              <a:pPr algn="just">
                <a:lnSpc>
                  <a:spcPct val="150000"/>
                </a:lnSpc>
              </a:pPr>
              <a:r>
                <a:rPr lang="en-US" sz="2400" dirty="0"/>
                <a:t>• AR uses real-world view + digital overlay.</a:t>
              </a:r>
            </a:p>
            <a:p>
              <a:pPr algn="just">
                <a:lnSpc>
                  <a:spcPct val="150000"/>
                </a:lnSpc>
              </a:pPr>
              <a:r>
                <a:rPr lang="en-US" sz="2400" dirty="0"/>
                <a:t>• VR blocks the real world and replaces it.</a:t>
              </a:r>
            </a:p>
            <a:p>
              <a:pPr algn="just">
                <a:lnSpc>
                  <a:spcPct val="150000"/>
                </a:lnSpc>
              </a:pPr>
              <a:r>
                <a:rPr lang="en-US" sz="2400" dirty="0"/>
                <a:t>In simple way: AR adds, VR replaces.</a:t>
              </a:r>
            </a:p>
          </p:txBody>
        </p:sp>
      </p:grpSp>
    </p:spTree>
    <p:extLst>
      <p:ext uri="{BB962C8B-B14F-4D97-AF65-F5344CB8AC3E}">
        <p14:creationId xmlns:p14="http://schemas.microsoft.com/office/powerpoint/2010/main" val="4191080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2EE66-4AE3-2F60-3321-B3A565A4A64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997D940-EE34-43FE-481C-E1DE3DA4B431}"/>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DF10EA29-BE8D-5527-7D73-4E789ACE54C6}"/>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763750B5-944A-4792-8B04-1CEF6B3B7155}"/>
              </a:ext>
            </a:extLst>
          </p:cNvPr>
          <p:cNvGrpSpPr/>
          <p:nvPr/>
        </p:nvGrpSpPr>
        <p:grpSpPr>
          <a:xfrm>
            <a:off x="560162" y="1066800"/>
            <a:ext cx="8633276" cy="2363029"/>
            <a:chOff x="157480" y="-267335"/>
            <a:chExt cx="11511034" cy="3150702"/>
          </a:xfrm>
        </p:grpSpPr>
        <p:sp>
          <p:nvSpPr>
            <p:cNvPr id="6" name="TextBox 6">
              <a:extLst>
                <a:ext uri="{FF2B5EF4-FFF2-40B4-BE49-F238E27FC236}">
                  <a16:creationId xmlns:a16="http://schemas.microsoft.com/office/drawing/2014/main" id="{97E2D68D-BC3F-B9C9-5DAE-78D09BA6DF5C}"/>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Artificial Intelligence (AI):</a:t>
              </a:r>
            </a:p>
          </p:txBody>
        </p:sp>
        <p:sp>
          <p:nvSpPr>
            <p:cNvPr id="7" name="TextBox 7">
              <a:extLst>
                <a:ext uri="{FF2B5EF4-FFF2-40B4-BE49-F238E27FC236}">
                  <a16:creationId xmlns:a16="http://schemas.microsoft.com/office/drawing/2014/main" id="{5497864D-2A45-934F-9772-F353AAD395CC}"/>
                </a:ext>
              </a:extLst>
            </p:cNvPr>
            <p:cNvSpPr txBox="1"/>
            <p:nvPr/>
          </p:nvSpPr>
          <p:spPr>
            <a:xfrm>
              <a:off x="157480" y="746972"/>
              <a:ext cx="11204787" cy="2136395"/>
            </a:xfrm>
            <a:prstGeom prst="rect">
              <a:avLst/>
            </a:prstGeom>
          </p:spPr>
          <p:txBody>
            <a:bodyPr wrap="square" lIns="0" tIns="0" rIns="0" bIns="0" rtlCol="0" anchor="t">
              <a:spAutoFit/>
            </a:bodyPr>
            <a:lstStyle/>
            <a:p>
              <a:pPr algn="just">
                <a:lnSpc>
                  <a:spcPct val="150000"/>
                </a:lnSpc>
              </a:pPr>
              <a:r>
                <a:rPr lang="en-US" sz="2400" b="1" dirty="0"/>
                <a:t>Definition: </a:t>
              </a:r>
              <a:r>
                <a:rPr lang="en-US" sz="2400" dirty="0"/>
                <a:t>Artificial Intelligence means making machines intelligent so they can perform tasks like humans.</a:t>
              </a:r>
            </a:p>
            <a:p>
              <a:pPr marL="342900" indent="-342900" algn="just">
                <a:lnSpc>
                  <a:spcPct val="150000"/>
                </a:lnSpc>
                <a:buFont typeface="Arial" panose="020B0604020202020204" pitchFamily="34" charset="0"/>
                <a:buChar char="•"/>
              </a:pPr>
              <a:r>
                <a:rPr lang="en-US" sz="2400" dirty="0"/>
                <a:t>Machines can think, learn, and make decisions.</a:t>
              </a:r>
            </a:p>
          </p:txBody>
        </p:sp>
      </p:grpSp>
    </p:spTree>
    <p:extLst>
      <p:ext uri="{BB962C8B-B14F-4D97-AF65-F5344CB8AC3E}">
        <p14:creationId xmlns:p14="http://schemas.microsoft.com/office/powerpoint/2010/main" val="2643954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F4EC-D1F0-D1E7-6A58-74F0D87196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0D4CD9-AB8E-1486-ED54-D65F35ED7BCE}"/>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2AB5516C-0AF5-6D65-70A0-D49FA63A7988}"/>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554C5F2C-B080-6600-8596-DD550F00B424}"/>
              </a:ext>
            </a:extLst>
          </p:cNvPr>
          <p:cNvGrpSpPr/>
          <p:nvPr/>
        </p:nvGrpSpPr>
        <p:grpSpPr>
          <a:xfrm>
            <a:off x="560162" y="812873"/>
            <a:ext cx="8633276" cy="5135455"/>
            <a:chOff x="157480" y="-267335"/>
            <a:chExt cx="11511034" cy="6847273"/>
          </a:xfrm>
        </p:grpSpPr>
        <p:sp>
          <p:nvSpPr>
            <p:cNvPr id="6" name="TextBox 6">
              <a:extLst>
                <a:ext uri="{FF2B5EF4-FFF2-40B4-BE49-F238E27FC236}">
                  <a16:creationId xmlns:a16="http://schemas.microsoft.com/office/drawing/2014/main" id="{A995CDC7-6AC1-F32B-E58A-9989E13F5D1C}"/>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Uses of AI:</a:t>
              </a:r>
            </a:p>
          </p:txBody>
        </p:sp>
        <p:sp>
          <p:nvSpPr>
            <p:cNvPr id="7" name="TextBox 7">
              <a:extLst>
                <a:ext uri="{FF2B5EF4-FFF2-40B4-BE49-F238E27FC236}">
                  <a16:creationId xmlns:a16="http://schemas.microsoft.com/office/drawing/2014/main" id="{FFAE0E68-F80F-B270-96A7-A394C66747A5}"/>
                </a:ext>
              </a:extLst>
            </p:cNvPr>
            <p:cNvSpPr txBox="1"/>
            <p:nvPr/>
          </p:nvSpPr>
          <p:spPr>
            <a:xfrm>
              <a:off x="157480" y="746973"/>
              <a:ext cx="11204787" cy="5832965"/>
            </a:xfrm>
            <a:prstGeom prst="rect">
              <a:avLst/>
            </a:prstGeom>
          </p:spPr>
          <p:txBody>
            <a:bodyPr wrap="square" lIns="0" tIns="0" rIns="0" bIns="0" rtlCol="0" anchor="t">
              <a:spAutoFit/>
            </a:bodyPr>
            <a:lstStyle/>
            <a:p>
              <a:pPr algn="just">
                <a:lnSpc>
                  <a:spcPct val="150000"/>
                </a:lnSpc>
              </a:pPr>
              <a:r>
                <a:rPr lang="en-US" sz="2400" dirty="0"/>
                <a:t>Artificial Intelligence (AI) refers to machines or software that can perform tasks which normally require human intelligence.</a:t>
              </a:r>
            </a:p>
            <a:p>
              <a:pPr algn="just">
                <a:lnSpc>
                  <a:spcPct val="150000"/>
                </a:lnSpc>
              </a:pPr>
              <a:r>
                <a:rPr lang="en-US" sz="2400" b="1" dirty="0"/>
                <a:t>AI can: </a:t>
              </a:r>
            </a:p>
            <a:p>
              <a:pPr algn="just">
                <a:lnSpc>
                  <a:spcPct val="150000"/>
                </a:lnSpc>
              </a:pPr>
              <a:r>
                <a:rPr lang="en-US" sz="2400" dirty="0"/>
                <a:t>• Learn from data </a:t>
              </a:r>
            </a:p>
            <a:p>
              <a:pPr algn="just">
                <a:lnSpc>
                  <a:spcPct val="150000"/>
                </a:lnSpc>
              </a:pPr>
              <a:r>
                <a:rPr lang="en-US" sz="2400" dirty="0"/>
                <a:t>• Make decisions </a:t>
              </a:r>
            </a:p>
            <a:p>
              <a:pPr algn="just">
                <a:lnSpc>
                  <a:spcPct val="150000"/>
                </a:lnSpc>
              </a:pPr>
              <a:r>
                <a:rPr lang="en-US" sz="2400" dirty="0"/>
                <a:t>• Recognize patterns </a:t>
              </a:r>
            </a:p>
            <a:p>
              <a:pPr algn="just">
                <a:lnSpc>
                  <a:spcPct val="150000"/>
                </a:lnSpc>
              </a:pPr>
              <a:r>
                <a:rPr lang="en-US" sz="2400" dirty="0"/>
                <a:t>• Solve problems</a:t>
              </a:r>
              <a:endParaRPr lang="en-US" sz="3200" dirty="0"/>
            </a:p>
            <a:p>
              <a:pPr algn="just">
                <a:lnSpc>
                  <a:spcPct val="150000"/>
                </a:lnSpc>
              </a:pPr>
              <a:r>
                <a:rPr lang="en-US" sz="2400" dirty="0"/>
                <a:t>AI works like the human brain (to some extent).</a:t>
              </a:r>
            </a:p>
          </p:txBody>
        </p:sp>
      </p:grpSp>
    </p:spTree>
    <p:extLst>
      <p:ext uri="{BB962C8B-B14F-4D97-AF65-F5344CB8AC3E}">
        <p14:creationId xmlns:p14="http://schemas.microsoft.com/office/powerpoint/2010/main" val="68354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1F899-E57A-BB0F-4DCF-4168B7654E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EA615-4D58-A39D-C451-E9F337829D0D}"/>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3E0D6056-2B56-EC44-490F-42EDBF16461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35F4B8FE-5281-557F-A829-F7A043CEBC41}"/>
              </a:ext>
            </a:extLst>
          </p:cNvPr>
          <p:cNvGrpSpPr/>
          <p:nvPr/>
        </p:nvGrpSpPr>
        <p:grpSpPr>
          <a:xfrm>
            <a:off x="560162" y="812873"/>
            <a:ext cx="8633276" cy="6243450"/>
            <a:chOff x="157480" y="-267335"/>
            <a:chExt cx="11511034" cy="8324601"/>
          </a:xfrm>
        </p:grpSpPr>
        <p:sp>
          <p:nvSpPr>
            <p:cNvPr id="6" name="TextBox 6">
              <a:extLst>
                <a:ext uri="{FF2B5EF4-FFF2-40B4-BE49-F238E27FC236}">
                  <a16:creationId xmlns:a16="http://schemas.microsoft.com/office/drawing/2014/main" id="{5D4FC425-4DB3-31FE-3B01-160C70AD4125}"/>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Applications of AI:</a:t>
              </a:r>
            </a:p>
          </p:txBody>
        </p:sp>
        <p:sp>
          <p:nvSpPr>
            <p:cNvPr id="7" name="TextBox 7">
              <a:extLst>
                <a:ext uri="{FF2B5EF4-FFF2-40B4-BE49-F238E27FC236}">
                  <a16:creationId xmlns:a16="http://schemas.microsoft.com/office/drawing/2014/main" id="{2BC30B7D-9983-C478-8E75-0779981A140E}"/>
                </a:ext>
              </a:extLst>
            </p:cNvPr>
            <p:cNvSpPr txBox="1"/>
            <p:nvPr/>
          </p:nvSpPr>
          <p:spPr>
            <a:xfrm>
              <a:off x="157480" y="746973"/>
              <a:ext cx="11204787" cy="7310293"/>
            </a:xfrm>
            <a:prstGeom prst="rect">
              <a:avLst/>
            </a:prstGeom>
          </p:spPr>
          <p:txBody>
            <a:bodyPr wrap="square" lIns="0" tIns="0" rIns="0" bIns="0" rtlCol="0" anchor="t">
              <a:spAutoFit/>
            </a:bodyPr>
            <a:lstStyle/>
            <a:p>
              <a:pPr algn="just">
                <a:lnSpc>
                  <a:spcPct val="150000"/>
                </a:lnSpc>
              </a:pPr>
              <a:r>
                <a:rPr lang="en-US" sz="2400" dirty="0"/>
                <a:t>AI is used in many real-world applications, such as:</a:t>
              </a:r>
            </a:p>
            <a:p>
              <a:pPr algn="just">
                <a:lnSpc>
                  <a:spcPct val="150000"/>
                </a:lnSpc>
              </a:pPr>
              <a:r>
                <a:rPr lang="en-US" sz="2400" b="1" dirty="0"/>
                <a:t>1. Healthcare</a:t>
              </a:r>
            </a:p>
            <a:p>
              <a:pPr algn="just">
                <a:lnSpc>
                  <a:spcPct val="150000"/>
                </a:lnSpc>
              </a:pPr>
              <a:r>
                <a:rPr lang="en-US" sz="2400" dirty="0"/>
                <a:t>• Disease diagnosis </a:t>
              </a:r>
            </a:p>
            <a:p>
              <a:pPr algn="just">
                <a:lnSpc>
                  <a:spcPct val="150000"/>
                </a:lnSpc>
              </a:pPr>
              <a:r>
                <a:rPr lang="en-US" sz="2400" dirty="0"/>
                <a:t>• Medical image analysis</a:t>
              </a:r>
            </a:p>
            <a:p>
              <a:pPr algn="just">
                <a:lnSpc>
                  <a:spcPct val="150000"/>
                </a:lnSpc>
              </a:pPr>
              <a:r>
                <a:rPr lang="en-US" sz="2400" b="1" dirty="0"/>
                <a:t>2. Banking &amp; Finance</a:t>
              </a:r>
            </a:p>
            <a:p>
              <a:pPr algn="just">
                <a:lnSpc>
                  <a:spcPct val="150000"/>
                </a:lnSpc>
              </a:pPr>
              <a:r>
                <a:rPr lang="en-US" sz="2400" dirty="0"/>
                <a:t>• Fraud detection </a:t>
              </a:r>
            </a:p>
            <a:p>
              <a:pPr algn="just">
                <a:lnSpc>
                  <a:spcPct val="150000"/>
                </a:lnSpc>
              </a:pPr>
              <a:r>
                <a:rPr lang="en-US" sz="2400" dirty="0"/>
                <a:t>• Automated systems</a:t>
              </a:r>
            </a:p>
            <a:p>
              <a:pPr algn="just">
                <a:lnSpc>
                  <a:spcPct val="150000"/>
                </a:lnSpc>
              </a:pPr>
              <a:r>
                <a:rPr lang="en-US" sz="2400" b="1" dirty="0"/>
                <a:t>3. Education</a:t>
              </a:r>
            </a:p>
            <a:p>
              <a:pPr algn="just">
                <a:lnSpc>
                  <a:spcPct val="150000"/>
                </a:lnSpc>
              </a:pPr>
              <a:r>
                <a:rPr lang="en-US" sz="2400" dirty="0"/>
                <a:t>• Intelligent tutoring systems </a:t>
              </a:r>
            </a:p>
            <a:p>
              <a:pPr algn="just">
                <a:lnSpc>
                  <a:spcPct val="150000"/>
                </a:lnSpc>
              </a:pPr>
              <a:r>
                <a:rPr lang="en-US" sz="2400" dirty="0"/>
                <a:t>• Automated grading</a:t>
              </a:r>
            </a:p>
          </p:txBody>
        </p:sp>
      </p:grpSp>
    </p:spTree>
    <p:extLst>
      <p:ext uri="{BB962C8B-B14F-4D97-AF65-F5344CB8AC3E}">
        <p14:creationId xmlns:p14="http://schemas.microsoft.com/office/powerpoint/2010/main" val="4077094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9FC25-AB7D-D7CE-2291-E9846867BA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E98357-373E-6239-A5F1-72DA8B3E4B4A}"/>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E28314F3-81CF-EEC5-2278-D5DF42B85D3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301C2216-0979-287B-202C-B4083E7D78A7}"/>
              </a:ext>
            </a:extLst>
          </p:cNvPr>
          <p:cNvGrpSpPr/>
          <p:nvPr/>
        </p:nvGrpSpPr>
        <p:grpSpPr>
          <a:xfrm>
            <a:off x="560162" y="812873"/>
            <a:ext cx="8633276" cy="4581457"/>
            <a:chOff x="157480" y="-267335"/>
            <a:chExt cx="11511034" cy="6108610"/>
          </a:xfrm>
        </p:grpSpPr>
        <p:sp>
          <p:nvSpPr>
            <p:cNvPr id="6" name="TextBox 6">
              <a:extLst>
                <a:ext uri="{FF2B5EF4-FFF2-40B4-BE49-F238E27FC236}">
                  <a16:creationId xmlns:a16="http://schemas.microsoft.com/office/drawing/2014/main" id="{ADA48618-618D-CEF2-6F55-5EE5E5B5022A}"/>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Applications of AI:</a:t>
              </a:r>
            </a:p>
          </p:txBody>
        </p:sp>
        <p:sp>
          <p:nvSpPr>
            <p:cNvPr id="7" name="TextBox 7">
              <a:extLst>
                <a:ext uri="{FF2B5EF4-FFF2-40B4-BE49-F238E27FC236}">
                  <a16:creationId xmlns:a16="http://schemas.microsoft.com/office/drawing/2014/main" id="{96A801E9-A3F6-B837-FA26-48D0464FCE6D}"/>
                </a:ext>
              </a:extLst>
            </p:cNvPr>
            <p:cNvSpPr txBox="1"/>
            <p:nvPr/>
          </p:nvSpPr>
          <p:spPr>
            <a:xfrm>
              <a:off x="157480" y="746973"/>
              <a:ext cx="11204787" cy="5094302"/>
            </a:xfrm>
            <a:prstGeom prst="rect">
              <a:avLst/>
            </a:prstGeom>
          </p:spPr>
          <p:txBody>
            <a:bodyPr wrap="square" lIns="0" tIns="0" rIns="0" bIns="0" rtlCol="0" anchor="t">
              <a:spAutoFit/>
            </a:bodyPr>
            <a:lstStyle/>
            <a:p>
              <a:pPr algn="just">
                <a:lnSpc>
                  <a:spcPct val="150000"/>
                </a:lnSpc>
              </a:pPr>
              <a:r>
                <a:rPr lang="en-US" sz="2400" b="1" dirty="0"/>
                <a:t>4. Transportation</a:t>
              </a:r>
            </a:p>
            <a:p>
              <a:pPr algn="just">
                <a:lnSpc>
                  <a:spcPct val="150000"/>
                </a:lnSpc>
              </a:pPr>
              <a:r>
                <a:rPr lang="en-US" sz="2400" dirty="0"/>
                <a:t>• Self-driving cars </a:t>
              </a:r>
            </a:p>
            <a:p>
              <a:pPr algn="just">
                <a:lnSpc>
                  <a:spcPct val="150000"/>
                </a:lnSpc>
              </a:pPr>
              <a:r>
                <a:rPr lang="en-US" sz="2400" dirty="0"/>
                <a:t>• Traffic management systems</a:t>
              </a:r>
            </a:p>
            <a:p>
              <a:pPr algn="just">
                <a:lnSpc>
                  <a:spcPct val="150000"/>
                </a:lnSpc>
              </a:pPr>
              <a:r>
                <a:rPr lang="en-US" sz="2400" b="1" dirty="0"/>
                <a:t>5. Customer Service</a:t>
              </a:r>
            </a:p>
            <a:p>
              <a:pPr algn="just">
                <a:lnSpc>
                  <a:spcPct val="150000"/>
                </a:lnSpc>
              </a:pPr>
              <a:r>
                <a:rPr lang="en-US" sz="2400" dirty="0"/>
                <a:t>• Chatbots </a:t>
              </a:r>
            </a:p>
            <a:p>
              <a:pPr algn="just">
                <a:lnSpc>
                  <a:spcPct val="150000"/>
                </a:lnSpc>
              </a:pPr>
              <a:r>
                <a:rPr lang="en-US" sz="2400" dirty="0"/>
                <a:t>• Virtual assistants</a:t>
              </a:r>
            </a:p>
            <a:p>
              <a:pPr algn="just">
                <a:lnSpc>
                  <a:spcPct val="150000"/>
                </a:lnSpc>
              </a:pPr>
              <a:r>
                <a:rPr lang="en-US" sz="2400" b="1" dirty="0"/>
                <a:t>For example</a:t>
              </a:r>
              <a:r>
                <a:rPr lang="en-US" sz="2400" dirty="0"/>
                <a:t>, mobile assistants are based on AI.</a:t>
              </a:r>
            </a:p>
          </p:txBody>
        </p:sp>
      </p:grpSp>
    </p:spTree>
    <p:extLst>
      <p:ext uri="{BB962C8B-B14F-4D97-AF65-F5344CB8AC3E}">
        <p14:creationId xmlns:p14="http://schemas.microsoft.com/office/powerpoint/2010/main" val="1588762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CEF24-83AF-70FB-9F0F-787A05C90EC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711EC4-16D9-BBA9-860D-EBBE0ED478BA}"/>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FE6495C7-A89B-3ABA-BBFA-1F8D8B301EAC}"/>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F72B4643-D116-97E5-CE93-ED3B4FD75577}"/>
              </a:ext>
            </a:extLst>
          </p:cNvPr>
          <p:cNvGrpSpPr/>
          <p:nvPr/>
        </p:nvGrpSpPr>
        <p:grpSpPr>
          <a:xfrm>
            <a:off x="560162" y="812873"/>
            <a:ext cx="8633276" cy="4581457"/>
            <a:chOff x="157480" y="-267335"/>
            <a:chExt cx="11511034" cy="6108610"/>
          </a:xfrm>
        </p:grpSpPr>
        <p:sp>
          <p:nvSpPr>
            <p:cNvPr id="6" name="TextBox 6">
              <a:extLst>
                <a:ext uri="{FF2B5EF4-FFF2-40B4-BE49-F238E27FC236}">
                  <a16:creationId xmlns:a16="http://schemas.microsoft.com/office/drawing/2014/main" id="{4A5A4A8A-C1DF-4224-5936-246D4FD1E849}"/>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Types of AI:</a:t>
              </a:r>
            </a:p>
          </p:txBody>
        </p:sp>
        <p:sp>
          <p:nvSpPr>
            <p:cNvPr id="7" name="TextBox 7">
              <a:extLst>
                <a:ext uri="{FF2B5EF4-FFF2-40B4-BE49-F238E27FC236}">
                  <a16:creationId xmlns:a16="http://schemas.microsoft.com/office/drawing/2014/main" id="{7F30D589-3935-1A89-A5CB-03B572E55BAF}"/>
                </a:ext>
              </a:extLst>
            </p:cNvPr>
            <p:cNvSpPr txBox="1"/>
            <p:nvPr/>
          </p:nvSpPr>
          <p:spPr>
            <a:xfrm>
              <a:off x="157480" y="746973"/>
              <a:ext cx="11204787" cy="5094302"/>
            </a:xfrm>
            <a:prstGeom prst="rect">
              <a:avLst/>
            </a:prstGeom>
          </p:spPr>
          <p:txBody>
            <a:bodyPr wrap="square" lIns="0" tIns="0" rIns="0" bIns="0" rtlCol="0" anchor="t">
              <a:spAutoFit/>
            </a:bodyPr>
            <a:lstStyle/>
            <a:p>
              <a:pPr algn="just">
                <a:lnSpc>
                  <a:spcPct val="150000"/>
                </a:lnSpc>
              </a:pPr>
              <a:r>
                <a:rPr lang="en-US" sz="2400" dirty="0"/>
                <a:t>There are two types of AI, such as:</a:t>
              </a:r>
            </a:p>
            <a:p>
              <a:pPr algn="just">
                <a:lnSpc>
                  <a:spcPct val="150000"/>
                </a:lnSpc>
              </a:pPr>
              <a:r>
                <a:rPr lang="en-US" sz="2400" b="1" dirty="0"/>
                <a:t>1. Narrow AI (Weak AI):</a:t>
              </a:r>
            </a:p>
            <a:p>
              <a:pPr marL="342900" indent="-342900" algn="just">
                <a:lnSpc>
                  <a:spcPct val="150000"/>
                </a:lnSpc>
                <a:buFont typeface="Arial" panose="020B0604020202020204" pitchFamily="34" charset="0"/>
                <a:buChar char="•"/>
              </a:pPr>
              <a:r>
                <a:rPr lang="en-US" sz="2400" dirty="0"/>
                <a:t>Performs specific tasks </a:t>
              </a:r>
            </a:p>
            <a:p>
              <a:pPr marL="342900" indent="-342900" algn="just">
                <a:lnSpc>
                  <a:spcPct val="150000"/>
                </a:lnSpc>
                <a:buFont typeface="Arial" panose="020B0604020202020204" pitchFamily="34" charset="0"/>
                <a:buChar char="•"/>
              </a:pPr>
              <a:r>
                <a:rPr lang="en-US" sz="2400" dirty="0"/>
                <a:t>Example: Chatbots, Voice Assistants.</a:t>
              </a:r>
            </a:p>
            <a:p>
              <a:pPr algn="just">
                <a:lnSpc>
                  <a:spcPct val="150000"/>
                </a:lnSpc>
              </a:pPr>
              <a:r>
                <a:rPr lang="en-US" sz="2400" b="1" dirty="0"/>
                <a:t>2. General AI (Strong AI):</a:t>
              </a:r>
            </a:p>
            <a:p>
              <a:pPr marL="342900" indent="-342900" algn="just">
                <a:lnSpc>
                  <a:spcPct val="150000"/>
                </a:lnSpc>
                <a:buFont typeface="Arial" panose="020B0604020202020204" pitchFamily="34" charset="0"/>
                <a:buChar char="•"/>
              </a:pPr>
              <a:r>
                <a:rPr lang="en-US" sz="2400" dirty="0"/>
                <a:t>Can perform any human-like task.</a:t>
              </a:r>
            </a:p>
            <a:p>
              <a:pPr marL="342900" indent="-342900" algn="just">
                <a:lnSpc>
                  <a:spcPct val="150000"/>
                </a:lnSpc>
                <a:buFont typeface="Arial" panose="020B0604020202020204" pitchFamily="34" charset="0"/>
                <a:buChar char="•"/>
              </a:pPr>
              <a:r>
                <a:rPr lang="en-US" sz="2400" dirty="0"/>
                <a:t>(This type is still under development).</a:t>
              </a:r>
            </a:p>
          </p:txBody>
        </p:sp>
      </p:grpSp>
    </p:spTree>
    <p:extLst>
      <p:ext uri="{BB962C8B-B14F-4D97-AF65-F5344CB8AC3E}">
        <p14:creationId xmlns:p14="http://schemas.microsoft.com/office/powerpoint/2010/main" val="2940638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5400000">
            <a:off x="5866787" y="-1370945"/>
            <a:ext cx="5550062" cy="4939555"/>
          </a:xfrm>
          <a:custGeom>
            <a:avLst/>
            <a:gdLst/>
            <a:ahLst/>
            <a:cxnLst/>
            <a:rect l="l" t="t" r="r" b="b"/>
            <a:pathLst>
              <a:path w="5550062" h="4939555">
                <a:moveTo>
                  <a:pt x="0" y="0"/>
                </a:moveTo>
                <a:lnTo>
                  <a:pt x="5550061" y="0"/>
                </a:lnTo>
                <a:lnTo>
                  <a:pt x="5550061" y="4939555"/>
                </a:lnTo>
                <a:lnTo>
                  <a:pt x="0" y="4939555"/>
                </a:lnTo>
                <a:lnTo>
                  <a:pt x="0" y="0"/>
                </a:lnTo>
                <a:close/>
              </a:path>
            </a:pathLst>
          </a:custGeom>
          <a:blipFill>
            <a:blip r:embed="rId2"/>
            <a:stretch>
              <a:fillRect/>
            </a:stretch>
          </a:blipFill>
        </p:spPr>
      </p:sp>
      <p:sp>
        <p:nvSpPr>
          <p:cNvPr id="3" name="Freeform 3"/>
          <p:cNvSpPr/>
          <p:nvPr/>
        </p:nvSpPr>
        <p:spPr>
          <a:xfrm rot="-5017281">
            <a:off x="6200148" y="787734"/>
            <a:ext cx="1060123" cy="1004466"/>
          </a:xfrm>
          <a:custGeom>
            <a:avLst/>
            <a:gdLst/>
            <a:ahLst/>
            <a:cxnLst/>
            <a:rect l="l" t="t" r="r" b="b"/>
            <a:pathLst>
              <a:path w="1060123" h="1004466">
                <a:moveTo>
                  <a:pt x="0" y="0"/>
                </a:moveTo>
                <a:lnTo>
                  <a:pt x="1060123" y="0"/>
                </a:lnTo>
                <a:lnTo>
                  <a:pt x="1060123" y="1004466"/>
                </a:lnTo>
                <a:lnTo>
                  <a:pt x="0" y="1004466"/>
                </a:lnTo>
                <a:lnTo>
                  <a:pt x="0" y="0"/>
                </a:lnTo>
                <a:close/>
              </a:path>
            </a:pathLst>
          </a:custGeom>
          <a:blipFill>
            <a:blip r:embed="rId3"/>
            <a:stretch>
              <a:fillRect/>
            </a:stretch>
          </a:blipFill>
        </p:spPr>
      </p:sp>
      <p:sp>
        <p:nvSpPr>
          <p:cNvPr id="4" name="Freeform 4"/>
          <p:cNvSpPr/>
          <p:nvPr/>
        </p:nvSpPr>
        <p:spPr>
          <a:xfrm rot="-10567437">
            <a:off x="8175470" y="5527229"/>
            <a:ext cx="2209570" cy="2112901"/>
          </a:xfrm>
          <a:custGeom>
            <a:avLst/>
            <a:gdLst/>
            <a:ahLst/>
            <a:cxnLst/>
            <a:rect l="l" t="t" r="r" b="b"/>
            <a:pathLst>
              <a:path w="2209570" h="2112901">
                <a:moveTo>
                  <a:pt x="0" y="0"/>
                </a:moveTo>
                <a:lnTo>
                  <a:pt x="2209570" y="0"/>
                </a:lnTo>
                <a:lnTo>
                  <a:pt x="2209570" y="2112902"/>
                </a:lnTo>
                <a:lnTo>
                  <a:pt x="0" y="2112902"/>
                </a:lnTo>
                <a:lnTo>
                  <a:pt x="0" y="0"/>
                </a:lnTo>
                <a:close/>
              </a:path>
            </a:pathLst>
          </a:custGeom>
          <a:blipFill>
            <a:blip r:embed="rId4"/>
            <a:stretch>
              <a:fillRect/>
            </a:stretch>
          </a:blipFill>
        </p:spPr>
      </p:sp>
      <p:sp>
        <p:nvSpPr>
          <p:cNvPr id="6" name="TextBox 6"/>
          <p:cNvSpPr txBox="1"/>
          <p:nvPr/>
        </p:nvSpPr>
        <p:spPr>
          <a:xfrm>
            <a:off x="633405" y="1981200"/>
            <a:ext cx="6300796" cy="5003934"/>
          </a:xfrm>
          <a:prstGeom prst="rect">
            <a:avLst/>
          </a:prstGeom>
        </p:spPr>
        <p:txBody>
          <a:bodyPr wrap="square" lIns="0" tIns="0" rIns="0" bIns="0" rtlCol="0" anchor="t">
            <a:spAutoFit/>
          </a:bodyPr>
          <a:lstStyle/>
          <a:p>
            <a:pPr algn="just">
              <a:lnSpc>
                <a:spcPts val="5900"/>
              </a:lnSpc>
            </a:pPr>
            <a:r>
              <a:rPr lang="en-US" sz="3600" b="1" dirty="0">
                <a:solidFill>
                  <a:schemeClr val="bg1"/>
                </a:solidFill>
                <a:latin typeface="Calibri" panose="020F0502020204030204" charset="0"/>
                <a:ea typeface="HK Grotesk Bold" panose="00000800000000000000"/>
                <a:cs typeface="Calibri" panose="020F0502020204030204" charset="0"/>
                <a:sym typeface="HK Grotesk Bold" panose="00000800000000000000"/>
              </a:rPr>
              <a:t>Summary of Lecture </a:t>
            </a:r>
          </a:p>
          <a:p>
            <a:pPr algn="just"/>
            <a:r>
              <a:rPr lang="en-US" sz="2800" dirty="0">
                <a:solidFill>
                  <a:schemeClr val="bg1"/>
                </a:solidFill>
              </a:rPr>
              <a:t>Augmented Reality enhances the real world by adding digital elements and is widely used in education, healthcare, and collaboration, but it also has risks like distraction and privacy issues. Artificial Intelligence enables machines to perform intelligent tasks and is widely used in industries such as healthcare, banking, and transportation.</a:t>
            </a:r>
          </a:p>
          <a:p>
            <a:pPr algn="just"/>
            <a:endParaRPr lang="en-US" sz="24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767</Words>
  <Application>Microsoft Office PowerPoint</Application>
  <PresentationFormat>Custom</PresentationFormat>
  <Paragraphs>111</Paragraphs>
  <Slides>15</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Halant Medium</vt:lpstr>
      <vt:lpstr>Wingdings</vt:lpstr>
      <vt:lpstr>Halant Bold</vt:lpstr>
      <vt:lpstr>Arial Black</vt:lpstr>
      <vt:lpstr>Arial</vt:lpstr>
      <vt:lpstr>Calibri</vt:lpstr>
      <vt:lpstr>HK Grotesk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Lecture 1</dc:title>
  <dc:creator/>
  <cp:lastModifiedBy>Admin</cp:lastModifiedBy>
  <cp:revision>57</cp:revision>
  <dcterms:created xsi:type="dcterms:W3CDTF">2006-08-16T00:00:00Z</dcterms:created>
  <dcterms:modified xsi:type="dcterms:W3CDTF">2026-04-05T14:01:49Z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0619587701084622B2FE28AD10B5130E_13</vt:lpwstr>
  </property>
  <property fmtid="{D5CDD505-2E9C-101B-9397-08002B2CF9AE}" pid="3" name="KSOProductBuildVer">
    <vt:lpwstr>1033-12.1.0.25242</vt:lpwstr>
  </property>
</Properties>
</file>