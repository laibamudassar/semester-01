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322" r:id="rId8"/>
    <p:sldId id="323" r:id="rId9"/>
    <p:sldId id="264" r:id="rId10"/>
    <p:sldId id="324" r:id="rId11"/>
    <p:sldId id="325" r:id="rId12"/>
    <p:sldId id="345" r:id="rId13"/>
    <p:sldId id="326" r:id="rId14"/>
    <p:sldId id="327" r:id="rId15"/>
    <p:sldId id="328" r:id="rId16"/>
    <p:sldId id="346" r:id="rId17"/>
    <p:sldId id="329" r:id="rId18"/>
    <p:sldId id="330" r:id="rId19"/>
    <p:sldId id="331" r:id="rId20"/>
    <p:sldId id="347" r:id="rId21"/>
    <p:sldId id="332" r:id="rId22"/>
    <p:sldId id="333" r:id="rId23"/>
    <p:sldId id="348" r:id="rId24"/>
    <p:sldId id="334" r:id="rId25"/>
    <p:sldId id="335" r:id="rId26"/>
    <p:sldId id="336" r:id="rId27"/>
    <p:sldId id="338" r:id="rId28"/>
    <p:sldId id="339" r:id="rId29"/>
    <p:sldId id="340" r:id="rId30"/>
    <p:sldId id="342" r:id="rId31"/>
    <p:sldId id="343" r:id="rId32"/>
    <p:sldId id="350" r:id="rId33"/>
    <p:sldId id="275" r:id="rId34"/>
  </p:sldIdLst>
  <p:sldSz cx="9753600" cy="7315200"/>
  <p:notesSz cx="6858000" cy="9144000"/>
  <p:embeddedFontLst>
    <p:embeddedFont>
      <p:font typeface="Halant Medium" panose="00000600000000000000"/>
      <p:regular r:id="rId38"/>
    </p:embeddedFont>
    <p:embeddedFont>
      <p:font typeface="Halant Bold" panose="00000800000000000000"/>
      <p:bold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  <p:embeddedFont>
      <p:font typeface="Assistant" panose="00000500000000000000"/>
      <p:regular r:id="rId44"/>
    </p:embeddedFont>
    <p:embeddedFont>
      <p:font typeface="Assistant Bold" panose="00000800000000000000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65" d="100"/>
          <a:sy n="65" d="100"/>
        </p:scale>
        <p:origin x="1410" y="72"/>
      </p:cViewPr>
      <p:guideLst>
        <p:guide orient="horz" pos="2304"/>
        <p:guide pos="29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font" Target="fonts/font8.fntdata"/><Relationship Id="rId44" Type="http://schemas.openxmlformats.org/officeDocument/2006/relationships/font" Target="fonts/font7.fntdata"/><Relationship Id="rId43" Type="http://schemas.openxmlformats.org/officeDocument/2006/relationships/font" Target="fonts/font6.fntdata"/><Relationship Id="rId42" Type="http://schemas.openxmlformats.org/officeDocument/2006/relationships/font" Target="fonts/font5.fntdata"/><Relationship Id="rId41" Type="http://schemas.openxmlformats.org/officeDocument/2006/relationships/font" Target="fonts/font4.fntdata"/><Relationship Id="rId40" Type="http://schemas.openxmlformats.org/officeDocument/2006/relationships/font" Target="fonts/font3.fntdata"/><Relationship Id="rId4" Type="http://schemas.openxmlformats.org/officeDocument/2006/relationships/slide" Target="slides/slide2.xml"/><Relationship Id="rId39" Type="http://schemas.openxmlformats.org/officeDocument/2006/relationships/font" Target="fonts/font2.fntdata"/><Relationship Id="rId38" Type="http://schemas.openxmlformats.org/officeDocument/2006/relationships/font" Target="fonts/font1.fntdata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0D1A6-AFC0-4378-A879-2476879748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7AA2C-B60B-4B49-A158-C68B6DC0318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505" y="1981362"/>
            <a:ext cx="6200241" cy="3225074"/>
            <a:chOff x="0" y="-160655"/>
            <a:chExt cx="8266987" cy="4300099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8259"/>
              <a:ext cx="3020201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731F7D"/>
                  </a:solidFill>
                  <a:latin typeface="Halant Medium" panose="00000600000000000000"/>
                  <a:ea typeface="Halant Medium" panose="00000600000000000000"/>
                  <a:cs typeface="Halant Medium" panose="00000600000000000000"/>
                  <a:sym typeface="Halant Medium" panose="00000600000000000000"/>
                </a:rPr>
                <a:t> </a:t>
              </a:r>
              <a:r>
                <a:rPr lang="en-US" sz="2700" b="1">
                  <a:solidFill>
                    <a:srgbClr val="731F7D"/>
                  </a:solidFill>
                  <a:latin typeface="Halant Bold" panose="00000800000000000000"/>
                  <a:ea typeface="Halant Bold" panose="00000800000000000000"/>
                  <a:cs typeface="Halant Bold" panose="00000800000000000000"/>
                  <a:sym typeface="Halant Bold" panose="00000800000000000000"/>
                </a:rPr>
                <a:t>  (CSC101)</a:t>
              </a:r>
              <a:endParaRPr lang="en-US" sz="2700" b="1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3005" y="-160655"/>
              <a:ext cx="8083982" cy="3631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80"/>
                </a:lnSpc>
              </a:pPr>
              <a:r>
                <a:rPr lang="en-US" sz="6000" b="1">
                  <a:solidFill>
                    <a:srgbClr val="000000"/>
                  </a:solidFill>
                  <a:latin typeface="+mj-lt"/>
                  <a:ea typeface="HK Grotesk Bold" panose="00000800000000000000"/>
                  <a:cs typeface="+mj-lt"/>
                  <a:sym typeface="HK Grotesk Bold" panose="00000800000000000000"/>
                </a:rPr>
                <a:t>Information Communication Technology </a:t>
              </a:r>
              <a:endParaRPr lang="en-US" sz="6000" b="1">
                <a:solidFill>
                  <a:srgbClr val="000000"/>
                </a:solidFill>
                <a:latin typeface="+mj-lt"/>
                <a:ea typeface="HK Grotesk Bold" panose="00000800000000000000"/>
                <a:cs typeface="+mj-lt"/>
                <a:sym typeface="HK Grotesk Bold" panose="0000080000000000000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-5550229">
            <a:off x="4207487" y="-1075063"/>
            <a:ext cx="5867962" cy="5088881"/>
          </a:xfrm>
          <a:custGeom>
            <a:avLst/>
            <a:gdLst/>
            <a:ahLst/>
            <a:cxnLst/>
            <a:rect l="l" t="t" r="r" b="b"/>
            <a:pathLst>
              <a:path w="5867962" h="5222486">
                <a:moveTo>
                  <a:pt x="0" y="0"/>
                </a:moveTo>
                <a:lnTo>
                  <a:pt x="5867963" y="0"/>
                </a:lnTo>
                <a:lnTo>
                  <a:pt x="5867963" y="5222487"/>
                </a:lnTo>
                <a:lnTo>
                  <a:pt x="0" y="522248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017281">
            <a:off x="3529970" y="912669"/>
            <a:ext cx="1170984" cy="1109507"/>
          </a:xfrm>
          <a:custGeom>
            <a:avLst/>
            <a:gdLst/>
            <a:ahLst/>
            <a:cxnLst/>
            <a:rect l="l" t="t" r="r" b="b"/>
            <a:pathLst>
              <a:path w="1170984" h="1109507">
                <a:moveTo>
                  <a:pt x="0" y="0"/>
                </a:moveTo>
                <a:lnTo>
                  <a:pt x="1170984" y="0"/>
                </a:lnTo>
                <a:lnTo>
                  <a:pt x="1170984" y="1109508"/>
                </a:lnTo>
                <a:lnTo>
                  <a:pt x="0" y="110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567437">
            <a:off x="8110392" y="5055177"/>
            <a:ext cx="2588757" cy="2475499"/>
          </a:xfrm>
          <a:custGeom>
            <a:avLst/>
            <a:gdLst/>
            <a:ahLst/>
            <a:cxnLst/>
            <a:rect l="l" t="t" r="r" b="b"/>
            <a:pathLst>
              <a:path w="2588757" h="2475499">
                <a:moveTo>
                  <a:pt x="0" y="0"/>
                </a:moveTo>
                <a:lnTo>
                  <a:pt x="2588756" y="0"/>
                </a:lnTo>
                <a:lnTo>
                  <a:pt x="2588756" y="2475498"/>
                </a:lnTo>
                <a:lnTo>
                  <a:pt x="0" y="2475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7602" y="5313139"/>
            <a:ext cx="7099307" cy="145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Lecture 4</a:t>
            </a:r>
            <a:endParaRPr lang="en-US" sz="2700" b="1">
              <a:solidFill>
                <a:srgbClr val="731F7D"/>
              </a:solidFill>
              <a:latin typeface="Halant Bold" panose="00000800000000000000"/>
              <a:ea typeface="Halant Bold" panose="00000800000000000000"/>
              <a:cs typeface="Halant Bold" panose="00000800000000000000"/>
              <a:sym typeface="Halant Bold" panose="00000800000000000000"/>
            </a:endParaRPr>
          </a:p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Instructor: Mariam Fiaz</a:t>
            </a:r>
            <a:endParaRPr lang="en-US" sz="2700" b="1">
              <a:solidFill>
                <a:srgbClr val="731F7D"/>
              </a:solidFill>
              <a:latin typeface="Halant Bold" panose="00000800000000000000"/>
              <a:ea typeface="Halant Bold" panose="00000800000000000000"/>
              <a:cs typeface="Halant Bold" panose="00000800000000000000"/>
              <a:sym typeface="Halant Bold" panose="00000800000000000000"/>
            </a:endParaR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email: mariamsherwani434@gmail.com</a:t>
            </a:r>
            <a:endParaRPr lang="en-US" sz="2700" b="1">
              <a:solidFill>
                <a:srgbClr val="731F7D"/>
              </a:solidFill>
              <a:latin typeface="Halant Bold" panose="00000800000000000000"/>
              <a:ea typeface="Halant Bold" panose="00000800000000000000"/>
              <a:cs typeface="Halant Bold" panose="00000800000000000000"/>
              <a:sym typeface="Halant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98132">
            <a:off x="7524355" y="4826078"/>
            <a:ext cx="3828488" cy="4232275"/>
          </a:xfrm>
          <a:custGeom>
            <a:avLst/>
            <a:gdLst/>
            <a:ahLst/>
            <a:cxnLst/>
            <a:rect l="l" t="t" r="r" b="b"/>
            <a:pathLst>
              <a:path w="3828488" h="4232275">
                <a:moveTo>
                  <a:pt x="0" y="0"/>
                </a:moveTo>
                <a:lnTo>
                  <a:pt x="3828488" y="0"/>
                </a:lnTo>
                <a:lnTo>
                  <a:pt x="3828488" y="4232275"/>
                </a:lnTo>
                <a:lnTo>
                  <a:pt x="0" y="423227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381" b="-1174"/>
            </a:stretch>
          </a:blipFill>
        </p:spPr>
      </p:sp>
      <p:sp>
        <p:nvSpPr>
          <p:cNvPr id="3" name="Freeform 3"/>
          <p:cNvSpPr/>
          <p:nvPr/>
        </p:nvSpPr>
        <p:spPr>
          <a:xfrm rot="-2715964">
            <a:off x="5760526" y="5871583"/>
            <a:ext cx="983734" cy="932088"/>
          </a:xfrm>
          <a:custGeom>
            <a:avLst/>
            <a:gdLst/>
            <a:ahLst/>
            <a:cxnLst/>
            <a:rect l="l" t="t" r="r" b="b"/>
            <a:pathLst>
              <a:path w="983734" h="932088">
                <a:moveTo>
                  <a:pt x="0" y="0"/>
                </a:moveTo>
                <a:lnTo>
                  <a:pt x="983734" y="0"/>
                </a:lnTo>
                <a:lnTo>
                  <a:pt x="983734" y="932087"/>
                </a:lnTo>
                <a:lnTo>
                  <a:pt x="0" y="932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212463">
            <a:off x="5642474" y="-928349"/>
            <a:ext cx="2866520" cy="3318692"/>
          </a:xfrm>
          <a:custGeom>
            <a:avLst/>
            <a:gdLst/>
            <a:ahLst/>
            <a:cxnLst/>
            <a:rect l="l" t="t" r="r" b="b"/>
            <a:pathLst>
              <a:path w="2866520" h="3318692">
                <a:moveTo>
                  <a:pt x="0" y="0"/>
                </a:moveTo>
                <a:lnTo>
                  <a:pt x="2866520" y="0"/>
                </a:lnTo>
                <a:lnTo>
                  <a:pt x="2866520" y="3318693"/>
                </a:lnTo>
                <a:lnTo>
                  <a:pt x="0" y="3318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57436" y="1752430"/>
            <a:ext cx="9112904" cy="5401945"/>
            <a:chOff x="-40828" y="0"/>
            <a:chExt cx="12150538" cy="7202593"/>
          </a:xfrm>
        </p:grpSpPr>
        <p:sp>
          <p:nvSpPr>
            <p:cNvPr id="6" name="TextBox 6"/>
            <p:cNvSpPr txBox="1"/>
            <p:nvPr/>
          </p:nvSpPr>
          <p:spPr>
            <a:xfrm>
              <a:off x="-40828" y="503147"/>
              <a:ext cx="8342712" cy="12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75"/>
                </a:lnSpc>
              </a:pPr>
              <a:r>
                <a:rPr lang="en-US" sz="6250" b="1" dirty="0">
                  <a:solidFill>
                    <a:srgbClr val="FFFFFF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Reference Books:</a:t>
              </a:r>
              <a:endParaRPr lang="en-US" sz="6250" b="1" dirty="0">
                <a:solidFill>
                  <a:srgbClr val="FFFFFF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42219" y="0"/>
              <a:ext cx="1567491" cy="1138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35"/>
                </a:lnSpc>
                <a:spcBef>
                  <a:spcPct val="0"/>
                </a:spcBef>
              </a:p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21" y="2032000"/>
              <a:ext cx="10667154" cy="51705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 spc="-24" dirty="0">
                  <a:solidFill>
                    <a:srgbClr val="FFFFFF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1. Computer Science Illuminated – Nell Dale &amp; John Lewis,     Jones &amp; Bartlett Learning, LLC, 2020</a:t>
              </a:r>
              <a:r>
                <a:rPr lang="en-US" sz="2400" b="1" spc="-24" dirty="0">
                  <a:solidFill>
                    <a:srgbClr val="FFFFFF"/>
                  </a:solidFill>
                  <a:latin typeface="Calibri" panose="020F0502020204030204" charset="0"/>
                  <a:ea typeface="Assistant Bold" panose="00000800000000000000"/>
                  <a:cs typeface="Calibri" panose="020F0502020204030204" charset="0"/>
                  <a:sym typeface="Assistant Bold" panose="00000800000000000000"/>
                </a:rPr>
                <a:t> (Read Chapter 10)</a:t>
              </a: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marL="0" lvl="1" algn="just">
                <a:lnSpc>
                  <a:spcPts val="3360"/>
                </a:lnSpc>
              </a:pPr>
              <a:r>
                <a:rPr lang="en-US" sz="2400" spc="-24" dirty="0">
                  <a:solidFill>
                    <a:srgbClr val="FFFFFF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2. Understanding Computers: Today and Tomorrow, Comprehensive – Deborah Morley &amp; Charles S. Parker, Cengage Learning, 2017</a:t>
              </a:r>
              <a:r>
                <a:rPr lang="en-US" sz="2400" b="1" spc="-24" dirty="0">
                  <a:solidFill>
                    <a:srgbClr val="FFFFFF"/>
                  </a:solidFill>
                  <a:latin typeface="Calibri" panose="020F0502020204030204" charset="0"/>
                  <a:ea typeface="Assistant Bold" panose="00000800000000000000"/>
                  <a:cs typeface="Calibri" panose="020F0502020204030204" charset="0"/>
                  <a:sym typeface="Assistant Bold" panose="00000800000000000000"/>
                </a:rPr>
                <a:t> (Read Chapters 5, 6, 14)</a:t>
              </a: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marL="259080" lvl="1" indent="0" algn="just">
                <a:lnSpc>
                  <a:spcPts val="3360"/>
                </a:lnSpc>
                <a:buNone/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1584" y="457507"/>
            <a:ext cx="7502435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1">
                <a:solidFill>
                  <a:srgbClr val="000000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rPr>
              <a:t>Contents</a:t>
            </a:r>
            <a:r>
              <a:rPr lang="en-US" sz="5000" b="1">
                <a:solidFill>
                  <a:srgbClr val="000000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rPr>
              <a:t>:</a:t>
            </a:r>
            <a:endParaRPr lang="en-US" sz="5000" b="1">
              <a:solidFill>
                <a:srgbClr val="000000"/>
              </a:solidFill>
              <a:latin typeface="HK Grotesk Bold" panose="00000800000000000000"/>
              <a:ea typeface="HK Grotesk Bold" panose="00000800000000000000"/>
              <a:cs typeface="HK Grotesk Bold" panose="00000800000000000000"/>
              <a:sym typeface="HK Grotesk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rot="-10141306">
            <a:off x="-2034775" y="4670550"/>
            <a:ext cx="4069550" cy="3891507"/>
          </a:xfrm>
          <a:custGeom>
            <a:avLst/>
            <a:gdLst/>
            <a:ahLst/>
            <a:cxnLst/>
            <a:rect l="l" t="t" r="r" b="b"/>
            <a:pathLst>
              <a:path w="4069550" h="3891507">
                <a:moveTo>
                  <a:pt x="0" y="0"/>
                </a:moveTo>
                <a:lnTo>
                  <a:pt x="4069550" y="0"/>
                </a:lnTo>
                <a:lnTo>
                  <a:pt x="4069550" y="3891507"/>
                </a:lnTo>
                <a:lnTo>
                  <a:pt x="0" y="389150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85462" y="1213408"/>
            <a:ext cx="7658557" cy="6544544"/>
            <a:chOff x="0" y="-958215"/>
            <a:chExt cx="10211409" cy="8726058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8215"/>
              <a:ext cx="9909386" cy="716872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Text Codes (ASCII, BCD, Unicode)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Computer Software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Operating System (Purpose, Types, Functions)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Utility Programs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Database Concepts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Data Hierarchy &amp; Relationships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DBMS (Advantages &amp; Disadvantages)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Data Integrity, Security &amp; Privacy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732790" lvl="1" indent="-4572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rgbClr val="000000"/>
                  </a:solidFill>
                  <a:uFillTx/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Centralized vs Distributed Databases</a:t>
              </a:r>
              <a:endParaRPr lang="en-US" altLang="en-US" sz="2200" dirty="0">
                <a:solidFill>
                  <a:srgbClr val="000000"/>
                </a:solidFill>
                <a:uFillTx/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434048"/>
              <a:ext cx="10211409" cy="333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  <a:spcBef>
                  <a:spcPct val="0"/>
                </a:spcBef>
              </a:pPr>
            </a:p>
          </p:txBody>
        </p:sp>
      </p:grpSp>
      <p:sp>
        <p:nvSpPr>
          <p:cNvPr id="7" name="Freeform 7"/>
          <p:cNvSpPr/>
          <p:nvPr/>
        </p:nvSpPr>
        <p:spPr>
          <a:xfrm rot="9440951">
            <a:off x="-716899" y="223696"/>
            <a:ext cx="1433798" cy="1358524"/>
          </a:xfrm>
          <a:custGeom>
            <a:avLst/>
            <a:gdLst/>
            <a:ahLst/>
            <a:cxnLst/>
            <a:rect l="l" t="t" r="r" b="b"/>
            <a:pathLst>
              <a:path w="1433798" h="1358524">
                <a:moveTo>
                  <a:pt x="0" y="0"/>
                </a:moveTo>
                <a:lnTo>
                  <a:pt x="1433798" y="0"/>
                </a:lnTo>
                <a:lnTo>
                  <a:pt x="1433798" y="1358523"/>
                </a:lnTo>
                <a:lnTo>
                  <a:pt x="0" y="135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00510">
            <a:off x="3682567" y="-4044657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09811" y="533538"/>
            <a:ext cx="8633276" cy="5838825"/>
            <a:chOff x="157480" y="-267335"/>
            <a:chExt cx="11511034" cy="7785097"/>
          </a:xfrm>
        </p:grpSpPr>
        <p:sp>
          <p:nvSpPr>
            <p:cNvPr id="6" name="TextBox 6"/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Text Codes:</a:t>
              </a:r>
              <a:endParaRPr lang="en-US" sz="4800" b="1">
                <a:solidFill>
                  <a:srgbClr val="731F7D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7480" y="746971"/>
              <a:ext cx="11204787" cy="67707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en-US" sz="22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ASCII, BCD, and Unicode are character encoding systems that allow computers to represent text, numbers, and symbols in binary form.</a:t>
              </a:r>
              <a:endParaRPr lang="en-US" altLang="en-US" sz="22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en-US" sz="2200" b="1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ASCII:</a:t>
              </a:r>
              <a:endParaRPr lang="en-US" altLang="en-US" sz="2200" b="1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457200" lvl="0" indent="-457200" algn="just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7-bit code (128 characters)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457200" lvl="0" indent="-457200" algn="just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Represents letters, digits, and symbols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457200" lvl="0" indent="-457200" algn="just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Example: A = 65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en-US" sz="2200" b="1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BCD (Binary Coded Decimal):</a:t>
              </a:r>
              <a:endParaRPr lang="en-US" altLang="en-US" sz="2200" b="1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Each decimal digit stored using 4 binary bits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Used in calculators and digital displays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Example: 59 → 0101 1001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00510">
            <a:off x="3682567" y="-4044657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60281" y="1065668"/>
            <a:ext cx="8633276" cy="4653915"/>
            <a:chOff x="157480" y="-267335"/>
            <a:chExt cx="11511034" cy="6205218"/>
          </a:xfrm>
        </p:grpSpPr>
        <p:sp>
          <p:nvSpPr>
            <p:cNvPr id="6" name="TextBox 6"/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5400" b="1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Text Codes:</a:t>
              </a:r>
              <a:endParaRPr lang="en-US" sz="5400" b="1">
                <a:solidFill>
                  <a:srgbClr val="731F7D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7480" y="746971"/>
              <a:ext cx="11204787" cy="51909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dirty="0">
                  <a:solidFill>
                    <a:schemeClr val="tx1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  </a:t>
              </a:r>
              <a:r>
                <a:rPr lang="en-US" altLang="en-US" sz="2200" b="1" dirty="0"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Unicode:</a:t>
              </a:r>
              <a:endParaRPr lang="en-US" altLang="en-US" sz="2200" b="1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Universal encoding system for all languages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Supports thousands of characters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Used in modern software and the internet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Extends ASCII </a:t>
              </a:r>
              <a:endParaRPr lang="en-US" altLang="en-US" sz="2200" dirty="0"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dirty="0"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K Grotesk" panose="00000500000000000000"/>
                </a:rPr>
                <a:t>Example: English, Arabic, Chinese characters supported</a:t>
              </a:r>
              <a:endParaRPr lang="en-US" altLang="en-US" sz="2200" dirty="0">
                <a:solidFill>
                  <a:schemeClr val="tx1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K Grotesk" panose="00000500000000000000"/>
              </a:endParaRPr>
            </a:p>
            <a:p>
              <a:pPr algn="just">
                <a:lnSpc>
                  <a:spcPct val="150000"/>
                </a:lnSpc>
              </a:pPr>
              <a:endParaRPr lang="en-US" altLang="en-US" sz="22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0" lvl="0" indent="0" algn="just">
                <a:lnSpc>
                  <a:spcPct val="100000"/>
                </a:lnSpc>
                <a:spcBef>
                  <a:spcPct val="0"/>
                </a:spcBef>
              </a:pPr>
              <a:endParaRPr lang="en-US" altLang="en-US" sz="22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2715964">
            <a:off x="8289032" y="-100745"/>
            <a:ext cx="1528874" cy="1448608"/>
          </a:xfrm>
          <a:custGeom>
            <a:avLst/>
            <a:gdLst/>
            <a:ahLst/>
            <a:cxnLst/>
            <a:rect l="l" t="t" r="r" b="b"/>
            <a:pathLst>
              <a:path w="1528874" h="1448608">
                <a:moveTo>
                  <a:pt x="0" y="0"/>
                </a:moveTo>
                <a:lnTo>
                  <a:pt x="1528874" y="0"/>
                </a:lnTo>
                <a:lnTo>
                  <a:pt x="1528874" y="1448609"/>
                </a:lnTo>
                <a:lnTo>
                  <a:pt x="0" y="144860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57411" y="381138"/>
            <a:ext cx="8633276" cy="3510914"/>
            <a:chOff x="157480" y="-267335"/>
            <a:chExt cx="11511034" cy="4681218"/>
          </a:xfrm>
        </p:grpSpPr>
        <p:sp>
          <p:nvSpPr>
            <p:cNvPr id="6" name="TextBox 6"/>
            <p:cNvSpPr txBox="1"/>
            <p:nvPr/>
          </p:nvSpPr>
          <p:spPr>
            <a:xfrm>
              <a:off x="157480" y="-267335"/>
              <a:ext cx="11511034" cy="171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altLang="en-US" sz="5000" b="1">
                  <a:solidFill>
                    <a:srgbClr val="000000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Computer Software:</a:t>
              </a:r>
              <a:endParaRPr lang="en-US" sz="5000" b="1">
                <a:solidFill>
                  <a:srgbClr val="000000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  <a:p>
              <a:pPr algn="l">
                <a:lnSpc>
                  <a:spcPts val="4130"/>
                </a:lnSpc>
              </a:pPr>
              <a:r>
                <a:rPr lang="en-US" sz="3500" b="1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Basic Defination</a:t>
              </a:r>
              <a:endParaRPr lang="en-US" sz="3500" b="1">
                <a:solidFill>
                  <a:srgbClr val="731F7D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7480" y="1459864"/>
              <a:ext cx="11204787" cy="2954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Software is the set of instructions which tells the computer what to do. There are two types of Computer.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457200" lvl="0" indent="-457200" algn="just">
                <a:lnSpc>
                  <a:spcPct val="150000"/>
                </a:lnSpc>
                <a:spcBef>
                  <a:spcPct val="0"/>
                </a:spcBef>
                <a:buAutoNum type="arabicPeriod"/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System Software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457200" lvl="0" indent="-457200" algn="just">
                <a:lnSpc>
                  <a:spcPct val="150000"/>
                </a:lnSpc>
                <a:spcBef>
                  <a:spcPct val="0"/>
                </a:spcBef>
                <a:buAutoNum type="arabicPeriod"/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Application Software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</p:txBody>
        </p:sp>
      </p:grpSp>
      <p:pic>
        <p:nvPicPr>
          <p:cNvPr id="9" name="Picture 8" descr="ChatGPT Image Feb 19, 2026, 11_46_21 AM"/>
          <p:cNvPicPr>
            <a:picLocks noChangeAspect="1"/>
          </p:cNvPicPr>
          <p:nvPr/>
        </p:nvPicPr>
        <p:blipFill>
          <a:blip r:embed="rId2"/>
          <a:srcRect l="11719" t="3125" r="11719" b="8984"/>
          <a:stretch>
            <a:fillRect/>
          </a:stretch>
        </p:blipFill>
        <p:spPr>
          <a:xfrm>
            <a:off x="4419600" y="2971800"/>
            <a:ext cx="4823460" cy="3964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31520" y="701199"/>
            <a:ext cx="8290560" cy="5913427"/>
            <a:chOff x="0" y="-28575"/>
            <a:chExt cx="11054080" cy="7884569"/>
          </a:xfrm>
        </p:grpSpPr>
        <p:sp>
          <p:nvSpPr>
            <p:cNvPr id="4" name="TextBox 4"/>
            <p:cNvSpPr txBox="1"/>
            <p:nvPr/>
          </p:nvSpPr>
          <p:spPr>
            <a:xfrm>
              <a:off x="0" y="-28575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731F7D"/>
                  </a:solidFill>
                  <a:latin typeface="Halant Bold" panose="00000800000000000000"/>
                  <a:ea typeface="Halant Bold" panose="00000800000000000000"/>
                  <a:cs typeface="Halant Bold" panose="00000800000000000000"/>
                  <a:sym typeface="Halant Bold" panose="00000800000000000000"/>
                </a:rPr>
                <a:t> 1. System Software</a:t>
              </a:r>
              <a:endParaRPr lang="en-US" sz="3000" b="1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77014"/>
              <a:ext cx="11054080" cy="7078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3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Controls and manages computer hardware and provides a platform for application software.</a:t>
              </a:r>
              <a:endParaRPr lang="en-US" altLang="en-US" sz="23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300" b="1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Examples:</a:t>
              </a:r>
              <a:endParaRPr lang="en-US" altLang="en-US" sz="2300" b="1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3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Operating systems</a:t>
              </a:r>
              <a:endParaRPr lang="en-US" altLang="en-US" sz="23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3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Utility programs</a:t>
              </a:r>
              <a:endParaRPr lang="en-US" altLang="en-US" sz="23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3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Device drivers</a:t>
              </a:r>
              <a:endParaRPr lang="en-US" altLang="en-US" sz="23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300" b="1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Key Purpose:</a:t>
              </a:r>
              <a:endParaRPr lang="en-US" altLang="en-US" sz="2300" b="1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3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Run the computer</a:t>
              </a:r>
              <a:endParaRPr lang="en-US" altLang="en-US" sz="23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3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Manage hardware</a:t>
              </a:r>
              <a:endParaRPr lang="en-US" altLang="en-US" sz="23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3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Provide environment for applications</a:t>
              </a:r>
              <a:endParaRPr lang="en-US" altLang="en-US" sz="23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31520" y="913289"/>
            <a:ext cx="8290560" cy="3927782"/>
            <a:chOff x="0" y="-28575"/>
            <a:chExt cx="11054080" cy="52370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28575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731F7D"/>
                  </a:solidFill>
                  <a:latin typeface="Halant Bold" panose="00000800000000000000"/>
                  <a:ea typeface="Halant Bold" panose="00000800000000000000"/>
                  <a:cs typeface="Halant Bold" panose="00000800000000000000"/>
                  <a:sym typeface="Halant Bold" panose="00000800000000000000"/>
                </a:rPr>
                <a:t> 2. Application Software</a:t>
              </a:r>
              <a:endParaRPr lang="en-US" sz="3000" b="1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77014"/>
              <a:ext cx="11054080" cy="44314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Programs designed to help users perform specific tasks.</a:t>
              </a:r>
              <a:endParaRPr lang="en-US" altLang="en-US" sz="24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b="1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Examples:</a:t>
              </a:r>
              <a:endParaRPr lang="en-US" altLang="en-US" sz="2400" b="1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Word processors</a:t>
              </a:r>
              <a:endParaRPr lang="en-US" altLang="en-US" sz="24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Spreadsheets</a:t>
              </a:r>
              <a:endParaRPr lang="en-US" altLang="en-US" sz="24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Web browsers</a:t>
              </a:r>
              <a:endParaRPr lang="en-US" altLang="en-US" sz="24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rgbClr val="000000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Media players</a:t>
              </a:r>
              <a:endParaRPr lang="en-US" altLang="en-US" sz="2400" spc="-22">
                <a:solidFill>
                  <a:srgbClr val="000000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00510">
            <a:off x="1137487" y="-3399497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15964">
            <a:off x="7936607" y="328515"/>
            <a:ext cx="1528874" cy="1448608"/>
          </a:xfrm>
          <a:custGeom>
            <a:avLst/>
            <a:gdLst/>
            <a:ahLst/>
            <a:cxnLst/>
            <a:rect l="l" t="t" r="r" b="b"/>
            <a:pathLst>
              <a:path w="1528874" h="1448608">
                <a:moveTo>
                  <a:pt x="0" y="0"/>
                </a:moveTo>
                <a:lnTo>
                  <a:pt x="1528874" y="0"/>
                </a:lnTo>
                <a:lnTo>
                  <a:pt x="1528874" y="1448609"/>
                </a:lnTo>
                <a:lnTo>
                  <a:pt x="0" y="1448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95738">
            <a:off x="8327515" y="578795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33611" y="1828938"/>
            <a:ext cx="8691245" cy="4618990"/>
            <a:chOff x="80433" y="-267335"/>
            <a:chExt cx="11588326" cy="6158652"/>
          </a:xfrm>
        </p:grpSpPr>
        <p:sp>
          <p:nvSpPr>
            <p:cNvPr id="6" name="TextBox 6"/>
            <p:cNvSpPr txBox="1"/>
            <p:nvPr/>
          </p:nvSpPr>
          <p:spPr>
            <a:xfrm>
              <a:off x="80433" y="-267335"/>
              <a:ext cx="11588326" cy="17432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en-US" sz="5000" b="1">
                  <a:solidFill>
                    <a:srgbClr val="000000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Operating System:</a:t>
              </a:r>
              <a:endParaRPr lang="en-US" sz="5000" b="1">
                <a:solidFill>
                  <a:srgbClr val="000000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3500" b="1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Basic Purpose of Operating System</a:t>
              </a:r>
              <a:endParaRPr lang="en-US" sz="3500" b="1">
                <a:solidFill>
                  <a:srgbClr val="731F7D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7480" y="1459864"/>
              <a:ext cx="11204787" cy="44314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An operating system is the main program that: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342900" lvl="0" indent="-342900" algn="just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Controls hardware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342900" lvl="0" indent="-342900" algn="just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Runs applications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342900" lvl="0" indent="-342900" algn="just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Provides user interface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342900" lvl="0" indent="-342900" algn="just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Manages system resources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  <a:p>
              <a:pPr marL="0" lvl="0" indent="0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en-US" sz="2400" dirty="0">
                  <a:solidFill>
                    <a:srgbClr val="000000"/>
                  </a:solidFill>
                  <a:latin typeface="Calibri" panose="020F0502020204030204" charset="0"/>
                  <a:ea typeface="Halant Medium" panose="00000600000000000000"/>
                  <a:cs typeface="Calibri" panose="020F0502020204030204" charset="0"/>
                  <a:sym typeface="Halant Medium" panose="00000600000000000000"/>
                </a:rPr>
                <a:t>It acts as a bridge between user and hardware.</a:t>
              </a:r>
              <a:endParaRPr lang="en-US" altLang="en-US" sz="2400" dirty="0">
                <a:solidFill>
                  <a:srgbClr val="000000"/>
                </a:solidFill>
                <a:latin typeface="Calibri" panose="020F0502020204030204" charset="0"/>
                <a:ea typeface="Halant Medium" panose="00000600000000000000"/>
                <a:cs typeface="Calibri" panose="020F0502020204030204" charset="0"/>
                <a:sym typeface="Halant Medium" panose="0000060000000000000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Feb 19, 2026, 11_40_02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6400"/>
            <a:ext cx="97536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7200" y="533559"/>
            <a:ext cx="8442960" cy="6644005"/>
            <a:chOff x="-203200" y="-28575"/>
            <a:chExt cx="11257280" cy="8858673"/>
          </a:xfrm>
        </p:grpSpPr>
        <p:sp>
          <p:nvSpPr>
            <p:cNvPr id="4" name="TextBox 4"/>
            <p:cNvSpPr txBox="1"/>
            <p:nvPr/>
          </p:nvSpPr>
          <p:spPr>
            <a:xfrm>
              <a:off x="0" y="-28575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Types of Operating System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03200" y="637752"/>
              <a:ext cx="11054080" cy="819234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sz="30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1. PC Operating System</a:t>
              </a:r>
              <a:endParaRPr lang="en-US" sz="3000" b="1">
                <a:solidFill>
                  <a:srgbClr val="731F7D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PC stands for “Personal Computer”. Designed for single-user computers.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Examples: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Windows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macOS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Linux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Characteristics: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User-friendly interface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Multitasking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Supports peripherals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0" y="719614"/>
            <a:ext cx="8366760" cy="6644005"/>
            <a:chOff x="-101600" y="321098"/>
            <a:chExt cx="11155680" cy="8858673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Types of Operating System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819234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30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2. Networking Operating System</a:t>
              </a:r>
              <a:endParaRPr lang="en-US" sz="3000" b="1">
                <a:solidFill>
                  <a:srgbClr val="731F7D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Controls and manages network resources.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Functions: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User account management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File sharing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Printer sharing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Security control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7200" y="533559"/>
            <a:ext cx="8366760" cy="6343650"/>
            <a:chOff x="-101600" y="321098"/>
            <a:chExt cx="11155680" cy="8458200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Types of Operating System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779187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30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3. Embedded Operating System</a:t>
              </a:r>
              <a:endParaRPr lang="en-US" sz="3000" b="1">
                <a:solidFill>
                  <a:srgbClr val="731F7D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Built into devices to control specific functions.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Examples: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Smart TVs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Cars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ATMs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Washing machines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Characteristics: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Specialized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Limited resources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Real-time operation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ChatGPT Image Feb 19, 2026, 11_41_37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6400"/>
            <a:ext cx="97536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7200" y="533559"/>
            <a:ext cx="8366760" cy="6409055"/>
            <a:chOff x="-101600" y="321098"/>
            <a:chExt cx="11155680" cy="8545407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Operating System Functions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7879080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1. Providing User Interface</a:t>
              </a:r>
              <a:endParaRPr lang="en-US" altLang="en-US" sz="20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Ways users interact with the computer: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Graphical User Interface (GUI)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Command-line interface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Touch interface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2. Running Programs</a:t>
              </a:r>
              <a:endParaRPr lang="en-US" altLang="en-US" sz="28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The OS (Operating System):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Loads programs into memory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Executes instructions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Handles multitasking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Manages processes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0" y="685959"/>
            <a:ext cx="8366760" cy="5374005"/>
            <a:chOff x="-101600" y="321098"/>
            <a:chExt cx="11155680" cy="7165340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Operating System Functions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649901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3. Managing Hardware</a:t>
              </a:r>
              <a:endParaRPr lang="en-US" altLang="en-US" sz="20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OS (Operating System) controls: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CPU scheduling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Memory allocation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Input/output devices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Storage systems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0" y="600075"/>
            <a:ext cx="8552815" cy="6370320"/>
            <a:chOff x="-349673" y="226271"/>
            <a:chExt cx="11403753" cy="8953500"/>
          </a:xfrm>
        </p:grpSpPr>
        <p:sp>
          <p:nvSpPr>
            <p:cNvPr id="4" name="TextBox 4"/>
            <p:cNvSpPr txBox="1"/>
            <p:nvPr/>
          </p:nvSpPr>
          <p:spPr>
            <a:xfrm>
              <a:off x="-248920" y="226271"/>
              <a:ext cx="11303000" cy="76115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Utility Programs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49673" y="987425"/>
              <a:ext cx="11302153" cy="819234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Utility programs help maintain and optimize system performance.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Common utilities: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Antivirus software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Disk cleanup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File compression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Backup tools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System monitoring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Purpose: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Improve performance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Protect system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Maintain storage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Feb 19, 2026, 11_51_52 AM"/>
          <p:cNvPicPr>
            <a:picLocks noChangeAspect="1"/>
          </p:cNvPicPr>
          <p:nvPr/>
        </p:nvPicPr>
        <p:blipFill>
          <a:blip r:embed="rId1"/>
          <a:srcRect l="3125"/>
          <a:stretch>
            <a:fillRect/>
          </a:stretch>
        </p:blipFill>
        <p:spPr>
          <a:xfrm>
            <a:off x="152400" y="406400"/>
            <a:ext cx="9448800" cy="66846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0" y="457359"/>
            <a:ext cx="8366760" cy="6463665"/>
            <a:chOff x="-101600" y="321098"/>
            <a:chExt cx="11155680" cy="8618220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Database Concepts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795189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1. What is Database?</a:t>
              </a:r>
              <a:endParaRPr lang="en-US" altLang="en-US" sz="20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 database is an organized collection of related data stored for easy access and management.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2. Data Concepts and Characteristics</a:t>
              </a:r>
              <a:endParaRPr lang="en-US" altLang="en-US" sz="28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Data</a:t>
              </a: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 = raw facts about objects or events.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Information </a:t>
              </a: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= processed data with meaning.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200" b="1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Characteristics of good data:</a:t>
              </a:r>
              <a:endParaRPr lang="en-US" altLang="en-US" sz="2200" b="1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Accurate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Relevant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Timely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Complete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en-US" altLang="en-US" sz="2200" spc="-20">
                  <a:solidFill>
                    <a:schemeClr val="tx1"/>
                  </a:solidFill>
                  <a:uFillTx/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Organized</a:t>
              </a: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en-US" sz="2200" spc="-20">
                <a:solidFill>
                  <a:schemeClr val="tx1"/>
                </a:solidFill>
                <a:uFillTx/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7200" y="533559"/>
            <a:ext cx="8366760" cy="7181215"/>
            <a:chOff x="-101600" y="321098"/>
            <a:chExt cx="11155680" cy="9574953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Database Concepts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890862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3. Data Definition</a:t>
              </a:r>
              <a:endParaRPr lang="en-US" altLang="en-US" sz="20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Describes structure of data including: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Data type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Format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Relationships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Constraints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Feb 20, 2026, 02_13_19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6400"/>
            <a:ext cx="97536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09600" y="762159"/>
            <a:ext cx="8366760" cy="7181215"/>
            <a:chOff x="-101600" y="321098"/>
            <a:chExt cx="11155680" cy="9574953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Data Hierarchy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890862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Order from smallest to largest: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727075" lvl="1" indent="-457200" algn="just">
                <a:lnSpc>
                  <a:spcPct val="150000"/>
                </a:lnSpc>
                <a:buFont typeface="Arial" panose="020B0604020202020204" pitchFamily="34" charset="0"/>
                <a:buAutoNum type="arabicPeriod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Bit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727075" lvl="1" indent="-457200" algn="just">
                <a:lnSpc>
                  <a:spcPct val="150000"/>
                </a:lnSpc>
                <a:buFont typeface="Arial" panose="020B0604020202020204" pitchFamily="34" charset="0"/>
                <a:buAutoNum type="arabicPeriod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Byte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727075" lvl="1" indent="-457200" algn="just">
                <a:lnSpc>
                  <a:spcPct val="150000"/>
                </a:lnSpc>
                <a:buFont typeface="Arial" panose="020B0604020202020204" pitchFamily="34" charset="0"/>
                <a:buAutoNum type="arabicPeriod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Field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727075" lvl="1" indent="-457200" algn="just">
                <a:lnSpc>
                  <a:spcPct val="150000"/>
                </a:lnSpc>
                <a:buFont typeface="Arial" panose="020B0604020202020204" pitchFamily="34" charset="0"/>
                <a:buAutoNum type="arabicPeriod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Record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727075" lvl="1" indent="-457200" algn="just">
                <a:lnSpc>
                  <a:spcPct val="150000"/>
                </a:lnSpc>
                <a:buFont typeface="Arial" panose="020B0604020202020204" pitchFamily="34" charset="0"/>
                <a:buAutoNum type="arabicPeriod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File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727075" lvl="1" indent="-457200" algn="just">
                <a:lnSpc>
                  <a:spcPct val="150000"/>
                </a:lnSpc>
                <a:buFont typeface="Arial" panose="020B0604020202020204" pitchFamily="34" charset="0"/>
                <a:buAutoNum type="arabicPeriod"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Database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pic>
        <p:nvPicPr>
          <p:cNvPr id="2" name="Picture 1" descr="ChatGPT Image Feb 20, 2026, 02_17_57 AM"/>
          <p:cNvPicPr>
            <a:picLocks noChangeAspect="1"/>
          </p:cNvPicPr>
          <p:nvPr/>
        </p:nvPicPr>
        <p:blipFill>
          <a:blip r:embed="rId2"/>
          <a:srcRect l="14844" t="6641" r="7969" b="5469"/>
          <a:stretch>
            <a:fillRect/>
          </a:stretch>
        </p:blipFill>
        <p:spPr>
          <a:xfrm>
            <a:off x="4114800" y="2362200"/>
            <a:ext cx="5152390" cy="42106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57200" y="685800"/>
            <a:ext cx="8290560" cy="79222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269875" lvl="1" indent="0" algn="just">
              <a:lnSpc>
                <a:spcPct val="150000"/>
              </a:lnSpc>
              <a:buFont typeface="+mj-lt"/>
              <a:buNone/>
            </a:pPr>
            <a:r>
              <a:rPr lang="en-US" sz="3600" b="1">
                <a:solidFill>
                  <a:srgbClr val="731F7D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rPr>
              <a:t>Entities and Entity Reationship</a:t>
            </a:r>
            <a:endParaRPr lang="en-US" altLang="en-US" sz="36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Entity = object about which data is stored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Attribute = property of entity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Relationship = association between entities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269875" lvl="1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4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     Example:</a:t>
            </a:r>
            <a:endParaRPr lang="en-US" altLang="en-US" sz="2400" b="1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269875" lvl="1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     Student → Enrolls in → Course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</p:txBody>
      </p: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pic>
        <p:nvPicPr>
          <p:cNvPr id="2" name="Picture 1" descr="ChatGPT Image Feb 20, 2026, 02_20_52 AM"/>
          <p:cNvPicPr>
            <a:picLocks noChangeAspect="1"/>
          </p:cNvPicPr>
          <p:nvPr/>
        </p:nvPicPr>
        <p:blipFill>
          <a:blip r:embed="rId2"/>
          <a:srcRect l="4688" t="21875" r="3906" b="23047"/>
          <a:stretch>
            <a:fillRect/>
          </a:stretch>
        </p:blipFill>
        <p:spPr>
          <a:xfrm>
            <a:off x="1981200" y="4419600"/>
            <a:ext cx="5752465" cy="24441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81000" y="914400"/>
            <a:ext cx="8543290" cy="6121400"/>
            <a:chOff x="-336973" y="321098"/>
            <a:chExt cx="11391053" cy="9574953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1849967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Database Management System </a:t>
              </a:r>
              <a:r>
                <a:rPr lang="en-US" sz="4000" b="1">
                  <a:solidFill>
                    <a:srgbClr val="7030A0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(DBMS):</a:t>
              </a:r>
              <a:endParaRPr lang="en-US" sz="4000" b="1">
                <a:solidFill>
                  <a:srgbClr val="7030A0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36973" y="2081318"/>
              <a:ext cx="11289453" cy="781473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400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DBMS is a software which is used to create, manage, and manipulate databases.</a:t>
              </a: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endParaRPr lang="en-US" altLang="en-US" sz="2400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944370" y="3505200"/>
            <a:ext cx="5865495" cy="2813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381000" y="381000"/>
            <a:ext cx="8467090" cy="49961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269875" lvl="1" indent="0" algn="just">
              <a:lnSpc>
                <a:spcPct val="150000"/>
              </a:lnSpc>
              <a:buFont typeface="+mj-lt"/>
              <a:buNone/>
            </a:pPr>
            <a:r>
              <a:rPr lang="en-US" altLang="en-US" sz="2800" b="1" spc="-22"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Advantages of DBMS Approach</a:t>
            </a:r>
            <a:endParaRPr lang="en-US" altLang="en-US" sz="2800" b="1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Reduced data redundancy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Improved data consistency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Better data sharing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Enhanced security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Data independence</a:t>
            </a:r>
            <a:endParaRPr lang="en-US" altLang="en-US" sz="2400" spc="-22"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Disadvantages of DBMS Approach</a:t>
            </a:r>
            <a:endParaRPr lang="en-US" altLang="en-US" sz="2800" b="1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High cost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Complexity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Requires training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  <a:p>
            <a:pPr marL="612775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rPr>
              <a:t>Performance overhead</a:t>
            </a:r>
            <a:endParaRPr lang="en-US" altLang="en-US" sz="2400" spc="-22">
              <a:solidFill>
                <a:schemeClr val="tx1"/>
              </a:solidFill>
              <a:latin typeface="Calibri" panose="020F0502020204030204" charset="0"/>
              <a:ea typeface="Assistant" panose="00000500000000000000"/>
              <a:cs typeface="Calibri" panose="020F0502020204030204" charset="0"/>
              <a:sym typeface="Assistant" panose="00000500000000000000"/>
            </a:endParaRPr>
          </a:p>
        </p:txBody>
      </p: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7200" y="596900"/>
            <a:ext cx="8467090" cy="5618480"/>
            <a:chOff x="-235373" y="321098"/>
            <a:chExt cx="11289453" cy="8788297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111343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Data Integrity:</a:t>
              </a:r>
              <a:endParaRPr lang="en-US" sz="4000" b="1">
                <a:solidFill>
                  <a:srgbClr val="7030A0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35373" y="1294662"/>
              <a:ext cx="11289453" cy="781473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Data integrity ensures data is: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Accurate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Consistent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Reliable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Methods:</a:t>
              </a:r>
              <a:endParaRPr lang="en-US" altLang="en-US" sz="24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Validation rules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Constraints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Backup systems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7200" y="596900"/>
            <a:ext cx="8467090" cy="5618480"/>
            <a:chOff x="-235373" y="321098"/>
            <a:chExt cx="11289453" cy="8788297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1113436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Security and Privacy:</a:t>
              </a:r>
              <a:endParaRPr lang="en-US" sz="4000" b="1">
                <a:solidFill>
                  <a:srgbClr val="7030A0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235373" y="1294662"/>
              <a:ext cx="11289453" cy="781473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Security </a:t>
              </a: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protects data from unauthorized access.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Privacy </a:t>
              </a: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protects personal information.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Common protections:</a:t>
              </a:r>
              <a:endParaRPr lang="en-US" altLang="en-US" sz="24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Authentication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Authorization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Encryption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Access control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Auditing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0" y="835184"/>
            <a:ext cx="8366760" cy="5888355"/>
            <a:chOff x="-101600" y="321098"/>
            <a:chExt cx="11155680" cy="7851140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Database System Types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718481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1. Centeralized Database System</a:t>
              </a:r>
              <a:endParaRPr lang="en-US" altLang="en-US" sz="20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All data stored in one location.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Advantages:</a:t>
              </a:r>
              <a:endParaRPr lang="en-US" altLang="en-US" sz="24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Easy management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Strong control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Disadvantages:</a:t>
              </a:r>
              <a:endParaRPr lang="en-US" altLang="en-US" sz="24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Single point of failure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Limited scalability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33400" y="835184"/>
            <a:ext cx="8366760" cy="5888355"/>
            <a:chOff x="-101600" y="321098"/>
            <a:chExt cx="11155680" cy="7851140"/>
          </a:xfrm>
        </p:grpSpPr>
        <p:sp>
          <p:nvSpPr>
            <p:cNvPr id="4" name="TextBox 4"/>
            <p:cNvSpPr txBox="1"/>
            <p:nvPr/>
          </p:nvSpPr>
          <p:spPr>
            <a:xfrm>
              <a:off x="0" y="321098"/>
              <a:ext cx="11054080" cy="666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4000" b="1">
                  <a:solidFill>
                    <a:schemeClr val="tx1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Halant Bold" panose="00000800000000000000"/>
                </a:rPr>
                <a:t> Database System Types</a:t>
              </a:r>
              <a:endParaRPr lang="en-US" sz="4000" b="1">
                <a:solidFill>
                  <a:schemeClr val="tx1"/>
                </a:solidFill>
                <a:latin typeface="Calibri" panose="020F0502020204030204" charset="0"/>
                <a:ea typeface="Halant Bold" panose="00000800000000000000"/>
                <a:cs typeface="Calibri" panose="020F0502020204030204" charset="0"/>
                <a:sym typeface="Halant Bold" panose="000008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101600" y="987425"/>
              <a:ext cx="11054080" cy="718481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269875" lvl="1" indent="0" algn="just">
                <a:lnSpc>
                  <a:spcPct val="150000"/>
                </a:lnSpc>
                <a:buFont typeface="+mj-lt"/>
                <a:buNone/>
              </a:pPr>
              <a:r>
                <a:rPr lang="en-US" sz="2800" b="1">
                  <a:solidFill>
                    <a:srgbClr val="731F7D"/>
                  </a:solidFill>
                  <a:latin typeface="Calibri" panose="020F0502020204030204" charset="0"/>
                  <a:ea typeface="Halant Bold" panose="00000800000000000000"/>
                  <a:cs typeface="Calibri" panose="020F0502020204030204" charset="0"/>
                  <a:sym typeface="Assistant" panose="00000500000000000000"/>
                </a:rPr>
                <a:t>2. Distributed Database System</a:t>
              </a:r>
              <a:endParaRPr lang="en-US" altLang="en-US" sz="20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Data stored across multiple locations.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Advantages:</a:t>
              </a:r>
              <a:endParaRPr lang="en-US" altLang="en-US" sz="24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High availability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Faster access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Scalability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269875" lvl="1" indent="0" algn="just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en-US" sz="2400" b="1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Disadvantages:</a:t>
              </a:r>
              <a:endParaRPr lang="en-US" altLang="en-US" sz="2400" b="1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Complex management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  <a:p>
              <a:pPr marL="612775" lvl="1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en-US" sz="2400" spc="-22">
                  <a:solidFill>
                    <a:schemeClr val="tx1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Security challenges</a:t>
              </a:r>
              <a:endParaRPr lang="en-US" altLang="en-US" sz="2400" spc="-22">
                <a:solidFill>
                  <a:schemeClr val="tx1"/>
                </a:solidFill>
                <a:latin typeface="Calibri" panose="020F0502020204030204" charset="0"/>
                <a:ea typeface="Assistant" panose="00000500000000000000"/>
                <a:cs typeface="Calibri" panose="020F0502020204030204" charset="0"/>
                <a:sym typeface="Assistant" panose="0000050000000000000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313119">
            <a:off x="7871314" y="-1358233"/>
            <a:ext cx="3312451" cy="3167532"/>
          </a:xfrm>
          <a:custGeom>
            <a:avLst/>
            <a:gdLst/>
            <a:ahLst/>
            <a:cxnLst/>
            <a:rect l="l" t="t" r="r" b="b"/>
            <a:pathLst>
              <a:path w="3312451" h="3167532">
                <a:moveTo>
                  <a:pt x="0" y="0"/>
                </a:moveTo>
                <a:lnTo>
                  <a:pt x="3312451" y="0"/>
                </a:lnTo>
                <a:lnTo>
                  <a:pt x="3312451" y="3167532"/>
                </a:lnTo>
                <a:lnTo>
                  <a:pt x="0" y="31675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81228"/>
            <a:ext cx="9753600" cy="55717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866787" y="-1370945"/>
            <a:ext cx="5550062" cy="4939555"/>
          </a:xfrm>
          <a:custGeom>
            <a:avLst/>
            <a:gdLst/>
            <a:ahLst/>
            <a:cxnLst/>
            <a:rect l="l" t="t" r="r" b="b"/>
            <a:pathLst>
              <a:path w="5550062" h="4939555">
                <a:moveTo>
                  <a:pt x="0" y="0"/>
                </a:moveTo>
                <a:lnTo>
                  <a:pt x="5550061" y="0"/>
                </a:lnTo>
                <a:lnTo>
                  <a:pt x="5550061" y="4939555"/>
                </a:lnTo>
                <a:lnTo>
                  <a:pt x="0" y="493955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017281">
            <a:off x="6200148" y="787734"/>
            <a:ext cx="1060123" cy="1004466"/>
          </a:xfrm>
          <a:custGeom>
            <a:avLst/>
            <a:gdLst/>
            <a:ahLst/>
            <a:cxnLst/>
            <a:rect l="l" t="t" r="r" b="b"/>
            <a:pathLst>
              <a:path w="1060123" h="1004466">
                <a:moveTo>
                  <a:pt x="0" y="0"/>
                </a:moveTo>
                <a:lnTo>
                  <a:pt x="1060123" y="0"/>
                </a:lnTo>
                <a:lnTo>
                  <a:pt x="1060123" y="1004466"/>
                </a:lnTo>
                <a:lnTo>
                  <a:pt x="0" y="10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567437">
            <a:off x="8175470" y="5527229"/>
            <a:ext cx="2209570" cy="2112901"/>
          </a:xfrm>
          <a:custGeom>
            <a:avLst/>
            <a:gdLst/>
            <a:ahLst/>
            <a:cxnLst/>
            <a:rect l="l" t="t" r="r" b="b"/>
            <a:pathLst>
              <a:path w="2209570" h="2112901">
                <a:moveTo>
                  <a:pt x="0" y="0"/>
                </a:moveTo>
                <a:lnTo>
                  <a:pt x="2209570" y="0"/>
                </a:lnTo>
                <a:lnTo>
                  <a:pt x="2209570" y="2112902"/>
                </a:lnTo>
                <a:lnTo>
                  <a:pt x="0" y="2112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57200" y="990778"/>
            <a:ext cx="6731019" cy="5368111"/>
            <a:chOff x="-101600" y="9525"/>
            <a:chExt cx="8974692" cy="7157481"/>
          </a:xfrm>
        </p:grpSpPr>
        <p:sp>
          <p:nvSpPr>
            <p:cNvPr id="6" name="TextBox 6"/>
            <p:cNvSpPr txBox="1"/>
            <p:nvPr/>
          </p:nvSpPr>
          <p:spPr>
            <a:xfrm>
              <a:off x="0" y="9525"/>
              <a:ext cx="8873092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Summary of Lecture 3</a:t>
              </a:r>
              <a:endParaRPr lang="en-US" sz="4000" b="1">
                <a:solidFill>
                  <a:srgbClr val="FFFFFF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101600" y="1182767"/>
              <a:ext cx="8873092" cy="5984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System software runs the computer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OS manages hardware and programs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Utilities maintain system performance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Database organizes data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DBMS manages data efficiently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Data hierarchy structures information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Integrity ensures accuracy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Security protects data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Centralized = one location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  <a:p>
              <a:pPr marL="342900" indent="-342900" algn="just">
                <a:lnSpc>
                  <a:spcPts val="35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en-US" sz="2400" spc="-24">
                  <a:solidFill>
                    <a:srgbClr val="FFFFFF"/>
                  </a:solidFill>
                  <a:latin typeface="Assistant" panose="00000500000000000000"/>
                  <a:ea typeface="Assistant" panose="00000500000000000000"/>
                  <a:cs typeface="Assistant" panose="00000500000000000000"/>
                  <a:sym typeface="Assistant" panose="00000500000000000000"/>
                </a:rPr>
                <a:t>Distributed = multiple locations</a:t>
              </a:r>
              <a:endParaRPr lang="en-US" altLang="en-US" sz="2400" spc="-24">
                <a:solidFill>
                  <a:srgbClr val="FFFFFF"/>
                </a:solidFill>
                <a:latin typeface="Assistant" panose="00000500000000000000"/>
                <a:ea typeface="Assistant" panose="00000500000000000000"/>
                <a:cs typeface="Assistant" panose="00000500000000000000"/>
                <a:sym typeface="Assistant" panose="0000050000000000000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5283</Words>
  <Application>WPS Presentation</Application>
  <PresentationFormat>Custom</PresentationFormat>
  <Paragraphs>285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</vt:lpstr>
      <vt:lpstr>SimSun</vt:lpstr>
      <vt:lpstr>Wingdings</vt:lpstr>
      <vt:lpstr>Halant Medium</vt:lpstr>
      <vt:lpstr>Halant Bold</vt:lpstr>
      <vt:lpstr>HK Grotesk Bold</vt:lpstr>
      <vt:lpstr>Segoe Print</vt:lpstr>
      <vt:lpstr>Calibri</vt:lpstr>
      <vt:lpstr>Assistant</vt:lpstr>
      <vt:lpstr>Assistant Bold</vt:lpstr>
      <vt:lpstr>HK Grotesk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Lecture 1</dc:title>
  <dc:creator/>
  <cp:lastModifiedBy>Mariam Sherwani</cp:lastModifiedBy>
  <cp:revision>24</cp:revision>
  <dcterms:created xsi:type="dcterms:W3CDTF">2006-08-16T00:00:00Z</dcterms:created>
  <dcterms:modified xsi:type="dcterms:W3CDTF">2026-02-20T10:37:36Z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0619587701084622B2FE28AD10B5130E_13</vt:lpwstr>
  </property>
  <property fmtid="{D5CDD505-2E9C-101B-9397-08002B2CF9AE}" pid="3" name="KSOProductBuildVer">
    <vt:lpwstr>1033-12.1.0.25242</vt:lpwstr>
  </property>
</Properties>
</file>