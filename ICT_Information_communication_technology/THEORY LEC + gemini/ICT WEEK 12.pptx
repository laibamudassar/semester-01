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401" r:id="rId6"/>
    <p:sldId id="421" r:id="rId7"/>
    <p:sldId id="438" r:id="rId8"/>
    <p:sldId id="439" r:id="rId9"/>
    <p:sldId id="440" r:id="rId10"/>
    <p:sldId id="441" r:id="rId11"/>
    <p:sldId id="442" r:id="rId12"/>
    <p:sldId id="444" r:id="rId13"/>
    <p:sldId id="445" r:id="rId14"/>
    <p:sldId id="426" r:id="rId15"/>
    <p:sldId id="427" r:id="rId16"/>
    <p:sldId id="275" r:id="rId17"/>
  </p:sldIdLst>
  <p:sldSz cx="9753600" cy="7315200"/>
  <p:notesSz cx="6858000" cy="9144000"/>
  <p:embeddedFontLst>
    <p:embeddedFont>
      <p:font typeface="Arial Black" panose="020B0A04020102020204" pitchFamily="34" charset="0"/>
      <p:bold r:id="rId19"/>
    </p:embeddedFont>
    <p:embeddedFont>
      <p:font typeface="Halant Bold" panose="020B0604020202020204" charset="0"/>
      <p:bold r:id="rId20"/>
    </p:embeddedFont>
    <p:embeddedFont>
      <p:font typeface="Halant Medium"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29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22" autoAdjust="0"/>
  </p:normalViewPr>
  <p:slideViewPr>
    <p:cSldViewPr showGuides="1">
      <p:cViewPr varScale="1">
        <p:scale>
          <a:sx n="59" d="100"/>
          <a:sy n="59" d="100"/>
        </p:scale>
        <p:origin x="1388" y="28"/>
      </p:cViewPr>
      <p:guideLst>
        <p:guide orient="horz" pos="2304"/>
        <p:guide pos="293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t>4/26/2026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FC16-F706-6F09-B377-BAB4DEEBC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68C93-5BFA-9C29-81C0-CCA41A928D3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77C2B6F-AA5C-0955-8329-AAB3A346A69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76430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909DB-C0F6-50D5-E9CE-3D4C714CB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60445-6C81-A4DF-340C-D600DF68A51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89018E1-9579-D2BC-0702-A913614BE5F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7772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18A5F-F42A-B752-8F54-72FFDD4E2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8B3F7-CE94-08E4-A07D-AEFC41E438E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FA4464A-7BAB-E04A-3C6A-425E9159C2B2}"/>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68752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B7DE-E23D-68FC-6AFB-41E3511F4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04A9D-6280-11DF-B405-266A610FCEC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533EAB5-54CE-C014-8303-40EA564DD5BB}"/>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845536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1E6C-4051-8ED0-EABD-04FCEA35C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4688F-3D35-8C18-F6A2-79FABDBB60B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17C2C5F-FC28-7617-F4A7-1C3F3603FF8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90295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0E8C-5346-64D0-976B-FD598AEE7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B5233-46E9-B53D-6E9C-96F54C19158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908A10F-03B2-6A58-2BA5-890913145690}"/>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1149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2095-6ECF-C3F6-4F32-8A1B3643F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739CF-FD14-F734-B03A-425D63336CC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C40767FE-2331-30D8-79F4-DCBC7FC76D9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63674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D4B7E-1990-4FED-D48D-8BD281CCD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BBD0E-A1DE-D869-6650-6F4CEE76BBB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BB5B122-1CED-85FE-400C-8A52D84B568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819782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BD21-B0A6-74E4-765D-311C88722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B4DC8-9BF2-5CC8-B12E-A6245A30ABE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D0806E0F-8B2E-44CA-437E-1765A42EDD52}"/>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209277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3529-9B34-B90E-1AA0-ABEA951A0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3F88D-E35B-9D82-CC77-57651FD41E7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C6B1517-C4B4-61B7-4E93-A612ED4C933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56364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3875-765F-B9DE-2B2F-A83C9F6BB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F246D-8926-D010-43A4-96ADB8F9C09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3BD7EE5-583C-AA8D-B32D-7B962DD0BEBA}"/>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700899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dirty="0">
                  <a:solidFill>
                    <a:srgbClr val="000000"/>
                  </a:solidFill>
                  <a:latin typeface="+mj-lt"/>
                  <a:ea typeface="HK Grotesk Bold" panose="00000800000000000000"/>
                  <a:cs typeface="+mj-lt"/>
                  <a:sym typeface="HK Grotesk Bold" panose="00000800000000000000"/>
                </a:rPr>
                <a:t>Information Communication Technology </a:t>
              </a: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2"/>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3"/>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4"/>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400" b="1" dirty="0">
                <a:solidFill>
                  <a:srgbClr val="731F7D"/>
                </a:solidFill>
                <a:latin typeface="Arial Black" panose="020B0A04020102020204" pitchFamily="34" charset="0"/>
                <a:ea typeface="Halant Bold" panose="00000800000000000000"/>
                <a:cs typeface="Halant Bold" panose="00000800000000000000"/>
                <a:sym typeface="Halant Bold" panose="00000800000000000000"/>
              </a:rPr>
              <a:t>Lecture 12</a:t>
            </a:r>
          </a:p>
          <a:p>
            <a:pPr algn="l">
              <a:lnSpc>
                <a:spcPts val="3780"/>
              </a:lnSpc>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p>
          <a:p>
            <a:pPr algn="l">
              <a:lnSpc>
                <a:spcPts val="3780"/>
              </a:lnSpc>
              <a:spcBef>
                <a:spcPct val="0"/>
              </a:spcBef>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524355" y="482607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2"/>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3"/>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4"/>
            <a:stretch>
              <a:fillRect/>
            </a:stretch>
          </a:blipFill>
        </p:spPr>
      </p:sp>
      <p:grpSp>
        <p:nvGrpSpPr>
          <p:cNvPr id="5" name="Group 5"/>
          <p:cNvGrpSpPr/>
          <p:nvPr/>
        </p:nvGrpSpPr>
        <p:grpSpPr>
          <a:xfrm>
            <a:off x="491572" y="2255770"/>
            <a:ext cx="9112904" cy="4112337"/>
            <a:chOff x="-40828" y="0"/>
            <a:chExt cx="12150538" cy="5483116"/>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endParaRPr/>
            </a:p>
          </p:txBody>
        </p:sp>
        <p:sp>
          <p:nvSpPr>
            <p:cNvPr id="8" name="TextBox 8"/>
            <p:cNvSpPr txBox="1"/>
            <p:nvPr/>
          </p:nvSpPr>
          <p:spPr>
            <a:xfrm>
              <a:off x="60421" y="2032000"/>
              <a:ext cx="10667154" cy="3451116"/>
            </a:xfrm>
            <a:prstGeom prst="rect">
              <a:avLst/>
            </a:prstGeom>
          </p:spPr>
          <p:txBody>
            <a:bodyPr wrap="square" lIns="0" tIns="0" rIns="0" bIns="0" rtlCol="0" anchor="t">
              <a:spAutoFit/>
            </a:bodyPr>
            <a:lstStyle/>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Computer Science Illuminated – Nell Dale &amp; John Lewis,     Jones &amp; Bartlett Learning, LLC, 2020</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 7)</a:t>
              </a:r>
            </a:p>
            <a:p>
              <a:pPr lvl="1" indent="-457200" algn="just">
                <a:lnSpc>
                  <a:spcPts val="3360"/>
                </a:lnSpc>
                <a:buFont typeface="+mj-lt"/>
                <a:buAutoNum type="arabicPeriod"/>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259080" lvl="1" indent="0" algn="just">
                <a:lnSpc>
                  <a:spcPts val="3360"/>
                </a:lnSpc>
                <a:buNone/>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85462" y="200916"/>
            <a:ext cx="8085278" cy="6913367"/>
          </a:xfrm>
          <a:prstGeom prst="rect">
            <a:avLst/>
          </a:prstGeom>
        </p:spPr>
        <p:txBody>
          <a:bodyPr wrap="square" lIns="0" tIns="0" rIns="0" bIns="0" rtlCol="0" anchor="t">
            <a:spAutoFit/>
          </a:bodyPr>
          <a:lstStyle/>
          <a:p>
            <a:r>
              <a:rPr lang="en-US" sz="2800" b="1" dirty="0"/>
              <a:t>Topic: Problem Solving with Repetition, Procedures, Functions &amp; Lists</a:t>
            </a:r>
          </a:p>
          <a:p>
            <a:r>
              <a:rPr lang="en-US" sz="5000" b="1" dirty="0">
                <a:solidFill>
                  <a:srgbClr val="000000"/>
                </a:solidFill>
                <a:ea typeface="HK Grotesk Bold" panose="00000800000000000000"/>
                <a:cs typeface="Calibri" panose="020F0502020204030204" charset="0"/>
                <a:sym typeface="HK Grotesk Bold" panose="00000800000000000000"/>
              </a:rPr>
              <a:t>Contents</a:t>
            </a:r>
            <a:r>
              <a:rPr lang="en-US" sz="5000" b="1" dirty="0">
                <a:solidFill>
                  <a:srgbClr val="000000"/>
                </a:solidFill>
                <a:ea typeface="HK Grotesk Bold" panose="00000800000000000000"/>
                <a:cs typeface="HK Grotesk Bold" panose="00000800000000000000"/>
                <a:sym typeface="HK Grotesk Bold" panose="00000800000000000000"/>
              </a:rPr>
              <a:t>:</a:t>
            </a:r>
          </a:p>
          <a:p>
            <a:pPr marL="342900" lvl="0" indent="-342900">
              <a:lnSpc>
                <a:spcPct val="150000"/>
              </a:lnSpc>
              <a:buFont typeface="+mj-lt"/>
              <a:buAutoNum type="arabicPeriod"/>
            </a:pPr>
            <a:r>
              <a:rPr lang="en-US" sz="2100" dirty="0"/>
              <a:t>Problem Solving with Repetition Structure</a:t>
            </a:r>
          </a:p>
          <a:p>
            <a:pPr marL="342900" lvl="0" indent="-342900">
              <a:lnSpc>
                <a:spcPct val="150000"/>
              </a:lnSpc>
              <a:buFont typeface="+mj-lt"/>
              <a:buAutoNum type="arabicPeriod"/>
            </a:pPr>
            <a:r>
              <a:rPr lang="en-US" sz="2100" dirty="0"/>
              <a:t>Types of Repetition (Loops)</a:t>
            </a:r>
          </a:p>
          <a:p>
            <a:pPr marL="342900" lvl="0" indent="-342900">
              <a:lnSpc>
                <a:spcPct val="150000"/>
              </a:lnSpc>
              <a:buFont typeface="+mj-lt"/>
              <a:buAutoNum type="arabicPeriod"/>
            </a:pPr>
            <a:r>
              <a:rPr lang="en-US" sz="2100" dirty="0"/>
              <a:t>Pseudocode for Repetition</a:t>
            </a:r>
          </a:p>
          <a:p>
            <a:pPr marL="342900" lvl="0" indent="-342900">
              <a:lnSpc>
                <a:spcPct val="150000"/>
              </a:lnSpc>
              <a:buFont typeface="+mj-lt"/>
              <a:buAutoNum type="arabicPeriod"/>
            </a:pPr>
            <a:r>
              <a:rPr lang="en-US" sz="2100" dirty="0"/>
              <a:t>Flowcharts for Repetition</a:t>
            </a:r>
          </a:p>
          <a:p>
            <a:pPr marL="342900" lvl="0" indent="-342900">
              <a:lnSpc>
                <a:spcPct val="150000"/>
              </a:lnSpc>
              <a:buFont typeface="+mj-lt"/>
              <a:buAutoNum type="arabicPeriod"/>
            </a:pPr>
            <a:r>
              <a:rPr lang="en-US" sz="2100" dirty="0"/>
              <a:t>Problem Solving with Procedures</a:t>
            </a:r>
          </a:p>
          <a:p>
            <a:pPr marL="342900" lvl="0" indent="-342900">
              <a:lnSpc>
                <a:spcPct val="150000"/>
              </a:lnSpc>
              <a:buFont typeface="+mj-lt"/>
              <a:buAutoNum type="arabicPeriod"/>
            </a:pPr>
            <a:r>
              <a:rPr lang="en-US" sz="2100" dirty="0"/>
              <a:t>Functions</a:t>
            </a:r>
          </a:p>
          <a:p>
            <a:pPr marL="342900" lvl="0" indent="-342900">
              <a:lnSpc>
                <a:spcPct val="150000"/>
              </a:lnSpc>
              <a:buFont typeface="+mj-lt"/>
              <a:buAutoNum type="arabicPeriod"/>
            </a:pPr>
            <a:r>
              <a:rPr lang="en-US" sz="2100" dirty="0"/>
              <a:t>Lists (Arrays)</a:t>
            </a:r>
          </a:p>
          <a:p>
            <a:pPr marL="342900" lvl="0" indent="-342900">
              <a:lnSpc>
                <a:spcPct val="150000"/>
              </a:lnSpc>
              <a:buFont typeface="+mj-lt"/>
              <a:buAutoNum type="arabicPeriod"/>
            </a:pPr>
            <a:r>
              <a:rPr lang="en-US" sz="2100" dirty="0"/>
              <a:t>Pseudocode Practice (Repetition, Procedures, Functions, Lists)</a:t>
            </a:r>
          </a:p>
          <a:p>
            <a:pPr marL="342900" lvl="0" indent="-342900">
              <a:lnSpc>
                <a:spcPct val="150000"/>
              </a:lnSpc>
              <a:buFont typeface="+mj-lt"/>
              <a:buAutoNum type="arabicPeriod"/>
            </a:pPr>
            <a:r>
              <a:rPr lang="en-US" sz="2100" dirty="0"/>
              <a:t>Flowchart Generation (Repetition &amp; Decision Integration) </a:t>
            </a:r>
          </a:p>
          <a:p>
            <a:pPr marL="342900" lvl="0" indent="-342900">
              <a:lnSpc>
                <a:spcPct val="150000"/>
              </a:lnSpc>
              <a:buFont typeface="+mj-lt"/>
              <a:buAutoNum type="arabicPeriod"/>
            </a:pPr>
            <a:r>
              <a:rPr lang="en-US" sz="2100" dirty="0"/>
              <a:t> Advantages</a:t>
            </a:r>
          </a:p>
          <a:p>
            <a:pPr marL="342900" lvl="0" indent="-342900">
              <a:lnSpc>
                <a:spcPct val="150000"/>
              </a:lnSpc>
              <a:buFont typeface="+mj-lt"/>
              <a:buAutoNum type="arabicPeriod"/>
            </a:pPr>
            <a:r>
              <a:rPr lang="en-US" sz="2100" dirty="0"/>
              <a:t> Summary</a:t>
            </a:r>
          </a:p>
        </p:txBody>
      </p:sp>
      <p:sp>
        <p:nvSpPr>
          <p:cNvPr id="3" name="Freeform 3"/>
          <p:cNvSpPr/>
          <p:nvPr/>
        </p:nvSpPr>
        <p:spPr>
          <a:xfrm rot="-10141306">
            <a:off x="-2409895" y="4771487"/>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sp>
        <p:nvSpPr>
          <p:cNvPr id="6" name="TextBox 6"/>
          <p:cNvSpPr txBox="1"/>
          <p:nvPr/>
        </p:nvSpPr>
        <p:spPr>
          <a:xfrm>
            <a:off x="1285462" y="7507606"/>
            <a:ext cx="7658557" cy="250346"/>
          </a:xfrm>
          <a:prstGeom prst="rect">
            <a:avLst/>
          </a:prstGeom>
        </p:spPr>
        <p:txBody>
          <a:bodyPr lIns="0" tIns="0" rIns="0" bIns="0" rtlCol="0" anchor="t">
            <a:spAutoFit/>
          </a:bodyPr>
          <a:lstStyle/>
          <a:p>
            <a:pPr algn="l">
              <a:lnSpc>
                <a:spcPts val="2145"/>
              </a:lnSpc>
              <a:spcBef>
                <a:spcPct val="0"/>
              </a:spcBef>
            </a:pPr>
            <a:endParaRPr/>
          </a:p>
        </p:txBody>
      </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4063260" y="-38161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p:cNvGrpSpPr/>
          <p:nvPr/>
        </p:nvGrpSpPr>
        <p:grpSpPr>
          <a:xfrm>
            <a:off x="560162" y="914400"/>
            <a:ext cx="8633276" cy="4297728"/>
            <a:chOff x="157480" y="-267335"/>
            <a:chExt cx="11511034" cy="5730301"/>
          </a:xfrm>
        </p:grpSpPr>
        <p:sp>
          <p:nvSpPr>
            <p:cNvPr id="6" name="TextBox 6"/>
            <p:cNvSpPr txBox="1"/>
            <p:nvPr/>
          </p:nvSpPr>
          <p:spPr>
            <a:xfrm>
              <a:off x="157480" y="-267335"/>
              <a:ext cx="11511034" cy="1982080"/>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Problem Solving with Repetition Structure</a:t>
              </a:r>
              <a:r>
                <a:rPr lang="en-US" sz="4800" b="1" dirty="0">
                  <a:solidFill>
                    <a:srgbClr val="731F7D"/>
                  </a:solidFill>
                  <a:latin typeface="Calibri" panose="020F0502020204030204" charset="0"/>
                  <a:cs typeface="Calibri" panose="020F0502020204030204" charset="0"/>
                  <a:sym typeface="HK Grotesk Bold" panose="00000800000000000000"/>
                </a:rPr>
                <a:t>:</a:t>
              </a:r>
            </a:p>
          </p:txBody>
        </p:sp>
        <p:sp>
          <p:nvSpPr>
            <p:cNvPr id="7" name="TextBox 7"/>
            <p:cNvSpPr txBox="1"/>
            <p:nvPr/>
          </p:nvSpPr>
          <p:spPr>
            <a:xfrm>
              <a:off x="350096" y="1722884"/>
              <a:ext cx="11125802" cy="3740082"/>
            </a:xfrm>
            <a:prstGeom prst="rect">
              <a:avLst/>
            </a:prstGeom>
          </p:spPr>
          <p:txBody>
            <a:bodyPr wrap="square" lIns="0" tIns="0" rIns="0" bIns="0" rtlCol="0" anchor="t">
              <a:spAutoFit/>
            </a:bodyPr>
            <a:lstStyle/>
            <a:p>
              <a:pPr marL="342900" indent="-342900">
                <a:lnSpc>
                  <a:spcPct val="150000"/>
                </a:lnSpc>
                <a:buFont typeface="Arial" panose="020B0604020202020204" pitchFamily="34" charset="0"/>
                <a:buChar char="•"/>
              </a:pPr>
              <a:r>
                <a:rPr lang="en-US" sz="2400" dirty="0"/>
                <a:t>Repetition structure (loop) is used when a set of instructions needs to be executed multiple times.</a:t>
              </a:r>
            </a:p>
            <a:p>
              <a:pPr marL="342900" indent="-342900">
                <a:lnSpc>
                  <a:spcPct val="150000"/>
                </a:lnSpc>
                <a:buFont typeface="Arial" panose="020B0604020202020204" pitchFamily="34" charset="0"/>
                <a:buChar char="•"/>
              </a:pPr>
              <a:r>
                <a:rPr lang="en-US" sz="2400" dirty="0"/>
                <a:t>It avoids rewriting the same code again and again.</a:t>
              </a:r>
            </a:p>
            <a:p>
              <a:pPr>
                <a:lnSpc>
                  <a:spcPct val="150000"/>
                </a:lnSpc>
              </a:pPr>
              <a:r>
                <a:rPr lang="en-US" sz="2800" b="1" dirty="0"/>
                <a:t>Key Idea: </a:t>
              </a:r>
            </a:p>
            <a:p>
              <a:pPr>
                <a:lnSpc>
                  <a:spcPct val="150000"/>
                </a:lnSpc>
              </a:pPr>
              <a:r>
                <a:rPr lang="en-US" sz="2400" dirty="0"/>
                <a:t>A condition controls how many times the loop will execute.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7CC2-72FE-407B-D4E1-E103678D47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75EF21-8FCC-D241-0471-D4D4E95E6C52}"/>
              </a:ext>
            </a:extLst>
          </p:cNvPr>
          <p:cNvSpPr/>
          <p:nvPr/>
        </p:nvSpPr>
        <p:spPr>
          <a:xfrm rot="-1100510">
            <a:off x="4093650" y="-41971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48B76F-6C50-1857-EB3E-D3B98803B10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81F653B-E06F-758E-1D77-4292309ADD67}"/>
              </a:ext>
            </a:extLst>
          </p:cNvPr>
          <p:cNvGrpSpPr/>
          <p:nvPr/>
        </p:nvGrpSpPr>
        <p:grpSpPr>
          <a:xfrm>
            <a:off x="560162" y="698882"/>
            <a:ext cx="8633276" cy="6243449"/>
            <a:chOff x="157480" y="-267335"/>
            <a:chExt cx="11511034" cy="8324593"/>
          </a:xfrm>
        </p:grpSpPr>
        <p:sp>
          <p:nvSpPr>
            <p:cNvPr id="6" name="TextBox 6">
              <a:extLst>
                <a:ext uri="{FF2B5EF4-FFF2-40B4-BE49-F238E27FC236}">
                  <a16:creationId xmlns:a16="http://schemas.microsoft.com/office/drawing/2014/main" id="{F81C81D8-D304-2FF9-9CDE-8688F27DF702}"/>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Types of Repetition (Loops):</a:t>
              </a:r>
            </a:p>
          </p:txBody>
        </p:sp>
        <p:sp>
          <p:nvSpPr>
            <p:cNvPr id="7" name="TextBox 7">
              <a:extLst>
                <a:ext uri="{FF2B5EF4-FFF2-40B4-BE49-F238E27FC236}">
                  <a16:creationId xmlns:a16="http://schemas.microsoft.com/office/drawing/2014/main" id="{CEA62A13-9429-E638-4823-FFF477F4BAA8}"/>
                </a:ext>
              </a:extLst>
            </p:cNvPr>
            <p:cNvSpPr txBox="1"/>
            <p:nvPr/>
          </p:nvSpPr>
          <p:spPr>
            <a:xfrm>
              <a:off x="157480" y="746971"/>
              <a:ext cx="11204787" cy="7310287"/>
            </a:xfrm>
            <a:prstGeom prst="rect">
              <a:avLst/>
            </a:prstGeom>
          </p:spPr>
          <p:txBody>
            <a:bodyPr wrap="square" lIns="0" tIns="0" rIns="0" bIns="0" rtlCol="0" anchor="t">
              <a:spAutoFit/>
            </a:bodyPr>
            <a:lstStyle/>
            <a:p>
              <a:pPr>
                <a:lnSpc>
                  <a:spcPct val="150000"/>
                </a:lnSpc>
              </a:pPr>
              <a:r>
                <a:rPr lang="en-US" sz="2400" b="1" dirty="0"/>
                <a:t>(A) While Loop</a:t>
              </a:r>
            </a:p>
            <a:p>
              <a:pPr>
                <a:lnSpc>
                  <a:spcPct val="150000"/>
                </a:lnSpc>
              </a:pPr>
              <a:r>
                <a:rPr lang="en-US" sz="2400" dirty="0"/>
                <a:t>Repeats a block of statements while a condition is true.</a:t>
              </a:r>
            </a:p>
            <a:p>
              <a:pPr>
                <a:lnSpc>
                  <a:spcPct val="150000"/>
                </a:lnSpc>
              </a:pPr>
              <a:r>
                <a:rPr lang="en-US" sz="2400" b="1" dirty="0"/>
                <a:t>Example: </a:t>
              </a:r>
              <a:r>
                <a:rPr lang="en-US" sz="2400" dirty="0"/>
                <a:t>WHILE condition is true statements END WHILE</a:t>
              </a:r>
            </a:p>
            <a:p>
              <a:pPr>
                <a:lnSpc>
                  <a:spcPct val="150000"/>
                </a:lnSpc>
              </a:pPr>
              <a:r>
                <a:rPr lang="en-US" sz="2400" b="1" dirty="0"/>
                <a:t>(B) For Loop</a:t>
              </a:r>
            </a:p>
            <a:p>
              <a:pPr>
                <a:lnSpc>
                  <a:spcPct val="150000"/>
                </a:lnSpc>
              </a:pPr>
              <a:r>
                <a:rPr lang="en-US" sz="2400" dirty="0"/>
                <a:t>Used when the number of repetitions is known.</a:t>
              </a:r>
            </a:p>
            <a:p>
              <a:pPr>
                <a:lnSpc>
                  <a:spcPct val="150000"/>
                </a:lnSpc>
              </a:pPr>
              <a:r>
                <a:rPr lang="en-US" sz="2400" b="1" dirty="0"/>
                <a:t>Example: </a:t>
              </a:r>
              <a:r>
                <a:rPr lang="en-US" sz="2400" dirty="0"/>
                <a:t>FOR </a:t>
              </a:r>
              <a:r>
                <a:rPr lang="en-US" sz="2400" dirty="0" err="1"/>
                <a:t>i</a:t>
              </a:r>
              <a:r>
                <a:rPr lang="en-US" sz="2400" dirty="0"/>
                <a:t> = 1 TO 5 PRINT </a:t>
              </a:r>
              <a:r>
                <a:rPr lang="en-US" sz="2400" dirty="0" err="1"/>
                <a:t>i</a:t>
              </a:r>
              <a:r>
                <a:rPr lang="en-US" sz="2400" dirty="0"/>
                <a:t> END FOR</a:t>
              </a:r>
            </a:p>
            <a:p>
              <a:pPr>
                <a:lnSpc>
                  <a:spcPct val="150000"/>
                </a:lnSpc>
              </a:pPr>
              <a:r>
                <a:rPr lang="en-US" sz="2400" b="1" dirty="0"/>
                <a:t>(C) Repeat-Until Loop</a:t>
              </a:r>
            </a:p>
            <a:p>
              <a:pPr>
                <a:lnSpc>
                  <a:spcPct val="150000"/>
                </a:lnSpc>
              </a:pPr>
              <a:r>
                <a:rPr lang="en-US" sz="2400" dirty="0"/>
                <a:t>Executes statements at least once and repeats until condition becomes true.</a:t>
              </a:r>
            </a:p>
            <a:p>
              <a:pPr>
                <a:lnSpc>
                  <a:spcPct val="150000"/>
                </a:lnSpc>
              </a:pPr>
              <a:r>
                <a:rPr lang="en-US" sz="2400" b="1" dirty="0"/>
                <a:t>Example: </a:t>
              </a:r>
              <a:r>
                <a:rPr lang="en-US" sz="2400" dirty="0"/>
                <a:t>REPEAT statements UNTIL condition</a:t>
              </a:r>
            </a:p>
          </p:txBody>
        </p:sp>
      </p:grpSp>
    </p:spTree>
    <p:extLst>
      <p:ext uri="{BB962C8B-B14F-4D97-AF65-F5344CB8AC3E}">
        <p14:creationId xmlns:p14="http://schemas.microsoft.com/office/powerpoint/2010/main" val="264337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C5C9-41F5-EDAC-48ED-CB37AAC774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3DFCB1-70BF-CE46-7637-DDF7D8CB677E}"/>
              </a:ext>
            </a:extLst>
          </p:cNvPr>
          <p:cNvSpPr/>
          <p:nvPr/>
        </p:nvSpPr>
        <p:spPr>
          <a:xfrm rot="-1100510">
            <a:off x="4063258" y="-4044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82D37AA1-6299-41E8-853E-80A4BE805D0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EE75080-1D3C-A799-1E5E-F731909EF026}"/>
              </a:ext>
            </a:extLst>
          </p:cNvPr>
          <p:cNvGrpSpPr/>
          <p:nvPr/>
        </p:nvGrpSpPr>
        <p:grpSpPr>
          <a:xfrm>
            <a:off x="560162" y="1066800"/>
            <a:ext cx="8633276" cy="6418562"/>
            <a:chOff x="157480" y="-267335"/>
            <a:chExt cx="11511034" cy="8558083"/>
          </a:xfrm>
        </p:grpSpPr>
        <p:sp>
          <p:nvSpPr>
            <p:cNvPr id="6" name="TextBox 6">
              <a:extLst>
                <a:ext uri="{FF2B5EF4-FFF2-40B4-BE49-F238E27FC236}">
                  <a16:creationId xmlns:a16="http://schemas.microsoft.com/office/drawing/2014/main" id="{8A66E7C3-1497-0DF3-64D2-8A4A8289EB34}"/>
                </a:ext>
              </a:extLst>
            </p:cNvPr>
            <p:cNvSpPr txBox="1"/>
            <p:nvPr/>
          </p:nvSpPr>
          <p:spPr>
            <a:xfrm>
              <a:off x="157480" y="-267335"/>
              <a:ext cx="11511034" cy="973257"/>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Pseudocode for Repetition</a:t>
              </a: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D5424744-8C8E-32D9-8CC0-168F92989151}"/>
                </a:ext>
              </a:extLst>
            </p:cNvPr>
            <p:cNvSpPr txBox="1"/>
            <p:nvPr/>
          </p:nvSpPr>
          <p:spPr>
            <a:xfrm>
              <a:off x="178648" y="746973"/>
              <a:ext cx="11204787" cy="7543775"/>
            </a:xfrm>
            <a:prstGeom prst="rect">
              <a:avLst/>
            </a:prstGeom>
          </p:spPr>
          <p:txBody>
            <a:bodyPr wrap="square" lIns="0" tIns="0" rIns="0" bIns="0" rtlCol="0" anchor="t">
              <a:spAutoFit/>
            </a:bodyPr>
            <a:lstStyle/>
            <a:p>
              <a:pPr>
                <a:lnSpc>
                  <a:spcPct val="150000"/>
                </a:lnSpc>
              </a:pPr>
              <a:r>
                <a:rPr lang="en-US" sz="2400" dirty="0"/>
                <a:t>Pseudocode for loops clearly shows repeated execution of steps.</a:t>
              </a:r>
            </a:p>
            <a:p>
              <a:pPr>
                <a:lnSpc>
                  <a:spcPct val="150000"/>
                </a:lnSpc>
              </a:pPr>
              <a:r>
                <a:rPr lang="en-US" sz="2800" b="1" dirty="0"/>
                <a:t>Example (Print numbers 1 to 5):</a:t>
              </a:r>
            </a:p>
            <a:p>
              <a:pPr>
                <a:lnSpc>
                  <a:spcPct val="150000"/>
                </a:lnSpc>
              </a:pPr>
              <a:r>
                <a:rPr lang="en-US" sz="2400" dirty="0"/>
                <a:t>START</a:t>
              </a:r>
            </a:p>
            <a:p>
              <a:pPr>
                <a:lnSpc>
                  <a:spcPct val="150000"/>
                </a:lnSpc>
              </a:pPr>
              <a:r>
                <a:rPr lang="en-US" sz="2400" dirty="0"/>
                <a:t>Set </a:t>
              </a:r>
              <a:r>
                <a:rPr lang="en-US" sz="2400" dirty="0" err="1"/>
                <a:t>i</a:t>
              </a:r>
              <a:r>
                <a:rPr lang="en-US" sz="2400" dirty="0"/>
                <a:t> = 1</a:t>
              </a:r>
            </a:p>
            <a:p>
              <a:pPr>
                <a:lnSpc>
                  <a:spcPct val="150000"/>
                </a:lnSpc>
              </a:pPr>
              <a:r>
                <a:rPr lang="en-US" sz="2400" dirty="0"/>
                <a:t>Check if </a:t>
              </a:r>
              <a:r>
                <a:rPr lang="en-US" sz="2400" dirty="0" err="1"/>
                <a:t>i</a:t>
              </a:r>
              <a:r>
                <a:rPr lang="en-US" sz="2400" dirty="0"/>
                <a:t> ≤ 5</a:t>
              </a:r>
            </a:p>
            <a:p>
              <a:pPr>
                <a:lnSpc>
                  <a:spcPct val="150000"/>
                </a:lnSpc>
              </a:pPr>
              <a:r>
                <a:rPr lang="en-US" sz="2400" dirty="0"/>
                <a:t>If yes, PRINT </a:t>
              </a:r>
              <a:r>
                <a:rPr lang="en-US" sz="2400" dirty="0" err="1"/>
                <a:t>i</a:t>
              </a:r>
              <a:endParaRPr lang="en-US" sz="2400" dirty="0"/>
            </a:p>
            <a:p>
              <a:pPr>
                <a:lnSpc>
                  <a:spcPct val="150000"/>
                </a:lnSpc>
              </a:pPr>
              <a:r>
                <a:rPr lang="en-US" sz="2400" dirty="0"/>
                <a:t>Increase </a:t>
              </a:r>
              <a:r>
                <a:rPr lang="en-US" sz="2400" dirty="0" err="1"/>
                <a:t>i</a:t>
              </a:r>
              <a:r>
                <a:rPr lang="en-US" sz="2400" dirty="0"/>
                <a:t> by 1</a:t>
              </a:r>
            </a:p>
            <a:p>
              <a:pPr>
                <a:lnSpc>
                  <a:spcPct val="150000"/>
                </a:lnSpc>
              </a:pPr>
              <a:r>
                <a:rPr lang="en-US" sz="2400" dirty="0"/>
                <a:t>Go back to step 2</a:t>
              </a:r>
            </a:p>
            <a:p>
              <a:pPr>
                <a:lnSpc>
                  <a:spcPct val="150000"/>
                </a:lnSpc>
              </a:pPr>
              <a:r>
                <a:rPr lang="en-US" sz="2400" dirty="0"/>
                <a:t>If no, END </a:t>
              </a:r>
              <a:r>
                <a:rPr lang="en-US" sz="2400" dirty="0" err="1"/>
                <a:t>END</a:t>
              </a:r>
              <a:endParaRPr lang="en-US" sz="2400" dirty="0"/>
            </a:p>
            <a:p>
              <a:pPr>
                <a:lnSpc>
                  <a:spcPct val="150000"/>
                </a:lnSpc>
              </a:pPr>
              <a:endParaRPr lang="en-US" sz="2800" b="1" dirty="0"/>
            </a:p>
          </p:txBody>
        </p:sp>
      </p:grpSp>
    </p:spTree>
    <p:extLst>
      <p:ext uri="{BB962C8B-B14F-4D97-AF65-F5344CB8AC3E}">
        <p14:creationId xmlns:p14="http://schemas.microsoft.com/office/powerpoint/2010/main" val="3834544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6FA2-BB17-67C7-A668-CAA5D729F7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67D6AF-B04B-E8C6-C7A0-231F1B7714B0}"/>
              </a:ext>
            </a:extLst>
          </p:cNvPr>
          <p:cNvSpPr/>
          <p:nvPr/>
        </p:nvSpPr>
        <p:spPr>
          <a:xfrm rot="-1100510">
            <a:off x="4063258" y="-4044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1683BC0A-6F7E-9680-5CCA-9EE650E9C564}"/>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8BEC5FE-B6FD-3070-BB95-8A155829E1FE}"/>
              </a:ext>
            </a:extLst>
          </p:cNvPr>
          <p:cNvGrpSpPr/>
          <p:nvPr/>
        </p:nvGrpSpPr>
        <p:grpSpPr>
          <a:xfrm>
            <a:off x="560162" y="1143000"/>
            <a:ext cx="8633276" cy="3565794"/>
            <a:chOff x="157480" y="-267335"/>
            <a:chExt cx="11511034" cy="4754393"/>
          </a:xfrm>
        </p:grpSpPr>
        <p:sp>
          <p:nvSpPr>
            <p:cNvPr id="6" name="TextBox 6">
              <a:extLst>
                <a:ext uri="{FF2B5EF4-FFF2-40B4-BE49-F238E27FC236}">
                  <a16:creationId xmlns:a16="http://schemas.microsoft.com/office/drawing/2014/main" id="{4462A835-A3C3-7960-A70E-06969292CC00}"/>
                </a:ext>
              </a:extLst>
            </p:cNvPr>
            <p:cNvSpPr txBox="1"/>
            <p:nvPr/>
          </p:nvSpPr>
          <p:spPr>
            <a:xfrm>
              <a:off x="157480" y="-267335"/>
              <a:ext cx="11511034" cy="973257"/>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cs typeface="Calibri" panose="020F0502020204030204" charset="0"/>
                </a:rPr>
                <a:t>Flowcharts for Repetition</a:t>
              </a: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5BDE3E3C-08F6-156E-692B-EE1BA0378BC3}"/>
                </a:ext>
              </a:extLst>
            </p:cNvPr>
            <p:cNvSpPr txBox="1"/>
            <p:nvPr/>
          </p:nvSpPr>
          <p:spPr>
            <a:xfrm>
              <a:off x="178648" y="746973"/>
              <a:ext cx="11204787" cy="3740085"/>
            </a:xfrm>
            <a:prstGeom prst="rect">
              <a:avLst/>
            </a:prstGeom>
          </p:spPr>
          <p:txBody>
            <a:bodyPr wrap="square" lIns="0" tIns="0" rIns="0" bIns="0" rtlCol="0" anchor="t">
              <a:spAutoFit/>
            </a:bodyPr>
            <a:lstStyle/>
            <a:p>
              <a:pPr>
                <a:lnSpc>
                  <a:spcPct val="150000"/>
                </a:lnSpc>
              </a:pPr>
              <a:r>
                <a:rPr lang="en-US" sz="2400" dirty="0"/>
                <a:t>Repetition in flowcharts is shown using a loop structure with a decision symbol.</a:t>
              </a:r>
            </a:p>
            <a:p>
              <a:pPr>
                <a:lnSpc>
                  <a:spcPct val="150000"/>
                </a:lnSpc>
              </a:pPr>
              <a:r>
                <a:rPr lang="en-US" sz="2800" b="1" dirty="0"/>
                <a:t>Flow: </a:t>
              </a:r>
            </a:p>
            <a:p>
              <a:pPr>
                <a:lnSpc>
                  <a:spcPct val="150000"/>
                </a:lnSpc>
              </a:pPr>
              <a:r>
                <a:rPr lang="en-US" sz="2400" dirty="0"/>
                <a:t>Start </a:t>
              </a:r>
              <a:r>
                <a:rPr lang="en-US" sz="2400" b="1" dirty="0"/>
                <a:t>→</a:t>
              </a:r>
              <a:r>
                <a:rPr lang="en-US" sz="2400" dirty="0"/>
                <a:t> Initialize</a:t>
              </a:r>
              <a:r>
                <a:rPr lang="en-US" sz="2400" b="1" dirty="0"/>
                <a:t> → </a:t>
              </a:r>
              <a:r>
                <a:rPr lang="en-US" sz="2400" dirty="0"/>
                <a:t>Condition </a:t>
              </a:r>
              <a:r>
                <a:rPr lang="en-US" sz="2400" b="1" dirty="0"/>
                <a:t>→</a:t>
              </a:r>
              <a:r>
                <a:rPr lang="en-US" sz="2400" dirty="0"/>
                <a:t> Yes </a:t>
              </a:r>
              <a:r>
                <a:rPr lang="en-US" sz="2400" b="1" dirty="0"/>
                <a:t>→ </a:t>
              </a:r>
              <a:r>
                <a:rPr lang="en-US" sz="2400" dirty="0"/>
                <a:t>Process </a:t>
              </a:r>
              <a:r>
                <a:rPr lang="en-US" sz="2400" b="1" dirty="0"/>
                <a:t>→</a:t>
              </a:r>
              <a:r>
                <a:rPr lang="en-US" sz="2400" dirty="0"/>
                <a:t> Back to Condition </a:t>
              </a:r>
              <a:r>
                <a:rPr lang="en-US" sz="2400" b="1" dirty="0"/>
                <a:t>→</a:t>
              </a:r>
              <a:r>
                <a:rPr lang="en-US" sz="2400" dirty="0"/>
                <a:t> No </a:t>
              </a:r>
              <a:r>
                <a:rPr lang="en-US" sz="2400" b="1" dirty="0"/>
                <a:t>→ </a:t>
              </a:r>
              <a:r>
                <a:rPr lang="en-US" sz="2400" dirty="0"/>
                <a:t>End</a:t>
              </a:r>
            </a:p>
          </p:txBody>
        </p:sp>
      </p:grpSp>
    </p:spTree>
    <p:extLst>
      <p:ext uri="{BB962C8B-B14F-4D97-AF65-F5344CB8AC3E}">
        <p14:creationId xmlns:p14="http://schemas.microsoft.com/office/powerpoint/2010/main" val="290518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D41CA-736A-4812-985D-3CEC5DB459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C996D9E-FFC4-142A-A2FA-389A4DF4453B}"/>
              </a:ext>
            </a:extLst>
          </p:cNvPr>
          <p:cNvSpPr/>
          <p:nvPr/>
        </p:nvSpPr>
        <p:spPr>
          <a:xfrm rot="-1100510">
            <a:off x="4063258" y="-4044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EEBAB5C1-867F-D43F-E0EE-462B43E14C79}"/>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47397C2A-709D-17EC-5EDF-6FEE7C1AE16C}"/>
              </a:ext>
            </a:extLst>
          </p:cNvPr>
          <p:cNvGrpSpPr/>
          <p:nvPr/>
        </p:nvGrpSpPr>
        <p:grpSpPr>
          <a:xfrm>
            <a:off x="560162" y="1066800"/>
            <a:ext cx="8633276" cy="4937955"/>
            <a:chOff x="157480" y="-267335"/>
            <a:chExt cx="11511034" cy="6583942"/>
          </a:xfrm>
        </p:grpSpPr>
        <p:sp>
          <p:nvSpPr>
            <p:cNvPr id="6" name="TextBox 6">
              <a:extLst>
                <a:ext uri="{FF2B5EF4-FFF2-40B4-BE49-F238E27FC236}">
                  <a16:creationId xmlns:a16="http://schemas.microsoft.com/office/drawing/2014/main" id="{C68B60F7-CC56-38BB-AAFB-2EADCFFFD503}"/>
                </a:ext>
              </a:extLst>
            </p:cNvPr>
            <p:cNvSpPr txBox="1"/>
            <p:nvPr/>
          </p:nvSpPr>
          <p:spPr>
            <a:xfrm>
              <a:off x="157480" y="-267335"/>
              <a:ext cx="11511034" cy="1982082"/>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Problem Solving with Procedures:</a:t>
              </a:r>
            </a:p>
          </p:txBody>
        </p:sp>
        <p:sp>
          <p:nvSpPr>
            <p:cNvPr id="7" name="TextBox 7">
              <a:extLst>
                <a:ext uri="{FF2B5EF4-FFF2-40B4-BE49-F238E27FC236}">
                  <a16:creationId xmlns:a16="http://schemas.microsoft.com/office/drawing/2014/main" id="{7AB39428-6689-8060-E839-89A2677E6C35}"/>
                </a:ext>
              </a:extLst>
            </p:cNvPr>
            <p:cNvSpPr txBox="1"/>
            <p:nvPr/>
          </p:nvSpPr>
          <p:spPr>
            <a:xfrm>
              <a:off x="201023" y="1714747"/>
              <a:ext cx="11204787" cy="4601860"/>
            </a:xfrm>
            <a:prstGeom prst="rect">
              <a:avLst/>
            </a:prstGeom>
          </p:spPr>
          <p:txBody>
            <a:bodyPr wrap="square" lIns="0" tIns="0" rIns="0" bIns="0" rtlCol="0" anchor="t">
              <a:spAutoFit/>
            </a:bodyPr>
            <a:lstStyle/>
            <a:p>
              <a:pPr>
                <a:lnSpc>
                  <a:spcPct val="150000"/>
                </a:lnSpc>
              </a:pPr>
              <a:r>
                <a:rPr lang="en-US" sz="2400" dirty="0"/>
                <a:t>A procedure is a block of code that performs a specific task.</a:t>
              </a:r>
            </a:p>
            <a:p>
              <a:pPr>
                <a:lnSpc>
                  <a:spcPct val="150000"/>
                </a:lnSpc>
              </a:pPr>
              <a:r>
                <a:rPr lang="en-US" sz="2400" dirty="0"/>
                <a:t>It does not return a value.</a:t>
              </a:r>
            </a:p>
            <a:p>
              <a:pPr>
                <a:lnSpc>
                  <a:spcPct val="150000"/>
                </a:lnSpc>
              </a:pPr>
              <a:r>
                <a:rPr lang="en-US" sz="2800" b="1" dirty="0"/>
                <a:t>Example: </a:t>
              </a:r>
            </a:p>
            <a:p>
              <a:pPr>
                <a:lnSpc>
                  <a:spcPct val="150000"/>
                </a:lnSpc>
              </a:pPr>
              <a:r>
                <a:rPr lang="en-US" sz="2400" dirty="0"/>
                <a:t>PROCEDURE </a:t>
              </a:r>
              <a:r>
                <a:rPr lang="en-US" sz="2400" dirty="0" err="1"/>
                <a:t>displayMessage</a:t>
              </a:r>
              <a:r>
                <a:rPr lang="en-US" sz="2400" dirty="0"/>
                <a:t> PRINT "Hello" END PROCEDURE</a:t>
              </a:r>
            </a:p>
            <a:p>
              <a:pPr>
                <a:lnSpc>
                  <a:spcPct val="150000"/>
                </a:lnSpc>
              </a:pPr>
              <a:r>
                <a:rPr lang="en-US" sz="2800" b="1" dirty="0"/>
                <a:t>Key Point: </a:t>
              </a:r>
            </a:p>
            <a:p>
              <a:pPr>
                <a:lnSpc>
                  <a:spcPct val="150000"/>
                </a:lnSpc>
              </a:pPr>
              <a:r>
                <a:rPr lang="en-US" sz="2400" dirty="0"/>
                <a:t>Used to organize and reuse code.</a:t>
              </a:r>
            </a:p>
          </p:txBody>
        </p:sp>
      </p:grpSp>
    </p:spTree>
    <p:extLst>
      <p:ext uri="{BB962C8B-B14F-4D97-AF65-F5344CB8AC3E}">
        <p14:creationId xmlns:p14="http://schemas.microsoft.com/office/powerpoint/2010/main" val="1359624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80D0-D1D1-A938-D717-A608F5EE91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F66065-F664-5D79-6BE2-2C6F17A2505B}"/>
              </a:ext>
            </a:extLst>
          </p:cNvPr>
          <p:cNvSpPr/>
          <p:nvPr/>
        </p:nvSpPr>
        <p:spPr>
          <a:xfrm rot="-1100510">
            <a:off x="4063258" y="-4044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928088D3-C52D-C8C8-3F30-ED043F00F75A}"/>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68DF35DD-6D15-B30D-19E8-87377D83F719}"/>
              </a:ext>
            </a:extLst>
          </p:cNvPr>
          <p:cNvGrpSpPr/>
          <p:nvPr/>
        </p:nvGrpSpPr>
        <p:grpSpPr>
          <a:xfrm>
            <a:off x="560162" y="1066800"/>
            <a:ext cx="8633276" cy="3762499"/>
            <a:chOff x="157480" y="-267335"/>
            <a:chExt cx="11511034" cy="5016667"/>
          </a:xfrm>
        </p:grpSpPr>
        <p:sp>
          <p:nvSpPr>
            <p:cNvPr id="6" name="TextBox 6">
              <a:extLst>
                <a:ext uri="{FF2B5EF4-FFF2-40B4-BE49-F238E27FC236}">
                  <a16:creationId xmlns:a16="http://schemas.microsoft.com/office/drawing/2014/main" id="{A56F616C-6431-7232-3770-B5F6796D2218}"/>
                </a:ext>
              </a:extLst>
            </p:cNvPr>
            <p:cNvSpPr txBox="1"/>
            <p:nvPr/>
          </p:nvSpPr>
          <p:spPr>
            <a:xfrm>
              <a:off x="157480" y="-267335"/>
              <a:ext cx="11511034" cy="973258"/>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Functions:</a:t>
              </a:r>
            </a:p>
          </p:txBody>
        </p:sp>
        <p:sp>
          <p:nvSpPr>
            <p:cNvPr id="7" name="TextBox 7">
              <a:extLst>
                <a:ext uri="{FF2B5EF4-FFF2-40B4-BE49-F238E27FC236}">
                  <a16:creationId xmlns:a16="http://schemas.microsoft.com/office/drawing/2014/main" id="{5F813C50-F280-D560-8D4D-E73C38777C51}"/>
                </a:ext>
              </a:extLst>
            </p:cNvPr>
            <p:cNvSpPr txBox="1"/>
            <p:nvPr/>
          </p:nvSpPr>
          <p:spPr>
            <a:xfrm>
              <a:off x="310603" y="886136"/>
              <a:ext cx="11204787" cy="3863196"/>
            </a:xfrm>
            <a:prstGeom prst="rect">
              <a:avLst/>
            </a:prstGeom>
          </p:spPr>
          <p:txBody>
            <a:bodyPr wrap="square" lIns="0" tIns="0" rIns="0" bIns="0" rtlCol="0" anchor="t">
              <a:spAutoFit/>
            </a:bodyPr>
            <a:lstStyle/>
            <a:p>
              <a:pPr>
                <a:lnSpc>
                  <a:spcPct val="150000"/>
                </a:lnSpc>
              </a:pPr>
              <a:r>
                <a:rPr lang="en-US" sz="2400" dirty="0"/>
                <a:t>A function is similar to a procedure but returns a value.</a:t>
              </a:r>
            </a:p>
            <a:p>
              <a:pPr>
                <a:lnSpc>
                  <a:spcPct val="150000"/>
                </a:lnSpc>
              </a:pPr>
              <a:r>
                <a:rPr lang="en-US" sz="2800" b="1" dirty="0"/>
                <a:t>Example: </a:t>
              </a:r>
            </a:p>
            <a:p>
              <a:pPr>
                <a:lnSpc>
                  <a:spcPct val="150000"/>
                </a:lnSpc>
              </a:pPr>
              <a:r>
                <a:rPr lang="en-US" sz="2400" dirty="0"/>
                <a:t>FUNCTION add(A, B) RETURN A + B END FUNCTION</a:t>
              </a:r>
            </a:p>
            <a:p>
              <a:pPr>
                <a:lnSpc>
                  <a:spcPct val="150000"/>
                </a:lnSpc>
              </a:pPr>
              <a:r>
                <a:rPr lang="en-US" sz="2800" b="1" dirty="0"/>
                <a:t>Key Point: </a:t>
              </a:r>
            </a:p>
            <a:p>
              <a:pPr>
                <a:lnSpc>
                  <a:spcPct val="150000"/>
                </a:lnSpc>
              </a:pPr>
              <a:r>
                <a:rPr lang="en-US" sz="2400" dirty="0"/>
                <a:t>Functions are used when a result is required.</a:t>
              </a:r>
            </a:p>
          </p:txBody>
        </p:sp>
      </p:grpSp>
    </p:spTree>
    <p:extLst>
      <p:ext uri="{BB962C8B-B14F-4D97-AF65-F5344CB8AC3E}">
        <p14:creationId xmlns:p14="http://schemas.microsoft.com/office/powerpoint/2010/main" val="3778588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9A413-2F68-CFC0-37BD-10D49365DD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BBEF95-AF1E-2157-F7E0-CF2E501AC75A}"/>
              </a:ext>
            </a:extLst>
          </p:cNvPr>
          <p:cNvSpPr/>
          <p:nvPr/>
        </p:nvSpPr>
        <p:spPr>
          <a:xfrm rot="-1100510">
            <a:off x="4063258" y="-4044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6CA4547F-75A4-E0B9-09C8-9F71AED70494}"/>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A39BAFFB-0844-2A7F-4BC2-EF00A14BA4F3}"/>
              </a:ext>
            </a:extLst>
          </p:cNvPr>
          <p:cNvGrpSpPr/>
          <p:nvPr/>
        </p:nvGrpSpPr>
        <p:grpSpPr>
          <a:xfrm>
            <a:off x="560162" y="1066800"/>
            <a:ext cx="8633276" cy="3670166"/>
            <a:chOff x="157480" y="-267335"/>
            <a:chExt cx="11511034" cy="4893556"/>
          </a:xfrm>
        </p:grpSpPr>
        <p:sp>
          <p:nvSpPr>
            <p:cNvPr id="6" name="TextBox 6">
              <a:extLst>
                <a:ext uri="{FF2B5EF4-FFF2-40B4-BE49-F238E27FC236}">
                  <a16:creationId xmlns:a16="http://schemas.microsoft.com/office/drawing/2014/main" id="{2C572927-5D59-C486-3810-920823EA440E}"/>
                </a:ext>
              </a:extLst>
            </p:cNvPr>
            <p:cNvSpPr txBox="1"/>
            <p:nvPr/>
          </p:nvSpPr>
          <p:spPr>
            <a:xfrm>
              <a:off x="157480" y="-267335"/>
              <a:ext cx="11511034" cy="973258"/>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Lists (Arrays):</a:t>
              </a:r>
            </a:p>
          </p:txBody>
        </p:sp>
        <p:sp>
          <p:nvSpPr>
            <p:cNvPr id="7" name="TextBox 7">
              <a:extLst>
                <a:ext uri="{FF2B5EF4-FFF2-40B4-BE49-F238E27FC236}">
                  <a16:creationId xmlns:a16="http://schemas.microsoft.com/office/drawing/2014/main" id="{E8539254-74B2-ACED-85FB-36525A06E2C1}"/>
                </a:ext>
              </a:extLst>
            </p:cNvPr>
            <p:cNvSpPr txBox="1"/>
            <p:nvPr/>
          </p:nvSpPr>
          <p:spPr>
            <a:xfrm>
              <a:off x="310603" y="886136"/>
              <a:ext cx="11204787" cy="3740085"/>
            </a:xfrm>
            <a:prstGeom prst="rect">
              <a:avLst/>
            </a:prstGeom>
          </p:spPr>
          <p:txBody>
            <a:bodyPr wrap="square" lIns="0" tIns="0" rIns="0" bIns="0" rtlCol="0" anchor="t">
              <a:spAutoFit/>
            </a:bodyPr>
            <a:lstStyle/>
            <a:p>
              <a:pPr>
                <a:lnSpc>
                  <a:spcPct val="150000"/>
                </a:lnSpc>
              </a:pPr>
              <a:r>
                <a:rPr lang="en-US" sz="2400" dirty="0"/>
                <a:t>A list (array) is a collection of items stored in a single variable.</a:t>
              </a:r>
            </a:p>
            <a:p>
              <a:pPr>
                <a:lnSpc>
                  <a:spcPct val="150000"/>
                </a:lnSpc>
              </a:pPr>
              <a:r>
                <a:rPr lang="en-US" sz="2400" b="1" dirty="0"/>
                <a:t>Example: </a:t>
              </a:r>
            </a:p>
            <a:p>
              <a:pPr>
                <a:lnSpc>
                  <a:spcPct val="150000"/>
                </a:lnSpc>
              </a:pPr>
              <a:r>
                <a:rPr lang="en-US" sz="2400" dirty="0"/>
                <a:t>Numbers = [10, 20, 30, 40]</a:t>
              </a:r>
            </a:p>
            <a:p>
              <a:pPr>
                <a:lnSpc>
                  <a:spcPct val="150000"/>
                </a:lnSpc>
              </a:pPr>
              <a:r>
                <a:rPr lang="en-US" sz="2800" b="1" dirty="0"/>
                <a:t>Accessing elements: </a:t>
              </a:r>
            </a:p>
            <a:p>
              <a:pPr>
                <a:lnSpc>
                  <a:spcPct val="150000"/>
                </a:lnSpc>
              </a:pPr>
              <a:r>
                <a:rPr lang="en-US" sz="2400" dirty="0"/>
                <a:t>Numbers[0], Numbers[1], etc.</a:t>
              </a:r>
            </a:p>
          </p:txBody>
        </p:sp>
      </p:grpSp>
    </p:spTree>
    <p:extLst>
      <p:ext uri="{BB962C8B-B14F-4D97-AF65-F5344CB8AC3E}">
        <p14:creationId xmlns:p14="http://schemas.microsoft.com/office/powerpoint/2010/main" val="2785250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30B16-4DBE-6564-C210-FB0A66DFD1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DE6C97-F853-722F-EAAC-80FC1F957AD5}"/>
              </a:ext>
            </a:extLst>
          </p:cNvPr>
          <p:cNvSpPr/>
          <p:nvPr/>
        </p:nvSpPr>
        <p:spPr>
          <a:xfrm rot="-1100510">
            <a:off x="5053859" y="-4669155"/>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4395302F-B1A2-B138-9181-6F172783B6B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AC7D6395-E48F-F826-04AE-38F6576125FB}"/>
              </a:ext>
            </a:extLst>
          </p:cNvPr>
          <p:cNvGrpSpPr/>
          <p:nvPr/>
        </p:nvGrpSpPr>
        <p:grpSpPr>
          <a:xfrm>
            <a:off x="508681" y="182599"/>
            <a:ext cx="8736238" cy="7017865"/>
            <a:chOff x="157480" y="-267335"/>
            <a:chExt cx="11648317" cy="9357157"/>
          </a:xfrm>
        </p:grpSpPr>
        <p:sp>
          <p:nvSpPr>
            <p:cNvPr id="6" name="TextBox 6">
              <a:extLst>
                <a:ext uri="{FF2B5EF4-FFF2-40B4-BE49-F238E27FC236}">
                  <a16:creationId xmlns:a16="http://schemas.microsoft.com/office/drawing/2014/main" id="{F6FB038A-0AAD-D6E0-7E3E-833C907C0CB6}"/>
                </a:ext>
              </a:extLst>
            </p:cNvPr>
            <p:cNvSpPr txBox="1"/>
            <p:nvPr/>
          </p:nvSpPr>
          <p:spPr>
            <a:xfrm>
              <a:off x="157480" y="-267335"/>
              <a:ext cx="11648317" cy="1964044"/>
            </a:xfrm>
            <a:prstGeom prst="rect">
              <a:avLst/>
            </a:prstGeom>
          </p:spPr>
          <p:txBody>
            <a:bodyPr wrap="square" lIns="0" tIns="0" rIns="0" bIns="0" rtlCol="0" anchor="t">
              <a:spAutoFit/>
            </a:bodyPr>
            <a:lstStyle/>
            <a:p>
              <a:pPr marL="685800" indent="-685800">
                <a:lnSpc>
                  <a:spcPts val="5900"/>
                </a:lnSpc>
                <a:buFont typeface="Wingdings" panose="05000000000000000000" pitchFamily="2" charset="2"/>
                <a:buChar char="q"/>
              </a:pPr>
              <a:r>
                <a:rPr lang="en-US" sz="4400" b="1" dirty="0">
                  <a:solidFill>
                    <a:srgbClr val="731F7D"/>
                  </a:solidFill>
                  <a:latin typeface="Calibri" panose="020F0502020204030204" charset="0"/>
                  <a:cs typeface="Calibri" panose="020F0502020204030204" charset="0"/>
                </a:rPr>
                <a:t>Pseudocode Practice (Repetition, Procedures, Functions, Lists)</a:t>
              </a:r>
              <a:r>
                <a:rPr lang="en-US" sz="4400" b="1" dirty="0">
                  <a:solidFill>
                    <a:srgbClr val="731F7D"/>
                  </a:solidFill>
                  <a:latin typeface="Calibri" panose="020F0502020204030204" charset="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3B8D0B18-B3DE-1DEF-C046-0495DC2590DF}"/>
                </a:ext>
              </a:extLst>
            </p:cNvPr>
            <p:cNvSpPr txBox="1"/>
            <p:nvPr/>
          </p:nvSpPr>
          <p:spPr>
            <a:xfrm>
              <a:off x="379245" y="1656416"/>
              <a:ext cx="11204786" cy="7433406"/>
            </a:xfrm>
            <a:prstGeom prst="rect">
              <a:avLst/>
            </a:prstGeom>
          </p:spPr>
          <p:txBody>
            <a:bodyPr wrap="square" lIns="0" tIns="0" rIns="0" bIns="0" rtlCol="0" anchor="t">
              <a:spAutoFit/>
            </a:bodyPr>
            <a:lstStyle/>
            <a:p>
              <a:pPr>
                <a:lnSpc>
                  <a:spcPct val="150000"/>
                </a:lnSpc>
              </a:pPr>
              <a:r>
                <a:rPr lang="en-US" sz="2800" b="1" dirty="0"/>
                <a:t>(A) Repetition Example (Sum of 1 to N)</a:t>
              </a:r>
            </a:p>
            <a:p>
              <a:pPr>
                <a:lnSpc>
                  <a:spcPct val="150000"/>
                </a:lnSpc>
              </a:pPr>
              <a:r>
                <a:rPr lang="en-US" sz="2400" dirty="0"/>
                <a:t>START</a:t>
              </a:r>
            </a:p>
            <a:p>
              <a:pPr>
                <a:lnSpc>
                  <a:spcPct val="150000"/>
                </a:lnSpc>
              </a:pPr>
              <a:r>
                <a:rPr lang="en-US" sz="2400" dirty="0"/>
                <a:t>INPUT N</a:t>
              </a:r>
            </a:p>
            <a:p>
              <a:pPr>
                <a:lnSpc>
                  <a:spcPct val="150000"/>
                </a:lnSpc>
              </a:pPr>
              <a:r>
                <a:rPr lang="en-US" sz="2400" dirty="0"/>
                <a:t>Set SUM = 0</a:t>
              </a:r>
            </a:p>
            <a:p>
              <a:pPr>
                <a:lnSpc>
                  <a:spcPct val="150000"/>
                </a:lnSpc>
              </a:pPr>
              <a:r>
                <a:rPr lang="en-US" sz="2400" dirty="0"/>
                <a:t>Set </a:t>
              </a:r>
              <a:r>
                <a:rPr lang="en-US" sz="2400" dirty="0" err="1"/>
                <a:t>i</a:t>
              </a:r>
              <a:r>
                <a:rPr lang="en-US" sz="2400" dirty="0"/>
                <a:t> = 1</a:t>
              </a:r>
            </a:p>
            <a:p>
              <a:pPr>
                <a:lnSpc>
                  <a:spcPct val="150000"/>
                </a:lnSpc>
              </a:pPr>
              <a:r>
                <a:rPr lang="en-US" sz="2400" dirty="0"/>
                <a:t>Check if </a:t>
              </a:r>
              <a:r>
                <a:rPr lang="en-US" sz="2400" dirty="0" err="1"/>
                <a:t>i</a:t>
              </a:r>
              <a:r>
                <a:rPr lang="en-US" sz="2400" dirty="0"/>
                <a:t> ≤ N</a:t>
              </a:r>
            </a:p>
            <a:p>
              <a:pPr>
                <a:lnSpc>
                  <a:spcPct val="150000"/>
                </a:lnSpc>
              </a:pPr>
              <a:r>
                <a:rPr lang="en-US" sz="2400" dirty="0"/>
                <a:t>If yes, SUM = SUM + </a:t>
              </a:r>
              <a:r>
                <a:rPr lang="en-US" sz="2400" dirty="0" err="1"/>
                <a:t>i</a:t>
              </a:r>
              <a:endParaRPr lang="en-US" sz="2400" dirty="0"/>
            </a:p>
            <a:p>
              <a:pPr>
                <a:lnSpc>
                  <a:spcPct val="150000"/>
                </a:lnSpc>
              </a:pPr>
              <a:r>
                <a:rPr lang="en-US" sz="2400" dirty="0"/>
                <a:t>Increase </a:t>
              </a:r>
              <a:r>
                <a:rPr lang="en-US" sz="2400" dirty="0" err="1"/>
                <a:t>i</a:t>
              </a:r>
              <a:r>
                <a:rPr lang="en-US" sz="2400" dirty="0"/>
                <a:t> by 1</a:t>
              </a:r>
            </a:p>
            <a:p>
              <a:pPr>
                <a:lnSpc>
                  <a:spcPct val="150000"/>
                </a:lnSpc>
              </a:pPr>
              <a:r>
                <a:rPr lang="en-US" sz="2400" dirty="0"/>
                <a:t>Go back to step 4</a:t>
              </a:r>
            </a:p>
            <a:p>
              <a:pPr>
                <a:lnSpc>
                  <a:spcPct val="150000"/>
                </a:lnSpc>
              </a:pPr>
              <a:r>
                <a:rPr lang="en-US" sz="2400" dirty="0"/>
                <a:t>If no, PRINT SUM END</a:t>
              </a:r>
            </a:p>
          </p:txBody>
        </p:sp>
      </p:grpSp>
    </p:spTree>
    <p:extLst>
      <p:ext uri="{BB962C8B-B14F-4D97-AF65-F5344CB8AC3E}">
        <p14:creationId xmlns:p14="http://schemas.microsoft.com/office/powerpoint/2010/main" val="1874514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AE584-171F-44B3-5181-B7CD4DC394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5C2DCA-D3EC-B356-B062-EE511AD9AFB8}"/>
              </a:ext>
            </a:extLst>
          </p:cNvPr>
          <p:cNvSpPr/>
          <p:nvPr/>
        </p:nvSpPr>
        <p:spPr>
          <a:xfrm rot="-1100510">
            <a:off x="5053859" y="-4669155"/>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270E2EAD-8466-C3BC-444E-E87BD8DE81E9}"/>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F72C6663-E58F-0D5D-1619-0B70772C7A5B}"/>
              </a:ext>
            </a:extLst>
          </p:cNvPr>
          <p:cNvGrpSpPr/>
          <p:nvPr/>
        </p:nvGrpSpPr>
        <p:grpSpPr>
          <a:xfrm>
            <a:off x="508681" y="485534"/>
            <a:ext cx="8736238" cy="6002202"/>
            <a:chOff x="157480" y="-267335"/>
            <a:chExt cx="11648317" cy="8002939"/>
          </a:xfrm>
        </p:grpSpPr>
        <p:sp>
          <p:nvSpPr>
            <p:cNvPr id="6" name="TextBox 6">
              <a:extLst>
                <a:ext uri="{FF2B5EF4-FFF2-40B4-BE49-F238E27FC236}">
                  <a16:creationId xmlns:a16="http://schemas.microsoft.com/office/drawing/2014/main" id="{5A10CA0E-A0D3-2BF7-BCC1-BFA52A6917BC}"/>
                </a:ext>
              </a:extLst>
            </p:cNvPr>
            <p:cNvSpPr txBox="1"/>
            <p:nvPr/>
          </p:nvSpPr>
          <p:spPr>
            <a:xfrm>
              <a:off x="157480" y="-267335"/>
              <a:ext cx="11648317" cy="1964044"/>
            </a:xfrm>
            <a:prstGeom prst="rect">
              <a:avLst/>
            </a:prstGeom>
          </p:spPr>
          <p:txBody>
            <a:bodyPr wrap="square" lIns="0" tIns="0" rIns="0" bIns="0" rtlCol="0" anchor="t">
              <a:spAutoFit/>
            </a:bodyPr>
            <a:lstStyle/>
            <a:p>
              <a:pPr marL="685800" indent="-685800">
                <a:lnSpc>
                  <a:spcPts val="5900"/>
                </a:lnSpc>
                <a:buFont typeface="Wingdings" panose="05000000000000000000" pitchFamily="2" charset="2"/>
                <a:buChar char="q"/>
              </a:pPr>
              <a:r>
                <a:rPr lang="en-US" sz="4400" b="1" dirty="0">
                  <a:solidFill>
                    <a:srgbClr val="731F7D"/>
                  </a:solidFill>
                  <a:latin typeface="Calibri" panose="020F0502020204030204" charset="0"/>
                  <a:cs typeface="Calibri" panose="020F0502020204030204" charset="0"/>
                </a:rPr>
                <a:t>Pseudocode Practice (Repetition, Procedures, Functions, Lists)</a:t>
              </a:r>
              <a:r>
                <a:rPr lang="en-US" sz="4400" b="1" dirty="0">
                  <a:solidFill>
                    <a:srgbClr val="731F7D"/>
                  </a:solidFill>
                  <a:latin typeface="Calibri" panose="020F0502020204030204" charset="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2F721571-EABF-B1CA-83A2-CA87F9F1EA75}"/>
                </a:ext>
              </a:extLst>
            </p:cNvPr>
            <p:cNvSpPr txBox="1"/>
            <p:nvPr/>
          </p:nvSpPr>
          <p:spPr>
            <a:xfrm>
              <a:off x="379245" y="1656416"/>
              <a:ext cx="11204786" cy="6079188"/>
            </a:xfrm>
            <a:prstGeom prst="rect">
              <a:avLst/>
            </a:prstGeom>
          </p:spPr>
          <p:txBody>
            <a:bodyPr wrap="square" lIns="0" tIns="0" rIns="0" bIns="0" rtlCol="0" anchor="t">
              <a:spAutoFit/>
            </a:bodyPr>
            <a:lstStyle/>
            <a:p>
              <a:pPr>
                <a:lnSpc>
                  <a:spcPct val="150000"/>
                </a:lnSpc>
              </a:pPr>
              <a:r>
                <a:rPr lang="en-US" sz="2800" b="1" dirty="0"/>
                <a:t>(B) Procedure Example</a:t>
              </a:r>
            </a:p>
            <a:p>
              <a:pPr>
                <a:lnSpc>
                  <a:spcPct val="150000"/>
                </a:lnSpc>
              </a:pPr>
              <a:r>
                <a:rPr lang="en-US" sz="2400" dirty="0"/>
                <a:t>START</a:t>
              </a:r>
            </a:p>
            <a:p>
              <a:pPr>
                <a:lnSpc>
                  <a:spcPct val="150000"/>
                </a:lnSpc>
              </a:pPr>
              <a:r>
                <a:rPr lang="en-US" sz="2400" dirty="0"/>
                <a:t>CALL </a:t>
              </a:r>
              <a:r>
                <a:rPr lang="en-US" sz="2400" dirty="0" err="1"/>
                <a:t>displayMessage</a:t>
              </a:r>
              <a:r>
                <a:rPr lang="en-US" sz="2400" dirty="0"/>
                <a:t> END</a:t>
              </a:r>
            </a:p>
            <a:p>
              <a:pPr>
                <a:lnSpc>
                  <a:spcPct val="150000"/>
                </a:lnSpc>
              </a:pPr>
              <a:r>
                <a:rPr lang="en-US" sz="2800" b="1" dirty="0"/>
                <a:t>(C) Function Example</a:t>
              </a:r>
            </a:p>
            <a:p>
              <a:pPr>
                <a:lnSpc>
                  <a:spcPct val="150000"/>
                </a:lnSpc>
              </a:pPr>
              <a:r>
                <a:rPr lang="en-US" sz="2400" dirty="0"/>
                <a:t>START</a:t>
              </a:r>
            </a:p>
            <a:p>
              <a:pPr>
                <a:lnSpc>
                  <a:spcPct val="150000"/>
                </a:lnSpc>
              </a:pPr>
              <a:r>
                <a:rPr lang="en-US" sz="2400" dirty="0"/>
                <a:t>INPUT A, B</a:t>
              </a:r>
            </a:p>
            <a:p>
              <a:pPr>
                <a:lnSpc>
                  <a:spcPct val="150000"/>
                </a:lnSpc>
              </a:pPr>
              <a:r>
                <a:rPr lang="en-US" sz="2400" dirty="0"/>
                <a:t>RESULT = add(A, B)</a:t>
              </a:r>
            </a:p>
            <a:p>
              <a:pPr>
                <a:lnSpc>
                  <a:spcPct val="150000"/>
                </a:lnSpc>
              </a:pPr>
              <a:r>
                <a:rPr lang="en-US" sz="2400" dirty="0"/>
                <a:t>PRINT RESULT END</a:t>
              </a:r>
            </a:p>
          </p:txBody>
        </p:sp>
      </p:grpSp>
    </p:spTree>
    <p:extLst>
      <p:ext uri="{BB962C8B-B14F-4D97-AF65-F5344CB8AC3E}">
        <p14:creationId xmlns:p14="http://schemas.microsoft.com/office/powerpoint/2010/main" val="2319562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2E7AE-4514-8571-E069-A039668B8D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7F5E30-8EE8-BE50-877B-91CB18FF47D7}"/>
              </a:ext>
            </a:extLst>
          </p:cNvPr>
          <p:cNvSpPr/>
          <p:nvPr/>
        </p:nvSpPr>
        <p:spPr>
          <a:xfrm rot="-1100510">
            <a:off x="5053859" y="-4669155"/>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E1C70E4-853D-B98F-682C-52C1BB768192}"/>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CE17D2F-1A36-AC50-9748-6A98B63C50EE}"/>
              </a:ext>
            </a:extLst>
          </p:cNvPr>
          <p:cNvGrpSpPr/>
          <p:nvPr/>
        </p:nvGrpSpPr>
        <p:grpSpPr>
          <a:xfrm>
            <a:off x="508681" y="457200"/>
            <a:ext cx="8736238" cy="5909870"/>
            <a:chOff x="157480" y="-267335"/>
            <a:chExt cx="11648317" cy="7879829"/>
          </a:xfrm>
        </p:grpSpPr>
        <p:sp>
          <p:nvSpPr>
            <p:cNvPr id="6" name="TextBox 6">
              <a:extLst>
                <a:ext uri="{FF2B5EF4-FFF2-40B4-BE49-F238E27FC236}">
                  <a16:creationId xmlns:a16="http://schemas.microsoft.com/office/drawing/2014/main" id="{97AD8587-702D-E5DD-817B-6709D57DD287}"/>
                </a:ext>
              </a:extLst>
            </p:cNvPr>
            <p:cNvSpPr txBox="1"/>
            <p:nvPr/>
          </p:nvSpPr>
          <p:spPr>
            <a:xfrm>
              <a:off x="157480" y="-267335"/>
              <a:ext cx="11648317" cy="1964044"/>
            </a:xfrm>
            <a:prstGeom prst="rect">
              <a:avLst/>
            </a:prstGeom>
          </p:spPr>
          <p:txBody>
            <a:bodyPr wrap="square" lIns="0" tIns="0" rIns="0" bIns="0" rtlCol="0" anchor="t">
              <a:spAutoFit/>
            </a:bodyPr>
            <a:lstStyle/>
            <a:p>
              <a:pPr marL="685800" indent="-685800">
                <a:lnSpc>
                  <a:spcPts val="5900"/>
                </a:lnSpc>
                <a:buFont typeface="Wingdings" panose="05000000000000000000" pitchFamily="2" charset="2"/>
                <a:buChar char="q"/>
              </a:pPr>
              <a:r>
                <a:rPr lang="en-US" sz="4400" b="1" dirty="0">
                  <a:solidFill>
                    <a:srgbClr val="731F7D"/>
                  </a:solidFill>
                  <a:latin typeface="Calibri" panose="020F0502020204030204" charset="0"/>
                  <a:cs typeface="Calibri" panose="020F0502020204030204" charset="0"/>
                </a:rPr>
                <a:t>Pseudocode Practice (Repetition, Procedures, Functions, Lists)</a:t>
              </a:r>
              <a:r>
                <a:rPr lang="en-US" sz="4400" b="1" dirty="0">
                  <a:solidFill>
                    <a:srgbClr val="731F7D"/>
                  </a:solidFill>
                  <a:latin typeface="Calibri" panose="020F0502020204030204" charset="0"/>
                  <a:cs typeface="Calibri" panose="020F0502020204030204" charset="0"/>
                  <a:sym typeface="HK Grotesk Bold" panose="00000800000000000000"/>
                </a:rPr>
                <a:t>:</a:t>
              </a:r>
            </a:p>
          </p:txBody>
        </p:sp>
        <p:sp>
          <p:nvSpPr>
            <p:cNvPr id="7" name="TextBox 7">
              <a:extLst>
                <a:ext uri="{FF2B5EF4-FFF2-40B4-BE49-F238E27FC236}">
                  <a16:creationId xmlns:a16="http://schemas.microsoft.com/office/drawing/2014/main" id="{8BBDB49E-7084-4E75-A005-38453B63F160}"/>
                </a:ext>
              </a:extLst>
            </p:cNvPr>
            <p:cNvSpPr txBox="1"/>
            <p:nvPr/>
          </p:nvSpPr>
          <p:spPr>
            <a:xfrm>
              <a:off x="379245" y="1656416"/>
              <a:ext cx="11204786" cy="5956078"/>
            </a:xfrm>
            <a:prstGeom prst="rect">
              <a:avLst/>
            </a:prstGeom>
          </p:spPr>
          <p:txBody>
            <a:bodyPr wrap="square" lIns="0" tIns="0" rIns="0" bIns="0" rtlCol="0" anchor="t">
              <a:spAutoFit/>
            </a:bodyPr>
            <a:lstStyle/>
            <a:p>
              <a:pPr>
                <a:lnSpc>
                  <a:spcPct val="150000"/>
                </a:lnSpc>
              </a:pPr>
              <a:r>
                <a:rPr lang="en-US" sz="2800" b="1" dirty="0"/>
                <a:t>(D) List Example (Find Maximum)</a:t>
              </a:r>
            </a:p>
            <a:p>
              <a:pPr>
                <a:lnSpc>
                  <a:spcPct val="150000"/>
                </a:lnSpc>
              </a:pPr>
              <a:r>
                <a:rPr lang="en-US" sz="2400" dirty="0"/>
                <a:t>START</a:t>
              </a:r>
            </a:p>
            <a:p>
              <a:pPr>
                <a:lnSpc>
                  <a:spcPct val="150000"/>
                </a:lnSpc>
              </a:pPr>
              <a:r>
                <a:rPr lang="en-US" sz="2400" dirty="0"/>
                <a:t>INPUT list of numbers</a:t>
              </a:r>
            </a:p>
            <a:p>
              <a:pPr>
                <a:lnSpc>
                  <a:spcPct val="150000"/>
                </a:lnSpc>
              </a:pPr>
              <a:r>
                <a:rPr lang="en-US" sz="2400" dirty="0"/>
                <a:t>Set MAX = first element</a:t>
              </a:r>
            </a:p>
            <a:p>
              <a:pPr>
                <a:lnSpc>
                  <a:spcPct val="150000"/>
                </a:lnSpc>
              </a:pPr>
              <a:r>
                <a:rPr lang="en-US" sz="2400" dirty="0"/>
                <a:t>Compare each element with MAX</a:t>
              </a:r>
            </a:p>
            <a:p>
              <a:pPr>
                <a:lnSpc>
                  <a:spcPct val="150000"/>
                </a:lnSpc>
              </a:pPr>
              <a:r>
                <a:rPr lang="en-US" sz="2400" dirty="0"/>
                <a:t>If element &gt; MAX, then update MAX</a:t>
              </a:r>
            </a:p>
            <a:p>
              <a:pPr>
                <a:lnSpc>
                  <a:spcPct val="150000"/>
                </a:lnSpc>
              </a:pPr>
              <a:r>
                <a:rPr lang="en-US" sz="2400" dirty="0"/>
                <a:t>Repeat for all elements</a:t>
              </a:r>
            </a:p>
            <a:p>
              <a:pPr>
                <a:lnSpc>
                  <a:spcPct val="150000"/>
                </a:lnSpc>
              </a:pPr>
              <a:r>
                <a:rPr lang="en-US" sz="2400" dirty="0"/>
                <a:t>PRINT MAX END</a:t>
              </a:r>
            </a:p>
          </p:txBody>
        </p:sp>
      </p:grpSp>
    </p:spTree>
    <p:extLst>
      <p:ext uri="{BB962C8B-B14F-4D97-AF65-F5344CB8AC3E}">
        <p14:creationId xmlns:p14="http://schemas.microsoft.com/office/powerpoint/2010/main" val="2971098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F4EC-D1F0-D1E7-6A58-74F0D87196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0D4CD9-AB8E-1486-ED54-D65F35ED7BCE}"/>
              </a:ext>
            </a:extLst>
          </p:cNvPr>
          <p:cNvSpPr/>
          <p:nvPr/>
        </p:nvSpPr>
        <p:spPr>
          <a:xfrm rot="-1100510">
            <a:off x="4139458" y="-37399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2AB5516C-0AF5-6D65-70A0-D49FA63A7988}"/>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54C5F2C-B080-6600-8596-DD550F00B424}"/>
              </a:ext>
            </a:extLst>
          </p:cNvPr>
          <p:cNvGrpSpPr/>
          <p:nvPr/>
        </p:nvGrpSpPr>
        <p:grpSpPr>
          <a:xfrm>
            <a:off x="560162" y="812873"/>
            <a:ext cx="8633276" cy="5170395"/>
            <a:chOff x="157480" y="-267335"/>
            <a:chExt cx="11511034" cy="6893862"/>
          </a:xfrm>
        </p:grpSpPr>
        <p:sp>
          <p:nvSpPr>
            <p:cNvPr id="6" name="TextBox 6">
              <a:extLst>
                <a:ext uri="{FF2B5EF4-FFF2-40B4-BE49-F238E27FC236}">
                  <a16:creationId xmlns:a16="http://schemas.microsoft.com/office/drawing/2014/main" id="{A995CDC7-6AC1-F32B-E58A-9989E13F5D1C}"/>
                </a:ext>
              </a:extLst>
            </p:cNvPr>
            <p:cNvSpPr txBox="1"/>
            <p:nvPr/>
          </p:nvSpPr>
          <p:spPr>
            <a:xfrm>
              <a:off x="157480" y="-267335"/>
              <a:ext cx="11511034" cy="2990905"/>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Generating Flowcharts (Repetition &amp; Decision Integration):</a:t>
              </a:r>
            </a:p>
          </p:txBody>
        </p:sp>
        <p:sp>
          <p:nvSpPr>
            <p:cNvPr id="7" name="TextBox 7">
              <a:extLst>
                <a:ext uri="{FF2B5EF4-FFF2-40B4-BE49-F238E27FC236}">
                  <a16:creationId xmlns:a16="http://schemas.microsoft.com/office/drawing/2014/main" id="{FFAE0E68-F80F-B270-96A7-A394C66747A5}"/>
                </a:ext>
              </a:extLst>
            </p:cNvPr>
            <p:cNvSpPr txBox="1"/>
            <p:nvPr/>
          </p:nvSpPr>
          <p:spPr>
            <a:xfrm>
              <a:off x="310603" y="2763332"/>
              <a:ext cx="11204787" cy="3863195"/>
            </a:xfrm>
            <a:prstGeom prst="rect">
              <a:avLst/>
            </a:prstGeom>
          </p:spPr>
          <p:txBody>
            <a:bodyPr wrap="square" lIns="0" tIns="0" rIns="0" bIns="0" rtlCol="0" anchor="t">
              <a:spAutoFit/>
            </a:bodyPr>
            <a:lstStyle/>
            <a:p>
              <a:pPr marL="457200" indent="-457200">
                <a:lnSpc>
                  <a:spcPct val="150000"/>
                </a:lnSpc>
                <a:buFont typeface="Arial" panose="020B0604020202020204" pitchFamily="34" charset="0"/>
                <a:buChar char="•"/>
              </a:pPr>
              <a:r>
                <a:rPr lang="en-US" sz="2800" b="1" dirty="0"/>
                <a:t>Repetition Flowchart</a:t>
              </a:r>
            </a:p>
            <a:p>
              <a:pPr>
                <a:lnSpc>
                  <a:spcPct val="150000"/>
                </a:lnSpc>
              </a:pPr>
              <a:r>
                <a:rPr lang="en-US" sz="2400" dirty="0"/>
                <a:t>Start</a:t>
              </a:r>
              <a:r>
                <a:rPr lang="en-US" sz="2400" b="1" dirty="0"/>
                <a:t> → </a:t>
              </a:r>
              <a:r>
                <a:rPr lang="en-US" sz="2400" dirty="0"/>
                <a:t>Initialize</a:t>
              </a:r>
              <a:r>
                <a:rPr lang="en-US" sz="2400" b="1" dirty="0"/>
                <a:t> → </a:t>
              </a:r>
              <a:r>
                <a:rPr lang="en-US" sz="2400" dirty="0"/>
                <a:t>Decision </a:t>
              </a:r>
              <a:r>
                <a:rPr lang="en-US" sz="2400" b="1" dirty="0"/>
                <a:t>→</a:t>
              </a:r>
              <a:r>
                <a:rPr lang="en-US" sz="2400" dirty="0"/>
                <a:t> Yes </a:t>
              </a:r>
              <a:r>
                <a:rPr lang="en-US" sz="2400" b="1" dirty="0"/>
                <a:t>→</a:t>
              </a:r>
              <a:r>
                <a:rPr lang="en-US" sz="2400" dirty="0"/>
                <a:t> Process </a:t>
              </a:r>
              <a:r>
                <a:rPr lang="en-US" sz="2400" b="1" dirty="0"/>
                <a:t>→</a:t>
              </a:r>
              <a:r>
                <a:rPr lang="en-US" sz="2400" dirty="0"/>
                <a:t> Loop Back </a:t>
              </a:r>
              <a:r>
                <a:rPr lang="en-US" sz="2400" b="1" dirty="0"/>
                <a:t>→</a:t>
              </a:r>
              <a:r>
                <a:rPr lang="en-US" sz="2400" dirty="0"/>
                <a:t> No </a:t>
              </a:r>
              <a:r>
                <a:rPr lang="en-US" sz="2400" b="1" dirty="0"/>
                <a:t>→</a:t>
              </a:r>
              <a:r>
                <a:rPr lang="en-US" sz="2400" dirty="0"/>
                <a:t> End</a:t>
              </a:r>
            </a:p>
            <a:p>
              <a:pPr marL="457200" indent="-457200">
                <a:lnSpc>
                  <a:spcPct val="150000"/>
                </a:lnSpc>
                <a:buFont typeface="Arial" panose="020B0604020202020204" pitchFamily="34" charset="0"/>
                <a:buChar char="•"/>
              </a:pPr>
              <a:r>
                <a:rPr lang="en-US" sz="2800" b="1" dirty="0"/>
                <a:t>Combined Flow (Loop + Decision)</a:t>
              </a:r>
            </a:p>
            <a:p>
              <a:pPr>
                <a:lnSpc>
                  <a:spcPct val="150000"/>
                </a:lnSpc>
              </a:pPr>
              <a:r>
                <a:rPr lang="en-US" sz="2400" dirty="0"/>
                <a:t>Start </a:t>
              </a:r>
              <a:r>
                <a:rPr lang="en-US" sz="2400" b="1" dirty="0"/>
                <a:t>→</a:t>
              </a:r>
              <a:r>
                <a:rPr lang="en-US" sz="2400" dirty="0"/>
                <a:t> Input </a:t>
              </a:r>
              <a:r>
                <a:rPr lang="en-US" sz="2400" b="1" dirty="0"/>
                <a:t>→</a:t>
              </a:r>
              <a:r>
                <a:rPr lang="en-US" sz="2400" dirty="0"/>
                <a:t> Loop </a:t>
              </a:r>
              <a:r>
                <a:rPr lang="en-US" sz="2400" b="1" dirty="0"/>
                <a:t>→</a:t>
              </a:r>
              <a:r>
                <a:rPr lang="en-US" sz="2400" dirty="0"/>
                <a:t> Decision inside loop </a:t>
              </a:r>
              <a:r>
                <a:rPr lang="en-US" sz="2400" b="1" dirty="0"/>
                <a:t>→</a:t>
              </a:r>
              <a:r>
                <a:rPr lang="en-US" sz="2400" dirty="0"/>
                <a:t> Update </a:t>
              </a:r>
              <a:r>
                <a:rPr lang="en-US" sz="2400" b="1" dirty="0"/>
                <a:t>→</a:t>
              </a:r>
              <a:r>
                <a:rPr lang="en-US" sz="2400" dirty="0"/>
                <a:t> End</a:t>
              </a:r>
            </a:p>
          </p:txBody>
        </p:sp>
      </p:grpSp>
    </p:spTree>
    <p:extLst>
      <p:ext uri="{BB962C8B-B14F-4D97-AF65-F5344CB8AC3E}">
        <p14:creationId xmlns:p14="http://schemas.microsoft.com/office/powerpoint/2010/main" val="68354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F899-E57A-BB0F-4DCF-4168B7654E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EA615-4D58-A39D-C451-E9F337829D0D}"/>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0D6056-2B56-EC44-490F-42EDBF16461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5F4B8FE-5281-557F-A829-F7A043CEBC41}"/>
              </a:ext>
            </a:extLst>
          </p:cNvPr>
          <p:cNvGrpSpPr/>
          <p:nvPr/>
        </p:nvGrpSpPr>
        <p:grpSpPr>
          <a:xfrm>
            <a:off x="560162" y="1027408"/>
            <a:ext cx="8757829" cy="4468686"/>
            <a:chOff x="157480" y="-267335"/>
            <a:chExt cx="11677104" cy="5958247"/>
          </a:xfrm>
        </p:grpSpPr>
        <p:sp>
          <p:nvSpPr>
            <p:cNvPr id="6" name="TextBox 6">
              <a:extLst>
                <a:ext uri="{FF2B5EF4-FFF2-40B4-BE49-F238E27FC236}">
                  <a16:creationId xmlns:a16="http://schemas.microsoft.com/office/drawing/2014/main" id="{5D4FC425-4DB3-31FE-3B01-160C70AD4125}"/>
                </a:ext>
              </a:extLst>
            </p:cNvPr>
            <p:cNvSpPr txBox="1"/>
            <p:nvPr/>
          </p:nvSpPr>
          <p:spPr>
            <a:xfrm>
              <a:off x="157480" y="-267335"/>
              <a:ext cx="11511034" cy="2990904"/>
            </a:xfrm>
            <a:prstGeom prst="rect">
              <a:avLst/>
            </a:prstGeom>
          </p:spPr>
          <p:txBody>
            <a:bodyPr lIns="0" tIns="0" rIns="0" bIns="0" rtlCol="0" anchor="t">
              <a:spAutoFit/>
            </a:bodyPr>
            <a:lstStyle/>
            <a:p>
              <a:pPr marL="685800" indent="-685800">
                <a:lnSpc>
                  <a:spcPts val="5900"/>
                </a:lnSpc>
                <a:buFont typeface="Wingdings" panose="05000000000000000000" pitchFamily="2" charset="2"/>
                <a:buChar char="q"/>
              </a:pPr>
              <a:r>
                <a:rPr lang="en-US" sz="4400" b="1" dirty="0">
                  <a:solidFill>
                    <a:srgbClr val="731F7D"/>
                  </a:solidFill>
                  <a:latin typeface="Calibri" panose="020F0502020204030204" charset="0"/>
                  <a:cs typeface="Calibri" panose="020F0502020204030204" charset="0"/>
                </a:rPr>
                <a:t>Advantages of Repetition Structures, Procedures, Functions and Lists:</a:t>
              </a:r>
              <a:endParaRPr lang="en-US" sz="44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endParaRPr>
            </a:p>
          </p:txBody>
        </p:sp>
        <p:sp>
          <p:nvSpPr>
            <p:cNvPr id="7" name="TextBox 7">
              <a:extLst>
                <a:ext uri="{FF2B5EF4-FFF2-40B4-BE49-F238E27FC236}">
                  <a16:creationId xmlns:a16="http://schemas.microsoft.com/office/drawing/2014/main" id="{2BC30B7D-9983-C478-8E75-0779981A140E}"/>
                </a:ext>
              </a:extLst>
            </p:cNvPr>
            <p:cNvSpPr txBox="1"/>
            <p:nvPr/>
          </p:nvSpPr>
          <p:spPr>
            <a:xfrm>
              <a:off x="629797" y="2812603"/>
              <a:ext cx="11204787" cy="2878309"/>
            </a:xfrm>
            <a:prstGeom prst="rect">
              <a:avLst/>
            </a:prstGeom>
          </p:spPr>
          <p:txBody>
            <a:bodyPr wrap="square" lIns="0" tIns="0" rIns="0" bIns="0" rtlCol="0" anchor="t">
              <a:spAutoFit/>
            </a:bodyPr>
            <a:lstStyle/>
            <a:p>
              <a:pPr algn="just">
                <a:lnSpc>
                  <a:spcPct val="150000"/>
                </a:lnSpc>
              </a:pPr>
              <a:r>
                <a:rPr lang="en-US" sz="2400" dirty="0"/>
                <a:t>• Reduces code repetition.</a:t>
              </a:r>
            </a:p>
            <a:p>
              <a:pPr algn="just">
                <a:lnSpc>
                  <a:spcPct val="150000"/>
                </a:lnSpc>
              </a:pPr>
              <a:r>
                <a:rPr lang="en-US" sz="2400" dirty="0"/>
                <a:t>• Improves efficiency.</a:t>
              </a:r>
            </a:p>
            <a:p>
              <a:pPr algn="just">
                <a:lnSpc>
                  <a:spcPct val="150000"/>
                </a:lnSpc>
              </a:pPr>
              <a:r>
                <a:rPr lang="en-US" sz="2400" dirty="0"/>
                <a:t>• Makes programs modular (procedures/functions). </a:t>
              </a:r>
            </a:p>
            <a:p>
              <a:pPr algn="just">
                <a:lnSpc>
                  <a:spcPct val="150000"/>
                </a:lnSpc>
              </a:pPr>
              <a:r>
                <a:rPr lang="en-US" sz="2400" dirty="0"/>
                <a:t>• Easy data handling using lists.</a:t>
              </a:r>
            </a:p>
          </p:txBody>
        </p:sp>
      </p:grpSp>
    </p:spTree>
    <p:extLst>
      <p:ext uri="{BB962C8B-B14F-4D97-AF65-F5344CB8AC3E}">
        <p14:creationId xmlns:p14="http://schemas.microsoft.com/office/powerpoint/2010/main" val="4077094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2"/>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3"/>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4"/>
            <a:stretch>
              <a:fillRect/>
            </a:stretch>
          </a:blipFill>
        </p:spPr>
      </p:sp>
      <p:sp>
        <p:nvSpPr>
          <p:cNvPr id="6" name="TextBox 6"/>
          <p:cNvSpPr txBox="1"/>
          <p:nvPr/>
        </p:nvSpPr>
        <p:spPr>
          <a:xfrm>
            <a:off x="633405" y="1981200"/>
            <a:ext cx="6300796" cy="4023345"/>
          </a:xfrm>
          <a:prstGeom prst="rect">
            <a:avLst/>
          </a:prstGeom>
        </p:spPr>
        <p:txBody>
          <a:bodyPr wrap="square" lIns="0" tIns="0" rIns="0" bIns="0" rtlCol="0" anchor="t">
            <a:spAutoFit/>
          </a:bodyPr>
          <a:lstStyle/>
          <a:p>
            <a:pPr algn="just">
              <a:lnSpc>
                <a:spcPts val="5900"/>
              </a:lnSpc>
            </a:pPr>
            <a:r>
              <a:rPr lang="en-US" sz="3600" b="1" dirty="0">
                <a:solidFill>
                  <a:schemeClr val="bg1"/>
                </a:solidFill>
                <a:latin typeface="Calibri" panose="020F0502020204030204" charset="0"/>
                <a:ea typeface="HK Grotesk Bold" panose="00000800000000000000"/>
                <a:cs typeface="Calibri" panose="020F0502020204030204" charset="0"/>
                <a:sym typeface="HK Grotesk Bold" panose="00000800000000000000"/>
              </a:rPr>
              <a:t>Summary of Lecture </a:t>
            </a:r>
          </a:p>
          <a:p>
            <a:pPr algn="just">
              <a:lnSpc>
                <a:spcPct val="150000"/>
              </a:lnSpc>
            </a:pPr>
            <a:r>
              <a:rPr lang="en-US" sz="2400" dirty="0">
                <a:solidFill>
                  <a:schemeClr val="bg1"/>
                </a:solidFill>
              </a:rPr>
              <a:t>Repetition structures allow repeated execution of instructions based on conditions. Procedures and functions help organize code, while lists store multiple values. Pseudocode and flowcharts are used to represent these concepts clearly before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733</Words>
  <Application>Microsoft Office PowerPoint</Application>
  <PresentationFormat>Custom</PresentationFormat>
  <Paragraphs>111</Paragraphs>
  <Slides>16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Halant Bold</vt:lpstr>
      <vt:lpstr>Arial</vt:lpstr>
      <vt:lpstr>Arial Black</vt:lpstr>
      <vt:lpstr>Halant Medium</vt:lpstr>
      <vt:lpstr>Wingdings</vt:lpstr>
      <vt:lpstr>HK Grotesk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cp:lastModifiedBy>
  <cp:revision>64</cp:revision>
  <dcterms:created xsi:type="dcterms:W3CDTF">2006-08-16T00:00:00Z</dcterms:created>
  <dcterms:modified xsi:type="dcterms:W3CDTF">2026-04-25T21:22:13Z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1033-12.1.0.25242</vt:lpwstr>
  </property>
</Properties>
</file>