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3"/>
    <p:sldId id="257" r:id="rId4"/>
    <p:sldId id="258" r:id="rId5"/>
    <p:sldId id="259" r:id="rId6"/>
    <p:sldId id="260" r:id="rId7"/>
    <p:sldId id="264" r:id="rId8"/>
    <p:sldId id="284" r:id="rId9"/>
    <p:sldId id="276" r:id="rId10"/>
    <p:sldId id="285" r:id="rId11"/>
    <p:sldId id="277" r:id="rId12"/>
    <p:sldId id="286" r:id="rId13"/>
    <p:sldId id="278" r:id="rId14"/>
    <p:sldId id="294" r:id="rId15"/>
    <p:sldId id="287" r:id="rId16"/>
    <p:sldId id="293" r:id="rId17"/>
    <p:sldId id="269" r:id="rId18"/>
    <p:sldId id="280" r:id="rId19"/>
    <p:sldId id="290" r:id="rId20"/>
    <p:sldId id="281" r:id="rId21"/>
    <p:sldId id="291" r:id="rId22"/>
    <p:sldId id="282" r:id="rId23"/>
    <p:sldId id="292" r:id="rId24"/>
    <p:sldId id="275" r:id="rId25"/>
  </p:sldIdLst>
  <p:sldSz cx="9753600" cy="7315200"/>
  <p:notesSz cx="6858000" cy="9144000"/>
  <p:embeddedFontLst>
    <p:embeddedFont>
      <p:font typeface="Halant Medium" panose="00000600000000000000"/>
      <p:regular r:id="rId30"/>
    </p:embeddedFont>
    <p:embeddedFont>
      <p:font typeface="Halant Bold" panose="00000800000000000000"/>
      <p:bold r:id="rId31"/>
    </p:embeddedFont>
    <p:embeddedFont>
      <p:font typeface="Calibri" panose="020F0502020204030204" charset="0"/>
      <p:regular r:id="rId32"/>
      <p:bold r:id="rId33"/>
      <p:italic r:id="rId34"/>
      <p:boldItalic r:id="rId35"/>
    </p:embeddedFont>
    <p:embeddedFont>
      <p:font typeface="Assistant" panose="00000500000000000000"/>
      <p:regular r:id="rId36"/>
    </p:embeddedFont>
    <p:embeddedFont>
      <p:font typeface="Assistant Bold" panose="00000800000000000000"/>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6" userDrawn="1">
          <p15:clr>
            <a:srgbClr val="A4A3A4"/>
          </p15:clr>
        </p15:guide>
        <p15:guide id="2" pos="28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65" d="100"/>
          <a:sy n="65" d="100"/>
        </p:scale>
        <p:origin x="1410" y="72"/>
      </p:cViewPr>
      <p:guideLst>
        <p:guide orient="horz" pos="2296"/>
        <p:guide pos="286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font" Target="fonts/font8.fntdata"/><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0D1A6-AFC0-4378-A879-247687974856}"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7AA2C-B60B-4B49-A158-C68B6DC0318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jpe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505" y="1981362"/>
            <a:ext cx="6200241" cy="3225074"/>
            <a:chOff x="0" y="-160655"/>
            <a:chExt cx="8266987" cy="4300099"/>
          </a:xfrm>
        </p:grpSpPr>
        <p:sp>
          <p:nvSpPr>
            <p:cNvPr id="3" name="TextBox 3"/>
            <p:cNvSpPr txBox="1"/>
            <p:nvPr/>
          </p:nvSpPr>
          <p:spPr>
            <a:xfrm>
              <a:off x="0" y="3548259"/>
              <a:ext cx="3020201" cy="591185"/>
            </a:xfrm>
            <a:prstGeom prst="rect">
              <a:avLst/>
            </a:prstGeom>
          </p:spPr>
          <p:txBody>
            <a:bodyPr lIns="0" tIns="0" rIns="0" bIns="0" rtlCol="0" anchor="t">
              <a:spAutoFit/>
            </a:bodyPr>
            <a:lstStyle/>
            <a:p>
              <a:pPr algn="l">
                <a:lnSpc>
                  <a:spcPts val="3780"/>
                </a:lnSpc>
                <a:spcBef>
                  <a:spcPct val="0"/>
                </a:spcBef>
              </a:pPr>
              <a:r>
                <a:rPr lang="en-US" sz="2700" b="1">
                  <a:solidFill>
                    <a:srgbClr val="731F7D"/>
                  </a:solidFill>
                  <a:latin typeface="Halant Medium" panose="00000600000000000000"/>
                  <a:ea typeface="Halant Medium" panose="00000600000000000000"/>
                  <a:cs typeface="Halant Medium" panose="00000600000000000000"/>
                  <a:sym typeface="Halant Medium" panose="00000600000000000000"/>
                </a:rPr>
                <a:t> </a:t>
              </a: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  (CSC101)</a:t>
              </a:r>
              <a:endParaRPr lang="en-US" sz="27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4" name="TextBox 4"/>
            <p:cNvSpPr txBox="1"/>
            <p:nvPr/>
          </p:nvSpPr>
          <p:spPr>
            <a:xfrm>
              <a:off x="183005" y="-160655"/>
              <a:ext cx="8083982" cy="3631353"/>
            </a:xfrm>
            <a:prstGeom prst="rect">
              <a:avLst/>
            </a:prstGeom>
          </p:spPr>
          <p:txBody>
            <a:bodyPr lIns="0" tIns="0" rIns="0" bIns="0" rtlCol="0" anchor="t">
              <a:spAutoFit/>
            </a:bodyPr>
            <a:lstStyle/>
            <a:p>
              <a:pPr algn="l">
                <a:lnSpc>
                  <a:spcPts val="7080"/>
                </a:lnSpc>
              </a:pPr>
              <a:r>
                <a:rPr lang="en-US" sz="6000" b="1">
                  <a:solidFill>
                    <a:srgbClr val="000000"/>
                  </a:solidFill>
                  <a:latin typeface="+mj-lt"/>
                  <a:ea typeface="HK Grotesk Bold" panose="00000800000000000000"/>
                  <a:cs typeface="+mj-lt"/>
                  <a:sym typeface="HK Grotesk Bold" panose="00000800000000000000"/>
                </a:rPr>
                <a:t>Information Communication Technology </a:t>
              </a:r>
              <a:endParaRPr lang="en-US" sz="6000" b="1">
                <a:solidFill>
                  <a:srgbClr val="000000"/>
                </a:solidFill>
                <a:latin typeface="+mj-lt"/>
                <a:ea typeface="HK Grotesk Bold" panose="00000800000000000000"/>
                <a:cs typeface="+mj-lt"/>
                <a:sym typeface="HK Grotesk Bold" panose="00000800000000000000"/>
              </a:endParaRPr>
            </a:p>
          </p:txBody>
        </p:sp>
      </p:grpSp>
      <p:sp>
        <p:nvSpPr>
          <p:cNvPr id="5" name="Freeform 5"/>
          <p:cNvSpPr/>
          <p:nvPr/>
        </p:nvSpPr>
        <p:spPr>
          <a:xfrm rot="-5550229">
            <a:off x="4207487" y="-1075063"/>
            <a:ext cx="5867962" cy="5088881"/>
          </a:xfrm>
          <a:custGeom>
            <a:avLst/>
            <a:gdLst/>
            <a:ahLst/>
            <a:cxnLst/>
            <a:rect l="l" t="t" r="r" b="b"/>
            <a:pathLst>
              <a:path w="5867962" h="5222486">
                <a:moveTo>
                  <a:pt x="0" y="0"/>
                </a:moveTo>
                <a:lnTo>
                  <a:pt x="5867963" y="0"/>
                </a:lnTo>
                <a:lnTo>
                  <a:pt x="5867963" y="5222487"/>
                </a:lnTo>
                <a:lnTo>
                  <a:pt x="0" y="5222487"/>
                </a:lnTo>
                <a:lnTo>
                  <a:pt x="0" y="0"/>
                </a:lnTo>
                <a:close/>
              </a:path>
            </a:pathLst>
          </a:custGeom>
          <a:blipFill>
            <a:blip r:embed="rId1"/>
            <a:stretch>
              <a:fillRect/>
            </a:stretch>
          </a:blipFill>
        </p:spPr>
      </p:sp>
      <p:sp>
        <p:nvSpPr>
          <p:cNvPr id="6" name="Freeform 6"/>
          <p:cNvSpPr/>
          <p:nvPr/>
        </p:nvSpPr>
        <p:spPr>
          <a:xfrm rot="-5017281">
            <a:off x="3529970" y="912669"/>
            <a:ext cx="1170984" cy="1109507"/>
          </a:xfrm>
          <a:custGeom>
            <a:avLst/>
            <a:gdLst/>
            <a:ahLst/>
            <a:cxnLst/>
            <a:rect l="l" t="t" r="r" b="b"/>
            <a:pathLst>
              <a:path w="1170984" h="1109507">
                <a:moveTo>
                  <a:pt x="0" y="0"/>
                </a:moveTo>
                <a:lnTo>
                  <a:pt x="1170984" y="0"/>
                </a:lnTo>
                <a:lnTo>
                  <a:pt x="1170984" y="1109508"/>
                </a:lnTo>
                <a:lnTo>
                  <a:pt x="0" y="1109508"/>
                </a:lnTo>
                <a:lnTo>
                  <a:pt x="0" y="0"/>
                </a:lnTo>
                <a:close/>
              </a:path>
            </a:pathLst>
          </a:custGeom>
          <a:blipFill>
            <a:blip r:embed="rId2"/>
            <a:stretch>
              <a:fillRect/>
            </a:stretch>
          </a:blipFill>
        </p:spPr>
      </p:sp>
      <p:sp>
        <p:nvSpPr>
          <p:cNvPr id="7" name="Freeform 7"/>
          <p:cNvSpPr/>
          <p:nvPr/>
        </p:nvSpPr>
        <p:spPr>
          <a:xfrm rot="-10567437">
            <a:off x="8110392" y="5055177"/>
            <a:ext cx="2588757" cy="2475499"/>
          </a:xfrm>
          <a:custGeom>
            <a:avLst/>
            <a:gdLst/>
            <a:ahLst/>
            <a:cxnLst/>
            <a:rect l="l" t="t" r="r" b="b"/>
            <a:pathLst>
              <a:path w="2588757" h="2475499">
                <a:moveTo>
                  <a:pt x="0" y="0"/>
                </a:moveTo>
                <a:lnTo>
                  <a:pt x="2588756" y="0"/>
                </a:lnTo>
                <a:lnTo>
                  <a:pt x="2588756" y="2475498"/>
                </a:lnTo>
                <a:lnTo>
                  <a:pt x="0" y="2475498"/>
                </a:lnTo>
                <a:lnTo>
                  <a:pt x="0" y="0"/>
                </a:lnTo>
                <a:close/>
              </a:path>
            </a:pathLst>
          </a:custGeom>
          <a:blipFill>
            <a:blip r:embed="rId3"/>
            <a:stretch>
              <a:fillRect/>
            </a:stretch>
          </a:blipFill>
        </p:spPr>
      </p:sp>
      <p:sp>
        <p:nvSpPr>
          <p:cNvPr id="8" name="TextBox 8"/>
          <p:cNvSpPr txBox="1"/>
          <p:nvPr/>
        </p:nvSpPr>
        <p:spPr>
          <a:xfrm>
            <a:off x="467602" y="5313139"/>
            <a:ext cx="7099307" cy="1454150"/>
          </a:xfrm>
          <a:prstGeom prst="rect">
            <a:avLst/>
          </a:prstGeom>
        </p:spPr>
        <p:txBody>
          <a:bodyPr lIns="0" tIns="0" rIns="0" bIns="0" rtlCol="0" anchor="t">
            <a:spAutoFit/>
          </a:bodyPr>
          <a:lstStyle/>
          <a:p>
            <a:pPr algn="l">
              <a:lnSpc>
                <a:spcPts val="3780"/>
              </a:lnSpc>
            </a:pP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Lecture 2</a:t>
            </a:r>
            <a:endParaRPr lang="en-US" sz="2700" b="1">
              <a:solidFill>
                <a:srgbClr val="731F7D"/>
              </a:solidFill>
              <a:latin typeface="Halant Bold" panose="00000800000000000000"/>
              <a:ea typeface="Halant Bold" panose="00000800000000000000"/>
              <a:cs typeface="Halant Bold" panose="00000800000000000000"/>
              <a:sym typeface="Halant Bold" panose="00000800000000000000"/>
            </a:endParaRPr>
          </a:p>
          <a:p>
            <a:pPr algn="l">
              <a:lnSpc>
                <a:spcPts val="3780"/>
              </a:lnSpc>
            </a:pP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Instructor: Mariam Fiaz</a:t>
            </a:r>
            <a:endParaRPr lang="en-US" sz="2700" b="1">
              <a:solidFill>
                <a:srgbClr val="731F7D"/>
              </a:solidFill>
              <a:latin typeface="Halant Bold" panose="00000800000000000000"/>
              <a:ea typeface="Halant Bold" panose="00000800000000000000"/>
              <a:cs typeface="Halant Bold" panose="00000800000000000000"/>
              <a:sym typeface="Halant Bold" panose="00000800000000000000"/>
            </a:endParaRPr>
          </a:p>
          <a:p>
            <a:pPr algn="l">
              <a:lnSpc>
                <a:spcPts val="3780"/>
              </a:lnSpc>
              <a:spcBef>
                <a:spcPct val="0"/>
              </a:spcBef>
            </a:pP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email: mariamsherwani434@gmail.com</a:t>
            </a:r>
            <a:endParaRPr lang="en-US" sz="27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98132">
            <a:off x="7377670" y="4183458"/>
            <a:ext cx="3828488" cy="4232275"/>
          </a:xfrm>
          <a:custGeom>
            <a:avLst/>
            <a:gdLst/>
            <a:ahLst/>
            <a:cxnLst/>
            <a:rect l="l" t="t" r="r" b="b"/>
            <a:pathLst>
              <a:path w="3828488" h="4232275">
                <a:moveTo>
                  <a:pt x="0" y="0"/>
                </a:moveTo>
                <a:lnTo>
                  <a:pt x="3828488" y="0"/>
                </a:lnTo>
                <a:lnTo>
                  <a:pt x="3828488" y="4232275"/>
                </a:lnTo>
                <a:lnTo>
                  <a:pt x="0" y="4232275"/>
                </a:lnTo>
                <a:lnTo>
                  <a:pt x="0" y="0"/>
                </a:lnTo>
                <a:close/>
              </a:path>
            </a:pathLst>
          </a:custGeom>
          <a:blipFill>
            <a:blip r:embed="rId1"/>
            <a:stretch>
              <a:fillRect r="-381" b="-1174"/>
            </a:stretch>
          </a:blipFill>
        </p:spPr>
      </p:sp>
      <p:sp>
        <p:nvSpPr>
          <p:cNvPr id="3" name="Freeform 3"/>
          <p:cNvSpPr/>
          <p:nvPr/>
        </p:nvSpPr>
        <p:spPr>
          <a:xfrm rot="-2715964">
            <a:off x="5760526" y="5871583"/>
            <a:ext cx="983734" cy="932088"/>
          </a:xfrm>
          <a:custGeom>
            <a:avLst/>
            <a:gdLst/>
            <a:ahLst/>
            <a:cxnLst/>
            <a:rect l="l" t="t" r="r" b="b"/>
            <a:pathLst>
              <a:path w="983734" h="932088">
                <a:moveTo>
                  <a:pt x="0" y="0"/>
                </a:moveTo>
                <a:lnTo>
                  <a:pt x="983734" y="0"/>
                </a:lnTo>
                <a:lnTo>
                  <a:pt x="983734" y="932087"/>
                </a:lnTo>
                <a:lnTo>
                  <a:pt x="0" y="932087"/>
                </a:lnTo>
                <a:lnTo>
                  <a:pt x="0" y="0"/>
                </a:lnTo>
                <a:close/>
              </a:path>
            </a:pathLst>
          </a:custGeom>
          <a:blipFill>
            <a:blip r:embed="rId2"/>
            <a:stretch>
              <a:fillRect/>
            </a:stretch>
          </a:blipFill>
        </p:spPr>
      </p:sp>
      <p:sp>
        <p:nvSpPr>
          <p:cNvPr id="4" name="Freeform 4"/>
          <p:cNvSpPr/>
          <p:nvPr/>
        </p:nvSpPr>
        <p:spPr>
          <a:xfrm rot="-3212463">
            <a:off x="5642474" y="-928349"/>
            <a:ext cx="2866520" cy="3318692"/>
          </a:xfrm>
          <a:custGeom>
            <a:avLst/>
            <a:gdLst/>
            <a:ahLst/>
            <a:cxnLst/>
            <a:rect l="l" t="t" r="r" b="b"/>
            <a:pathLst>
              <a:path w="2866520" h="3318692">
                <a:moveTo>
                  <a:pt x="0" y="0"/>
                </a:moveTo>
                <a:lnTo>
                  <a:pt x="2866520" y="0"/>
                </a:lnTo>
                <a:lnTo>
                  <a:pt x="2866520" y="3318693"/>
                </a:lnTo>
                <a:lnTo>
                  <a:pt x="0" y="3318693"/>
                </a:lnTo>
                <a:lnTo>
                  <a:pt x="0" y="0"/>
                </a:lnTo>
                <a:close/>
              </a:path>
            </a:pathLst>
          </a:custGeom>
          <a:blipFill>
            <a:blip r:embed="rId3"/>
            <a:stretch>
              <a:fillRect/>
            </a:stretch>
          </a:blipFill>
        </p:spPr>
      </p:sp>
      <p:grpSp>
        <p:nvGrpSpPr>
          <p:cNvPr id="5" name="Group 5"/>
          <p:cNvGrpSpPr/>
          <p:nvPr/>
        </p:nvGrpSpPr>
        <p:grpSpPr>
          <a:xfrm>
            <a:off x="394308" y="2057230"/>
            <a:ext cx="9176032" cy="3247390"/>
            <a:chOff x="-124999" y="0"/>
            <a:chExt cx="12234709" cy="4329853"/>
          </a:xfrm>
        </p:grpSpPr>
        <p:sp>
          <p:nvSpPr>
            <p:cNvPr id="6" name="TextBox 6"/>
            <p:cNvSpPr txBox="1"/>
            <p:nvPr/>
          </p:nvSpPr>
          <p:spPr>
            <a:xfrm>
              <a:off x="-40828" y="503147"/>
              <a:ext cx="8342712" cy="1260687"/>
            </a:xfrm>
            <a:prstGeom prst="rect">
              <a:avLst/>
            </a:prstGeom>
          </p:spPr>
          <p:txBody>
            <a:bodyPr lIns="0" tIns="0" rIns="0" bIns="0" rtlCol="0" anchor="t">
              <a:spAutoFit/>
            </a:bodyPr>
            <a:lstStyle/>
            <a:p>
              <a:pPr algn="l">
                <a:lnSpc>
                  <a:spcPts val="7375"/>
                </a:lnSpc>
              </a:pPr>
              <a:r>
                <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rPr>
                <a:t>Reference Books:</a:t>
              </a:r>
              <a:endPar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endParaRPr>
            </a:p>
          </p:txBody>
        </p:sp>
        <p:sp>
          <p:nvSpPr>
            <p:cNvPr id="7" name="TextBox 7"/>
            <p:cNvSpPr txBox="1"/>
            <p:nvPr/>
          </p:nvSpPr>
          <p:spPr>
            <a:xfrm>
              <a:off x="10542219" y="0"/>
              <a:ext cx="1567491" cy="1138744"/>
            </a:xfrm>
            <a:prstGeom prst="rect">
              <a:avLst/>
            </a:prstGeom>
          </p:spPr>
          <p:txBody>
            <a:bodyPr lIns="0" tIns="0" rIns="0" bIns="0" rtlCol="0" anchor="t">
              <a:spAutoFit/>
            </a:bodyPr>
            <a:lstStyle/>
            <a:p>
              <a:pPr marL="0" lvl="0" indent="0" algn="l">
                <a:lnSpc>
                  <a:spcPts val="6635"/>
                </a:lnSpc>
                <a:spcBef>
                  <a:spcPct val="0"/>
                </a:spcBef>
              </a:pPr>
            </a:p>
          </p:txBody>
        </p:sp>
        <p:sp>
          <p:nvSpPr>
            <p:cNvPr id="8" name="TextBox 8"/>
            <p:cNvSpPr txBox="1"/>
            <p:nvPr/>
          </p:nvSpPr>
          <p:spPr>
            <a:xfrm>
              <a:off x="-124999" y="2032000"/>
              <a:ext cx="10667154" cy="2297853"/>
            </a:xfrm>
            <a:prstGeom prst="rect">
              <a:avLst/>
            </a:prstGeom>
          </p:spPr>
          <p:txBody>
            <a:bodyPr wrap="square" lIns="0" tIns="0" rIns="0" bIns="0" rtlCol="0" anchor="t">
              <a:spAutoFit/>
            </a:bodyPr>
            <a:lstStyle/>
            <a:p>
              <a:pPr marL="259080" lvl="1" indent="0" algn="just">
                <a:lnSpc>
                  <a:spcPts val="3360"/>
                </a:lnSpc>
                <a:buNone/>
              </a:pPr>
              <a:r>
                <a:rPr lang="en-US" sz="2400" spc="-24" dirty="0">
                  <a:solidFill>
                    <a:srgbClr val="FFFFFF"/>
                  </a:solidFill>
                  <a:ea typeface="Assistant" panose="00000500000000000000"/>
                  <a:cs typeface="+mn-lt"/>
                  <a:sym typeface="Assistant" panose="00000500000000000000"/>
                </a:rPr>
                <a:t>1. Understanding Computers: Today and Tomorrow, Comprehensive – Deborah Morley &amp; Charles S. Parker, Cengage Learning, 2017</a:t>
              </a:r>
              <a:r>
                <a:rPr lang="en-US" sz="2400" b="1" spc="-24" dirty="0">
                  <a:solidFill>
                    <a:srgbClr val="FFFFFF"/>
                  </a:solidFill>
                  <a:ea typeface="Assistant Bold" panose="00000800000000000000"/>
                  <a:cs typeface="+mn-lt"/>
                  <a:sym typeface="Assistant Bold" panose="00000800000000000000"/>
                </a:rPr>
                <a:t> (Read Chapters 2 &amp; 3)</a:t>
              </a:r>
              <a:endParaRPr lang="en-US" sz="2400" b="1" spc="-24" dirty="0">
                <a:solidFill>
                  <a:srgbClr val="FFFFFF"/>
                </a:solidFill>
                <a:ea typeface="Assistant Bold" panose="00000800000000000000"/>
                <a:cs typeface="+mn-lt"/>
                <a:sym typeface="Assistant Bold" panose="00000800000000000000"/>
              </a:endParaRPr>
            </a:p>
            <a:p>
              <a:pPr algn="just">
                <a:lnSpc>
                  <a:spcPts val="3360"/>
                </a:lnSpc>
              </a:pPr>
              <a:endParaRPr lang="en-US" sz="2400" b="1" spc="-24" dirty="0">
                <a:solidFill>
                  <a:srgbClr val="FFFFFF"/>
                </a:solidFill>
                <a:ea typeface="Assistant Bold" panose="00000800000000000000"/>
                <a:cs typeface="+mn-lt"/>
                <a:sym typeface="Assistant Bold" panose="0000080000000000000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1584" y="527357"/>
            <a:ext cx="7502435" cy="756285"/>
          </a:xfrm>
          <a:prstGeom prst="rect">
            <a:avLst/>
          </a:prstGeom>
        </p:spPr>
        <p:txBody>
          <a:bodyPr lIns="0" tIns="0" rIns="0" bIns="0" rtlCol="0" anchor="t">
            <a:spAutoFit/>
          </a:bodyPr>
          <a:lstStyle/>
          <a:p>
            <a:pPr algn="l">
              <a:lnSpc>
                <a:spcPts val="5900"/>
              </a:lnSpc>
            </a:pPr>
            <a:r>
              <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rPr>
              <a:t>Contents</a:t>
            </a:r>
            <a:r>
              <a:rPr lang="en-US" sz="5000" b="1">
                <a:solidFill>
                  <a:srgbClr val="000000"/>
                </a:solidFill>
                <a:latin typeface="HK Grotesk Bold" panose="00000800000000000000"/>
                <a:ea typeface="HK Grotesk Bold" panose="00000800000000000000"/>
                <a:cs typeface="HK Grotesk Bold" panose="00000800000000000000"/>
                <a:sym typeface="HK Grotesk Bold" panose="00000800000000000000"/>
              </a:rPr>
              <a:t>:</a:t>
            </a:r>
            <a:endParaRPr lang="en-US" sz="5000" b="1">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sp>
        <p:nvSpPr>
          <p:cNvPr id="3" name="Freeform 3"/>
          <p:cNvSpPr/>
          <p:nvPr/>
        </p:nvSpPr>
        <p:spPr>
          <a:xfrm rot="-10141306">
            <a:off x="-2034775" y="4670550"/>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1"/>
            <a:stretch>
              <a:fillRect/>
            </a:stretch>
          </a:blipFill>
        </p:spPr>
      </p:sp>
      <p:grpSp>
        <p:nvGrpSpPr>
          <p:cNvPr id="4" name="Group 4"/>
          <p:cNvGrpSpPr/>
          <p:nvPr/>
        </p:nvGrpSpPr>
        <p:grpSpPr>
          <a:xfrm>
            <a:off x="1285462" y="1447723"/>
            <a:ext cx="7658557" cy="5847314"/>
            <a:chOff x="0" y="-28575"/>
            <a:chExt cx="10211409" cy="7796418"/>
          </a:xfrm>
        </p:grpSpPr>
        <p:sp>
          <p:nvSpPr>
            <p:cNvPr id="5" name="TextBox 5"/>
            <p:cNvSpPr txBox="1"/>
            <p:nvPr/>
          </p:nvSpPr>
          <p:spPr>
            <a:xfrm>
              <a:off x="0" y="-28575"/>
              <a:ext cx="10211409" cy="5667586"/>
            </a:xfrm>
            <a:prstGeom prst="rect">
              <a:avLst/>
            </a:prstGeom>
          </p:spPr>
          <p:txBody>
            <a:bodyPr lIns="0" tIns="0" rIns="0" bIns="0" rtlCol="0" anchor="t">
              <a:spAutoFit/>
            </a:bodyPr>
            <a:lstStyle/>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1. Storage Devices </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1.1 Magnetic Storage Devices </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1.2 Optical Storage Devices </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1.3 Solid State Storage Devices </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1.4 Data Read &amp; Write Process</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2. How Computers Represent Data </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2.1 Number Systems </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2.2 Bits &amp; Bytes </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2.3 Text Codes</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a:p>
              <a:pPr marL="275590" lvl="1" indent="0" algn="l">
                <a:lnSpc>
                  <a:spcPts val="3315"/>
                </a:lnSpc>
                <a:buNone/>
              </a:pPr>
              <a:r>
                <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rPr>
                <a:t>3. Summary of the Lecture</a:t>
              </a:r>
              <a:endParaRPr lang="en-US" altLang="en-US" sz="2550" dirty="0">
                <a:solidFill>
                  <a:srgbClr val="000000"/>
                </a:solidFill>
                <a:latin typeface="Calibri" panose="020F0502020204030204" charset="0"/>
                <a:ea typeface="Halant Medium" panose="00000600000000000000"/>
                <a:cs typeface="Calibri" panose="020F0502020204030204" charset="0"/>
                <a:sym typeface="Halant Medium" panose="00000600000000000000"/>
              </a:endParaRPr>
            </a:p>
          </p:txBody>
        </p:sp>
        <p:sp>
          <p:nvSpPr>
            <p:cNvPr id="6" name="TextBox 6"/>
            <p:cNvSpPr txBox="1"/>
            <p:nvPr/>
          </p:nvSpPr>
          <p:spPr>
            <a:xfrm>
              <a:off x="0" y="7434048"/>
              <a:ext cx="10211409" cy="333795"/>
            </a:xfrm>
            <a:prstGeom prst="rect">
              <a:avLst/>
            </a:prstGeom>
          </p:spPr>
          <p:txBody>
            <a:bodyPr lIns="0" tIns="0" rIns="0" bIns="0" rtlCol="0" anchor="t">
              <a:spAutoFit/>
            </a:bodyPr>
            <a:lstStyle/>
            <a:p>
              <a:pPr algn="l">
                <a:lnSpc>
                  <a:spcPts val="2145"/>
                </a:lnSpc>
                <a:spcBef>
                  <a:spcPct val="0"/>
                </a:spcBef>
              </a:pPr>
            </a:p>
          </p:txBody>
        </p:sp>
      </p:grpSp>
      <p:sp>
        <p:nvSpPr>
          <p:cNvPr id="7" name="Freeform 7"/>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2"/>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1137487" y="-339949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1"/>
            <a:stretch>
              <a:fillRect/>
            </a:stretch>
          </a:blipFill>
        </p:spPr>
      </p:sp>
      <p:sp>
        <p:nvSpPr>
          <p:cNvPr id="3" name="Freeform 3"/>
          <p:cNvSpPr/>
          <p:nvPr/>
        </p:nvSpPr>
        <p:spPr>
          <a:xfrm rot="-2715964">
            <a:off x="7936607" y="32851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2"/>
            <a:stretch>
              <a:fillRect/>
            </a:stretch>
          </a:blipFill>
        </p:spPr>
      </p:sp>
      <p:sp>
        <p:nvSpPr>
          <p:cNvPr id="4" name="Freeform 4"/>
          <p:cNvSpPr/>
          <p:nvPr/>
        </p:nvSpPr>
        <p:spPr>
          <a:xfrm rot="-795738">
            <a:off x="8327515" y="578795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2"/>
            <a:stretch>
              <a:fillRect/>
            </a:stretch>
          </a:blipFill>
        </p:spPr>
      </p:sp>
      <p:grpSp>
        <p:nvGrpSpPr>
          <p:cNvPr id="5" name="Group 5"/>
          <p:cNvGrpSpPr/>
          <p:nvPr/>
        </p:nvGrpSpPr>
        <p:grpSpPr>
          <a:xfrm>
            <a:off x="609811" y="2112783"/>
            <a:ext cx="8633276" cy="2423795"/>
            <a:chOff x="157480" y="9525"/>
            <a:chExt cx="11511034" cy="3231726"/>
          </a:xfrm>
        </p:grpSpPr>
        <p:sp>
          <p:nvSpPr>
            <p:cNvPr id="6" name="TextBox 6"/>
            <p:cNvSpPr txBox="1"/>
            <p:nvPr/>
          </p:nvSpPr>
          <p:spPr>
            <a:xfrm>
              <a:off x="157480" y="9525"/>
              <a:ext cx="11511034" cy="1714500"/>
            </a:xfrm>
            <a:prstGeom prst="rect">
              <a:avLst/>
            </a:prstGeom>
          </p:spPr>
          <p:txBody>
            <a:bodyPr lIns="0" tIns="0" rIns="0" bIns="0" rtlCol="0" anchor="t">
              <a:spAutoFit/>
            </a:bodyPr>
            <a:lstStyle/>
            <a:p>
              <a:pPr algn="l">
                <a:lnSpc>
                  <a:spcPts val="5900"/>
                </a:lnSpc>
              </a:pPr>
              <a:r>
                <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rPr>
                <a:t>Storage Devices:</a:t>
              </a:r>
              <a:endPar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endParaRPr>
            </a:p>
            <a:p>
              <a:pPr algn="l">
                <a:lnSpc>
                  <a:spcPts val="4130"/>
                </a:lnSpc>
              </a:pPr>
              <a:r>
                <a:rPr lang="en-US" sz="3500" b="1">
                  <a:solidFill>
                    <a:srgbClr val="731F7D"/>
                  </a:solidFill>
                  <a:latin typeface="Calibri" panose="020F0502020204030204" charset="0"/>
                  <a:ea typeface="HK Grotesk Bold" panose="00000800000000000000"/>
                  <a:cs typeface="Calibri" panose="020F0502020204030204" charset="0"/>
                  <a:sym typeface="HK Grotesk Bold" panose="00000800000000000000"/>
                </a:rPr>
                <a:t>Basic Defination</a:t>
              </a:r>
              <a:endParaRPr lang="en-US" sz="3500" b="1">
                <a:solidFill>
                  <a:srgbClr val="731F7D"/>
                </a:solidFill>
                <a:latin typeface="Calibri" panose="020F0502020204030204" charset="0"/>
                <a:ea typeface="HK Grotesk Bold" panose="00000800000000000000"/>
                <a:cs typeface="Calibri" panose="020F0502020204030204" charset="0"/>
                <a:sym typeface="HK Grotesk Bold" panose="00000800000000000000"/>
              </a:endParaRPr>
            </a:p>
          </p:txBody>
        </p:sp>
        <p:sp>
          <p:nvSpPr>
            <p:cNvPr id="7" name="TextBox 7"/>
            <p:cNvSpPr txBox="1"/>
            <p:nvPr/>
          </p:nvSpPr>
          <p:spPr>
            <a:xfrm>
              <a:off x="157480" y="2044911"/>
              <a:ext cx="11204787" cy="1196340"/>
            </a:xfrm>
            <a:prstGeom prst="rect">
              <a:avLst/>
            </a:prstGeom>
          </p:spPr>
          <p:txBody>
            <a:bodyPr wrap="square" lIns="0" tIns="0" rIns="0" bIns="0" rtlCol="0" anchor="t">
              <a:spAutoFit/>
            </a:bodyPr>
            <a:lstStyle/>
            <a:p>
              <a:pPr marL="0" lvl="0" indent="0" algn="just">
                <a:lnSpc>
                  <a:spcPts val="3500"/>
                </a:lnSpc>
                <a:spcBef>
                  <a:spcPct val="0"/>
                </a:spcBef>
              </a:pPr>
              <a:r>
                <a:rPr lang="en-US" altLang="en-US" sz="2500" dirty="0">
                  <a:solidFill>
                    <a:srgbClr val="000000"/>
                  </a:solidFill>
                  <a:latin typeface="Halant Medium" panose="00000600000000000000"/>
                  <a:ea typeface="Halant Medium" panose="00000600000000000000"/>
                  <a:cs typeface="Halant Medium" panose="00000600000000000000"/>
                  <a:sym typeface="Halant Medium" panose="00000600000000000000"/>
                </a:rPr>
                <a:t>A storage device is hardware used to save data, programs, and files so they can be accessed later by a computer.</a:t>
              </a:r>
              <a:endParaRPr lang="en-US" altLang="en-US" sz="25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494633">
            <a:off x="364501" y="5539280"/>
            <a:ext cx="1552782" cy="1471261"/>
          </a:xfrm>
          <a:custGeom>
            <a:avLst/>
            <a:gdLst/>
            <a:ahLst/>
            <a:cxnLst/>
            <a:rect l="l" t="t" r="r" b="b"/>
            <a:pathLst>
              <a:path w="1552782" h="1471261">
                <a:moveTo>
                  <a:pt x="0" y="0"/>
                </a:moveTo>
                <a:lnTo>
                  <a:pt x="1552782" y="0"/>
                </a:lnTo>
                <a:lnTo>
                  <a:pt x="1552782" y="1471261"/>
                </a:lnTo>
                <a:lnTo>
                  <a:pt x="0" y="1471261"/>
                </a:lnTo>
                <a:lnTo>
                  <a:pt x="0" y="0"/>
                </a:lnTo>
                <a:close/>
              </a:path>
            </a:pathLst>
          </a:custGeom>
          <a:blipFill>
            <a:blip r:embed="rId1"/>
            <a:stretch>
              <a:fillRect/>
            </a:stretch>
          </a:blipFill>
        </p:spPr>
      </p:sp>
      <p:sp>
        <p:nvSpPr>
          <p:cNvPr id="3" name="Freeform 3"/>
          <p:cNvSpPr/>
          <p:nvPr/>
        </p:nvSpPr>
        <p:spPr>
          <a:xfrm>
            <a:off x="-1095310" y="-388589"/>
            <a:ext cx="3423538" cy="3046949"/>
          </a:xfrm>
          <a:custGeom>
            <a:avLst/>
            <a:gdLst/>
            <a:ahLst/>
            <a:cxnLst/>
            <a:rect l="l" t="t" r="r" b="b"/>
            <a:pathLst>
              <a:path w="3423538" h="3046949">
                <a:moveTo>
                  <a:pt x="0" y="0"/>
                </a:moveTo>
                <a:lnTo>
                  <a:pt x="3423538" y="0"/>
                </a:lnTo>
                <a:lnTo>
                  <a:pt x="3423538" y="3046949"/>
                </a:lnTo>
                <a:lnTo>
                  <a:pt x="0" y="3046949"/>
                </a:lnTo>
                <a:lnTo>
                  <a:pt x="0" y="0"/>
                </a:lnTo>
                <a:close/>
              </a:path>
            </a:pathLst>
          </a:custGeom>
          <a:blipFill>
            <a:blip r:embed="rId2"/>
            <a:stretch>
              <a:fillRect/>
            </a:stretch>
          </a:blipFill>
        </p:spPr>
      </p:sp>
      <p:sp>
        <p:nvSpPr>
          <p:cNvPr id="4" name="Freeform 4"/>
          <p:cNvSpPr/>
          <p:nvPr/>
        </p:nvSpPr>
        <p:spPr>
          <a:xfrm rot="380713">
            <a:off x="326445" y="2697735"/>
            <a:ext cx="3496375" cy="3343409"/>
          </a:xfrm>
          <a:custGeom>
            <a:avLst/>
            <a:gdLst/>
            <a:ahLst/>
            <a:cxnLst/>
            <a:rect l="l" t="t" r="r" b="b"/>
            <a:pathLst>
              <a:path w="3496375" h="3343409">
                <a:moveTo>
                  <a:pt x="0" y="0"/>
                </a:moveTo>
                <a:lnTo>
                  <a:pt x="3496376" y="0"/>
                </a:lnTo>
                <a:lnTo>
                  <a:pt x="3496376" y="3343409"/>
                </a:lnTo>
                <a:lnTo>
                  <a:pt x="0" y="3343409"/>
                </a:lnTo>
                <a:lnTo>
                  <a:pt x="0" y="0"/>
                </a:lnTo>
                <a:close/>
              </a:path>
            </a:pathLst>
          </a:custGeom>
          <a:blipFill>
            <a:blip r:embed="rId3"/>
            <a:stretch>
              <a:fillRect/>
            </a:stretch>
          </a:blipFill>
        </p:spPr>
      </p:sp>
      <p:sp>
        <p:nvSpPr>
          <p:cNvPr id="5" name="TextBox 5"/>
          <p:cNvSpPr txBox="1"/>
          <p:nvPr/>
        </p:nvSpPr>
        <p:spPr>
          <a:xfrm>
            <a:off x="4114800" y="1828800"/>
            <a:ext cx="5784850" cy="3693160"/>
          </a:xfrm>
          <a:prstGeom prst="rect">
            <a:avLst/>
          </a:prstGeom>
        </p:spPr>
        <p:txBody>
          <a:bodyPr wrap="square" lIns="0" tIns="0" rIns="0" bIns="0" rtlCol="0" anchor="t">
            <a:spAutoFit/>
          </a:bodyPr>
          <a:lstStyle/>
          <a:p>
            <a:pPr algn="l">
              <a:lnSpc>
                <a:spcPct val="150000"/>
              </a:lnSpc>
            </a:pPr>
            <a:r>
              <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rPr>
              <a:t>Types of Stoarge Devices:</a:t>
            </a:r>
            <a:endPar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endParaRPr>
          </a:p>
          <a:p>
            <a:pPr algn="l">
              <a:lnSpc>
                <a:spcPct val="150000"/>
              </a:lnSpc>
            </a:pPr>
            <a:r>
              <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rPr>
              <a:t>1. Magnetic Storage Devices</a:t>
            </a:r>
            <a:endPar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endParaRPr>
          </a:p>
          <a:p>
            <a:pPr algn="l">
              <a:lnSpc>
                <a:spcPct val="150000"/>
              </a:lnSpc>
            </a:pPr>
            <a:r>
              <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rPr>
              <a:t>2. Optical Storage Devices</a:t>
            </a:r>
            <a:endPar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endParaRPr>
          </a:p>
          <a:p>
            <a:pPr algn="l">
              <a:lnSpc>
                <a:spcPct val="150000"/>
              </a:lnSpc>
            </a:pPr>
            <a:r>
              <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rPr>
              <a:t>3. Solid State Storage Devices</a:t>
            </a:r>
            <a:endPar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endParaRPr>
          </a:p>
          <a:p>
            <a:pPr algn="l">
              <a:lnSpc>
                <a:spcPct val="150000"/>
              </a:lnSpc>
            </a:pPr>
            <a:r>
              <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rPr>
              <a:t>4. Data Read &amp; Write Process</a:t>
            </a:r>
            <a:endParaRPr lang="en-US" altLang="en-US" sz="3200" dirty="0">
              <a:solidFill>
                <a:schemeClr val="bg1"/>
              </a:solidFill>
              <a:latin typeface="Halant Medium" panose="00000600000000000000"/>
              <a:ea typeface="Halant Medium" panose="00000600000000000000"/>
              <a:cs typeface="Halant Medium" panose="00000600000000000000"/>
              <a:sym typeface="HK Grotesk" panose="00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1"/>
            <a:stretch>
              <a:fillRect/>
            </a:stretch>
          </a:blipFill>
        </p:spPr>
      </p:sp>
      <p:grpSp>
        <p:nvGrpSpPr>
          <p:cNvPr id="3" name="Group 3"/>
          <p:cNvGrpSpPr/>
          <p:nvPr/>
        </p:nvGrpSpPr>
        <p:grpSpPr>
          <a:xfrm>
            <a:off x="731520" y="913289"/>
            <a:ext cx="8290560" cy="6975146"/>
            <a:chOff x="0" y="-28575"/>
            <a:chExt cx="11054080" cy="9300196"/>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 1. Magnetic Storage Devices</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8494607"/>
            </a:xfrm>
            <a:prstGeom prst="rect">
              <a:avLst/>
            </a:prstGeom>
          </p:spPr>
          <p:txBody>
            <a:bodyPr lIns="0" tIns="0" rIns="0" bIns="0" rtlCol="0" anchor="t">
              <a:spAutoFit/>
            </a:bodyPr>
            <a:lstStyle/>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Definition: </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Devices that store data using magnetic patterns on a surface. </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Examples:</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 Hard Disk Drives (HDD), Magnetic Tape </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Key Points: </a:t>
              </a:r>
              <a:endPar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612775" lvl="1" indent="-342900" algn="just">
                <a:lnSpc>
                  <a:spcPct val="150000"/>
                </a:lnSpc>
                <a:buFont typeface="Arial" panose="020B0604020202020204" pitchFamily="34" charset="0"/>
                <a:buChar char="•"/>
              </a:pP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Data stored as binary (0s &amp; 1s) using magnetism.</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612775" lvl="1" indent="-342900" algn="just">
                <a:lnSpc>
                  <a:spcPct val="150000"/>
                </a:lnSpc>
                <a:buFont typeface="Arial" panose="020B0604020202020204" pitchFamily="34" charset="0"/>
                <a:buChar char="•"/>
              </a:pP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Read/Write Head detects or changes magnetic orientation.</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Wingdings" panose="05000000000000000000" charset="0"/>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Advantages: </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High capacity, cost-effective, long-term storage. </a:t>
              </a: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Disadvantages:</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 Slower than SSD, sensitive to magnets. </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Access Type:</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 Random (HDD), Sequential (Tape).</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algn="just">
                <a:lnSpc>
                  <a:spcPct val="150000"/>
                </a:lnSpc>
                <a:spcBef>
                  <a:spcPct val="0"/>
                </a:spcBef>
              </a:pP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algn="just">
                <a:lnSpc>
                  <a:spcPct val="150000"/>
                </a:lnSpc>
                <a:spcBef>
                  <a:spcPct val="0"/>
                </a:spcBef>
              </a:pP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algn="just">
                <a:lnSpc>
                  <a:spcPct val="150000"/>
                </a:lnSpc>
                <a:spcBef>
                  <a:spcPct val="0"/>
                </a:spcBef>
              </a:pP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2"/>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agnetiic"/>
          <p:cNvPicPr>
            <a:picLocks noChangeAspect="1"/>
          </p:cNvPicPr>
          <p:nvPr/>
        </p:nvPicPr>
        <p:blipFill>
          <a:blip r:embed="rId1"/>
          <a:srcRect t="12487" b="12591"/>
          <a:stretch>
            <a:fillRect/>
          </a:stretch>
        </p:blipFill>
        <p:spPr>
          <a:xfrm>
            <a:off x="3175" y="0"/>
            <a:ext cx="9750425" cy="7315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1"/>
            <a:stretch>
              <a:fillRect/>
            </a:stretch>
          </a:blipFill>
        </p:spPr>
      </p:sp>
      <p:grpSp>
        <p:nvGrpSpPr>
          <p:cNvPr id="3" name="Group 3"/>
          <p:cNvGrpSpPr/>
          <p:nvPr/>
        </p:nvGrpSpPr>
        <p:grpSpPr>
          <a:xfrm>
            <a:off x="731520" y="913289"/>
            <a:ext cx="8290560" cy="5913427"/>
            <a:chOff x="0" y="-28575"/>
            <a:chExt cx="11054080" cy="7884570"/>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2. Optical Storage Devices</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7078981"/>
            </a:xfrm>
            <a:prstGeom prst="rect">
              <a:avLst/>
            </a:prstGeom>
          </p:spPr>
          <p:txBody>
            <a:bodyPr lIns="0" tIns="0" rIns="0" bIns="0" rtlCol="0" anchor="t">
              <a:spAutoFit/>
            </a:bodyPr>
            <a:lstStyle/>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Definition: </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Devices that use laser light to read and write data on discs.</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Examples:</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 CD, DVD, Blu-ray </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Key Points: </a:t>
              </a:r>
              <a:endPar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612775" lvl="1" indent="-342900" algn="just">
                <a:lnSpc>
                  <a:spcPct val="150000"/>
                </a:lnSpc>
                <a:buFont typeface="Arial" panose="020B0604020202020204" pitchFamily="34" charset="0"/>
                <a:buChar char="•"/>
              </a:pP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Data stored as pits and lands in spiral tracks.</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Wingdings" panose="05000000000000000000" charset="0"/>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Advantages: </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Durable, portable, good for media storage.</a:t>
              </a:r>
              <a:endPar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Wingdings" panose="05000000000000000000" charset="0"/>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Disadvantages:</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Slower access speed, lower capacity than HDD/SSD.</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 </a:t>
              </a: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algn="just">
                <a:lnSpc>
                  <a:spcPct val="150000"/>
                </a:lnSpc>
                <a:spcBef>
                  <a:spcPct val="0"/>
                </a:spcBef>
              </a:pP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algn="just">
                <a:lnSpc>
                  <a:spcPct val="150000"/>
                </a:lnSpc>
                <a:spcBef>
                  <a:spcPct val="0"/>
                </a:spcBef>
              </a:pP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2"/>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ptical"/>
          <p:cNvPicPr>
            <a:picLocks noChangeAspect="1"/>
          </p:cNvPicPr>
          <p:nvPr/>
        </p:nvPicPr>
        <p:blipFill>
          <a:blip r:embed="rId1"/>
          <a:srcRect l="1563" t="9686" r="3125" b="6451"/>
          <a:stretch>
            <a:fillRect/>
          </a:stretch>
        </p:blipFill>
        <p:spPr>
          <a:xfrm>
            <a:off x="-27940" y="39370"/>
            <a:ext cx="9757410" cy="72821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1"/>
            <a:stretch>
              <a:fillRect/>
            </a:stretch>
          </a:blipFill>
        </p:spPr>
      </p:sp>
      <p:grpSp>
        <p:nvGrpSpPr>
          <p:cNvPr id="3" name="Group 3"/>
          <p:cNvGrpSpPr/>
          <p:nvPr/>
        </p:nvGrpSpPr>
        <p:grpSpPr>
          <a:xfrm>
            <a:off x="731520" y="913289"/>
            <a:ext cx="8290560" cy="5913427"/>
            <a:chOff x="0" y="-28575"/>
            <a:chExt cx="11054080" cy="7884570"/>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3. Solid State Storage Devices</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7014"/>
              <a:ext cx="11054080" cy="7078981"/>
            </a:xfrm>
            <a:prstGeom prst="rect">
              <a:avLst/>
            </a:prstGeom>
          </p:spPr>
          <p:txBody>
            <a:bodyPr lIns="0" tIns="0" rIns="0" bIns="0" rtlCol="0" anchor="t">
              <a:spAutoFit/>
            </a:bodyPr>
            <a:lstStyle/>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Definition: </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Devices that store data electronically using flash memory with no moving parts.</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Examples:</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 SSD, USB flash drives, Memory Cards </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Arial" panose="020B0604020202020204" pitchFamily="34" charset="0"/>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Advantages: </a:t>
              </a:r>
              <a:endPar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612775" lvl="1" indent="-342900" algn="just">
                <a:lnSpc>
                  <a:spcPct val="150000"/>
                </a:lnSpc>
                <a:buFont typeface="Arial" panose="020B0604020202020204" pitchFamily="34" charset="0"/>
                <a:buChar char="•"/>
              </a:pP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Fast</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612775" lvl="1" indent="-342900" algn="just">
                <a:lnSpc>
                  <a:spcPct val="150000"/>
                </a:lnSpc>
                <a:buFont typeface="Arial" panose="020B0604020202020204" pitchFamily="34" charset="0"/>
                <a:buChar char="•"/>
              </a:pP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Durable</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612775" lvl="1" indent="-342900" algn="just">
                <a:lnSpc>
                  <a:spcPct val="150000"/>
                </a:lnSpc>
                <a:buFont typeface="Arial" panose="020B0604020202020204" pitchFamily="34" charset="0"/>
                <a:buChar char="•"/>
              </a:pP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Small size</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Wingdings" panose="05000000000000000000" charset="0"/>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Disadvantages:</a:t>
              </a:r>
              <a:endPar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Higher cost per GB</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612775" lvl="1"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limited write cycles</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2"/>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sd"/>
          <p:cNvPicPr>
            <a:picLocks noChangeAspect="1"/>
          </p:cNvPicPr>
          <p:nvPr/>
        </p:nvPicPr>
        <p:blipFill>
          <a:blip r:embed="rId1"/>
          <a:stretch>
            <a:fillRect/>
          </a:stretch>
        </p:blipFill>
        <p:spPr>
          <a:xfrm>
            <a:off x="0" y="0"/>
            <a:ext cx="9753600" cy="7335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1"/>
            <a:stretch>
              <a:fillRect/>
            </a:stretch>
          </a:blipFill>
        </p:spPr>
      </p:sp>
      <p:grpSp>
        <p:nvGrpSpPr>
          <p:cNvPr id="3" name="Group 3"/>
          <p:cNvGrpSpPr/>
          <p:nvPr/>
        </p:nvGrpSpPr>
        <p:grpSpPr>
          <a:xfrm>
            <a:off x="731520" y="609759"/>
            <a:ext cx="8290560" cy="6019165"/>
            <a:chOff x="0" y="-28575"/>
            <a:chExt cx="11054080" cy="8025554"/>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4. Data Read &amp; Write Process</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0" y="776605"/>
              <a:ext cx="11054080" cy="7220374"/>
            </a:xfrm>
            <a:prstGeom prst="rect">
              <a:avLst/>
            </a:prstGeom>
          </p:spPr>
          <p:txBody>
            <a:bodyPr lIns="0" tIns="0" rIns="0" bIns="0" rtlCol="0" anchor="t">
              <a:noAutofit/>
            </a:bodyPr>
            <a:lstStyle/>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Definition: </a:t>
              </a: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The process of transferring data between storage devices and computer.</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Arial" panose="020B0604020202020204"/>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Keys Points:</a:t>
              </a:r>
              <a:endPar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Wingdings" panose="05000000000000000000" charset="0"/>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1. Write Process: </a:t>
              </a:r>
              <a:endPar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indent="0" algn="just">
                <a:lnSpc>
                  <a:spcPct val="150000"/>
                </a:lnSpc>
                <a:buFont typeface="Wingdings" panose="05000000000000000000" charset="0"/>
                <a:buNone/>
              </a:pP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Computer sends binary data → storage encodes it magnetically, optically, or electronically.</a:t>
              </a:r>
              <a:endPar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algn="just">
                <a:lnSpc>
                  <a:spcPct val="150000"/>
                </a:lnSpc>
                <a:buClrTx/>
                <a:buSzTx/>
                <a:buFont typeface="Wingdings" panose="05000000000000000000" charset="0"/>
                <a:buNone/>
              </a:pPr>
              <a:r>
                <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rPr>
                <a:t>2. Read Process:</a:t>
              </a:r>
              <a:endParaRPr lang="en-US" altLang="en-US" sz="2300" b="1"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marL="269875" lvl="1" algn="just">
                <a:lnSpc>
                  <a:spcPct val="150000"/>
                </a:lnSpc>
                <a:buClrTx/>
                <a:buSzTx/>
                <a:buFont typeface="Wingdings" panose="05000000000000000000" charset="0"/>
                <a:buNone/>
              </a:pPr>
              <a:r>
                <a:rPr lang="en-US" altLang="en-US" sz="2300" dirty="0">
                  <a:solidFill>
                    <a:srgbClr val="000000"/>
                  </a:solidFill>
                  <a:latin typeface="Halant Medium" panose="00000600000000000000"/>
                  <a:ea typeface="Halant Medium" panose="00000600000000000000"/>
                  <a:cs typeface="Halant Medium" panose="00000600000000000000"/>
                  <a:sym typeface="Assistant" panose="00000500000000000000"/>
                </a:rPr>
                <a:t>Storage retrieves binary data → computer converts it to readable form. </a:t>
              </a:r>
              <a:endParaRPr lang="en-US" altLang="en-US" sz="2300" dirty="0">
                <a:solidFill>
                  <a:srgbClr val="000000"/>
                </a:solidFill>
                <a:latin typeface="Halant Medium" panose="00000600000000000000"/>
                <a:ea typeface="Halant Medium" panose="00000600000000000000"/>
                <a:cs typeface="Halant Medium" panose="00000600000000000000"/>
                <a:sym typeface="Assistant" panose="00000500000000000000"/>
              </a:endParaRPr>
            </a:p>
            <a:p>
              <a:pPr marL="612775" lvl="1" indent="-342900" algn="just">
                <a:lnSpc>
                  <a:spcPct val="150000"/>
                </a:lnSpc>
                <a:buClrTx/>
                <a:buSzTx/>
                <a:buFont typeface="Arial" panose="020B0604020202020204" pitchFamily="34" charset="0"/>
                <a:buChar char="•"/>
              </a:pPr>
              <a:r>
                <a:rPr lang="en-US" altLang="en-US" sz="2300" dirty="0">
                  <a:solidFill>
                    <a:srgbClr val="000000"/>
                  </a:solidFill>
                  <a:latin typeface="Halant Medium" panose="00000600000000000000"/>
                  <a:ea typeface="Halant Medium" panose="00000600000000000000"/>
                  <a:cs typeface="Halant Medium" panose="00000600000000000000"/>
                  <a:sym typeface="Assistant" panose="00000500000000000000"/>
                </a:rPr>
                <a:t>Logical (user view) vs. physical (device view) locations.</a:t>
              </a:r>
              <a:endParaRPr lang="en-US" altLang="en-US" sz="2300" dirty="0">
                <a:solidFill>
                  <a:srgbClr val="000000"/>
                </a:solidFill>
                <a:latin typeface="Halant Medium" panose="00000600000000000000"/>
                <a:ea typeface="Halant Medium" panose="00000600000000000000"/>
                <a:cs typeface="Halant Medium" panose="0000060000000000000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2"/>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tGPT Image Feb 7, 2026, 01_50_50 PM"/>
          <p:cNvPicPr>
            <a:picLocks noChangeAspect="1"/>
          </p:cNvPicPr>
          <p:nvPr/>
        </p:nvPicPr>
        <p:blipFill>
          <a:blip r:embed="rId1"/>
          <a:stretch>
            <a:fillRect/>
          </a:stretch>
        </p:blipFill>
        <p:spPr>
          <a:xfrm>
            <a:off x="0" y="406400"/>
            <a:ext cx="9753600" cy="6502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04800" y="457200"/>
            <a:ext cx="4339590" cy="6400800"/>
          </a:xfrm>
          <a:prstGeom prst="rect">
            <a:avLst/>
          </a:prstGeom>
        </p:spPr>
        <p:txBody>
          <a:bodyPr wrap="square">
            <a:spAutoFit/>
          </a:bodyPr>
          <a:p>
            <a:pPr marL="0" lvl="0" algn="l">
              <a:lnSpc>
                <a:spcPts val="3900"/>
              </a:lnSpc>
              <a:buClrTx/>
              <a:buSzTx/>
              <a:buFontTx/>
              <a:buNone/>
            </a:pPr>
            <a:r>
              <a:rPr lang="en-US" sz="3000" b="1">
                <a:solidFill>
                  <a:srgbClr val="731F7D"/>
                </a:solidFill>
                <a:latin typeface="Halant Bold" panose="00000800000000000000"/>
                <a:ea typeface="Halant Bold" panose="00000800000000000000"/>
                <a:cs typeface="Halant Bold" panose="00000800000000000000"/>
              </a:rPr>
              <a:t>Memory Read Operation:</a:t>
            </a:r>
            <a:endParaRPr lang="en-US" sz="3000" b="1">
              <a:solidFill>
                <a:srgbClr val="731F7D"/>
              </a:solidFill>
              <a:latin typeface="Halant Bold" panose="00000800000000000000"/>
              <a:ea typeface="Halant Bold" panose="00000800000000000000"/>
              <a:cs typeface="Halant Bold" panose="00000800000000000000"/>
            </a:endParaRPr>
          </a:p>
          <a:p>
            <a:pPr marL="0" lvl="1" algn="l" fontAlgn="base">
              <a:lnSpc>
                <a:spcPct val="100000"/>
              </a:lnSpc>
              <a:buClrTx/>
              <a:buSzTx/>
              <a:buFontTx/>
              <a:buNone/>
            </a:pPr>
            <a:r>
              <a:rPr lang="en-US" altLang="en-US" sz="2300" dirty="0">
                <a:solidFill>
                  <a:srgbClr val="000000"/>
                </a:solidFill>
                <a:latin typeface="Halant Medium" panose="00000600000000000000"/>
                <a:ea typeface="Halant Medium" panose="00000600000000000000"/>
                <a:cs typeface="Halant Medium" panose="00000600000000000000"/>
              </a:rPr>
              <a:t>Memory read operation transfers the desired word to address lines and activates the read control line. Description of memory read operation is </a:t>
            </a:r>
            <a:endParaRPr lang="en-US" altLang="en-US" sz="2300" dirty="0">
              <a:solidFill>
                <a:srgbClr val="000000"/>
              </a:solidFill>
              <a:latin typeface="Halant Medium" panose="00000600000000000000"/>
              <a:ea typeface="Halant Medium" panose="00000600000000000000"/>
              <a:cs typeface="Halant Medium" panose="00000600000000000000"/>
            </a:endParaRPr>
          </a:p>
          <a:p>
            <a:pPr marL="0" lvl="1" algn="just" fontAlgn="base">
              <a:lnSpc>
                <a:spcPct val="100000"/>
              </a:lnSpc>
              <a:buClrTx/>
              <a:buSzTx/>
              <a:buFontTx/>
              <a:buNone/>
            </a:pPr>
            <a:r>
              <a:rPr lang="en-US" altLang="en-US" sz="2300" dirty="0">
                <a:solidFill>
                  <a:srgbClr val="000000"/>
                </a:solidFill>
                <a:latin typeface="Halant Medium" panose="00000600000000000000"/>
                <a:ea typeface="Halant Medium" panose="00000600000000000000"/>
                <a:cs typeface="Halant Medium" panose="00000600000000000000"/>
              </a:rPr>
              <a:t>given below:</a:t>
            </a:r>
            <a:endParaRPr lang="en-US" altLang="en-US" sz="2300" dirty="0">
              <a:solidFill>
                <a:srgbClr val="000000"/>
              </a:solidFill>
              <a:latin typeface="Halant Medium" panose="00000600000000000000"/>
              <a:ea typeface="Halant Medium" panose="00000600000000000000"/>
              <a:cs typeface="Halant Medium" panose="00000600000000000000"/>
            </a:endParaRPr>
          </a:p>
          <a:p>
            <a:pPr marL="0" indent="0" algn="just" fontAlgn="base">
              <a:spcBef>
                <a:spcPct val="0"/>
              </a:spcBef>
              <a:spcAft>
                <a:spcPct val="0"/>
              </a:spcAft>
            </a:pPr>
            <a:r>
              <a:rPr lang="en-US" altLang="en-US" sz="2300" dirty="0">
                <a:solidFill>
                  <a:srgbClr val="000000"/>
                </a:solidFill>
                <a:latin typeface="Halant Medium" panose="00000600000000000000"/>
                <a:ea typeface="Halant Medium" panose="00000600000000000000"/>
                <a:cs typeface="Halant Medium" panose="00000600000000000000"/>
                <a:sym typeface="+mn-ea"/>
              </a:rPr>
              <a:t>In the diagram initially, MDR can contain any garbage value and MAR is containing 2003 memory address. After the execution of read instruction, the data of memory location 2003 will be read and the MDR will get updated by the value of the 2003 memory location (3D).</a:t>
            </a:r>
            <a:endParaRPr lang="en-US" altLang="en-US" sz="2300" dirty="0">
              <a:solidFill>
                <a:srgbClr val="000000"/>
              </a:solidFill>
              <a:latin typeface="Halant Medium" panose="00000600000000000000"/>
              <a:ea typeface="Halant Medium" panose="00000600000000000000"/>
              <a:cs typeface="Halant Medium" panose="00000600000000000000"/>
            </a:endParaRPr>
          </a:p>
        </p:txBody>
      </p:sp>
      <p:pic>
        <p:nvPicPr>
          <p:cNvPr id="6" name="Picture 5" descr="1-343"/>
          <p:cNvPicPr>
            <a:picLocks noChangeAspect="1"/>
          </p:cNvPicPr>
          <p:nvPr/>
        </p:nvPicPr>
        <p:blipFill>
          <a:blip r:embed="rId1"/>
          <a:stretch>
            <a:fillRect/>
          </a:stretch>
        </p:blipFill>
        <p:spPr>
          <a:xfrm>
            <a:off x="4849495" y="609600"/>
            <a:ext cx="4657090" cy="61779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457200" y="457200"/>
            <a:ext cx="4091940" cy="6400800"/>
          </a:xfrm>
          <a:prstGeom prst="rect">
            <a:avLst/>
          </a:prstGeom>
        </p:spPr>
        <p:txBody>
          <a:bodyPr wrap="square">
            <a:spAutoFit/>
          </a:bodyPr>
          <a:p>
            <a:pPr marL="0" lvl="0" algn="l">
              <a:lnSpc>
                <a:spcPts val="3900"/>
              </a:lnSpc>
              <a:buClrTx/>
              <a:buSzTx/>
              <a:buFontTx/>
              <a:buNone/>
            </a:pPr>
            <a:r>
              <a:rPr lang="en-US" sz="3000" b="1">
                <a:solidFill>
                  <a:srgbClr val="731F7D"/>
                </a:solidFill>
                <a:latin typeface="Halant Bold" panose="00000800000000000000"/>
                <a:ea typeface="Halant Bold" panose="00000800000000000000"/>
                <a:cs typeface="Halant Bold" panose="00000800000000000000"/>
              </a:rPr>
              <a:t>Memory Write Operation:</a:t>
            </a:r>
            <a:endParaRPr lang="en-US" sz="3000" b="1">
              <a:solidFill>
                <a:srgbClr val="731F7D"/>
              </a:solidFill>
              <a:latin typeface="Halant Bold" panose="00000800000000000000"/>
              <a:ea typeface="Halant Bold" panose="00000800000000000000"/>
              <a:cs typeface="Halant Bold" panose="00000800000000000000"/>
            </a:endParaRPr>
          </a:p>
          <a:p>
            <a:pPr marL="0" lvl="1" algn="l" fontAlgn="base">
              <a:lnSpc>
                <a:spcPct val="100000"/>
              </a:lnSpc>
              <a:buClrTx/>
              <a:buSzTx/>
              <a:buFontTx/>
              <a:buNone/>
            </a:pPr>
            <a:r>
              <a:rPr lang="en-US" altLang="en-US" sz="2300" dirty="0">
                <a:solidFill>
                  <a:srgbClr val="000000"/>
                </a:solidFill>
                <a:latin typeface="Halant Medium" panose="00000600000000000000"/>
                <a:ea typeface="Halant Medium" panose="00000600000000000000"/>
                <a:cs typeface="Halant Medium" panose="00000600000000000000"/>
                <a:sym typeface="+mn-ea"/>
              </a:rPr>
              <a:t>Memory write operation transfers the address of the desired word to the address lines, transfers the data bits to be stored in memory to the data input lines. Then it activates the write control line. Description of the write operation is given below:</a:t>
            </a:r>
            <a:endParaRPr lang="en-US" altLang="en-US" sz="2300" dirty="0">
              <a:solidFill>
                <a:srgbClr val="000000"/>
              </a:solidFill>
              <a:latin typeface="Halant Medium" panose="00000600000000000000"/>
              <a:ea typeface="Halant Medium" panose="00000600000000000000"/>
              <a:cs typeface="Halant Medium" panose="00000600000000000000"/>
              <a:sym typeface="+mn-ea"/>
            </a:endParaRPr>
          </a:p>
          <a:p>
            <a:pPr marL="0" lvl="1" algn="l" fontAlgn="base">
              <a:lnSpc>
                <a:spcPct val="100000"/>
              </a:lnSpc>
              <a:buClrTx/>
              <a:buSzTx/>
              <a:buFontTx/>
              <a:buNone/>
            </a:pPr>
            <a:r>
              <a:rPr lang="en-US" altLang="en-US" sz="2300" dirty="0">
                <a:solidFill>
                  <a:srgbClr val="000000"/>
                </a:solidFill>
                <a:latin typeface="Halant Medium" panose="00000600000000000000"/>
                <a:ea typeface="Halant Medium" panose="00000600000000000000"/>
                <a:cs typeface="Halant Medium" panose="00000600000000000000"/>
              </a:rPr>
              <a:t>In the diagram, the MAR contains 2003 and MDR contains 3D. After the execution of write instruction 3D will be written at 2003 memory location.</a:t>
            </a:r>
            <a:endParaRPr lang="en-US" altLang="en-US" sz="2300" dirty="0">
              <a:solidFill>
                <a:srgbClr val="000000"/>
              </a:solidFill>
              <a:latin typeface="Halant Medium" panose="00000600000000000000"/>
              <a:ea typeface="Halant Medium" panose="00000600000000000000"/>
              <a:cs typeface="Halant Medium" panose="00000600000000000000"/>
            </a:endParaRPr>
          </a:p>
        </p:txBody>
      </p:sp>
      <p:pic>
        <p:nvPicPr>
          <p:cNvPr id="2" name="Picture 1" descr="2-253"/>
          <p:cNvPicPr>
            <a:picLocks noChangeAspect="1"/>
          </p:cNvPicPr>
          <p:nvPr/>
        </p:nvPicPr>
        <p:blipFill>
          <a:blip r:embed="rId1"/>
          <a:stretch>
            <a:fillRect/>
          </a:stretch>
        </p:blipFill>
        <p:spPr>
          <a:xfrm>
            <a:off x="4572000" y="685800"/>
            <a:ext cx="4827905" cy="60934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1"/>
            <a:stretch>
              <a:fillRect/>
            </a:stretch>
          </a:blipFill>
        </p:spPr>
      </p:sp>
      <p:sp>
        <p:nvSpPr>
          <p:cNvPr id="3" name="TextBox 3"/>
          <p:cNvSpPr txBox="1"/>
          <p:nvPr/>
        </p:nvSpPr>
        <p:spPr>
          <a:xfrm>
            <a:off x="838200" y="914400"/>
            <a:ext cx="8709025" cy="730885"/>
          </a:xfrm>
          <a:prstGeom prst="rect">
            <a:avLst/>
          </a:prstGeom>
        </p:spPr>
        <p:txBody>
          <a:bodyPr lIns="0" tIns="0" rIns="0" bIns="0" rtlCol="0" anchor="t">
            <a:noAutofit/>
          </a:bodyPr>
          <a:lstStyle/>
          <a:p>
            <a:pPr algn="l">
              <a:lnSpc>
                <a:spcPts val="5900"/>
              </a:lnSpc>
            </a:pPr>
            <a:r>
              <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rPr>
              <a:t>How Computers Process Data</a:t>
            </a:r>
            <a:endParaRPr lang="en-US" sz="5000" b="1">
              <a:solidFill>
                <a:srgbClr val="000000"/>
              </a:solidFill>
              <a:latin typeface="Calibri" panose="020F0502020204030204" charset="0"/>
              <a:ea typeface="HK Grotesk Bold" panose="00000800000000000000"/>
              <a:cs typeface="Calibri" panose="020F0502020204030204" charset="0"/>
              <a:sym typeface="HK Grotesk Bold" panose="00000800000000000000"/>
            </a:endParaRPr>
          </a:p>
        </p:txBody>
      </p:sp>
      <p:grpSp>
        <p:nvGrpSpPr>
          <p:cNvPr id="4" name="Group 4"/>
          <p:cNvGrpSpPr/>
          <p:nvPr/>
        </p:nvGrpSpPr>
        <p:grpSpPr>
          <a:xfrm>
            <a:off x="838200" y="2057570"/>
            <a:ext cx="8290560" cy="4615487"/>
            <a:chOff x="0" y="-28575"/>
            <a:chExt cx="11054080" cy="6153983"/>
          </a:xfrm>
        </p:grpSpPr>
        <p:sp>
          <p:nvSpPr>
            <p:cNvPr id="5" name="TextBox 5"/>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Define: Data Representation</a:t>
              </a:r>
              <a:endParaRPr lang="en-US" sz="3000" b="1">
                <a:solidFill>
                  <a:schemeClr val="accent4">
                    <a:lumMod val="75000"/>
                  </a:schemeClr>
                </a:solidFill>
                <a:latin typeface="Halant Bold" panose="00000800000000000000"/>
                <a:ea typeface="Halant Bold" panose="00000800000000000000"/>
                <a:cs typeface="Halant Bold" panose="00000800000000000000"/>
                <a:sym typeface="Halant Bold" panose="00000800000000000000"/>
              </a:endParaRPr>
            </a:p>
          </p:txBody>
        </p:sp>
        <p:sp>
          <p:nvSpPr>
            <p:cNvPr id="6" name="TextBox 6"/>
            <p:cNvSpPr txBox="1"/>
            <p:nvPr/>
          </p:nvSpPr>
          <p:spPr>
            <a:xfrm>
              <a:off x="0" y="777014"/>
              <a:ext cx="11054080" cy="5348394"/>
            </a:xfrm>
            <a:prstGeom prst="rect">
              <a:avLst/>
            </a:prstGeom>
          </p:spPr>
          <p:txBody>
            <a:bodyPr lIns="0" tIns="0" rIns="0" bIns="0" rtlCol="0" anchor="t">
              <a:spAutoFit/>
            </a:bodyPr>
            <a:lstStyle/>
            <a:p>
              <a:pPr algn="just">
                <a:lnSpc>
                  <a:spcPct val="150000"/>
                </a:lnSpc>
              </a:pPr>
              <a:r>
                <a:rPr lang="en-US" alt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Data representation is the method by which computers convert information into binary form (0s &amp; 1s) for processing and storage.</a:t>
              </a:r>
              <a:r>
                <a:rPr 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 Data can be represent by:</a:t>
              </a:r>
              <a:endParaRPr 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algn="just">
                <a:lnSpc>
                  <a:spcPct val="150000"/>
                </a:lnSpc>
              </a:pPr>
              <a:r>
                <a:rPr 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1. Number System</a:t>
              </a:r>
              <a:endParaRPr 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algn="just">
                <a:lnSpc>
                  <a:spcPct val="150000"/>
                </a:lnSpc>
              </a:pPr>
              <a:r>
                <a:rPr 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2. Bits and Bytes</a:t>
              </a:r>
              <a:endParaRPr 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algn="just">
                <a:lnSpc>
                  <a:spcPct val="150000"/>
                </a:lnSpc>
              </a:pPr>
              <a:r>
                <a:rPr 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rPr>
                <a:t>3. Text Codes</a:t>
              </a:r>
              <a:endParaRPr lang="en-US" sz="2300" dirty="0">
                <a:solidFill>
                  <a:srgbClr val="000000"/>
                </a:solidFill>
                <a:latin typeface="Halant Medium" panose="00000600000000000000"/>
                <a:ea typeface="Halant Medium" panose="00000600000000000000"/>
                <a:cs typeface="Halant Medium" panose="00000600000000000000"/>
                <a:sym typeface="Halant Medium" panose="00000600000000000000"/>
              </a:endParaRPr>
            </a:p>
            <a:p>
              <a:pPr algn="just">
                <a:lnSpc>
                  <a:spcPts val="3220"/>
                </a:lnSpc>
                <a:spcBef>
                  <a:spcPct val="0"/>
                </a:spcBef>
              </a:pP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algn="just">
                <a:lnSpc>
                  <a:spcPts val="3220"/>
                </a:lnSpc>
                <a:spcBef>
                  <a:spcPct val="0"/>
                </a:spcBef>
              </a:pPr>
              <a:endParaRPr lang="en-US" sz="2300" spc="-22">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7" name="Freeform 7"/>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2"/>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812391" y="654278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1"/>
            <a:stretch>
              <a:fillRect/>
            </a:stretch>
          </a:blipFill>
        </p:spPr>
      </p:sp>
      <p:grpSp>
        <p:nvGrpSpPr>
          <p:cNvPr id="3" name="Group 3"/>
          <p:cNvGrpSpPr/>
          <p:nvPr/>
        </p:nvGrpSpPr>
        <p:grpSpPr>
          <a:xfrm>
            <a:off x="457200" y="381159"/>
            <a:ext cx="8366760" cy="6449365"/>
            <a:chOff x="-304800" y="276225"/>
            <a:chExt cx="11155680" cy="8599157"/>
          </a:xfrm>
        </p:grpSpPr>
        <p:sp>
          <p:nvSpPr>
            <p:cNvPr id="4" name="TextBox 4"/>
            <p:cNvSpPr txBox="1"/>
            <p:nvPr/>
          </p:nvSpPr>
          <p:spPr>
            <a:xfrm>
              <a:off x="-304800" y="27622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1. Number Systems</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203200" y="1088586"/>
              <a:ext cx="11054080" cy="7786796"/>
            </a:xfrm>
            <a:prstGeom prst="rect">
              <a:avLst/>
            </a:prstGeom>
          </p:spPr>
          <p:txBody>
            <a:bodyPr wrap="square" lIns="0" tIns="0" rIns="0" bIns="0" rtlCol="0" anchor="t">
              <a:spAutoFit/>
            </a:bodyPr>
            <a:lstStyle/>
            <a:p>
              <a:pPr algn="just">
                <a:lnSpc>
                  <a:spcPct val="150000"/>
                </a:lnSpc>
              </a:pPr>
              <a:r>
                <a:rPr lang="en-US" altLang="en-US" sz="2300" b="1" spc="-22" dirty="0">
                  <a:solidFill>
                    <a:srgbClr val="000000"/>
                  </a:solidFill>
                  <a:latin typeface="Calibri" panose="020F0502020204030204" charset="0"/>
                  <a:ea typeface="Assistant" panose="00000500000000000000"/>
                  <a:cs typeface="Calibri" panose="020F0502020204030204" charset="0"/>
                  <a:sym typeface="Assistant" panose="00000500000000000000"/>
                </a:rPr>
                <a:t>Definition:</a:t>
              </a:r>
              <a:r>
                <a:rPr lang="en-US" altLang="en-US" sz="2300" spc="-22" dirty="0">
                  <a:solidFill>
                    <a:srgbClr val="000000"/>
                  </a:solidFill>
                  <a:latin typeface="Calibri" panose="020F0502020204030204" charset="0"/>
                  <a:ea typeface="Assistant" panose="00000500000000000000"/>
                  <a:cs typeface="Calibri" panose="020F0502020204030204" charset="0"/>
                  <a:sym typeface="Assistant" panose="00000500000000000000"/>
                </a:rPr>
                <a:t> </a:t>
              </a: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A number system is a way of expressing numbers using a consistent set of symbols. </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algn="just">
                <a:lnSpc>
                  <a:spcPct val="150000"/>
                </a:lnSpc>
              </a:pPr>
              <a:r>
                <a:rPr lang="en-US" altLang="en-US" sz="2300" b="1" spc="-22" dirty="0">
                  <a:solidFill>
                    <a:srgbClr val="000000"/>
                  </a:solidFill>
                  <a:latin typeface="Calibri" panose="020F0502020204030204" charset="0"/>
                  <a:ea typeface="Assistant" panose="00000500000000000000"/>
                  <a:cs typeface="Calibri" panose="020F0502020204030204" charset="0"/>
                  <a:sym typeface="Assistant" panose="00000500000000000000"/>
                </a:rPr>
                <a:t>Types &amp; Points: </a:t>
              </a:r>
              <a:endParaRPr lang="en-US" altLang="en-US" sz="2300" b="1" spc="-22" dirty="0">
                <a:solidFill>
                  <a:srgbClr val="000000"/>
                </a:solidFill>
                <a:latin typeface="Calibri" panose="020F0502020204030204" charset="0"/>
                <a:ea typeface="Assistant" panose="00000500000000000000"/>
                <a:cs typeface="Calibri" panose="020F0502020204030204" charset="0"/>
                <a:sym typeface="Assistant" panose="00000500000000000000"/>
              </a:endParaRPr>
            </a:p>
            <a:p>
              <a:pPr marL="342900" indent="-342900" algn="just">
                <a:lnSpc>
                  <a:spcPct val="150000"/>
                </a:lnSpc>
                <a:buFont typeface="Arial" panose="020B0604020202020204" pitchFamily="34" charset="0"/>
                <a:buChar char="•"/>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Binary (Base-2): 0, 1 → used internally by computers. </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Decimal (Base-10): 0–9 → used by humans. </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Octal (Base-8): 0–7 → used as a compact representation of binary (each octal digit = 3 binary bits).</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indent="0" algn="just">
                <a:lnSpc>
                  <a:spcPct val="150000"/>
                </a:lnSpc>
                <a:buFont typeface="Arial" panose="020B0604020202020204" pitchFamily="34" charset="0"/>
                <a:buNone/>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Example: Binary 101101 → group in 3 bits → 101 101 → Octal: 55</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Hexadecimal (Base-16): 0–9, A–F → shorthand for binary (each hex digit = 4 binary bits).</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indent="0" algn="just">
                <a:lnSpc>
                  <a:spcPct val="150000"/>
                </a:lnSpc>
                <a:buFont typeface="Arial" panose="020B0604020202020204" pitchFamily="34" charset="0"/>
                <a:buNone/>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Example: Binary 11011110 → group in 4 bits → 1101 1110 → Hex: DE</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2"/>
            <a:stretch>
              <a:fillRect/>
            </a:stretch>
          </a:blipFill>
        </p:spPr>
      </p:sp>
      <p:sp>
        <p:nvSpPr>
          <p:cNvPr id="7" name="Text Box 6"/>
          <p:cNvSpPr txBox="1"/>
          <p:nvPr/>
        </p:nvSpPr>
        <p:spPr>
          <a:xfrm>
            <a:off x="11388725" y="4564380"/>
            <a:ext cx="3251200" cy="368300"/>
          </a:xfrm>
          <a:prstGeom prst="rect">
            <a:avLst/>
          </a:prstGeom>
          <a:noFill/>
        </p:spPr>
        <p:txBody>
          <a:bodyPr wrap="square" rtlCol="0">
            <a:spAutoFit/>
          </a:bodyPr>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1"/>
          <a:stretch>
            <a:fillRect/>
          </a:stretch>
        </p:blipFill>
        <p:spPr>
          <a:xfrm>
            <a:off x="635" y="0"/>
            <a:ext cx="9753600" cy="7315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659991" y="639038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1"/>
            <a:stretch>
              <a:fillRect/>
            </a:stretch>
          </a:blipFill>
        </p:spPr>
      </p:sp>
      <p:grpSp>
        <p:nvGrpSpPr>
          <p:cNvPr id="3" name="Group 3"/>
          <p:cNvGrpSpPr/>
          <p:nvPr/>
        </p:nvGrpSpPr>
        <p:grpSpPr>
          <a:xfrm>
            <a:off x="609600" y="609759"/>
            <a:ext cx="8442960" cy="3187371"/>
            <a:chOff x="-203200" y="-28575"/>
            <a:chExt cx="11257280" cy="4249830"/>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2. Bits &amp; Bytes</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203200" y="682186"/>
              <a:ext cx="11054080" cy="3539069"/>
            </a:xfrm>
            <a:prstGeom prst="rect">
              <a:avLst/>
            </a:prstGeom>
          </p:spPr>
          <p:txBody>
            <a:bodyPr wrap="square" lIns="0" tIns="0" rIns="0" bIns="0" rtlCol="0" anchor="t">
              <a:spAutoFit/>
            </a:bodyPr>
            <a:lstStyle/>
            <a:p>
              <a:pPr marL="248285" lvl="1" indent="0" algn="just">
                <a:lnSpc>
                  <a:spcPct val="150000"/>
                </a:lnSpc>
                <a:buFont typeface="Arial" panose="020B0604020202020204"/>
                <a:buNone/>
              </a:pP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Bit Definition:</a:t>
              </a:r>
              <a:r>
                <a:rPr lang="en-US" altLang="en-US" sz="2300" spc="-22">
                  <a:solidFill>
                    <a:srgbClr val="000000"/>
                  </a:solidFill>
                  <a:latin typeface="Calibri" panose="020F0502020204030204" charset="0"/>
                  <a:ea typeface="Assistant" panose="00000500000000000000"/>
                  <a:cs typeface="Calibri" panose="020F0502020204030204" charset="0"/>
                  <a:sym typeface="Assistant" panose="00000500000000000000"/>
                </a:rPr>
                <a:t> </a:t>
              </a: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Smallest unit of data in a computer, can be 0 or 1. </a:t>
              </a: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Byte Definition:</a:t>
              </a:r>
              <a:r>
                <a:rPr lang="en-US" altLang="en-US" sz="2300" b="1" spc="-22">
                  <a:solidFill>
                    <a:srgbClr val="000000"/>
                  </a:solidFill>
                  <a:latin typeface="Assistant" panose="00000500000000000000"/>
                  <a:ea typeface="Assistant" panose="00000500000000000000"/>
                  <a:cs typeface="Assistant" panose="00000500000000000000"/>
                  <a:sym typeface="Assistant" panose="00000500000000000000"/>
                </a:rPr>
                <a:t> </a:t>
              </a: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Group of 8 bits, typically represents 1 character. </a:t>
              </a:r>
              <a:r>
                <a:rPr lang="en-US" altLang="en-US" sz="2300" b="1" spc="-22">
                  <a:solidFill>
                    <a:srgbClr val="000000"/>
                  </a:solidFill>
                  <a:latin typeface="Calibri" panose="020F0502020204030204" charset="0"/>
                  <a:ea typeface="Assistant" panose="00000500000000000000"/>
                  <a:cs typeface="Calibri" panose="020F0502020204030204" charset="0"/>
                  <a:sym typeface="Assistant" panose="00000500000000000000"/>
                </a:rPr>
                <a:t>Points: </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591185" lvl="1"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Larger units: KB ≈ 1,000 bytes, MB ≈ 1,000,000 bytes, GB, TB, etc.</a:t>
              </a:r>
              <a:endPar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endParaRPr>
            </a:p>
            <a:p>
              <a:pPr marL="591185" lvl="1" indent="-342900" algn="just">
                <a:lnSpc>
                  <a:spcPct val="150000"/>
                </a:lnSpc>
                <a:buFont typeface="Arial" panose="020B0604020202020204" pitchFamily="34" charset="0"/>
                <a:buChar char="•"/>
              </a:pPr>
              <a:r>
                <a:rPr lang="en-US" altLang="en-US" sz="2300" spc="-22">
                  <a:solidFill>
                    <a:srgbClr val="000000"/>
                  </a:solidFill>
                  <a:latin typeface="Assistant" panose="00000500000000000000"/>
                  <a:ea typeface="Assistant" panose="00000500000000000000"/>
                  <a:cs typeface="Assistant" panose="00000500000000000000"/>
                  <a:sym typeface="Assistant" panose="00000500000000000000"/>
                </a:rPr>
                <a:t>Bytes measure storage and memory capacity.</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2"/>
            <a:stretch>
              <a:fillRect/>
            </a:stretch>
          </a:blipFill>
        </p:spPr>
      </p:sp>
      <p:pic>
        <p:nvPicPr>
          <p:cNvPr id="7" name="Picture 6" descr="bits-and-bytes-units-of-data_1_en"/>
          <p:cNvPicPr>
            <a:picLocks noChangeAspect="1"/>
          </p:cNvPicPr>
          <p:nvPr/>
        </p:nvPicPr>
        <p:blipFill>
          <a:blip r:embed="rId3"/>
          <a:stretch>
            <a:fillRect/>
          </a:stretch>
        </p:blipFill>
        <p:spPr>
          <a:xfrm>
            <a:off x="1158240" y="3951605"/>
            <a:ext cx="7498715" cy="31381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various-storage-sizes-in-terms-of-bits"/>
          <p:cNvPicPr>
            <a:picLocks noChangeAspect="1"/>
          </p:cNvPicPr>
          <p:nvPr/>
        </p:nvPicPr>
        <p:blipFill>
          <a:blip r:embed="rId1"/>
          <a:stretch>
            <a:fillRect/>
          </a:stretch>
        </p:blipFill>
        <p:spPr>
          <a:xfrm>
            <a:off x="-33020" y="0"/>
            <a:ext cx="9862820" cy="73279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1"/>
            <a:stretch>
              <a:fillRect/>
            </a:stretch>
          </a:blipFill>
        </p:spPr>
      </p:sp>
      <p:grpSp>
        <p:nvGrpSpPr>
          <p:cNvPr id="3" name="Group 3"/>
          <p:cNvGrpSpPr/>
          <p:nvPr/>
        </p:nvGrpSpPr>
        <p:grpSpPr>
          <a:xfrm>
            <a:off x="685800" y="1066959"/>
            <a:ext cx="8442960" cy="4980611"/>
            <a:chOff x="-203200" y="-28575"/>
            <a:chExt cx="11257280" cy="6640817"/>
          </a:xfrm>
        </p:grpSpPr>
        <p:sp>
          <p:nvSpPr>
            <p:cNvPr id="4" name="TextBox 4"/>
            <p:cNvSpPr txBox="1"/>
            <p:nvPr/>
          </p:nvSpPr>
          <p:spPr>
            <a:xfrm>
              <a:off x="0" y="-28575"/>
              <a:ext cx="11054080" cy="666327"/>
            </a:xfrm>
            <a:prstGeom prst="rect">
              <a:avLst/>
            </a:prstGeom>
          </p:spPr>
          <p:txBody>
            <a:bodyPr lIns="0" tIns="0" rIns="0" bIns="0" rtlCol="0" anchor="t">
              <a:spAutoFit/>
            </a:bodyPr>
            <a:lstStyle/>
            <a:p>
              <a:pPr marL="0" lvl="0" indent="0" algn="l">
                <a:lnSpc>
                  <a:spcPts val="3900"/>
                </a:lnSpc>
                <a:spcBef>
                  <a:spcPct val="0"/>
                </a:spcBef>
              </a:pPr>
              <a:r>
                <a:rPr lang="en-US" sz="3000" b="1">
                  <a:solidFill>
                    <a:srgbClr val="731F7D"/>
                  </a:solidFill>
                  <a:latin typeface="Halant Bold" panose="00000800000000000000"/>
                  <a:ea typeface="Halant Bold" panose="00000800000000000000"/>
                  <a:cs typeface="Halant Bold" panose="00000800000000000000"/>
                  <a:sym typeface="Halant Bold" panose="00000800000000000000"/>
                </a:rPr>
                <a:t>3. Text Codes</a:t>
              </a:r>
              <a:endParaRPr lang="en-US" sz="3000" b="1">
                <a:solidFill>
                  <a:srgbClr val="731F7D"/>
                </a:solidFill>
                <a:latin typeface="Halant Bold" panose="00000800000000000000"/>
                <a:ea typeface="Halant Bold" panose="00000800000000000000"/>
                <a:cs typeface="Halant Bold" panose="00000800000000000000"/>
                <a:sym typeface="Halant Bold" panose="00000800000000000000"/>
              </a:endParaRPr>
            </a:p>
          </p:txBody>
        </p:sp>
        <p:sp>
          <p:nvSpPr>
            <p:cNvPr id="5" name="TextBox 5"/>
            <p:cNvSpPr txBox="1"/>
            <p:nvPr/>
          </p:nvSpPr>
          <p:spPr>
            <a:xfrm>
              <a:off x="-203200" y="949733"/>
              <a:ext cx="11054080" cy="5662509"/>
            </a:xfrm>
            <a:prstGeom prst="rect">
              <a:avLst/>
            </a:prstGeom>
          </p:spPr>
          <p:txBody>
            <a:bodyPr wrap="square" lIns="0" tIns="0" rIns="0" bIns="0" rtlCol="0" anchor="t">
              <a:spAutoFit/>
            </a:bodyPr>
            <a:lstStyle/>
            <a:p>
              <a:pPr algn="just">
                <a:lnSpc>
                  <a:spcPct val="150000"/>
                </a:lnSpc>
              </a:pPr>
              <a:r>
                <a:rPr lang="en-US" altLang="en-US" sz="2300" b="1" spc="-22" dirty="0">
                  <a:solidFill>
                    <a:srgbClr val="000000"/>
                  </a:solidFill>
                  <a:latin typeface="Assistant" panose="00000500000000000000"/>
                  <a:ea typeface="Assistant" panose="00000500000000000000"/>
                  <a:cs typeface="Assistant" panose="00000500000000000000"/>
                  <a:sym typeface="Assistant" panose="00000500000000000000"/>
                </a:rPr>
                <a:t>Definition: </a:t>
              </a: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Codes used to convert characters into binary so computers can store and process text. </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algn="just">
                <a:lnSpc>
                  <a:spcPct val="150000"/>
                </a:lnSpc>
              </a:pPr>
              <a:r>
                <a:rPr lang="en-US" altLang="en-US" sz="2300" b="1" spc="-22" dirty="0">
                  <a:solidFill>
                    <a:srgbClr val="000000"/>
                  </a:solidFill>
                  <a:latin typeface="Assistant" panose="00000500000000000000"/>
                  <a:ea typeface="Assistant" panose="00000500000000000000"/>
                  <a:cs typeface="Assistant" panose="00000500000000000000"/>
                  <a:sym typeface="Assistant" panose="00000500000000000000"/>
                </a:rPr>
                <a:t>Examples &amp; Points: </a:t>
              </a:r>
              <a:endParaRPr lang="en-US" altLang="en-US" sz="2300" b="1" spc="-22" dirty="0">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ASCII: 7/8-bit code for English characters.</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indent="457200" algn="just">
                <a:lnSpc>
                  <a:spcPct val="150000"/>
                </a:lnSpc>
                <a:buFont typeface="Arial" panose="020B0604020202020204" pitchFamily="34" charset="0"/>
                <a:buNone/>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Example: A → 01000001</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 Unicode: Supports multiple languages and symbols. </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ct val="150000"/>
                </a:lnSpc>
                <a:buFont typeface="Arial" panose="020B0604020202020204" pitchFamily="34" charset="0"/>
                <a:buChar char="•"/>
              </a:pPr>
              <a:r>
                <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rPr>
                <a:t>Converts letters, numbers, punctuation into unique binary sequences.</a:t>
              </a:r>
              <a:endParaRPr lang="en-US" altLang="en-US" sz="2300" spc="-22" dirty="0">
                <a:solidFill>
                  <a:srgbClr val="000000"/>
                </a:solidFill>
                <a:latin typeface="Assistant" panose="00000500000000000000"/>
                <a:ea typeface="Assistant" panose="00000500000000000000"/>
                <a:cs typeface="Assistant" panose="00000500000000000000"/>
                <a:sym typeface="Assistant" panose="00000500000000000000"/>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2"/>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SCII-American-Standard-Code-for-Information-Interchange-1"/>
          <p:cNvPicPr>
            <a:picLocks noChangeAspect="1"/>
          </p:cNvPicPr>
          <p:nvPr/>
        </p:nvPicPr>
        <p:blipFill>
          <a:blip r:embed="rId1"/>
          <a:stretch>
            <a:fillRect/>
          </a:stretch>
        </p:blipFill>
        <p:spPr>
          <a:xfrm>
            <a:off x="2603500" y="2520950"/>
            <a:ext cx="4546600" cy="2273300"/>
          </a:xfrm>
          <a:prstGeom prst="rect">
            <a:avLst/>
          </a:prstGeom>
        </p:spPr>
      </p:pic>
      <p:pic>
        <p:nvPicPr>
          <p:cNvPr id="4" name="Picture 3" descr="ASCII-Table"/>
          <p:cNvPicPr>
            <a:picLocks noChangeAspect="1"/>
          </p:cNvPicPr>
          <p:nvPr/>
        </p:nvPicPr>
        <p:blipFill>
          <a:blip r:embed="rId2"/>
          <a:stretch>
            <a:fillRect/>
          </a:stretch>
        </p:blipFill>
        <p:spPr>
          <a:xfrm>
            <a:off x="-25400" y="17780"/>
            <a:ext cx="9867900" cy="72974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5400000">
            <a:off x="5866787" y="-1370945"/>
            <a:ext cx="5550062" cy="4939555"/>
          </a:xfrm>
          <a:custGeom>
            <a:avLst/>
            <a:gdLst/>
            <a:ahLst/>
            <a:cxnLst/>
            <a:rect l="l" t="t" r="r" b="b"/>
            <a:pathLst>
              <a:path w="5550062" h="4939555">
                <a:moveTo>
                  <a:pt x="0" y="0"/>
                </a:moveTo>
                <a:lnTo>
                  <a:pt x="5550061" y="0"/>
                </a:lnTo>
                <a:lnTo>
                  <a:pt x="5550061" y="4939555"/>
                </a:lnTo>
                <a:lnTo>
                  <a:pt x="0" y="4939555"/>
                </a:lnTo>
                <a:lnTo>
                  <a:pt x="0" y="0"/>
                </a:lnTo>
                <a:close/>
              </a:path>
            </a:pathLst>
          </a:custGeom>
          <a:blipFill>
            <a:blip r:embed="rId1"/>
            <a:stretch>
              <a:fillRect/>
            </a:stretch>
          </a:blipFill>
        </p:spPr>
      </p:sp>
      <p:sp>
        <p:nvSpPr>
          <p:cNvPr id="3" name="Freeform 3"/>
          <p:cNvSpPr/>
          <p:nvPr/>
        </p:nvSpPr>
        <p:spPr>
          <a:xfrm rot="-5017281">
            <a:off x="6200148" y="787734"/>
            <a:ext cx="1060123" cy="1004466"/>
          </a:xfrm>
          <a:custGeom>
            <a:avLst/>
            <a:gdLst/>
            <a:ahLst/>
            <a:cxnLst/>
            <a:rect l="l" t="t" r="r" b="b"/>
            <a:pathLst>
              <a:path w="1060123" h="1004466">
                <a:moveTo>
                  <a:pt x="0" y="0"/>
                </a:moveTo>
                <a:lnTo>
                  <a:pt x="1060123" y="0"/>
                </a:lnTo>
                <a:lnTo>
                  <a:pt x="1060123" y="1004466"/>
                </a:lnTo>
                <a:lnTo>
                  <a:pt x="0" y="1004466"/>
                </a:lnTo>
                <a:lnTo>
                  <a:pt x="0" y="0"/>
                </a:lnTo>
                <a:close/>
              </a:path>
            </a:pathLst>
          </a:custGeom>
          <a:blipFill>
            <a:blip r:embed="rId2"/>
            <a:stretch>
              <a:fillRect/>
            </a:stretch>
          </a:blipFill>
        </p:spPr>
      </p:sp>
      <p:sp>
        <p:nvSpPr>
          <p:cNvPr id="4" name="Freeform 4"/>
          <p:cNvSpPr/>
          <p:nvPr/>
        </p:nvSpPr>
        <p:spPr>
          <a:xfrm rot="-10567437">
            <a:off x="8175470" y="5527229"/>
            <a:ext cx="2209570" cy="2112901"/>
          </a:xfrm>
          <a:custGeom>
            <a:avLst/>
            <a:gdLst/>
            <a:ahLst/>
            <a:cxnLst/>
            <a:rect l="l" t="t" r="r" b="b"/>
            <a:pathLst>
              <a:path w="2209570" h="2112901">
                <a:moveTo>
                  <a:pt x="0" y="0"/>
                </a:moveTo>
                <a:lnTo>
                  <a:pt x="2209570" y="0"/>
                </a:lnTo>
                <a:lnTo>
                  <a:pt x="2209570" y="2112902"/>
                </a:lnTo>
                <a:lnTo>
                  <a:pt x="0" y="2112902"/>
                </a:lnTo>
                <a:lnTo>
                  <a:pt x="0" y="0"/>
                </a:lnTo>
                <a:close/>
              </a:path>
            </a:pathLst>
          </a:custGeom>
          <a:blipFill>
            <a:blip r:embed="rId3"/>
            <a:stretch>
              <a:fillRect/>
            </a:stretch>
          </a:blipFill>
        </p:spPr>
      </p:sp>
      <p:grpSp>
        <p:nvGrpSpPr>
          <p:cNvPr id="5" name="Group 5"/>
          <p:cNvGrpSpPr/>
          <p:nvPr/>
        </p:nvGrpSpPr>
        <p:grpSpPr>
          <a:xfrm>
            <a:off x="381000" y="1524178"/>
            <a:ext cx="6731019" cy="5368111"/>
            <a:chOff x="-101600" y="9525"/>
            <a:chExt cx="8974692" cy="7157482"/>
          </a:xfrm>
        </p:grpSpPr>
        <p:sp>
          <p:nvSpPr>
            <p:cNvPr id="6" name="TextBox 6"/>
            <p:cNvSpPr txBox="1"/>
            <p:nvPr/>
          </p:nvSpPr>
          <p:spPr>
            <a:xfrm>
              <a:off x="0" y="9525"/>
              <a:ext cx="8873092" cy="1008380"/>
            </a:xfrm>
            <a:prstGeom prst="rect">
              <a:avLst/>
            </a:prstGeom>
          </p:spPr>
          <p:txBody>
            <a:bodyPr lIns="0" tIns="0" rIns="0" bIns="0" rtlCol="0" anchor="t">
              <a:spAutoFit/>
            </a:bodyPr>
            <a:lstStyle/>
            <a:p>
              <a:pPr algn="l">
                <a:lnSpc>
                  <a:spcPts val="5900"/>
                </a:lnSpc>
              </a:pPr>
              <a:r>
                <a:rPr lang="en-US" sz="4000" b="1">
                  <a:solidFill>
                    <a:srgbClr val="FFFFFF"/>
                  </a:solidFill>
                  <a:latin typeface="Calibri" panose="020F0502020204030204" charset="0"/>
                  <a:ea typeface="HK Grotesk Bold" panose="00000800000000000000"/>
                  <a:cs typeface="Calibri" panose="020F0502020204030204" charset="0"/>
                  <a:sym typeface="HK Grotesk Bold" panose="00000800000000000000"/>
                </a:rPr>
                <a:t>Summary of Lecture 2</a:t>
              </a:r>
              <a:endParaRPr lang="en-US" sz="4000" b="1">
                <a:solidFill>
                  <a:srgbClr val="FFFFFF"/>
                </a:solidFill>
                <a:latin typeface="Calibri" panose="020F0502020204030204" charset="0"/>
                <a:ea typeface="HK Grotesk Bold" panose="00000800000000000000"/>
                <a:cs typeface="Calibri" panose="020F0502020204030204" charset="0"/>
                <a:sym typeface="HK Grotesk Bold" panose="00000800000000000000"/>
              </a:endParaRPr>
            </a:p>
          </p:txBody>
        </p:sp>
        <p:sp>
          <p:nvSpPr>
            <p:cNvPr id="7" name="TextBox 7"/>
            <p:cNvSpPr txBox="1"/>
            <p:nvPr/>
          </p:nvSpPr>
          <p:spPr>
            <a:xfrm>
              <a:off x="-101600" y="1182767"/>
              <a:ext cx="8873092" cy="5984240"/>
            </a:xfrm>
            <a:prstGeom prst="rect">
              <a:avLst/>
            </a:prstGeom>
          </p:spPr>
          <p:txBody>
            <a:bodyPr lIns="0" tIns="0" rIns="0" bIns="0" rtlCol="0" anchor="t">
              <a:spAutoFit/>
            </a:bodyPr>
            <a:lstStyle/>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Storage Devices: Magnetic (HDD/Tape), Optical (CD/DVD/Blu-ray), Solid State (SSD/USB).</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Data Read/Write: Binary encoding, read/write heads, lasers, or flash memory.</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Number Systems: Binary, Decimal, Hexadecimal – all data in binary for computers.</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Bits &amp; Bytes: Bit = 0/1, Byte = 8 bits, units of measurement.</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a:p>
              <a:pPr marL="342900" indent="-342900" algn="just">
                <a:lnSpc>
                  <a:spcPts val="3500"/>
                </a:lnSpc>
                <a:spcBef>
                  <a:spcPct val="0"/>
                </a:spcBef>
                <a:buFont typeface="Arial" panose="020B0604020202020204" pitchFamily="34" charset="0"/>
                <a:buChar char="•"/>
              </a:pPr>
              <a:r>
                <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rPr>
                <a:t>Text Codes: ASCII &amp; Unicode convert human-readable text to computer-readable binary.</a:t>
              </a:r>
              <a:endParaRPr lang="en-US" altLang="en-US" sz="2500" spc="-24">
                <a:solidFill>
                  <a:srgbClr val="FFFFFF"/>
                </a:solidFill>
                <a:latin typeface="Assistant" panose="00000500000000000000"/>
                <a:ea typeface="Assistant" panose="00000500000000000000"/>
                <a:cs typeface="Assistant" panose="00000500000000000000"/>
                <a:sym typeface="Assistant" panose="00000500000000000000"/>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4798</Words>
  <Application>WPS Presentation</Application>
  <PresentationFormat>Custom</PresentationFormat>
  <Paragraphs>137</Paragraphs>
  <Slides>23</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23</vt:i4>
      </vt:variant>
    </vt:vector>
  </HeadingPairs>
  <TitlesOfParts>
    <vt:vector size="39" baseType="lpstr">
      <vt:lpstr>Arial</vt:lpstr>
      <vt:lpstr>SimSun</vt:lpstr>
      <vt:lpstr>Wingdings</vt:lpstr>
      <vt:lpstr>Halant Medium</vt:lpstr>
      <vt:lpstr>Halant Bold</vt:lpstr>
      <vt:lpstr>HK Grotesk Bold</vt:lpstr>
      <vt:lpstr>Segoe Print</vt:lpstr>
      <vt:lpstr>Calibri</vt:lpstr>
      <vt:lpstr>Assistant</vt:lpstr>
      <vt:lpstr>Assistant Bold</vt:lpstr>
      <vt:lpstr>HK Grotesk</vt:lpstr>
      <vt:lpstr>Arial</vt:lpstr>
      <vt:lpstr>Wingdings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Lecture 1</dc:title>
  <dc:creator/>
  <cp:lastModifiedBy>Administrator</cp:lastModifiedBy>
  <cp:revision>14</cp:revision>
  <dcterms:created xsi:type="dcterms:W3CDTF">2006-08-16T00:00:00Z</dcterms:created>
  <dcterms:modified xsi:type="dcterms:W3CDTF">2026-02-08T17:22:23Z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0619587701084622B2FE28AD10B5130E_13</vt:lpwstr>
  </property>
  <property fmtid="{D5CDD505-2E9C-101B-9397-08002B2CF9AE}" pid="3" name="KSOProductBuildVer">
    <vt:lpwstr>1033-12.2.0.23196</vt:lpwstr>
  </property>
</Properties>
</file>