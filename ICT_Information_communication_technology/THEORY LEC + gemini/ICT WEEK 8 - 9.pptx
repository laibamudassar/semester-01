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401" r:id="rId6"/>
    <p:sldId id="402" r:id="rId7"/>
    <p:sldId id="403" r:id="rId8"/>
    <p:sldId id="421" r:id="rId9"/>
    <p:sldId id="422" r:id="rId10"/>
    <p:sldId id="423" r:id="rId11"/>
    <p:sldId id="404" r:id="rId12"/>
    <p:sldId id="424" r:id="rId13"/>
    <p:sldId id="405" r:id="rId14"/>
    <p:sldId id="427" r:id="rId15"/>
    <p:sldId id="425" r:id="rId16"/>
    <p:sldId id="409" r:id="rId17"/>
    <p:sldId id="410" r:id="rId18"/>
    <p:sldId id="426" r:id="rId19"/>
    <p:sldId id="428" r:id="rId20"/>
    <p:sldId id="275" r:id="rId21"/>
  </p:sldIdLst>
  <p:sldSz cx="9753600" cy="7315200"/>
  <p:notesSz cx="6858000" cy="9144000"/>
  <p:embeddedFontLst>
    <p:embeddedFont>
      <p:font typeface="Arial Black" panose="020B0A04020102020204" pitchFamily="34" charset="0"/>
      <p:bold r:id="rId23"/>
    </p:embeddedFont>
    <p:embeddedFont>
      <p:font typeface="Halant Bold" panose="020B0604020202020204" charset="0"/>
      <p:bold r:id="rId24"/>
    </p:embeddedFont>
    <p:embeddedFont>
      <p:font typeface="Halant Medium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29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 showGuides="1">
      <p:cViewPr varScale="1">
        <p:scale>
          <a:sx n="63" d="100"/>
          <a:sy n="63" d="100"/>
        </p:scale>
        <p:origin x="1260" y="56"/>
      </p:cViewPr>
      <p:guideLst>
        <p:guide orient="horz" pos="2304"/>
        <p:guide pos="29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0D1A6-AFC0-4378-A879-24768797485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7AA2C-B60B-4B49-A158-C68B6DC0318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4FC16-F706-6F09-B377-BAB4DEEBC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68C93-5BFA-9C29-81C0-CCA41A928D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C2B6F-AA5C-0955-8329-AAB3A346A69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30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B6D94-AD80-A37C-0395-D2A717CE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AD78F-15C3-E57D-825A-10000A909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831E1-16A6-B35F-0CCD-0210CF0D866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44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13539-EA97-F4CB-D632-924DEE351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6E73F-6E57-DF39-C720-3D4E22B5F6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21B6D-54C9-FCF2-AE5D-3B1577B6C07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32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203F-23A7-DE3B-4B09-EDD1B4E14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3C0EF-9456-6FBE-1EB7-A269FDCFD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1520F-BF01-1870-24A9-14613B023E6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40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03C20-F575-0451-9F3D-18D7B3732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7A2BC-2967-09CC-FEE5-DD8FAC2FC3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3E3C9-ACF2-84EB-F413-4C139647292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25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36C8F-C6DB-03C2-CD25-CAEBC09F2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728A9-70EC-142B-70BF-10D202D935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C584F-E089-B702-8407-E462BAE5905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5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84F0E-AADF-16EC-8EA7-A38F204A0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652EC-AFA1-52C8-07C9-8F8646356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58818-3331-414E-6F42-F44A1AE78DD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DBA3D-5693-8DAF-8833-9375DC857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7FAFA-CD8C-3118-A2A9-A2AAE6F571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45B25-AB2F-1F54-7071-5678F98BC90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616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C7EFD-0B3D-5DAF-1F07-2B55F4B3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6A3A26-B616-86E0-DC22-8A4E422EE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5692D-59A4-8AE6-1AAF-881E874E4DD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03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B1F7D-E917-88E8-F2A4-462E2164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5F660-9A54-2FF0-DCDF-EC15961463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1B657-BB3A-88EF-6AA1-E1B178026DE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16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FB9F3-C5F7-46B9-3D37-F95C6D86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31F1E-ACA4-261B-153B-AA7E6E8CB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745F-6DDE-A14D-8171-61DE312A4F8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57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8265F-D15C-AE4C-3075-E7B635DC1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294D4-AB3F-7CA0-B533-35BC67706C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4EB88-E381-EA55-0AA4-2CE3EBD7260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21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6EBA6-9480-A483-153C-D1965F09C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E4917-6966-0AA8-0460-FEF4B41B4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E1D15-7CA9-865B-33BD-B2102085B3A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8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505" y="1981362"/>
            <a:ext cx="6200241" cy="3225074"/>
            <a:chOff x="0" y="-160655"/>
            <a:chExt cx="8266987" cy="4300099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8259"/>
              <a:ext cx="3020201" cy="59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731F7D"/>
                  </a:solidFill>
                  <a:latin typeface="Halant Medium" panose="00000600000000000000"/>
                  <a:ea typeface="Halant Medium" panose="00000600000000000000"/>
                  <a:cs typeface="Halant Medium" panose="00000600000000000000"/>
                  <a:sym typeface="Halant Medium" panose="00000600000000000000"/>
                </a:rPr>
                <a:t> </a:t>
              </a:r>
              <a:r>
                <a:rPr lang="en-US" sz="2700" b="1">
                  <a:solidFill>
                    <a:srgbClr val="731F7D"/>
                  </a:solidFill>
                  <a:latin typeface="Halant Bold" panose="00000800000000000000"/>
                  <a:ea typeface="Halant Bold" panose="00000800000000000000"/>
                  <a:cs typeface="Halant Bold" panose="00000800000000000000"/>
                  <a:sym typeface="Halant Bold" panose="00000800000000000000"/>
                </a:rPr>
                <a:t>  (CSC101)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83005" y="-160655"/>
              <a:ext cx="8083982" cy="36313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80"/>
                </a:lnSpc>
              </a:pPr>
              <a:r>
                <a:rPr lang="en-US" sz="6000" b="1" dirty="0">
                  <a:solidFill>
                    <a:srgbClr val="000000"/>
                  </a:solidFill>
                  <a:latin typeface="+mj-lt"/>
                  <a:ea typeface="HK Grotesk Bold" panose="00000800000000000000"/>
                  <a:cs typeface="+mj-lt"/>
                  <a:sym typeface="HK Grotesk Bold" panose="00000800000000000000"/>
                </a:rPr>
                <a:t>Information Communication Technology 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5550229">
            <a:off x="4207487" y="-1075063"/>
            <a:ext cx="5867962" cy="5088881"/>
          </a:xfrm>
          <a:custGeom>
            <a:avLst/>
            <a:gdLst/>
            <a:ahLst/>
            <a:cxnLst/>
            <a:rect l="l" t="t" r="r" b="b"/>
            <a:pathLst>
              <a:path w="5867962" h="5222486">
                <a:moveTo>
                  <a:pt x="0" y="0"/>
                </a:moveTo>
                <a:lnTo>
                  <a:pt x="5867963" y="0"/>
                </a:lnTo>
                <a:lnTo>
                  <a:pt x="5867963" y="5222487"/>
                </a:lnTo>
                <a:lnTo>
                  <a:pt x="0" y="522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017281">
            <a:off x="3529970" y="912669"/>
            <a:ext cx="1170984" cy="1109507"/>
          </a:xfrm>
          <a:custGeom>
            <a:avLst/>
            <a:gdLst/>
            <a:ahLst/>
            <a:cxnLst/>
            <a:rect l="l" t="t" r="r" b="b"/>
            <a:pathLst>
              <a:path w="1170984" h="1109507">
                <a:moveTo>
                  <a:pt x="0" y="0"/>
                </a:moveTo>
                <a:lnTo>
                  <a:pt x="1170984" y="0"/>
                </a:lnTo>
                <a:lnTo>
                  <a:pt x="1170984" y="1109508"/>
                </a:lnTo>
                <a:lnTo>
                  <a:pt x="0" y="110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567437">
            <a:off x="8110392" y="5055177"/>
            <a:ext cx="2588757" cy="2475499"/>
          </a:xfrm>
          <a:custGeom>
            <a:avLst/>
            <a:gdLst/>
            <a:ahLst/>
            <a:cxnLst/>
            <a:rect l="l" t="t" r="r" b="b"/>
            <a:pathLst>
              <a:path w="2588757" h="2475499">
                <a:moveTo>
                  <a:pt x="0" y="0"/>
                </a:moveTo>
                <a:lnTo>
                  <a:pt x="2588756" y="0"/>
                </a:lnTo>
                <a:lnTo>
                  <a:pt x="2588756" y="2475498"/>
                </a:lnTo>
                <a:lnTo>
                  <a:pt x="0" y="2475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67602" y="5313139"/>
            <a:ext cx="7099307" cy="145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400" b="1" dirty="0">
                <a:solidFill>
                  <a:srgbClr val="731F7D"/>
                </a:solidFill>
                <a:latin typeface="Arial Black" panose="020B0A04020102020204" pitchFamily="34" charset="0"/>
                <a:ea typeface="Halant Bold" panose="00000800000000000000"/>
                <a:cs typeface="Halant Bold" panose="00000800000000000000"/>
                <a:sym typeface="Halant Bold" panose="00000800000000000000"/>
              </a:rPr>
              <a:t>Lecture 8 and 9</a:t>
            </a:r>
          </a:p>
          <a:p>
            <a:pPr algn="l">
              <a:lnSpc>
                <a:spcPts val="3780"/>
              </a:lnSpc>
            </a:pPr>
            <a:r>
              <a:rPr lang="en-US" sz="2700" b="1" dirty="0">
                <a:solidFill>
                  <a:srgbClr val="731F7D"/>
                </a:solidFill>
                <a:latin typeface="Halant Bold" panose="00000800000000000000"/>
                <a:ea typeface="Halant Bold" panose="00000800000000000000"/>
                <a:cs typeface="Halant Bold" panose="00000800000000000000"/>
                <a:sym typeface="Halant Bold" panose="00000800000000000000"/>
              </a:rPr>
              <a:t>Instructor: Mariam Fiaz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731F7D"/>
                </a:solidFill>
                <a:latin typeface="Halant Bold" panose="00000800000000000000"/>
                <a:ea typeface="Halant Bold" panose="00000800000000000000"/>
                <a:cs typeface="Halant Bold" panose="00000800000000000000"/>
                <a:sym typeface="Halant Bold" panose="00000800000000000000"/>
              </a:rPr>
              <a:t>email: mariamsherwani434@gmail.com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98132">
            <a:off x="7524355" y="4826078"/>
            <a:ext cx="3828488" cy="4232275"/>
          </a:xfrm>
          <a:custGeom>
            <a:avLst/>
            <a:gdLst/>
            <a:ahLst/>
            <a:cxnLst/>
            <a:rect l="l" t="t" r="r" b="b"/>
            <a:pathLst>
              <a:path w="3828488" h="4232275">
                <a:moveTo>
                  <a:pt x="0" y="0"/>
                </a:moveTo>
                <a:lnTo>
                  <a:pt x="3828488" y="0"/>
                </a:lnTo>
                <a:lnTo>
                  <a:pt x="3828488" y="4232275"/>
                </a:lnTo>
                <a:lnTo>
                  <a:pt x="0" y="4232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81" b="-1174"/>
            </a:stretch>
          </a:blipFill>
        </p:spPr>
      </p:sp>
      <p:sp>
        <p:nvSpPr>
          <p:cNvPr id="3" name="Freeform 3"/>
          <p:cNvSpPr/>
          <p:nvPr/>
        </p:nvSpPr>
        <p:spPr>
          <a:xfrm rot="-2715964">
            <a:off x="5760526" y="5871583"/>
            <a:ext cx="983734" cy="932088"/>
          </a:xfrm>
          <a:custGeom>
            <a:avLst/>
            <a:gdLst/>
            <a:ahLst/>
            <a:cxnLst/>
            <a:rect l="l" t="t" r="r" b="b"/>
            <a:pathLst>
              <a:path w="983734" h="932088">
                <a:moveTo>
                  <a:pt x="0" y="0"/>
                </a:moveTo>
                <a:lnTo>
                  <a:pt x="983734" y="0"/>
                </a:lnTo>
                <a:lnTo>
                  <a:pt x="983734" y="932087"/>
                </a:lnTo>
                <a:lnTo>
                  <a:pt x="0" y="932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212463">
            <a:off x="5642474" y="-928349"/>
            <a:ext cx="2866520" cy="3318692"/>
          </a:xfrm>
          <a:custGeom>
            <a:avLst/>
            <a:gdLst/>
            <a:ahLst/>
            <a:cxnLst/>
            <a:rect l="l" t="t" r="r" b="b"/>
            <a:pathLst>
              <a:path w="2866520" h="3318692">
                <a:moveTo>
                  <a:pt x="0" y="0"/>
                </a:moveTo>
                <a:lnTo>
                  <a:pt x="2866520" y="0"/>
                </a:lnTo>
                <a:lnTo>
                  <a:pt x="2866520" y="3318693"/>
                </a:lnTo>
                <a:lnTo>
                  <a:pt x="0" y="3318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57436" y="1752430"/>
            <a:ext cx="9112904" cy="5420388"/>
            <a:chOff x="-40828" y="0"/>
            <a:chExt cx="12150538" cy="7227184"/>
          </a:xfrm>
        </p:grpSpPr>
        <p:sp>
          <p:nvSpPr>
            <p:cNvPr id="6" name="TextBox 6"/>
            <p:cNvSpPr txBox="1"/>
            <p:nvPr/>
          </p:nvSpPr>
          <p:spPr>
            <a:xfrm>
              <a:off x="-40828" y="503147"/>
              <a:ext cx="8342712" cy="1260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375"/>
                </a:lnSpc>
              </a:pPr>
              <a:r>
                <a:rPr lang="en-US" sz="6250" b="1" dirty="0">
                  <a:solidFill>
                    <a:srgbClr val="FFFFFF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Reference Books: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42219" y="0"/>
              <a:ext cx="1567491" cy="11387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635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421" y="2032000"/>
              <a:ext cx="10667154" cy="51951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indent="-457200" algn="just">
                <a:lnSpc>
                  <a:spcPts val="3360"/>
                </a:lnSpc>
                <a:buFont typeface="+mj-lt"/>
                <a:buAutoNum type="arabicPeriod"/>
              </a:pPr>
              <a:r>
                <a:rPr lang="en-US" sz="2400" spc="-24" dirty="0">
                  <a:solidFill>
                    <a:srgbClr val="FFFFFF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Understanding Computers: Today and Tomorrow, Comprehensive – Deborah Morley &amp; Charles S. Parker, Cengage Learning, 2017</a:t>
              </a:r>
              <a:r>
                <a:rPr lang="en-US" sz="2400" b="1" spc="-24" dirty="0">
                  <a:solidFill>
                    <a:srgbClr val="FFFFFF"/>
                  </a:solidFill>
                  <a:latin typeface="Calibri" panose="020F0502020204030204" charset="0"/>
                  <a:ea typeface="Assistant Bold" panose="00000800000000000000"/>
                  <a:cs typeface="Calibri" panose="020F0502020204030204" charset="0"/>
                  <a:sym typeface="Assistant Bold" panose="00000800000000000000"/>
                </a:rPr>
                <a:t> (Read Chapters 16)</a:t>
              </a:r>
            </a:p>
            <a:p>
              <a:pPr lvl="1" indent="-457200" algn="just">
                <a:lnSpc>
                  <a:spcPts val="3360"/>
                </a:lnSpc>
                <a:buFont typeface="+mj-lt"/>
                <a:buAutoNum type="arabicPeriod"/>
              </a:pPr>
              <a:r>
                <a:rPr lang="en-US" sz="2400" spc="-24" dirty="0">
                  <a:solidFill>
                    <a:srgbClr val="FFFFFF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Computer Science Illuminated – Nell Dale &amp; John Lewis,     Jones &amp; Bartlett Learning, LLC, 2020</a:t>
              </a:r>
              <a:r>
                <a:rPr lang="en-US" sz="2400" b="1" spc="-24" dirty="0">
                  <a:solidFill>
                    <a:srgbClr val="FFFFFF"/>
                  </a:solidFill>
                  <a:latin typeface="Calibri" panose="020F0502020204030204" charset="0"/>
                  <a:ea typeface="Assistant Bold" panose="00000800000000000000"/>
                  <a:cs typeface="Calibri" panose="020F0502020204030204" charset="0"/>
                  <a:sym typeface="Assistant Bold" panose="00000800000000000000"/>
                </a:rPr>
                <a:t> (Read Chapter 14)</a:t>
              </a:r>
            </a:p>
            <a:p>
              <a:pPr lvl="1" indent="-457200" algn="just">
                <a:lnSpc>
                  <a:spcPts val="3360"/>
                </a:lnSpc>
                <a:buFont typeface="+mj-lt"/>
                <a:buAutoNum type="arabicPeriod"/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algn="just">
                <a:lnSpc>
                  <a:spcPts val="3360"/>
                </a:lnSpc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marL="259080" lvl="1" indent="0" algn="just">
                <a:lnSpc>
                  <a:spcPts val="3360"/>
                </a:lnSpc>
                <a:buNone/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algn="just">
                <a:lnSpc>
                  <a:spcPts val="3360"/>
                </a:lnSpc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96952" y="201525"/>
            <a:ext cx="7502435" cy="691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en-US" sz="5000" b="1" dirty="0">
                <a:solidFill>
                  <a:srgbClr val="000000"/>
                </a:solidFill>
                <a:ea typeface="HK Grotesk Bold" panose="00000800000000000000"/>
                <a:cs typeface="Calibri" panose="020F0502020204030204" charset="0"/>
                <a:sym typeface="HK Grotesk Bold" panose="00000800000000000000"/>
              </a:rPr>
              <a:t>Contents</a:t>
            </a:r>
            <a:r>
              <a:rPr lang="en-US" sz="5000" b="1" dirty="0">
                <a:solidFill>
                  <a:srgbClr val="000000"/>
                </a:solidFill>
                <a:ea typeface="HK Grotesk Bold" panose="00000800000000000000"/>
                <a:cs typeface="HK Grotesk Bold" panose="00000800000000000000"/>
                <a:sym typeface="HK Grotesk Bold" panose="00000800000000000000"/>
              </a:rPr>
              <a:t>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Intellectual Property Rights (IPR)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Ethics in ICT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Health Access and Environment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ICT Applications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Health Industry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Banking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Expert Systems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Digital Currencies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Cloud Computing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Overview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Advantages &amp; Disadvantages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Characteristics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Service Models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Deployment Models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Security &amp; Privacy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Internet of Things (IoT)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Applications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Characteristics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Trends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Adoption Barriers</a:t>
            </a:r>
          </a:p>
        </p:txBody>
      </p:sp>
      <p:sp>
        <p:nvSpPr>
          <p:cNvPr id="3" name="Freeform 3"/>
          <p:cNvSpPr/>
          <p:nvPr/>
        </p:nvSpPr>
        <p:spPr>
          <a:xfrm rot="-10141306">
            <a:off x="-2257496" y="4542887"/>
            <a:ext cx="4069550" cy="3891507"/>
          </a:xfrm>
          <a:custGeom>
            <a:avLst/>
            <a:gdLst/>
            <a:ahLst/>
            <a:cxnLst/>
            <a:rect l="l" t="t" r="r" b="b"/>
            <a:pathLst>
              <a:path w="4069550" h="3891507">
                <a:moveTo>
                  <a:pt x="0" y="0"/>
                </a:moveTo>
                <a:lnTo>
                  <a:pt x="4069550" y="0"/>
                </a:lnTo>
                <a:lnTo>
                  <a:pt x="4069550" y="3891507"/>
                </a:lnTo>
                <a:lnTo>
                  <a:pt x="0" y="3891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85462" y="7507606"/>
            <a:ext cx="7658557" cy="250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Freeform 7"/>
          <p:cNvSpPr/>
          <p:nvPr/>
        </p:nvSpPr>
        <p:spPr>
          <a:xfrm rot="9440951">
            <a:off x="-716899" y="223696"/>
            <a:ext cx="1433798" cy="1358524"/>
          </a:xfrm>
          <a:custGeom>
            <a:avLst/>
            <a:gdLst/>
            <a:ahLst/>
            <a:cxnLst/>
            <a:rect l="l" t="t" r="r" b="b"/>
            <a:pathLst>
              <a:path w="1433798" h="1358524">
                <a:moveTo>
                  <a:pt x="0" y="0"/>
                </a:moveTo>
                <a:lnTo>
                  <a:pt x="1433798" y="0"/>
                </a:lnTo>
                <a:lnTo>
                  <a:pt x="1433798" y="1358523"/>
                </a:lnTo>
                <a:lnTo>
                  <a:pt x="0" y="1358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00510">
            <a:off x="4323333" y="-4578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60162" y="320725"/>
            <a:ext cx="8633276" cy="6827857"/>
            <a:chOff x="157480" y="-267335"/>
            <a:chExt cx="11511034" cy="9103804"/>
          </a:xfrm>
        </p:grpSpPr>
        <p:sp>
          <p:nvSpPr>
            <p:cNvPr id="6" name="TextBox 6"/>
            <p:cNvSpPr txBox="1"/>
            <p:nvPr/>
          </p:nvSpPr>
          <p:spPr>
            <a:xfrm>
              <a:off x="157480" y="-267335"/>
              <a:ext cx="11511034" cy="955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4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</a:rPr>
                <a:t>Intellectual Property Rights (IPR)</a:t>
              </a:r>
              <a:r>
                <a:rPr lang="en-US" sz="44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7480" y="781106"/>
              <a:ext cx="11204787" cy="80553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200" dirty="0"/>
                <a:t>Intellectual Property Rights refer to the legal rights given to individuals or organizations to protect their creations and inventions.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These creations include: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Software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Digital content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Designs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Inventions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Types of IPR: </a:t>
              </a:r>
            </a:p>
            <a:p>
              <a:pPr marL="457200" indent="-4572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200" b="1" dirty="0"/>
                <a:t>Copyright – </a:t>
              </a:r>
              <a:r>
                <a:rPr lang="en-US" sz="2200" dirty="0"/>
                <a:t>protects written and digital content </a:t>
              </a:r>
            </a:p>
            <a:p>
              <a:pPr marL="457200" indent="-4572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200" b="1" dirty="0"/>
                <a:t>Trademark – </a:t>
              </a:r>
              <a:r>
                <a:rPr lang="en-US" sz="2200" dirty="0"/>
                <a:t>protects brand names and logos </a:t>
              </a:r>
            </a:p>
            <a:p>
              <a:pPr marL="457200" indent="-4572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200" b="1" dirty="0"/>
                <a:t>Patent – </a:t>
              </a:r>
              <a:r>
                <a:rPr lang="en-US" sz="2200" dirty="0"/>
                <a:t>protects inventions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Purpose:  </a:t>
              </a:r>
              <a:r>
                <a:rPr lang="en-US" sz="2200" dirty="0"/>
                <a:t>To prevent unauthorized copying or use of original work.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B7CC2-72FE-407B-D4E1-E103678D4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75EF21-8FCC-D241-0471-D4D4E95E6C52}"/>
              </a:ext>
            </a:extLst>
          </p:cNvPr>
          <p:cNvSpPr/>
          <p:nvPr/>
        </p:nvSpPr>
        <p:spPr>
          <a:xfrm rot="-1100510">
            <a:off x="4118473" y="-4099911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E48B76F-6C50-1857-EB3E-D3B98803B103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81F653B-E06F-758E-1D77-4292309ADD67}"/>
              </a:ext>
            </a:extLst>
          </p:cNvPr>
          <p:cNvGrpSpPr/>
          <p:nvPr/>
        </p:nvGrpSpPr>
        <p:grpSpPr>
          <a:xfrm>
            <a:off x="609811" y="533538"/>
            <a:ext cx="8633276" cy="4770930"/>
            <a:chOff x="157480" y="-267335"/>
            <a:chExt cx="11511034" cy="6361236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81C81D8-D304-2FF9-9CDE-8688F27DF702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55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4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Ethics in ICT: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EA62A13-9429-E638-4823-FFF477F4BAA8}"/>
                </a:ext>
              </a:extLst>
            </p:cNvPr>
            <p:cNvSpPr txBox="1"/>
            <p:nvPr/>
          </p:nvSpPr>
          <p:spPr>
            <a:xfrm>
              <a:off x="157480" y="746971"/>
              <a:ext cx="11204787" cy="53469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200" dirty="0"/>
                <a:t>Ethics in ICT refers to the moral principles that guide the use of information and communication technology.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Important ethical issues include: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Using software legally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Respecting user privacy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Avoiding hacking and cybercrime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Not spreading false information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Ethical use of ICT ensures responsible and fair use of technology.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3379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55D79-582B-A45D-07D8-7C3F99B1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7B54F39-1872-CCC2-2A8D-DC7F4FE4D123}"/>
              </a:ext>
            </a:extLst>
          </p:cNvPr>
          <p:cNvSpPr/>
          <p:nvPr/>
        </p:nvSpPr>
        <p:spPr>
          <a:xfrm rot="-1100510">
            <a:off x="4444259" y="-45019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7FCF6E9-B75D-C2B4-7527-1BFB6F0CD7AE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36F75B8-32DB-BCFC-3E0B-D1310719F7B6}"/>
              </a:ext>
            </a:extLst>
          </p:cNvPr>
          <p:cNvGrpSpPr/>
          <p:nvPr/>
        </p:nvGrpSpPr>
        <p:grpSpPr>
          <a:xfrm>
            <a:off x="609811" y="533538"/>
            <a:ext cx="8633276" cy="5956258"/>
            <a:chOff x="157480" y="-267335"/>
            <a:chExt cx="11511034" cy="7941671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4AA3D99-F7A1-60EB-AEAD-2049457BD109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55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4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Health Access and Environment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4E5F1A8-7559-501B-4C9D-C446A08D9C10}"/>
                </a:ext>
              </a:extLst>
            </p:cNvPr>
            <p:cNvSpPr txBox="1"/>
            <p:nvPr/>
          </p:nvSpPr>
          <p:spPr>
            <a:xfrm>
              <a:off x="244404" y="850080"/>
              <a:ext cx="11204787" cy="68242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200" dirty="0"/>
                <a:t>ICT plays an important role in improving health services and environmental management.</a:t>
              </a:r>
            </a:p>
            <a:p>
              <a:pPr marL="457200" indent="-4572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400" b="1" dirty="0"/>
                <a:t>Health Access: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Online medical consultations (telemedicine)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Electronic medical records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Remote patient monitoring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2.    </a:t>
              </a:r>
              <a:r>
                <a:rPr lang="en-US" sz="2400" b="1" dirty="0"/>
                <a:t>Environment: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Monitoring pollution levels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Reducing paper usage through digital systems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Smart energy systems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3670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448F1-3FB4-4EE7-187C-CD3B364FE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4EB57B-749C-45F7-0EF2-A491D993618D}"/>
              </a:ext>
            </a:extLst>
          </p:cNvPr>
          <p:cNvSpPr/>
          <p:nvPr/>
        </p:nvSpPr>
        <p:spPr>
          <a:xfrm rot="-1100510">
            <a:off x="4672860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A396482-0FA8-E440-D822-527FF8622807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9CD70A6-564C-175B-7402-F326078AD486}"/>
              </a:ext>
            </a:extLst>
          </p:cNvPr>
          <p:cNvGrpSpPr/>
          <p:nvPr/>
        </p:nvGrpSpPr>
        <p:grpSpPr>
          <a:xfrm>
            <a:off x="609811" y="533538"/>
            <a:ext cx="8633276" cy="4797112"/>
            <a:chOff x="157480" y="-267335"/>
            <a:chExt cx="11511034" cy="6396143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90011B7-9001-878D-7393-680D3B8FAAA6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ICT Applications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39FF4F0-FDB6-6CDB-6991-555A6047B4ED}"/>
                </a:ext>
              </a:extLst>
            </p:cNvPr>
            <p:cNvSpPr txBox="1"/>
            <p:nvPr/>
          </p:nvSpPr>
          <p:spPr>
            <a:xfrm>
              <a:off x="244404" y="720324"/>
              <a:ext cx="11204787" cy="54084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200" dirty="0"/>
                <a:t>ICT Applications are as follows:</a:t>
              </a:r>
            </a:p>
            <a:p>
              <a:pPr marL="457200" indent="-4572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400" b="1" dirty="0"/>
                <a:t>Health Industry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ICT is used in hospitals and clinics to improve healthcare services.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Examples: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Patient record systems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Online appointments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Diagnostic systems</a:t>
              </a:r>
              <a:endParaRPr lang="en-US" sz="2400" b="1" dirty="0"/>
            </a:p>
            <a:p>
              <a:pPr marL="457200" indent="-457200" algn="just">
                <a:lnSpc>
                  <a:spcPct val="150000"/>
                </a:lnSpc>
                <a:buFont typeface="+mj-lt"/>
                <a:buAutoNum type="arabicPeriod"/>
              </a:pPr>
              <a:endParaRPr lang="en-US"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09856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A9832-E941-0F31-4F26-C918C1C6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2A18548-262E-6656-4E25-E08A79B0318E}"/>
              </a:ext>
            </a:extLst>
          </p:cNvPr>
          <p:cNvSpPr/>
          <p:nvPr/>
        </p:nvSpPr>
        <p:spPr>
          <a:xfrm rot="-1100510">
            <a:off x="4672860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5DEDB8D-ADD8-356B-ED88-E4B5118936C9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0F7BDBA-208F-4E09-7C4B-D3CC237E817D}"/>
              </a:ext>
            </a:extLst>
          </p:cNvPr>
          <p:cNvGrpSpPr/>
          <p:nvPr/>
        </p:nvGrpSpPr>
        <p:grpSpPr>
          <a:xfrm>
            <a:off x="609811" y="533538"/>
            <a:ext cx="8633276" cy="6366772"/>
            <a:chOff x="157480" y="-267335"/>
            <a:chExt cx="11511034" cy="8489020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F85D507-D422-5D92-3A92-ADD333C4A79B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ICT Applications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64C9F7B-B058-C4E8-8BE0-021DD95C647D}"/>
                </a:ext>
              </a:extLst>
            </p:cNvPr>
            <p:cNvSpPr txBox="1"/>
            <p:nvPr/>
          </p:nvSpPr>
          <p:spPr>
            <a:xfrm>
              <a:off x="244404" y="720324"/>
              <a:ext cx="11204787" cy="75013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AutoNum type="arabicPeriod" startAt="2"/>
              </a:pPr>
              <a:r>
                <a:rPr lang="en-US" sz="2400" b="1" dirty="0"/>
                <a:t>Banking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ICT has transformed banking services.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Examples: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Online banking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ATM systems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Mobile banking apps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Benefits: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Fast transactions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24/7 access</a:t>
              </a:r>
            </a:p>
            <a:p>
              <a:pPr algn="just">
                <a:lnSpc>
                  <a:spcPct val="150000"/>
                </a:lnSpc>
              </a:pPr>
              <a:endParaRPr lang="en-US" sz="2400" b="1" dirty="0"/>
            </a:p>
            <a:p>
              <a:pPr marL="457200" indent="-457200" algn="just">
                <a:lnSpc>
                  <a:spcPct val="150000"/>
                </a:lnSpc>
                <a:buFont typeface="+mj-lt"/>
                <a:buAutoNum type="arabicPeriod"/>
              </a:pPr>
              <a:endParaRPr lang="en-US"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43758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55986-C264-5688-E26B-B685DB24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A55C55D-A9B5-284E-4812-6CEBE17E1DED}"/>
              </a:ext>
            </a:extLst>
          </p:cNvPr>
          <p:cNvSpPr/>
          <p:nvPr/>
        </p:nvSpPr>
        <p:spPr>
          <a:xfrm rot="-1100510">
            <a:off x="4672860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3F3AAC3-AF47-50BF-F0A2-FD5018FACAC3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92B9832-9E74-290B-1D13-BE7AADC51033}"/>
              </a:ext>
            </a:extLst>
          </p:cNvPr>
          <p:cNvGrpSpPr/>
          <p:nvPr/>
        </p:nvGrpSpPr>
        <p:grpSpPr>
          <a:xfrm>
            <a:off x="609811" y="533538"/>
            <a:ext cx="8633276" cy="4797112"/>
            <a:chOff x="157480" y="-267335"/>
            <a:chExt cx="11511034" cy="6396143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EEA8361-D417-C106-8A55-17D3794312B5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ICT Applications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D329D65-EA64-1D6B-20C6-1A7F3FC79E30}"/>
                </a:ext>
              </a:extLst>
            </p:cNvPr>
            <p:cNvSpPr txBox="1"/>
            <p:nvPr/>
          </p:nvSpPr>
          <p:spPr>
            <a:xfrm>
              <a:off x="244404" y="720324"/>
              <a:ext cx="11204787" cy="54084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b="1" dirty="0"/>
                <a:t>3.   Expert Systems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Expert systems are computer programs that simulate the decision-making ability of a human expert.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Examples: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Medical diagnosis systems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Technical support systems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They use knowledge and rules to solve problems.</a:t>
              </a:r>
              <a:endParaRPr lang="en-US" sz="2200" b="1" dirty="0"/>
            </a:p>
            <a:p>
              <a:pPr marL="457200" indent="-457200" algn="just">
                <a:lnSpc>
                  <a:spcPct val="150000"/>
                </a:lnSpc>
                <a:buFont typeface="+mj-lt"/>
                <a:buAutoNum type="arabicPeriod"/>
              </a:pPr>
              <a:endParaRPr lang="en-US"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25228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3B895-A473-EA5F-8E0D-1E3C1E48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E0B820-8AAB-BA30-2B36-3108AFC1D124}"/>
              </a:ext>
            </a:extLst>
          </p:cNvPr>
          <p:cNvSpPr/>
          <p:nvPr/>
        </p:nvSpPr>
        <p:spPr>
          <a:xfrm rot="-1100510">
            <a:off x="4672860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C64E788-09FF-E7B5-6167-D9664F38BEFC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AE9457E-6443-9070-05E9-B35F45E4DEF7}"/>
              </a:ext>
            </a:extLst>
          </p:cNvPr>
          <p:cNvGrpSpPr/>
          <p:nvPr/>
        </p:nvGrpSpPr>
        <p:grpSpPr>
          <a:xfrm>
            <a:off x="609811" y="533538"/>
            <a:ext cx="8633276" cy="5812775"/>
            <a:chOff x="157480" y="-267335"/>
            <a:chExt cx="11511034" cy="7750359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DB8D311-C264-FC4B-3C58-F66FBCE375A7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ICT Applications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0FBEC16-E32C-B616-A8ED-B341191193DD}"/>
                </a:ext>
              </a:extLst>
            </p:cNvPr>
            <p:cNvSpPr txBox="1"/>
            <p:nvPr/>
          </p:nvSpPr>
          <p:spPr>
            <a:xfrm>
              <a:off x="244404" y="720324"/>
              <a:ext cx="11204787" cy="67627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b="1" dirty="0"/>
                <a:t>4.   Digital Currencies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Digital currencies are electronic forms of money that exist only in digital form.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Examples: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Cryptocurrencies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Online payment tokens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Features: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No physical form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Fast transactions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Global usage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927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17CDB-35AC-B153-88BF-D28A0502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78A13A3-CAF6-65C0-A081-D9EECD270782}"/>
              </a:ext>
            </a:extLst>
          </p:cNvPr>
          <p:cNvSpPr/>
          <p:nvPr/>
        </p:nvSpPr>
        <p:spPr>
          <a:xfrm rot="-1100510">
            <a:off x="4749059" y="-4457761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4C818EF-455D-A1DF-F33A-B5DF4F57D286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84EA24A-7094-1606-0E49-1E1D40AD3393}"/>
              </a:ext>
            </a:extLst>
          </p:cNvPr>
          <p:cNvGrpSpPr/>
          <p:nvPr/>
        </p:nvGrpSpPr>
        <p:grpSpPr>
          <a:xfrm>
            <a:off x="609811" y="609600"/>
            <a:ext cx="8633276" cy="6025899"/>
            <a:chOff x="157480" y="-165919"/>
            <a:chExt cx="11511034" cy="803452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682D36B-C793-5DE4-F8A5-9CCA2D4F8E00}"/>
                </a:ext>
              </a:extLst>
            </p:cNvPr>
            <p:cNvSpPr txBox="1"/>
            <p:nvPr/>
          </p:nvSpPr>
          <p:spPr>
            <a:xfrm>
              <a:off x="157480" y="-165919"/>
              <a:ext cx="11511034" cy="1982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4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Cloud Computing</a:t>
              </a:r>
            </a:p>
            <a:p>
              <a:pPr algn="l">
                <a:lnSpc>
                  <a:spcPts val="5900"/>
                </a:lnSpc>
              </a:pPr>
              <a:r>
                <a:rPr lang="en-US" sz="3200" b="1" dirty="0"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Overview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3F98E76-63C2-A690-6B88-C31B8FBF1C92}"/>
                </a:ext>
              </a:extLst>
            </p:cNvPr>
            <p:cNvSpPr txBox="1"/>
            <p:nvPr/>
          </p:nvSpPr>
          <p:spPr>
            <a:xfrm>
              <a:off x="157480" y="1967679"/>
              <a:ext cx="11511034" cy="59009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200" dirty="0"/>
                <a:t>Cloud computing is the delivery of computing services such as storage, software, and processing power over the internet.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Users can access data and applications without using local hardware.</a:t>
              </a:r>
            </a:p>
            <a:p>
              <a:pPr algn="just">
                <a:lnSpc>
                  <a:spcPct val="250000"/>
                </a:lnSpc>
              </a:pPr>
              <a:r>
                <a:rPr lang="en-US" sz="2400" b="1" dirty="0"/>
                <a:t>Advantages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Cost-effective (no need for expensive hardware)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Easy access from anywhere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Scalable (increase or decrease resources easily)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Data backup and recovery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2804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8FAAD-E659-FCCB-9D4A-35D732D9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DE9643-47DB-0010-6E13-F420883BD81F}"/>
              </a:ext>
            </a:extLst>
          </p:cNvPr>
          <p:cNvSpPr/>
          <p:nvPr/>
        </p:nvSpPr>
        <p:spPr>
          <a:xfrm rot="-1100510">
            <a:off x="4749059" y="-4457761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3D48077-F6F4-BC33-4C74-6D7207166EBD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030DD73-FB51-4241-9D75-2275B04E3D2F}"/>
              </a:ext>
            </a:extLst>
          </p:cNvPr>
          <p:cNvGrpSpPr/>
          <p:nvPr/>
        </p:nvGrpSpPr>
        <p:grpSpPr>
          <a:xfrm>
            <a:off x="609811" y="609600"/>
            <a:ext cx="8633276" cy="6939348"/>
            <a:chOff x="157480" y="-165919"/>
            <a:chExt cx="11511034" cy="925245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C31AA19-B5FF-4F60-D78A-F5D092E04A05}"/>
                </a:ext>
              </a:extLst>
            </p:cNvPr>
            <p:cNvSpPr txBox="1"/>
            <p:nvPr/>
          </p:nvSpPr>
          <p:spPr>
            <a:xfrm>
              <a:off x="157480" y="-165919"/>
              <a:ext cx="11511034" cy="955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4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Cloud Computing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5CD66BA-6117-5D16-AD2C-DE47B4F7BF03}"/>
                </a:ext>
              </a:extLst>
            </p:cNvPr>
            <p:cNvSpPr txBox="1"/>
            <p:nvPr/>
          </p:nvSpPr>
          <p:spPr>
            <a:xfrm>
              <a:off x="157480" y="1092732"/>
              <a:ext cx="11511034" cy="79938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b="1" dirty="0"/>
                <a:t>Dis-advantages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Internet dependency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Security risks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Limited control over data</a:t>
              </a:r>
            </a:p>
            <a:p>
              <a:pPr algn="just">
                <a:lnSpc>
                  <a:spcPct val="250000"/>
                </a:lnSpc>
              </a:pPr>
              <a:r>
                <a:rPr lang="en-US" sz="2400" b="1" dirty="0"/>
                <a:t>Characteristics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On-demand self-service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Broad network access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Resource pooling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Rapid elasticity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Measured service</a:t>
              </a:r>
            </a:p>
            <a:p>
              <a:pPr algn="just">
                <a:lnSpc>
                  <a:spcPct val="150000"/>
                </a:lnSpc>
              </a:pPr>
              <a:endParaRPr 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55838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AB3A7-5B4C-B689-A640-FB005F1C6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224008-8675-13B6-B2A7-F2003054CBCC}"/>
              </a:ext>
            </a:extLst>
          </p:cNvPr>
          <p:cNvSpPr/>
          <p:nvPr/>
        </p:nvSpPr>
        <p:spPr>
          <a:xfrm rot="-1100510">
            <a:off x="4749059" y="-4457761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58C06A2-E785-2834-DC5E-1C8C0046D1B6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0BCF594-7BD2-C75E-33B0-2710F99F4617}"/>
              </a:ext>
            </a:extLst>
          </p:cNvPr>
          <p:cNvGrpSpPr/>
          <p:nvPr/>
        </p:nvGrpSpPr>
        <p:grpSpPr>
          <a:xfrm>
            <a:off x="609811" y="533538"/>
            <a:ext cx="8633276" cy="4416631"/>
            <a:chOff x="157480" y="-267335"/>
            <a:chExt cx="11511034" cy="5888831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09B6CF3-9C96-109E-159B-E245A5263520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Service Models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73A1452-37E2-5FFA-3179-7B8ABD2E3B43}"/>
                </a:ext>
              </a:extLst>
            </p:cNvPr>
            <p:cNvSpPr txBox="1"/>
            <p:nvPr/>
          </p:nvSpPr>
          <p:spPr>
            <a:xfrm>
              <a:off x="310603" y="951679"/>
              <a:ext cx="11204787" cy="46698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200" dirty="0"/>
                <a:t>There are three services models such as:</a:t>
              </a:r>
            </a:p>
            <a:p>
              <a:pPr marL="457200" indent="-4572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200" b="1" dirty="0"/>
                <a:t>Infrastructure as a Service (IaaS):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Provides virtual hardware resources.</a:t>
              </a:r>
            </a:p>
            <a:p>
              <a:pPr marL="457200" indent="-457200" algn="just">
                <a:lnSpc>
                  <a:spcPct val="150000"/>
                </a:lnSpc>
                <a:buAutoNum type="arabicPeriod" startAt="2"/>
              </a:pPr>
              <a:r>
                <a:rPr lang="en-US" sz="2200" b="1" dirty="0"/>
                <a:t>Platform as a Service (PaaS):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Provides a platform for developing applications.</a:t>
              </a:r>
            </a:p>
            <a:p>
              <a:pPr marL="457200" indent="-457200" algn="just">
                <a:lnSpc>
                  <a:spcPct val="150000"/>
                </a:lnSpc>
                <a:buAutoNum type="arabicPeriod" startAt="3"/>
              </a:pPr>
              <a:r>
                <a:rPr lang="en-US" sz="2200" b="1" dirty="0"/>
                <a:t>Software as a Service (SaaS):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Provides software applications over the internet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1002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43FAD-E88E-91C6-4350-3C19F4FC3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6400"/>
            <a:ext cx="97536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92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31DA-A1BE-3736-DD1B-E7EAD90F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A5A7BC-EFED-9ED5-A529-E0D0C8CC6513}"/>
              </a:ext>
            </a:extLst>
          </p:cNvPr>
          <p:cNvSpPr/>
          <p:nvPr/>
        </p:nvSpPr>
        <p:spPr>
          <a:xfrm rot="-1100510">
            <a:off x="4749059" y="-4457761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FE9FBBD-3D5B-517F-205A-0788C32E4CFF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8101DE5-8DD8-49FA-4055-DB8CF051FDB5}"/>
              </a:ext>
            </a:extLst>
          </p:cNvPr>
          <p:cNvGrpSpPr/>
          <p:nvPr/>
        </p:nvGrpSpPr>
        <p:grpSpPr>
          <a:xfrm>
            <a:off x="609811" y="533538"/>
            <a:ext cx="8633276" cy="4416631"/>
            <a:chOff x="157480" y="-267335"/>
            <a:chExt cx="11511034" cy="5888831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4C8D965-8708-1D09-EC6C-007657D14608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Deployment Models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01DDB18-A6ED-8EF8-669D-BE7DD1E86F52}"/>
                </a:ext>
              </a:extLst>
            </p:cNvPr>
            <p:cNvSpPr txBox="1"/>
            <p:nvPr/>
          </p:nvSpPr>
          <p:spPr>
            <a:xfrm>
              <a:off x="310603" y="951679"/>
              <a:ext cx="11204787" cy="46698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200" dirty="0"/>
                <a:t>There are three deployment models such as:</a:t>
              </a:r>
            </a:p>
            <a:p>
              <a:pPr marL="457200" indent="-4572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200" b="1" dirty="0"/>
                <a:t>Public Cloud: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Available to the general public.</a:t>
              </a:r>
            </a:p>
            <a:p>
              <a:pPr marL="457200" indent="-457200" algn="just">
                <a:lnSpc>
                  <a:spcPct val="150000"/>
                </a:lnSpc>
                <a:buAutoNum type="arabicPeriod" startAt="2"/>
              </a:pPr>
              <a:r>
                <a:rPr lang="en-US" sz="2200" b="1" dirty="0"/>
                <a:t>Private Cloud: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Used by a single organization.</a:t>
              </a:r>
            </a:p>
            <a:p>
              <a:pPr marL="457200" indent="-457200" algn="just">
                <a:lnSpc>
                  <a:spcPct val="150000"/>
                </a:lnSpc>
                <a:buAutoNum type="arabicPeriod" startAt="3"/>
              </a:pPr>
              <a:r>
                <a:rPr lang="en-US" sz="2200" b="1" dirty="0"/>
                <a:t>Hybrid Cloud: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Combination of public and private cloud.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3601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C9E4-1951-0C61-FF6B-664D7735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941249-57E3-4B0B-42DE-3D0DBBB9F997}"/>
              </a:ext>
            </a:extLst>
          </p:cNvPr>
          <p:cNvSpPr/>
          <p:nvPr/>
        </p:nvSpPr>
        <p:spPr>
          <a:xfrm rot="-1100510">
            <a:off x="4749059" y="-4457761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29B2526-CE78-6791-55CF-B427951B2F19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D1EA75F-1730-B709-4464-7F3B9C8CDB63}"/>
              </a:ext>
            </a:extLst>
          </p:cNvPr>
          <p:cNvGrpSpPr/>
          <p:nvPr/>
        </p:nvGrpSpPr>
        <p:grpSpPr>
          <a:xfrm>
            <a:off x="609811" y="533538"/>
            <a:ext cx="8633276" cy="5102431"/>
            <a:chOff x="157480" y="-267335"/>
            <a:chExt cx="11511034" cy="680323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C6683E0-AAA4-C299-FE02-F72612C7009C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982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4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Security and Privacy of Cloud Computing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3832097-53C9-F01C-0C1B-9A9F96B61BDE}"/>
                </a:ext>
              </a:extLst>
            </p:cNvPr>
            <p:cNvSpPr txBox="1"/>
            <p:nvPr/>
          </p:nvSpPr>
          <p:spPr>
            <a:xfrm>
              <a:off x="157480" y="1866079"/>
              <a:ext cx="11511034" cy="46698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200" b="1" dirty="0"/>
                <a:t>Cloud computing faces security challenges such as: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Data breaches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Unauthorized access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Protection methods include: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Encryption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Strong authentication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Regular backups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0751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04C31-4CDC-FF23-C916-0CF9435D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BFABE2-1C9D-7637-7AB3-919031D065D7}"/>
              </a:ext>
            </a:extLst>
          </p:cNvPr>
          <p:cNvSpPr/>
          <p:nvPr/>
        </p:nvSpPr>
        <p:spPr>
          <a:xfrm rot="-1100510">
            <a:off x="4749059" y="-4457761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EBCE921-01B5-71FA-B10D-7F973F4F186D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98BE40D-7A03-216E-F207-9D895291F408}"/>
              </a:ext>
            </a:extLst>
          </p:cNvPr>
          <p:cNvGrpSpPr/>
          <p:nvPr/>
        </p:nvGrpSpPr>
        <p:grpSpPr>
          <a:xfrm>
            <a:off x="609811" y="533538"/>
            <a:ext cx="8633276" cy="6032458"/>
            <a:chOff x="157480" y="-267335"/>
            <a:chExt cx="11511034" cy="8043270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2079F3C-B198-97CA-C4C6-CA52F517FE2B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Internet of Things (IoT)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B696FAF-9461-25DF-3455-FDF9092BB3C3}"/>
                </a:ext>
              </a:extLst>
            </p:cNvPr>
            <p:cNvSpPr txBox="1"/>
            <p:nvPr/>
          </p:nvSpPr>
          <p:spPr>
            <a:xfrm>
              <a:off x="157480" y="951680"/>
              <a:ext cx="11511034" cy="68242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400" b="1" dirty="0"/>
                <a:t>Applications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IoT refers to connecting everyday devices to the internet.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Examples: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Smart homes (smart lights, smart thermostats)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Wearable devices (fitness trackers)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Smart cities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Industrial automation</a:t>
              </a:r>
            </a:p>
            <a:p>
              <a:pPr marL="457200" indent="-457200" algn="just">
                <a:lnSpc>
                  <a:spcPct val="150000"/>
                </a:lnSpc>
                <a:buAutoNum type="arabicPeriod" startAt="2"/>
              </a:pPr>
              <a:r>
                <a:rPr lang="en-US" sz="2400" b="1" dirty="0"/>
                <a:t>Characteristics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Connectivity                         • Real-time data collection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dirty="0"/>
                <a:t>• Automation                          • Intelligence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9876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6D06A-FB0A-E799-A6EA-6D21F1F3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F67184-FE38-CEF3-22BB-BB36062B484F}"/>
              </a:ext>
            </a:extLst>
          </p:cNvPr>
          <p:cNvSpPr/>
          <p:nvPr/>
        </p:nvSpPr>
        <p:spPr>
          <a:xfrm rot="-1100510">
            <a:off x="4749059" y="-4457761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3BE488B-CDAF-EB43-AF86-A9AADD88375F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A8A2EBE-21A5-AE4F-46CD-AFC5C3C81225}"/>
              </a:ext>
            </a:extLst>
          </p:cNvPr>
          <p:cNvGrpSpPr/>
          <p:nvPr/>
        </p:nvGrpSpPr>
        <p:grpSpPr>
          <a:xfrm>
            <a:off x="609811" y="533538"/>
            <a:ext cx="8633276" cy="6032458"/>
            <a:chOff x="157480" y="-267335"/>
            <a:chExt cx="11511034" cy="8043271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C06C843-7157-0FCA-1800-DA5488ABE070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Internet of Things (IoT)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15C310F-7EC1-343B-6555-27E94DA581FC}"/>
                </a:ext>
              </a:extLst>
            </p:cNvPr>
            <p:cNvSpPr txBox="1"/>
            <p:nvPr/>
          </p:nvSpPr>
          <p:spPr>
            <a:xfrm>
              <a:off x="157480" y="951680"/>
              <a:ext cx="11511034" cy="68242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b="1" dirty="0"/>
                <a:t>3.   Trends</a:t>
              </a:r>
            </a:p>
            <a:p>
              <a:pPr>
                <a:lnSpc>
                  <a:spcPct val="150000"/>
                </a:lnSpc>
              </a:pPr>
              <a:r>
                <a:rPr lang="en-US" sz="2200" dirty="0"/>
                <a:t>• Growth of smart devices </a:t>
              </a:r>
            </a:p>
            <a:p>
              <a:pPr>
                <a:lnSpc>
                  <a:spcPct val="150000"/>
                </a:lnSpc>
              </a:pPr>
              <a:r>
                <a:rPr lang="en-US" sz="2200" dirty="0"/>
                <a:t>• Increased use in healthcare and industries </a:t>
              </a:r>
            </a:p>
            <a:p>
              <a:pPr>
                <a:lnSpc>
                  <a:spcPct val="150000"/>
                </a:lnSpc>
              </a:pPr>
              <a:r>
                <a:rPr lang="en-US" sz="2200" dirty="0"/>
                <a:t>• Integration with AI and big data</a:t>
              </a:r>
            </a:p>
            <a:p>
              <a:pPr algn="just">
                <a:lnSpc>
                  <a:spcPct val="150000"/>
                </a:lnSpc>
              </a:pPr>
              <a:r>
                <a:rPr lang="en-US" sz="2200" b="1" dirty="0"/>
                <a:t>4</a:t>
              </a:r>
              <a:r>
                <a:rPr lang="en-US" sz="2400" b="1" dirty="0"/>
                <a:t>.   IoT Adaption Barriers</a:t>
              </a:r>
            </a:p>
            <a:p>
              <a:pPr>
                <a:lnSpc>
                  <a:spcPct val="150000"/>
                </a:lnSpc>
              </a:pPr>
              <a:r>
                <a:rPr lang="en-US" sz="2200" dirty="0"/>
                <a:t>There are some challenges in adopting IoT:</a:t>
              </a:r>
            </a:p>
            <a:p>
              <a:pPr>
                <a:lnSpc>
                  <a:spcPct val="150000"/>
                </a:lnSpc>
              </a:pPr>
              <a:r>
                <a:rPr lang="en-US" sz="2200" dirty="0"/>
                <a:t>• Security and privacy concerns </a:t>
              </a:r>
            </a:p>
            <a:p>
              <a:pPr>
                <a:lnSpc>
                  <a:spcPct val="150000"/>
                </a:lnSpc>
              </a:pPr>
              <a:r>
                <a:rPr lang="en-US" sz="2200" dirty="0"/>
                <a:t>• High implementation cost </a:t>
              </a:r>
            </a:p>
            <a:p>
              <a:pPr>
                <a:lnSpc>
                  <a:spcPct val="150000"/>
                </a:lnSpc>
              </a:pPr>
              <a:r>
                <a:rPr lang="en-US" sz="2200" dirty="0"/>
                <a:t>• Lack of standardization </a:t>
              </a:r>
            </a:p>
            <a:p>
              <a:pPr>
                <a:lnSpc>
                  <a:spcPct val="150000"/>
                </a:lnSpc>
              </a:pPr>
              <a:r>
                <a:rPr lang="en-US" sz="2200" dirty="0"/>
                <a:t>• Technical complexity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6445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4F5C47-F9AC-ED5B-9664-AAE1B227D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6400"/>
            <a:ext cx="97536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64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866787" y="-1370945"/>
            <a:ext cx="5550062" cy="4939555"/>
          </a:xfrm>
          <a:custGeom>
            <a:avLst/>
            <a:gdLst/>
            <a:ahLst/>
            <a:cxnLst/>
            <a:rect l="l" t="t" r="r" b="b"/>
            <a:pathLst>
              <a:path w="5550062" h="4939555">
                <a:moveTo>
                  <a:pt x="0" y="0"/>
                </a:moveTo>
                <a:lnTo>
                  <a:pt x="5550061" y="0"/>
                </a:lnTo>
                <a:lnTo>
                  <a:pt x="5550061" y="4939555"/>
                </a:lnTo>
                <a:lnTo>
                  <a:pt x="0" y="4939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017281">
            <a:off x="6200148" y="787734"/>
            <a:ext cx="1060123" cy="1004466"/>
          </a:xfrm>
          <a:custGeom>
            <a:avLst/>
            <a:gdLst/>
            <a:ahLst/>
            <a:cxnLst/>
            <a:rect l="l" t="t" r="r" b="b"/>
            <a:pathLst>
              <a:path w="1060123" h="1004466">
                <a:moveTo>
                  <a:pt x="0" y="0"/>
                </a:moveTo>
                <a:lnTo>
                  <a:pt x="1060123" y="0"/>
                </a:lnTo>
                <a:lnTo>
                  <a:pt x="1060123" y="1004466"/>
                </a:lnTo>
                <a:lnTo>
                  <a:pt x="0" y="1004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567437">
            <a:off x="8175470" y="5527229"/>
            <a:ext cx="2209570" cy="2112901"/>
          </a:xfrm>
          <a:custGeom>
            <a:avLst/>
            <a:gdLst/>
            <a:ahLst/>
            <a:cxnLst/>
            <a:rect l="l" t="t" r="r" b="b"/>
            <a:pathLst>
              <a:path w="2209570" h="2112901">
                <a:moveTo>
                  <a:pt x="0" y="0"/>
                </a:moveTo>
                <a:lnTo>
                  <a:pt x="2209570" y="0"/>
                </a:lnTo>
                <a:lnTo>
                  <a:pt x="2209570" y="2112902"/>
                </a:lnTo>
                <a:lnTo>
                  <a:pt x="0" y="2112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9600" y="1453265"/>
            <a:ext cx="6300796" cy="48411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rPr>
              <a:t>Summary of Lecture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chemeClr val="bg1"/>
                </a:solidFill>
              </a:rPr>
              <a:t>ICT plays a major role in modern society through applications in healthcare, banking, and intelligent systems. Intellectual property and ethics ensure responsible use of technology. Cloud computing provides flexible and cost-effective computing solutions, while IoT connects devices to improve efficiency and automation. However, challenges such as security, privacy, and cost must be managed.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840</Words>
  <Application>Microsoft Office PowerPoint</Application>
  <PresentationFormat>Custom</PresentationFormat>
  <Paragraphs>164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Halant Bold</vt:lpstr>
      <vt:lpstr>Courier New</vt:lpstr>
      <vt:lpstr>Calibri</vt:lpstr>
      <vt:lpstr>Halant Medium</vt:lpstr>
      <vt:lpstr>Wingdings</vt:lpstr>
      <vt:lpstr>Arial Black</vt:lpstr>
      <vt:lpstr>Arial</vt:lpstr>
      <vt:lpstr>HK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 Lecture 1</dc:title>
  <dc:creator/>
  <cp:lastModifiedBy>Admin</cp:lastModifiedBy>
  <cp:revision>49</cp:revision>
  <dcterms:created xsi:type="dcterms:W3CDTF">2006-08-16T00:00:00Z</dcterms:created>
  <dcterms:modified xsi:type="dcterms:W3CDTF">2026-03-29T12:55:11Z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0619587701084622B2FE28AD10B5130E_13</vt:lpwstr>
  </property>
  <property fmtid="{D5CDD505-2E9C-101B-9397-08002B2CF9AE}" pid="3" name="KSOProductBuildVer">
    <vt:lpwstr>1033-12.1.0.25242</vt:lpwstr>
  </property>
</Properties>
</file>