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media/image15.webp" ContentType="image/webp"/>
  <Override PartName="/ppt/media/image20.webp" ContentType="image/webp"/>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9"/>
  </p:notesMasterIdLst>
  <p:sldIdLst>
    <p:sldId id="256" r:id="rId3"/>
    <p:sldId id="257" r:id="rId4"/>
    <p:sldId id="258" r:id="rId5"/>
    <p:sldId id="259" r:id="rId6"/>
    <p:sldId id="260" r:id="rId7"/>
    <p:sldId id="264" r:id="rId8"/>
    <p:sldId id="295" r:id="rId9"/>
    <p:sldId id="296" r:id="rId10"/>
    <p:sldId id="297" r:id="rId11"/>
    <p:sldId id="321" r:id="rId12"/>
    <p:sldId id="302" r:id="rId13"/>
    <p:sldId id="298" r:id="rId14"/>
    <p:sldId id="307" r:id="rId15"/>
    <p:sldId id="308" r:id="rId16"/>
    <p:sldId id="303" r:id="rId17"/>
    <p:sldId id="304" r:id="rId18"/>
    <p:sldId id="305" r:id="rId20"/>
    <p:sldId id="309" r:id="rId21"/>
    <p:sldId id="310" r:id="rId22"/>
    <p:sldId id="315" r:id="rId23"/>
    <p:sldId id="311" r:id="rId24"/>
    <p:sldId id="312" r:id="rId25"/>
    <p:sldId id="313" r:id="rId26"/>
    <p:sldId id="316" r:id="rId27"/>
    <p:sldId id="317" r:id="rId28"/>
    <p:sldId id="318" r:id="rId29"/>
    <p:sldId id="319" r:id="rId30"/>
    <p:sldId id="320" r:id="rId31"/>
    <p:sldId id="275" r:id="rId32"/>
  </p:sldIdLst>
  <p:sldSz cx="9753600" cy="7315200"/>
  <p:notesSz cx="6858000" cy="9144000"/>
  <p:embeddedFontLst>
    <p:embeddedFont>
      <p:font typeface="Halant Medium" panose="00000600000000000000"/>
      <p:regular r:id="rId36"/>
    </p:embeddedFont>
    <p:embeddedFont>
      <p:font typeface="Halant Bold" panose="00000800000000000000"/>
      <p:bold r:id="rId37"/>
    </p:embeddedFont>
    <p:embeddedFont>
      <p:font typeface="Calibri" panose="020F0502020204030204" charset="0"/>
      <p:regular r:id="rId38"/>
      <p:bold r:id="rId39"/>
      <p:italic r:id="rId40"/>
      <p:boldItalic r:id="rId41"/>
    </p:embeddedFont>
    <p:embeddedFont>
      <p:font typeface="Assistant" panose="00000500000000000000"/>
      <p:regular r:id="rId42"/>
    </p:embeddedFont>
    <p:embeddedFont>
      <p:font typeface="Assistant Bold" panose="00000800000000000000"/>
      <p:bold r:id="rId4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93" userDrawn="1">
          <p15:clr>
            <a:srgbClr val="A4A3A4"/>
          </p15:clr>
        </p15:guide>
        <p15:guide id="2" pos="285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showGuides="1">
      <p:cViewPr varScale="1">
        <p:scale>
          <a:sx n="65" d="100"/>
          <a:sy n="65" d="100"/>
        </p:scale>
        <p:origin x="1410" y="72"/>
      </p:cViewPr>
      <p:guideLst>
        <p:guide orient="horz" pos="2293"/>
        <p:guide pos="2858"/>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3" Type="http://schemas.openxmlformats.org/officeDocument/2006/relationships/font" Target="fonts/font8.fntdata"/><Relationship Id="rId42" Type="http://schemas.openxmlformats.org/officeDocument/2006/relationships/font" Target="fonts/font7.fntdata"/><Relationship Id="rId41" Type="http://schemas.openxmlformats.org/officeDocument/2006/relationships/font" Target="fonts/font6.fntdata"/><Relationship Id="rId40" Type="http://schemas.openxmlformats.org/officeDocument/2006/relationships/font" Target="fonts/font5.fntdata"/><Relationship Id="rId4" Type="http://schemas.openxmlformats.org/officeDocument/2006/relationships/slide" Target="slides/slide2.xml"/><Relationship Id="rId39" Type="http://schemas.openxmlformats.org/officeDocument/2006/relationships/font" Target="fonts/font4.fntdata"/><Relationship Id="rId38" Type="http://schemas.openxmlformats.org/officeDocument/2006/relationships/font" Target="fonts/font3.fntdata"/><Relationship Id="rId37" Type="http://schemas.openxmlformats.org/officeDocument/2006/relationships/font" Target="fonts/font2.fntdata"/><Relationship Id="rId36" Type="http://schemas.openxmlformats.org/officeDocument/2006/relationships/font" Target="fonts/font1.fntdata"/><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notesMaster" Target="notesMasters/notesMaster1.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10D1A6-AFC0-4378-A879-247687974856}" type="datetimeFigureOut">
              <a:rPr lang="en-US" smtClean="0"/>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D7AA2C-B60B-4B49-A158-C68B6DC03181}"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jpe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9.png"/><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1.png"/><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2.png"/><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3.png"/><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4.png"/><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7.xml"/><Relationship Id="rId2" Type="http://schemas.openxmlformats.org/officeDocument/2006/relationships/image" Target="../media/image15.webp"/><Relationship Id="rId1" Type="http://schemas.openxmlformats.org/officeDocument/2006/relationships/image" Target="../media/image3.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8.png"/><Relationship Id="rId1"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9.png"/><Relationship Id="rId1"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0.webp"/><Relationship Id="rId1" Type="http://schemas.openxmlformats.org/officeDocument/2006/relationships/image" Target="../media/image3.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1.jpeg"/><Relationship Id="rId1"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2.jpeg"/><Relationship Id="rId1"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3.png"/><Relationship Id="rId1" Type="http://schemas.openxmlformats.org/officeDocument/2006/relationships/image" Target="../media/image3.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82505" y="1981362"/>
            <a:ext cx="6200241" cy="3225074"/>
            <a:chOff x="0" y="-160655"/>
            <a:chExt cx="8266987" cy="4300099"/>
          </a:xfrm>
        </p:grpSpPr>
        <p:sp>
          <p:nvSpPr>
            <p:cNvPr id="3" name="TextBox 3"/>
            <p:cNvSpPr txBox="1"/>
            <p:nvPr/>
          </p:nvSpPr>
          <p:spPr>
            <a:xfrm>
              <a:off x="0" y="3548259"/>
              <a:ext cx="3020201" cy="591185"/>
            </a:xfrm>
            <a:prstGeom prst="rect">
              <a:avLst/>
            </a:prstGeom>
          </p:spPr>
          <p:txBody>
            <a:bodyPr lIns="0" tIns="0" rIns="0" bIns="0" rtlCol="0" anchor="t">
              <a:spAutoFit/>
            </a:bodyPr>
            <a:lstStyle/>
            <a:p>
              <a:pPr algn="l">
                <a:lnSpc>
                  <a:spcPts val="3780"/>
                </a:lnSpc>
                <a:spcBef>
                  <a:spcPct val="0"/>
                </a:spcBef>
              </a:pPr>
              <a:r>
                <a:rPr lang="en-US" sz="2700" b="1">
                  <a:solidFill>
                    <a:srgbClr val="731F7D"/>
                  </a:solidFill>
                  <a:latin typeface="Halant Medium" panose="00000600000000000000"/>
                  <a:ea typeface="Halant Medium" panose="00000600000000000000"/>
                  <a:cs typeface="Halant Medium" panose="00000600000000000000"/>
                  <a:sym typeface="Halant Medium" panose="00000600000000000000"/>
                </a:rPr>
                <a:t> </a:t>
              </a:r>
              <a:r>
                <a:rPr lang="en-US" sz="2700" b="1">
                  <a:solidFill>
                    <a:srgbClr val="731F7D"/>
                  </a:solidFill>
                  <a:latin typeface="Halant Bold" panose="00000800000000000000"/>
                  <a:ea typeface="Halant Bold" panose="00000800000000000000"/>
                  <a:cs typeface="Halant Bold" panose="00000800000000000000"/>
                  <a:sym typeface="Halant Bold" panose="00000800000000000000"/>
                </a:rPr>
                <a:t>  (CSC101)</a:t>
              </a:r>
              <a:endParaRPr lang="en-US" sz="2700" b="1">
                <a:solidFill>
                  <a:srgbClr val="731F7D"/>
                </a:solidFill>
                <a:latin typeface="Halant Bold" panose="00000800000000000000"/>
                <a:ea typeface="Halant Bold" panose="00000800000000000000"/>
                <a:cs typeface="Halant Bold" panose="00000800000000000000"/>
                <a:sym typeface="Halant Bold" panose="00000800000000000000"/>
              </a:endParaRPr>
            </a:p>
          </p:txBody>
        </p:sp>
        <p:sp>
          <p:nvSpPr>
            <p:cNvPr id="4" name="TextBox 4"/>
            <p:cNvSpPr txBox="1"/>
            <p:nvPr/>
          </p:nvSpPr>
          <p:spPr>
            <a:xfrm>
              <a:off x="183005" y="-160655"/>
              <a:ext cx="8083982" cy="3631353"/>
            </a:xfrm>
            <a:prstGeom prst="rect">
              <a:avLst/>
            </a:prstGeom>
          </p:spPr>
          <p:txBody>
            <a:bodyPr lIns="0" tIns="0" rIns="0" bIns="0" rtlCol="0" anchor="t">
              <a:spAutoFit/>
            </a:bodyPr>
            <a:lstStyle/>
            <a:p>
              <a:pPr algn="l">
                <a:lnSpc>
                  <a:spcPts val="7080"/>
                </a:lnSpc>
              </a:pPr>
              <a:r>
                <a:rPr lang="en-US" sz="6000" b="1">
                  <a:solidFill>
                    <a:srgbClr val="000000"/>
                  </a:solidFill>
                  <a:latin typeface="+mj-lt"/>
                  <a:ea typeface="HK Grotesk Bold" panose="00000800000000000000"/>
                  <a:cs typeface="+mj-lt"/>
                  <a:sym typeface="HK Grotesk Bold" panose="00000800000000000000"/>
                </a:rPr>
                <a:t>Information Communication Technology </a:t>
              </a:r>
              <a:endParaRPr lang="en-US" sz="6000" b="1">
                <a:solidFill>
                  <a:srgbClr val="000000"/>
                </a:solidFill>
                <a:latin typeface="+mj-lt"/>
                <a:ea typeface="HK Grotesk Bold" panose="00000800000000000000"/>
                <a:cs typeface="+mj-lt"/>
                <a:sym typeface="HK Grotesk Bold" panose="00000800000000000000"/>
              </a:endParaRPr>
            </a:p>
          </p:txBody>
        </p:sp>
      </p:grpSp>
      <p:sp>
        <p:nvSpPr>
          <p:cNvPr id="5" name="Freeform 5"/>
          <p:cNvSpPr/>
          <p:nvPr/>
        </p:nvSpPr>
        <p:spPr>
          <a:xfrm rot="-5550229">
            <a:off x="4207487" y="-1075063"/>
            <a:ext cx="5867962" cy="5088881"/>
          </a:xfrm>
          <a:custGeom>
            <a:avLst/>
            <a:gdLst/>
            <a:ahLst/>
            <a:cxnLst/>
            <a:rect l="l" t="t" r="r" b="b"/>
            <a:pathLst>
              <a:path w="5867962" h="5222486">
                <a:moveTo>
                  <a:pt x="0" y="0"/>
                </a:moveTo>
                <a:lnTo>
                  <a:pt x="5867963" y="0"/>
                </a:lnTo>
                <a:lnTo>
                  <a:pt x="5867963" y="5222487"/>
                </a:lnTo>
                <a:lnTo>
                  <a:pt x="0" y="5222487"/>
                </a:lnTo>
                <a:lnTo>
                  <a:pt x="0" y="0"/>
                </a:lnTo>
                <a:close/>
              </a:path>
            </a:pathLst>
          </a:custGeom>
          <a:blipFill>
            <a:blip r:embed="rId1"/>
            <a:stretch>
              <a:fillRect/>
            </a:stretch>
          </a:blipFill>
        </p:spPr>
      </p:sp>
      <p:sp>
        <p:nvSpPr>
          <p:cNvPr id="6" name="Freeform 6"/>
          <p:cNvSpPr/>
          <p:nvPr/>
        </p:nvSpPr>
        <p:spPr>
          <a:xfrm rot="-5017281">
            <a:off x="3529970" y="912669"/>
            <a:ext cx="1170984" cy="1109507"/>
          </a:xfrm>
          <a:custGeom>
            <a:avLst/>
            <a:gdLst/>
            <a:ahLst/>
            <a:cxnLst/>
            <a:rect l="l" t="t" r="r" b="b"/>
            <a:pathLst>
              <a:path w="1170984" h="1109507">
                <a:moveTo>
                  <a:pt x="0" y="0"/>
                </a:moveTo>
                <a:lnTo>
                  <a:pt x="1170984" y="0"/>
                </a:lnTo>
                <a:lnTo>
                  <a:pt x="1170984" y="1109508"/>
                </a:lnTo>
                <a:lnTo>
                  <a:pt x="0" y="1109508"/>
                </a:lnTo>
                <a:lnTo>
                  <a:pt x="0" y="0"/>
                </a:lnTo>
                <a:close/>
              </a:path>
            </a:pathLst>
          </a:custGeom>
          <a:blipFill>
            <a:blip r:embed="rId2"/>
            <a:stretch>
              <a:fillRect/>
            </a:stretch>
          </a:blipFill>
        </p:spPr>
      </p:sp>
      <p:sp>
        <p:nvSpPr>
          <p:cNvPr id="7" name="Freeform 7"/>
          <p:cNvSpPr/>
          <p:nvPr/>
        </p:nvSpPr>
        <p:spPr>
          <a:xfrm rot="-10567437">
            <a:off x="8110392" y="5055177"/>
            <a:ext cx="2588757" cy="2475499"/>
          </a:xfrm>
          <a:custGeom>
            <a:avLst/>
            <a:gdLst/>
            <a:ahLst/>
            <a:cxnLst/>
            <a:rect l="l" t="t" r="r" b="b"/>
            <a:pathLst>
              <a:path w="2588757" h="2475499">
                <a:moveTo>
                  <a:pt x="0" y="0"/>
                </a:moveTo>
                <a:lnTo>
                  <a:pt x="2588756" y="0"/>
                </a:lnTo>
                <a:lnTo>
                  <a:pt x="2588756" y="2475498"/>
                </a:lnTo>
                <a:lnTo>
                  <a:pt x="0" y="2475498"/>
                </a:lnTo>
                <a:lnTo>
                  <a:pt x="0" y="0"/>
                </a:lnTo>
                <a:close/>
              </a:path>
            </a:pathLst>
          </a:custGeom>
          <a:blipFill>
            <a:blip r:embed="rId3"/>
            <a:stretch>
              <a:fillRect/>
            </a:stretch>
          </a:blipFill>
        </p:spPr>
      </p:sp>
      <p:sp>
        <p:nvSpPr>
          <p:cNvPr id="8" name="TextBox 8"/>
          <p:cNvSpPr txBox="1"/>
          <p:nvPr/>
        </p:nvSpPr>
        <p:spPr>
          <a:xfrm>
            <a:off x="467602" y="5313139"/>
            <a:ext cx="7099307" cy="1454150"/>
          </a:xfrm>
          <a:prstGeom prst="rect">
            <a:avLst/>
          </a:prstGeom>
        </p:spPr>
        <p:txBody>
          <a:bodyPr lIns="0" tIns="0" rIns="0" bIns="0" rtlCol="0" anchor="t">
            <a:spAutoFit/>
          </a:bodyPr>
          <a:lstStyle/>
          <a:p>
            <a:pPr algn="l">
              <a:lnSpc>
                <a:spcPts val="3780"/>
              </a:lnSpc>
            </a:pPr>
            <a:r>
              <a:rPr lang="en-US" sz="2700" b="1">
                <a:solidFill>
                  <a:srgbClr val="731F7D"/>
                </a:solidFill>
                <a:latin typeface="Halant Bold" panose="00000800000000000000"/>
                <a:ea typeface="Halant Bold" panose="00000800000000000000"/>
                <a:cs typeface="Halant Bold" panose="00000800000000000000"/>
                <a:sym typeface="Halant Bold" panose="00000800000000000000"/>
              </a:rPr>
              <a:t>Lecture 3</a:t>
            </a:r>
            <a:endParaRPr lang="en-US" sz="2700" b="1">
              <a:solidFill>
                <a:srgbClr val="731F7D"/>
              </a:solidFill>
              <a:latin typeface="Halant Bold" panose="00000800000000000000"/>
              <a:ea typeface="Halant Bold" panose="00000800000000000000"/>
              <a:cs typeface="Halant Bold" panose="00000800000000000000"/>
              <a:sym typeface="Halant Bold" panose="00000800000000000000"/>
            </a:endParaRPr>
          </a:p>
          <a:p>
            <a:pPr algn="l">
              <a:lnSpc>
                <a:spcPts val="3780"/>
              </a:lnSpc>
            </a:pPr>
            <a:r>
              <a:rPr lang="en-US" sz="2700" b="1">
                <a:solidFill>
                  <a:srgbClr val="731F7D"/>
                </a:solidFill>
                <a:latin typeface="Halant Bold" panose="00000800000000000000"/>
                <a:ea typeface="Halant Bold" panose="00000800000000000000"/>
                <a:cs typeface="Halant Bold" panose="00000800000000000000"/>
                <a:sym typeface="Halant Bold" panose="00000800000000000000"/>
              </a:rPr>
              <a:t>Instructor: Mariam Fiaz</a:t>
            </a:r>
            <a:endParaRPr lang="en-US" sz="2700" b="1">
              <a:solidFill>
                <a:srgbClr val="731F7D"/>
              </a:solidFill>
              <a:latin typeface="Halant Bold" panose="00000800000000000000"/>
              <a:ea typeface="Halant Bold" panose="00000800000000000000"/>
              <a:cs typeface="Halant Bold" panose="00000800000000000000"/>
              <a:sym typeface="Halant Bold" panose="00000800000000000000"/>
            </a:endParaRPr>
          </a:p>
          <a:p>
            <a:pPr algn="l">
              <a:lnSpc>
                <a:spcPts val="3780"/>
              </a:lnSpc>
              <a:spcBef>
                <a:spcPct val="0"/>
              </a:spcBef>
            </a:pPr>
            <a:r>
              <a:rPr lang="en-US" sz="2700" b="1">
                <a:solidFill>
                  <a:srgbClr val="731F7D"/>
                </a:solidFill>
                <a:latin typeface="Halant Bold" panose="00000800000000000000"/>
                <a:ea typeface="Halant Bold" panose="00000800000000000000"/>
                <a:cs typeface="Halant Bold" panose="00000800000000000000"/>
                <a:sym typeface="Halant Bold" panose="00000800000000000000"/>
              </a:rPr>
              <a:t>email: mariamsherwani434@gmail.com</a:t>
            </a:r>
            <a:endParaRPr lang="en-US" sz="2700" b="1">
              <a:solidFill>
                <a:srgbClr val="731F7D"/>
              </a:solidFill>
              <a:latin typeface="Halant Bold" panose="00000800000000000000"/>
              <a:ea typeface="Halant Bold" panose="00000800000000000000"/>
              <a:cs typeface="Halant Bold" panose="00000800000000000000"/>
              <a:sym typeface="Halant Bold" panose="0000080000000000000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4D1354"/>
        </a:solidFill>
        <a:effectLst/>
      </p:bgPr>
    </p:bg>
    <p:spTree>
      <p:nvGrpSpPr>
        <p:cNvPr id="1" name=""/>
        <p:cNvGrpSpPr/>
        <p:nvPr/>
      </p:nvGrpSpPr>
      <p:grpSpPr>
        <a:xfrm>
          <a:off x="0" y="0"/>
          <a:ext cx="0" cy="0"/>
          <a:chOff x="0" y="0"/>
          <a:chExt cx="0" cy="0"/>
        </a:xfrm>
      </p:grpSpPr>
      <p:sp>
        <p:nvSpPr>
          <p:cNvPr id="2" name="Freeform 2"/>
          <p:cNvSpPr/>
          <p:nvPr/>
        </p:nvSpPr>
        <p:spPr>
          <a:xfrm rot="498132">
            <a:off x="7448155" y="4521278"/>
            <a:ext cx="3828488" cy="4232275"/>
          </a:xfrm>
          <a:custGeom>
            <a:avLst/>
            <a:gdLst/>
            <a:ahLst/>
            <a:cxnLst/>
            <a:rect l="l" t="t" r="r" b="b"/>
            <a:pathLst>
              <a:path w="3828488" h="4232275">
                <a:moveTo>
                  <a:pt x="0" y="0"/>
                </a:moveTo>
                <a:lnTo>
                  <a:pt x="3828488" y="0"/>
                </a:lnTo>
                <a:lnTo>
                  <a:pt x="3828488" y="4232275"/>
                </a:lnTo>
                <a:lnTo>
                  <a:pt x="0" y="4232275"/>
                </a:lnTo>
                <a:lnTo>
                  <a:pt x="0" y="0"/>
                </a:lnTo>
                <a:close/>
              </a:path>
            </a:pathLst>
          </a:custGeom>
          <a:blipFill>
            <a:blip r:embed="rId1"/>
            <a:stretch>
              <a:fillRect r="-381" b="-1174"/>
            </a:stretch>
          </a:blipFill>
        </p:spPr>
      </p:sp>
      <p:sp>
        <p:nvSpPr>
          <p:cNvPr id="3" name="Freeform 3"/>
          <p:cNvSpPr/>
          <p:nvPr/>
        </p:nvSpPr>
        <p:spPr>
          <a:xfrm rot="-2715964">
            <a:off x="5760526" y="5871583"/>
            <a:ext cx="983734" cy="932088"/>
          </a:xfrm>
          <a:custGeom>
            <a:avLst/>
            <a:gdLst/>
            <a:ahLst/>
            <a:cxnLst/>
            <a:rect l="l" t="t" r="r" b="b"/>
            <a:pathLst>
              <a:path w="983734" h="932088">
                <a:moveTo>
                  <a:pt x="0" y="0"/>
                </a:moveTo>
                <a:lnTo>
                  <a:pt x="983734" y="0"/>
                </a:lnTo>
                <a:lnTo>
                  <a:pt x="983734" y="932087"/>
                </a:lnTo>
                <a:lnTo>
                  <a:pt x="0" y="932087"/>
                </a:lnTo>
                <a:lnTo>
                  <a:pt x="0" y="0"/>
                </a:lnTo>
                <a:close/>
              </a:path>
            </a:pathLst>
          </a:custGeom>
          <a:blipFill>
            <a:blip r:embed="rId2"/>
            <a:stretch>
              <a:fillRect/>
            </a:stretch>
          </a:blipFill>
        </p:spPr>
      </p:sp>
      <p:sp>
        <p:nvSpPr>
          <p:cNvPr id="4" name="Freeform 4"/>
          <p:cNvSpPr/>
          <p:nvPr/>
        </p:nvSpPr>
        <p:spPr>
          <a:xfrm rot="-3212463">
            <a:off x="5642474" y="-928349"/>
            <a:ext cx="2866520" cy="3318692"/>
          </a:xfrm>
          <a:custGeom>
            <a:avLst/>
            <a:gdLst/>
            <a:ahLst/>
            <a:cxnLst/>
            <a:rect l="l" t="t" r="r" b="b"/>
            <a:pathLst>
              <a:path w="2866520" h="3318692">
                <a:moveTo>
                  <a:pt x="0" y="0"/>
                </a:moveTo>
                <a:lnTo>
                  <a:pt x="2866520" y="0"/>
                </a:lnTo>
                <a:lnTo>
                  <a:pt x="2866520" y="3318693"/>
                </a:lnTo>
                <a:lnTo>
                  <a:pt x="0" y="3318693"/>
                </a:lnTo>
                <a:lnTo>
                  <a:pt x="0" y="0"/>
                </a:lnTo>
                <a:close/>
              </a:path>
            </a:pathLst>
          </a:custGeom>
          <a:blipFill>
            <a:blip r:embed="rId3"/>
            <a:stretch>
              <a:fillRect/>
            </a:stretch>
          </a:blipFill>
        </p:spPr>
      </p:sp>
      <p:grpSp>
        <p:nvGrpSpPr>
          <p:cNvPr id="5" name="Group 5"/>
          <p:cNvGrpSpPr/>
          <p:nvPr/>
        </p:nvGrpSpPr>
        <p:grpSpPr>
          <a:xfrm>
            <a:off x="394308" y="1752430"/>
            <a:ext cx="9176032" cy="5401945"/>
            <a:chOff x="-124999" y="0"/>
            <a:chExt cx="12234709" cy="7202593"/>
          </a:xfrm>
        </p:grpSpPr>
        <p:sp>
          <p:nvSpPr>
            <p:cNvPr id="6" name="TextBox 6"/>
            <p:cNvSpPr txBox="1"/>
            <p:nvPr/>
          </p:nvSpPr>
          <p:spPr>
            <a:xfrm>
              <a:off x="-40828" y="503147"/>
              <a:ext cx="8342712" cy="1260687"/>
            </a:xfrm>
            <a:prstGeom prst="rect">
              <a:avLst/>
            </a:prstGeom>
          </p:spPr>
          <p:txBody>
            <a:bodyPr lIns="0" tIns="0" rIns="0" bIns="0" rtlCol="0" anchor="t">
              <a:spAutoFit/>
            </a:bodyPr>
            <a:lstStyle/>
            <a:p>
              <a:pPr algn="l">
                <a:lnSpc>
                  <a:spcPts val="7375"/>
                </a:lnSpc>
              </a:pPr>
              <a:r>
                <a:rPr lang="en-US" sz="6250" b="1" dirty="0">
                  <a:solidFill>
                    <a:srgbClr val="FFFFFF"/>
                  </a:solidFill>
                  <a:latin typeface="Calibri" panose="020F0502020204030204" charset="0"/>
                  <a:ea typeface="HK Grotesk Bold" panose="00000800000000000000"/>
                  <a:cs typeface="Calibri" panose="020F0502020204030204" charset="0"/>
                  <a:sym typeface="HK Grotesk Bold" panose="00000800000000000000"/>
                </a:rPr>
                <a:t>Reference Books:</a:t>
              </a:r>
              <a:endParaRPr lang="en-US" sz="6250" b="1" dirty="0">
                <a:solidFill>
                  <a:srgbClr val="FFFFFF"/>
                </a:solidFill>
                <a:latin typeface="Calibri" panose="020F0502020204030204" charset="0"/>
                <a:ea typeface="HK Grotesk Bold" panose="00000800000000000000"/>
                <a:cs typeface="Calibri" panose="020F0502020204030204" charset="0"/>
                <a:sym typeface="HK Grotesk Bold" panose="00000800000000000000"/>
              </a:endParaRPr>
            </a:p>
          </p:txBody>
        </p:sp>
        <p:sp>
          <p:nvSpPr>
            <p:cNvPr id="7" name="TextBox 7"/>
            <p:cNvSpPr txBox="1"/>
            <p:nvPr/>
          </p:nvSpPr>
          <p:spPr>
            <a:xfrm>
              <a:off x="10542219" y="0"/>
              <a:ext cx="1567491" cy="1138744"/>
            </a:xfrm>
            <a:prstGeom prst="rect">
              <a:avLst/>
            </a:prstGeom>
          </p:spPr>
          <p:txBody>
            <a:bodyPr lIns="0" tIns="0" rIns="0" bIns="0" rtlCol="0" anchor="t">
              <a:spAutoFit/>
            </a:bodyPr>
            <a:lstStyle/>
            <a:p>
              <a:pPr marL="0" lvl="0" indent="0" algn="l">
                <a:lnSpc>
                  <a:spcPts val="6635"/>
                </a:lnSpc>
                <a:spcBef>
                  <a:spcPct val="0"/>
                </a:spcBef>
              </a:pPr>
            </a:p>
          </p:txBody>
        </p:sp>
        <p:sp>
          <p:nvSpPr>
            <p:cNvPr id="8" name="TextBox 8"/>
            <p:cNvSpPr txBox="1"/>
            <p:nvPr/>
          </p:nvSpPr>
          <p:spPr>
            <a:xfrm>
              <a:off x="-124999" y="2032000"/>
              <a:ext cx="10667154" cy="5170593"/>
            </a:xfrm>
            <a:prstGeom prst="rect">
              <a:avLst/>
            </a:prstGeom>
          </p:spPr>
          <p:txBody>
            <a:bodyPr wrap="square" lIns="0" tIns="0" rIns="0" bIns="0" rtlCol="0" anchor="t">
              <a:spAutoFit/>
            </a:bodyPr>
            <a:lstStyle/>
            <a:p>
              <a:pPr algn="just">
                <a:lnSpc>
                  <a:spcPts val="3360"/>
                </a:lnSpc>
              </a:pPr>
              <a:r>
                <a:rPr lang="en-US" sz="2400" spc="-24" dirty="0">
                  <a:solidFill>
                    <a:srgbClr val="FFFFFF"/>
                  </a:solidFill>
                  <a:latin typeface="Calibri" panose="020F0502020204030204" charset="0"/>
                  <a:ea typeface="Assistant" panose="00000500000000000000"/>
                  <a:cs typeface="Calibri" panose="020F0502020204030204" charset="0"/>
                  <a:sym typeface="Assistant" panose="00000500000000000000"/>
                </a:rPr>
                <a:t>1. Computer Science Illuminated – Nell Dale &amp; John Lewis,     Jones &amp; Bartlett Learning, LLC, 2020</a:t>
              </a:r>
              <a:r>
                <a:rPr lang="en-US" sz="2400" b="1" spc="-24" dirty="0">
                  <a:solidFill>
                    <a:srgbClr val="FFFFFF"/>
                  </a:solidFill>
                  <a:latin typeface="Calibri" panose="020F0502020204030204" charset="0"/>
                  <a:ea typeface="Assistant Bold" panose="00000800000000000000"/>
                  <a:cs typeface="Calibri" panose="020F0502020204030204" charset="0"/>
                  <a:sym typeface="Assistant Bold" panose="00000800000000000000"/>
                </a:rPr>
                <a:t> (Read Chapter 2)</a:t>
              </a:r>
              <a:endParaRPr lang="en-US" sz="2400" b="1" spc="-24" dirty="0">
                <a:solidFill>
                  <a:srgbClr val="FFFFFF"/>
                </a:solidFill>
                <a:latin typeface="Calibri" panose="020F0502020204030204" charset="0"/>
                <a:ea typeface="Assistant Bold" panose="00000800000000000000"/>
                <a:cs typeface="Calibri" panose="020F0502020204030204" charset="0"/>
                <a:sym typeface="Assistant Bold" panose="00000800000000000000"/>
              </a:endParaRPr>
            </a:p>
            <a:p>
              <a:pPr algn="just">
                <a:lnSpc>
                  <a:spcPts val="3360"/>
                </a:lnSpc>
              </a:pPr>
              <a:endParaRPr lang="en-US" sz="2400" b="1" spc="-24" dirty="0">
                <a:solidFill>
                  <a:srgbClr val="FFFFFF"/>
                </a:solidFill>
                <a:latin typeface="Calibri" panose="020F0502020204030204" charset="0"/>
                <a:ea typeface="Assistant Bold" panose="00000800000000000000"/>
                <a:cs typeface="Calibri" panose="020F0502020204030204" charset="0"/>
                <a:sym typeface="Assistant Bold" panose="00000800000000000000"/>
              </a:endParaRPr>
            </a:p>
            <a:p>
              <a:pPr marL="0" lvl="1" algn="just">
                <a:lnSpc>
                  <a:spcPts val="3360"/>
                </a:lnSpc>
              </a:pPr>
              <a:r>
                <a:rPr lang="en-US" sz="2400" spc="-24" dirty="0">
                  <a:solidFill>
                    <a:srgbClr val="FFFFFF"/>
                  </a:solidFill>
                  <a:latin typeface="Calibri" panose="020F0502020204030204" charset="0"/>
                  <a:ea typeface="Assistant" panose="00000500000000000000"/>
                  <a:cs typeface="Calibri" panose="020F0502020204030204" charset="0"/>
                  <a:sym typeface="Assistant" panose="00000500000000000000"/>
                </a:rPr>
                <a:t>2. Understanding Computers: Today and Tomorrow, Comprehensive – Deborah Morley &amp; Charles S. Parker, Cengage Learning, 2017</a:t>
              </a:r>
              <a:r>
                <a:rPr lang="en-US" sz="2400" b="1" spc="-24" dirty="0">
                  <a:solidFill>
                    <a:srgbClr val="FFFFFF"/>
                  </a:solidFill>
                  <a:latin typeface="Calibri" panose="020F0502020204030204" charset="0"/>
                  <a:ea typeface="Assistant Bold" panose="00000800000000000000"/>
                  <a:cs typeface="Calibri" panose="020F0502020204030204" charset="0"/>
                  <a:sym typeface="Assistant Bold" panose="00000800000000000000"/>
                </a:rPr>
                <a:t> (Read Chapters 2)</a:t>
              </a:r>
              <a:endParaRPr lang="en-US" sz="2400" b="1" spc="-24" dirty="0">
                <a:solidFill>
                  <a:srgbClr val="FFFFFF"/>
                </a:solidFill>
                <a:latin typeface="Calibri" panose="020F0502020204030204" charset="0"/>
                <a:ea typeface="Assistant Bold" panose="00000800000000000000"/>
                <a:cs typeface="Calibri" panose="020F0502020204030204" charset="0"/>
                <a:sym typeface="Assistant Bold" panose="00000800000000000000"/>
              </a:endParaRPr>
            </a:p>
            <a:p>
              <a:pPr algn="just">
                <a:lnSpc>
                  <a:spcPts val="3360"/>
                </a:lnSpc>
              </a:pPr>
              <a:endParaRPr lang="en-US" sz="2400" b="1" spc="-24" dirty="0">
                <a:solidFill>
                  <a:srgbClr val="FFFFFF"/>
                </a:solidFill>
                <a:latin typeface="Calibri" panose="020F0502020204030204" charset="0"/>
                <a:ea typeface="Assistant Bold" panose="00000800000000000000"/>
                <a:cs typeface="Calibri" panose="020F0502020204030204" charset="0"/>
                <a:sym typeface="Assistant Bold" panose="00000800000000000000"/>
              </a:endParaRPr>
            </a:p>
            <a:p>
              <a:pPr marL="259080" lvl="1" indent="0" algn="just">
                <a:lnSpc>
                  <a:spcPts val="3360"/>
                </a:lnSpc>
                <a:buNone/>
              </a:pPr>
              <a:endParaRPr lang="en-US" sz="2400" b="1" spc="-24" dirty="0">
                <a:solidFill>
                  <a:srgbClr val="FFFFFF"/>
                </a:solidFill>
                <a:latin typeface="Calibri" panose="020F0502020204030204" charset="0"/>
                <a:ea typeface="Assistant Bold" panose="00000800000000000000"/>
                <a:cs typeface="Calibri" panose="020F0502020204030204" charset="0"/>
                <a:sym typeface="Assistant Bold" panose="00000800000000000000"/>
              </a:endParaRPr>
            </a:p>
            <a:p>
              <a:pPr algn="just">
                <a:lnSpc>
                  <a:spcPts val="3360"/>
                </a:lnSpc>
              </a:pPr>
              <a:endParaRPr lang="en-US" sz="2400" b="1" spc="-24" dirty="0">
                <a:solidFill>
                  <a:srgbClr val="FFFFFF"/>
                </a:solidFill>
                <a:latin typeface="Calibri" panose="020F0502020204030204" charset="0"/>
                <a:ea typeface="Assistant Bold" panose="00000800000000000000"/>
                <a:cs typeface="Calibri" panose="020F0502020204030204" charset="0"/>
                <a:sym typeface="Assistant Bold" panose="00000800000000000000"/>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441584" y="527357"/>
            <a:ext cx="7502435" cy="756285"/>
          </a:xfrm>
          <a:prstGeom prst="rect">
            <a:avLst/>
          </a:prstGeom>
        </p:spPr>
        <p:txBody>
          <a:bodyPr lIns="0" tIns="0" rIns="0" bIns="0" rtlCol="0" anchor="t">
            <a:spAutoFit/>
          </a:bodyPr>
          <a:lstStyle/>
          <a:p>
            <a:pPr algn="l">
              <a:lnSpc>
                <a:spcPts val="5900"/>
              </a:lnSpc>
            </a:pPr>
            <a:r>
              <a:rPr lang="en-US" sz="5000" b="1">
                <a:solidFill>
                  <a:srgbClr val="000000"/>
                </a:solidFill>
                <a:latin typeface="Calibri" panose="020F0502020204030204" charset="0"/>
                <a:ea typeface="HK Grotesk Bold" panose="00000800000000000000"/>
                <a:cs typeface="Calibri" panose="020F0502020204030204" charset="0"/>
                <a:sym typeface="HK Grotesk Bold" panose="00000800000000000000"/>
              </a:rPr>
              <a:t>Contents</a:t>
            </a:r>
            <a:r>
              <a:rPr lang="en-US" sz="5000" b="1">
                <a:solidFill>
                  <a:srgbClr val="000000"/>
                </a:solidFill>
                <a:latin typeface="HK Grotesk Bold" panose="00000800000000000000"/>
                <a:ea typeface="HK Grotesk Bold" panose="00000800000000000000"/>
                <a:cs typeface="HK Grotesk Bold" panose="00000800000000000000"/>
                <a:sym typeface="HK Grotesk Bold" panose="00000800000000000000"/>
              </a:rPr>
              <a:t>:</a:t>
            </a:r>
            <a:endParaRPr lang="en-US" sz="5000" b="1">
              <a:solidFill>
                <a:srgbClr val="000000"/>
              </a:solidFill>
              <a:latin typeface="HK Grotesk Bold" panose="00000800000000000000"/>
              <a:ea typeface="HK Grotesk Bold" panose="00000800000000000000"/>
              <a:cs typeface="HK Grotesk Bold" panose="00000800000000000000"/>
              <a:sym typeface="HK Grotesk Bold" panose="00000800000000000000"/>
            </a:endParaRPr>
          </a:p>
        </p:txBody>
      </p:sp>
      <p:sp>
        <p:nvSpPr>
          <p:cNvPr id="3" name="Freeform 3"/>
          <p:cNvSpPr/>
          <p:nvPr/>
        </p:nvSpPr>
        <p:spPr>
          <a:xfrm rot="-10141306">
            <a:off x="-2034775" y="4670550"/>
            <a:ext cx="4069550" cy="3891507"/>
          </a:xfrm>
          <a:custGeom>
            <a:avLst/>
            <a:gdLst/>
            <a:ahLst/>
            <a:cxnLst/>
            <a:rect l="l" t="t" r="r" b="b"/>
            <a:pathLst>
              <a:path w="4069550" h="3891507">
                <a:moveTo>
                  <a:pt x="0" y="0"/>
                </a:moveTo>
                <a:lnTo>
                  <a:pt x="4069550" y="0"/>
                </a:lnTo>
                <a:lnTo>
                  <a:pt x="4069550" y="3891507"/>
                </a:lnTo>
                <a:lnTo>
                  <a:pt x="0" y="3891507"/>
                </a:lnTo>
                <a:lnTo>
                  <a:pt x="0" y="0"/>
                </a:lnTo>
                <a:close/>
              </a:path>
            </a:pathLst>
          </a:custGeom>
          <a:blipFill>
            <a:blip r:embed="rId1"/>
            <a:stretch>
              <a:fillRect/>
            </a:stretch>
          </a:blipFill>
        </p:spPr>
      </p:sp>
      <p:grpSp>
        <p:nvGrpSpPr>
          <p:cNvPr id="4" name="Group 4"/>
          <p:cNvGrpSpPr/>
          <p:nvPr/>
        </p:nvGrpSpPr>
        <p:grpSpPr>
          <a:xfrm>
            <a:off x="1285462" y="1447723"/>
            <a:ext cx="7658557" cy="5847314"/>
            <a:chOff x="0" y="-28575"/>
            <a:chExt cx="10211409" cy="7796418"/>
          </a:xfrm>
        </p:grpSpPr>
        <p:sp>
          <p:nvSpPr>
            <p:cNvPr id="5" name="TextBox 5"/>
            <p:cNvSpPr txBox="1"/>
            <p:nvPr/>
          </p:nvSpPr>
          <p:spPr>
            <a:xfrm>
              <a:off x="0" y="-28575"/>
              <a:ext cx="10211409" cy="5170593"/>
            </a:xfrm>
            <a:prstGeom prst="rect">
              <a:avLst/>
            </a:prstGeom>
          </p:spPr>
          <p:txBody>
            <a:bodyPr lIns="0" tIns="0" rIns="0" bIns="0" rtlCol="0" anchor="t">
              <a:spAutoFit/>
            </a:bodyPr>
            <a:lstStyle/>
            <a:p>
              <a:pPr marL="732790" lvl="1" indent="-457200" algn="l">
                <a:lnSpc>
                  <a:spcPct val="150000"/>
                </a:lnSpc>
                <a:buFont typeface="Arial" panose="020B0604020202020204" pitchFamily="34" charset="0"/>
                <a:buChar char="•"/>
              </a:pPr>
              <a:r>
                <a:rPr lang="en-US" altLang="en-US" sz="2800" dirty="0">
                  <a:solidFill>
                    <a:srgbClr val="000000"/>
                  </a:solidFill>
                  <a:latin typeface="Calibri" panose="020F0502020204030204" charset="0"/>
                  <a:ea typeface="Halant Medium" panose="00000600000000000000"/>
                  <a:cs typeface="Calibri" panose="020F0502020204030204" charset="0"/>
                  <a:sym typeface="Halant Medium" panose="00000600000000000000"/>
                </a:rPr>
                <a:t>Understand different number systems</a:t>
              </a:r>
              <a:endParaRPr lang="en-US" altLang="en-US" sz="2800" dirty="0">
                <a:solidFill>
                  <a:srgbClr val="000000"/>
                </a:solidFill>
                <a:latin typeface="Calibri" panose="020F0502020204030204" charset="0"/>
                <a:ea typeface="Halant Medium" panose="00000600000000000000"/>
                <a:cs typeface="Calibri" panose="020F0502020204030204" charset="0"/>
                <a:sym typeface="Halant Medium" panose="00000600000000000000"/>
              </a:endParaRPr>
            </a:p>
            <a:p>
              <a:pPr marL="732790" lvl="1" indent="-457200" algn="l">
                <a:lnSpc>
                  <a:spcPct val="150000"/>
                </a:lnSpc>
                <a:buFont typeface="Arial" panose="020B0604020202020204" pitchFamily="34" charset="0"/>
                <a:buChar char="•"/>
              </a:pPr>
              <a:r>
                <a:rPr lang="en-US" altLang="en-US" sz="2800" dirty="0">
                  <a:solidFill>
                    <a:srgbClr val="000000"/>
                  </a:solidFill>
                  <a:latin typeface="Calibri" panose="020F0502020204030204" charset="0"/>
                  <a:ea typeface="Halant Medium" panose="00000600000000000000"/>
                  <a:cs typeface="Calibri" panose="020F0502020204030204" charset="0"/>
                  <a:sym typeface="Halant Medium" panose="00000600000000000000"/>
                </a:rPr>
                <a:t>Learn Binary, Octal, Decimal, and Hexadecimal</a:t>
              </a:r>
              <a:endParaRPr lang="en-US" altLang="en-US" sz="2800" dirty="0">
                <a:solidFill>
                  <a:srgbClr val="000000"/>
                </a:solidFill>
                <a:latin typeface="Calibri" panose="020F0502020204030204" charset="0"/>
                <a:ea typeface="Halant Medium" panose="00000600000000000000"/>
                <a:cs typeface="Calibri" panose="020F0502020204030204" charset="0"/>
                <a:sym typeface="Halant Medium" panose="00000600000000000000"/>
              </a:endParaRPr>
            </a:p>
            <a:p>
              <a:pPr marL="732790" lvl="1" indent="-457200" algn="l">
                <a:lnSpc>
                  <a:spcPct val="150000"/>
                </a:lnSpc>
                <a:buFont typeface="Arial" panose="020B0604020202020204" pitchFamily="34" charset="0"/>
                <a:buChar char="•"/>
              </a:pPr>
              <a:r>
                <a:rPr lang="en-US" altLang="en-US" sz="2800" dirty="0">
                  <a:solidFill>
                    <a:srgbClr val="000000"/>
                  </a:solidFill>
                  <a:latin typeface="Calibri" panose="020F0502020204030204" charset="0"/>
                  <a:ea typeface="Halant Medium" panose="00000600000000000000"/>
                  <a:cs typeface="Calibri" panose="020F0502020204030204" charset="0"/>
                  <a:sym typeface="Halant Medium" panose="00000600000000000000"/>
                </a:rPr>
                <a:t>Convert numbers between bases</a:t>
              </a:r>
              <a:endParaRPr lang="en-US" altLang="en-US" sz="2800" dirty="0">
                <a:solidFill>
                  <a:srgbClr val="000000"/>
                </a:solidFill>
                <a:latin typeface="Calibri" panose="020F0502020204030204" charset="0"/>
                <a:ea typeface="Halant Medium" panose="00000600000000000000"/>
                <a:cs typeface="Calibri" panose="020F0502020204030204" charset="0"/>
                <a:sym typeface="Halant Medium" panose="00000600000000000000"/>
              </a:endParaRPr>
            </a:p>
            <a:p>
              <a:pPr marL="732790" lvl="1" indent="-457200" algn="l">
                <a:lnSpc>
                  <a:spcPct val="150000"/>
                </a:lnSpc>
                <a:buFont typeface="Arial" panose="020B0604020202020204" pitchFamily="34" charset="0"/>
                <a:buChar char="•"/>
              </a:pPr>
              <a:r>
                <a:rPr lang="en-US" altLang="en-US" sz="2800" dirty="0">
                  <a:solidFill>
                    <a:srgbClr val="000000"/>
                  </a:solidFill>
                  <a:latin typeface="Calibri" panose="020F0502020204030204" charset="0"/>
                  <a:ea typeface="Halant Medium" panose="00000600000000000000"/>
                  <a:cs typeface="Calibri" panose="020F0502020204030204" charset="0"/>
                  <a:sym typeface="Halant Medium" panose="00000600000000000000"/>
                </a:rPr>
                <a:t>Perform addition and subtraction in different bases</a:t>
              </a:r>
              <a:endParaRPr lang="en-US" altLang="en-US" sz="2800" dirty="0">
                <a:solidFill>
                  <a:srgbClr val="000000"/>
                </a:solidFill>
                <a:latin typeface="Calibri" panose="020F0502020204030204" charset="0"/>
                <a:ea typeface="Halant Medium" panose="00000600000000000000"/>
                <a:cs typeface="Calibri" panose="020F0502020204030204" charset="0"/>
                <a:sym typeface="Halant Medium" panose="00000600000000000000"/>
              </a:endParaRPr>
            </a:p>
            <a:p>
              <a:pPr marL="732790" lvl="1" indent="-457200" algn="l">
                <a:lnSpc>
                  <a:spcPct val="150000"/>
                </a:lnSpc>
                <a:buFont typeface="Arial" panose="020B0604020202020204" pitchFamily="34" charset="0"/>
                <a:buChar char="•"/>
              </a:pPr>
              <a:r>
                <a:rPr lang="en-US" altLang="en-US" sz="2800" dirty="0">
                  <a:solidFill>
                    <a:srgbClr val="000000"/>
                  </a:solidFill>
                  <a:latin typeface="Calibri" panose="020F0502020204030204" charset="0"/>
                  <a:ea typeface="Halant Medium" panose="00000600000000000000"/>
                  <a:cs typeface="Calibri" panose="020F0502020204030204" charset="0"/>
                  <a:sym typeface="Halant Medium" panose="00000600000000000000"/>
                </a:rPr>
                <a:t>Apply number systems in computing</a:t>
              </a:r>
              <a:endParaRPr lang="en-US" altLang="en-US" sz="2800" dirty="0">
                <a:solidFill>
                  <a:srgbClr val="000000"/>
                </a:solidFill>
                <a:latin typeface="Calibri" panose="020F0502020204030204" charset="0"/>
                <a:ea typeface="Halant Medium" panose="00000600000000000000"/>
                <a:cs typeface="Calibri" panose="020F0502020204030204" charset="0"/>
                <a:sym typeface="Halant Medium" panose="00000600000000000000"/>
              </a:endParaRPr>
            </a:p>
          </p:txBody>
        </p:sp>
        <p:sp>
          <p:nvSpPr>
            <p:cNvPr id="6" name="TextBox 6"/>
            <p:cNvSpPr txBox="1"/>
            <p:nvPr/>
          </p:nvSpPr>
          <p:spPr>
            <a:xfrm>
              <a:off x="0" y="7434048"/>
              <a:ext cx="10211409" cy="333795"/>
            </a:xfrm>
            <a:prstGeom prst="rect">
              <a:avLst/>
            </a:prstGeom>
          </p:spPr>
          <p:txBody>
            <a:bodyPr lIns="0" tIns="0" rIns="0" bIns="0" rtlCol="0" anchor="t">
              <a:spAutoFit/>
            </a:bodyPr>
            <a:lstStyle/>
            <a:p>
              <a:pPr algn="l">
                <a:lnSpc>
                  <a:spcPts val="2145"/>
                </a:lnSpc>
                <a:spcBef>
                  <a:spcPct val="0"/>
                </a:spcBef>
              </a:pPr>
            </a:p>
          </p:txBody>
        </p:sp>
      </p:grpSp>
      <p:sp>
        <p:nvSpPr>
          <p:cNvPr id="7" name="Freeform 7"/>
          <p:cNvSpPr/>
          <p:nvPr/>
        </p:nvSpPr>
        <p:spPr>
          <a:xfrm rot="9440951">
            <a:off x="-716899" y="223696"/>
            <a:ext cx="1433798" cy="1358524"/>
          </a:xfrm>
          <a:custGeom>
            <a:avLst/>
            <a:gdLst/>
            <a:ahLst/>
            <a:cxnLst/>
            <a:rect l="l" t="t" r="r" b="b"/>
            <a:pathLst>
              <a:path w="1433798" h="1358524">
                <a:moveTo>
                  <a:pt x="0" y="0"/>
                </a:moveTo>
                <a:lnTo>
                  <a:pt x="1433798" y="0"/>
                </a:lnTo>
                <a:lnTo>
                  <a:pt x="1433798" y="1358523"/>
                </a:lnTo>
                <a:lnTo>
                  <a:pt x="0" y="1358523"/>
                </a:lnTo>
                <a:lnTo>
                  <a:pt x="0" y="0"/>
                </a:lnTo>
                <a:close/>
              </a:path>
            </a:pathLst>
          </a:custGeom>
          <a:blipFill>
            <a:blip r:embed="rId2"/>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100510">
            <a:off x="1137487" y="-3399497"/>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1"/>
            <a:stretch>
              <a:fillRect/>
            </a:stretch>
          </a:blipFill>
        </p:spPr>
      </p:sp>
      <p:sp>
        <p:nvSpPr>
          <p:cNvPr id="3" name="Freeform 3"/>
          <p:cNvSpPr/>
          <p:nvPr/>
        </p:nvSpPr>
        <p:spPr>
          <a:xfrm rot="-2715964">
            <a:off x="7936607" y="328515"/>
            <a:ext cx="1528874" cy="1448608"/>
          </a:xfrm>
          <a:custGeom>
            <a:avLst/>
            <a:gdLst/>
            <a:ahLst/>
            <a:cxnLst/>
            <a:rect l="l" t="t" r="r" b="b"/>
            <a:pathLst>
              <a:path w="1528874" h="1448608">
                <a:moveTo>
                  <a:pt x="0" y="0"/>
                </a:moveTo>
                <a:lnTo>
                  <a:pt x="1528874" y="0"/>
                </a:lnTo>
                <a:lnTo>
                  <a:pt x="1528874" y="1448609"/>
                </a:lnTo>
                <a:lnTo>
                  <a:pt x="0" y="1448609"/>
                </a:lnTo>
                <a:lnTo>
                  <a:pt x="0" y="0"/>
                </a:lnTo>
                <a:close/>
              </a:path>
            </a:pathLst>
          </a:custGeom>
          <a:blipFill>
            <a:blip r:embed="rId2"/>
            <a:stretch>
              <a:fillRect/>
            </a:stretch>
          </a:blipFill>
        </p:spPr>
      </p:sp>
      <p:sp>
        <p:nvSpPr>
          <p:cNvPr id="4" name="Freeform 4"/>
          <p:cNvSpPr/>
          <p:nvPr/>
        </p:nvSpPr>
        <p:spPr>
          <a:xfrm rot="-795738">
            <a:off x="8327515" y="578795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2"/>
            <a:stretch>
              <a:fillRect/>
            </a:stretch>
          </a:blipFill>
        </p:spPr>
      </p:sp>
      <p:grpSp>
        <p:nvGrpSpPr>
          <p:cNvPr id="5" name="Group 5"/>
          <p:cNvGrpSpPr/>
          <p:nvPr/>
        </p:nvGrpSpPr>
        <p:grpSpPr>
          <a:xfrm>
            <a:off x="609811" y="1905138"/>
            <a:ext cx="8633276" cy="4140835"/>
            <a:chOff x="157480" y="-267335"/>
            <a:chExt cx="11511034" cy="5521112"/>
          </a:xfrm>
        </p:grpSpPr>
        <p:sp>
          <p:nvSpPr>
            <p:cNvPr id="6" name="TextBox 6"/>
            <p:cNvSpPr txBox="1"/>
            <p:nvPr/>
          </p:nvSpPr>
          <p:spPr>
            <a:xfrm>
              <a:off x="157480" y="-267335"/>
              <a:ext cx="11511034" cy="1714500"/>
            </a:xfrm>
            <a:prstGeom prst="rect">
              <a:avLst/>
            </a:prstGeom>
          </p:spPr>
          <p:txBody>
            <a:bodyPr lIns="0" tIns="0" rIns="0" bIns="0" rtlCol="0" anchor="t">
              <a:spAutoFit/>
            </a:bodyPr>
            <a:lstStyle/>
            <a:p>
              <a:pPr algn="l">
                <a:lnSpc>
                  <a:spcPts val="5900"/>
                </a:lnSpc>
              </a:pPr>
              <a:r>
                <a:rPr lang="en-US" altLang="en-US" sz="5000" b="1">
                  <a:solidFill>
                    <a:srgbClr val="000000"/>
                  </a:solidFill>
                  <a:latin typeface="Calibri" panose="020F0502020204030204" charset="0"/>
                  <a:ea typeface="HK Grotesk Bold" panose="00000800000000000000"/>
                  <a:cs typeface="Calibri" panose="020F0502020204030204" charset="0"/>
                  <a:sym typeface="HK Grotesk Bold" panose="00000800000000000000"/>
                </a:rPr>
                <a:t>Introduction to Number System:</a:t>
              </a:r>
              <a:endParaRPr lang="en-US" sz="5000" b="1">
                <a:solidFill>
                  <a:srgbClr val="000000"/>
                </a:solidFill>
                <a:latin typeface="Calibri" panose="020F0502020204030204" charset="0"/>
                <a:ea typeface="HK Grotesk Bold" panose="00000800000000000000"/>
                <a:cs typeface="Calibri" panose="020F0502020204030204" charset="0"/>
                <a:sym typeface="HK Grotesk Bold" panose="00000800000000000000"/>
              </a:endParaRPr>
            </a:p>
            <a:p>
              <a:pPr algn="l">
                <a:lnSpc>
                  <a:spcPts val="4130"/>
                </a:lnSpc>
              </a:pPr>
              <a:r>
                <a:rPr lang="en-US" sz="3500" b="1">
                  <a:solidFill>
                    <a:srgbClr val="731F7D"/>
                  </a:solidFill>
                  <a:latin typeface="Calibri" panose="020F0502020204030204" charset="0"/>
                  <a:ea typeface="HK Grotesk Bold" panose="00000800000000000000"/>
                  <a:cs typeface="Calibri" panose="020F0502020204030204" charset="0"/>
                  <a:sym typeface="HK Grotesk Bold" panose="00000800000000000000"/>
                </a:rPr>
                <a:t>Basic Defination</a:t>
              </a:r>
              <a:endParaRPr lang="en-US" sz="3500" b="1">
                <a:solidFill>
                  <a:srgbClr val="731F7D"/>
                </a:solidFill>
                <a:latin typeface="Calibri" panose="020F0502020204030204" charset="0"/>
                <a:ea typeface="HK Grotesk Bold" panose="00000800000000000000"/>
                <a:cs typeface="Calibri" panose="020F0502020204030204" charset="0"/>
                <a:sym typeface="HK Grotesk Bold" panose="00000800000000000000"/>
              </a:endParaRPr>
            </a:p>
          </p:txBody>
        </p:sp>
        <p:sp>
          <p:nvSpPr>
            <p:cNvPr id="7" name="TextBox 7"/>
            <p:cNvSpPr txBox="1"/>
            <p:nvPr/>
          </p:nvSpPr>
          <p:spPr>
            <a:xfrm>
              <a:off x="157480" y="1663064"/>
              <a:ext cx="11204787" cy="3590713"/>
            </a:xfrm>
            <a:prstGeom prst="rect">
              <a:avLst/>
            </a:prstGeom>
          </p:spPr>
          <p:txBody>
            <a:bodyPr wrap="square" lIns="0" tIns="0" rIns="0" bIns="0" rtlCol="0" anchor="t">
              <a:spAutoFit/>
            </a:bodyPr>
            <a:lstStyle/>
            <a:p>
              <a:pPr marL="0" lvl="0" indent="0" algn="just">
                <a:lnSpc>
                  <a:spcPts val="3500"/>
                </a:lnSpc>
                <a:spcBef>
                  <a:spcPct val="0"/>
                </a:spcBef>
              </a:pPr>
              <a:r>
                <a:rPr lang="en-US" altLang="en-US" sz="2400" dirty="0">
                  <a:solidFill>
                    <a:srgbClr val="000000"/>
                  </a:solidFill>
                  <a:latin typeface="Halant Medium" panose="00000600000000000000"/>
                  <a:ea typeface="Halant Medium" panose="00000600000000000000"/>
                  <a:cs typeface="Halant Medium" panose="00000600000000000000"/>
                  <a:sym typeface="Halant Medium" panose="00000600000000000000"/>
                </a:rPr>
                <a:t>A numbering system is a method used to represent numbers using symbols and positional values. Common number systems used in computing include Decimal (Base 10), Binary (Base 2), Octal (Base 8), and Hexadecimal (Base 16). Each system has a base that determines the number of symbols and the positional weight of digits.</a:t>
              </a:r>
              <a:endParaRPr lang="en-US" altLang="en-US" sz="2400" dirty="0">
                <a:solidFill>
                  <a:srgbClr val="000000"/>
                </a:solidFill>
                <a:latin typeface="Halant Medium" panose="00000600000000000000"/>
                <a:ea typeface="Halant Medium" panose="00000600000000000000"/>
                <a:cs typeface="Halant Medium" panose="00000600000000000000"/>
                <a:sym typeface="Halant Medium" panose="00000600000000000000"/>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4D1354"/>
        </a:solidFill>
        <a:effectLst/>
      </p:bgPr>
    </p:bg>
    <p:spTree>
      <p:nvGrpSpPr>
        <p:cNvPr id="1" name=""/>
        <p:cNvGrpSpPr/>
        <p:nvPr/>
      </p:nvGrpSpPr>
      <p:grpSpPr>
        <a:xfrm>
          <a:off x="0" y="0"/>
          <a:ext cx="0" cy="0"/>
          <a:chOff x="0" y="0"/>
          <a:chExt cx="0" cy="0"/>
        </a:xfrm>
      </p:grpSpPr>
      <p:sp>
        <p:nvSpPr>
          <p:cNvPr id="2" name="Freeform 2"/>
          <p:cNvSpPr/>
          <p:nvPr/>
        </p:nvSpPr>
        <p:spPr>
          <a:xfrm rot="4494633">
            <a:off x="364501" y="5539280"/>
            <a:ext cx="1552782" cy="1471261"/>
          </a:xfrm>
          <a:custGeom>
            <a:avLst/>
            <a:gdLst/>
            <a:ahLst/>
            <a:cxnLst/>
            <a:rect l="l" t="t" r="r" b="b"/>
            <a:pathLst>
              <a:path w="1552782" h="1471261">
                <a:moveTo>
                  <a:pt x="0" y="0"/>
                </a:moveTo>
                <a:lnTo>
                  <a:pt x="1552782" y="0"/>
                </a:lnTo>
                <a:lnTo>
                  <a:pt x="1552782" y="1471261"/>
                </a:lnTo>
                <a:lnTo>
                  <a:pt x="0" y="1471261"/>
                </a:lnTo>
                <a:lnTo>
                  <a:pt x="0" y="0"/>
                </a:lnTo>
                <a:close/>
              </a:path>
            </a:pathLst>
          </a:custGeom>
          <a:blipFill>
            <a:blip r:embed="rId1"/>
            <a:stretch>
              <a:fillRect/>
            </a:stretch>
          </a:blipFill>
        </p:spPr>
      </p:sp>
      <p:sp>
        <p:nvSpPr>
          <p:cNvPr id="3" name="Freeform 3"/>
          <p:cNvSpPr/>
          <p:nvPr/>
        </p:nvSpPr>
        <p:spPr>
          <a:xfrm>
            <a:off x="-1095310" y="-388589"/>
            <a:ext cx="3423538" cy="3046949"/>
          </a:xfrm>
          <a:custGeom>
            <a:avLst/>
            <a:gdLst/>
            <a:ahLst/>
            <a:cxnLst/>
            <a:rect l="l" t="t" r="r" b="b"/>
            <a:pathLst>
              <a:path w="3423538" h="3046949">
                <a:moveTo>
                  <a:pt x="0" y="0"/>
                </a:moveTo>
                <a:lnTo>
                  <a:pt x="3423538" y="0"/>
                </a:lnTo>
                <a:lnTo>
                  <a:pt x="3423538" y="3046949"/>
                </a:lnTo>
                <a:lnTo>
                  <a:pt x="0" y="3046949"/>
                </a:lnTo>
                <a:lnTo>
                  <a:pt x="0" y="0"/>
                </a:lnTo>
                <a:close/>
              </a:path>
            </a:pathLst>
          </a:custGeom>
          <a:blipFill>
            <a:blip r:embed="rId2"/>
            <a:stretch>
              <a:fillRect/>
            </a:stretch>
          </a:blipFill>
        </p:spPr>
      </p:sp>
      <p:sp>
        <p:nvSpPr>
          <p:cNvPr id="4" name="Freeform 4"/>
          <p:cNvSpPr/>
          <p:nvPr/>
        </p:nvSpPr>
        <p:spPr>
          <a:xfrm rot="380713">
            <a:off x="6727245" y="4602735"/>
            <a:ext cx="3496375" cy="3343409"/>
          </a:xfrm>
          <a:custGeom>
            <a:avLst/>
            <a:gdLst/>
            <a:ahLst/>
            <a:cxnLst/>
            <a:rect l="l" t="t" r="r" b="b"/>
            <a:pathLst>
              <a:path w="3496375" h="3343409">
                <a:moveTo>
                  <a:pt x="0" y="0"/>
                </a:moveTo>
                <a:lnTo>
                  <a:pt x="3496376" y="0"/>
                </a:lnTo>
                <a:lnTo>
                  <a:pt x="3496376" y="3343409"/>
                </a:lnTo>
                <a:lnTo>
                  <a:pt x="0" y="3343409"/>
                </a:lnTo>
                <a:lnTo>
                  <a:pt x="0" y="0"/>
                </a:lnTo>
                <a:close/>
              </a:path>
            </a:pathLst>
          </a:custGeom>
          <a:blipFill>
            <a:blip r:embed="rId3"/>
            <a:stretch>
              <a:fillRect/>
            </a:stretch>
          </a:blipFill>
        </p:spPr>
      </p:sp>
      <p:sp>
        <p:nvSpPr>
          <p:cNvPr id="5" name="TextBox 5"/>
          <p:cNvSpPr txBox="1"/>
          <p:nvPr/>
        </p:nvSpPr>
        <p:spPr>
          <a:xfrm>
            <a:off x="2438400" y="1066800"/>
            <a:ext cx="6739890" cy="4739640"/>
          </a:xfrm>
          <a:prstGeom prst="rect">
            <a:avLst/>
          </a:prstGeom>
        </p:spPr>
        <p:txBody>
          <a:bodyPr wrap="square" lIns="0" tIns="0" rIns="0" bIns="0" rtlCol="0" anchor="t">
            <a:spAutoFit/>
          </a:bodyPr>
          <a:lstStyle/>
          <a:p>
            <a:pPr algn="just">
              <a:lnSpc>
                <a:spcPct val="100000"/>
              </a:lnSpc>
            </a:pPr>
            <a:r>
              <a:rPr lang="en-US" altLang="en-US" sz="2800" b="1" dirty="0">
                <a:solidFill>
                  <a:schemeClr val="bg1"/>
                </a:solidFill>
                <a:latin typeface="Calibri" panose="020F0502020204030204" charset="0"/>
                <a:ea typeface="Halant Medium" panose="00000600000000000000"/>
                <a:cs typeface="Calibri" panose="020F0502020204030204" charset="0"/>
                <a:sym typeface="HK Grotesk" panose="00000500000000000000"/>
              </a:rPr>
              <a:t>What is a Number System?</a:t>
            </a:r>
            <a:endParaRPr lang="en-US" altLang="en-US" sz="2800" b="1" dirty="0">
              <a:solidFill>
                <a:schemeClr val="bg1"/>
              </a:solidFill>
              <a:latin typeface="Calibri" panose="020F0502020204030204" charset="0"/>
              <a:ea typeface="Halant Medium" panose="00000600000000000000"/>
              <a:cs typeface="Calibri" panose="020F0502020204030204" charset="0"/>
              <a:sym typeface="HK Grotesk" panose="00000500000000000000"/>
            </a:endParaRPr>
          </a:p>
          <a:p>
            <a:pPr marL="457200" indent="-457200" algn="just">
              <a:lnSpc>
                <a:spcPct val="100000"/>
              </a:lnSpc>
              <a:buFont typeface="Arial" panose="020B0604020202020204" pitchFamily="34" charset="0"/>
              <a:buChar char="•"/>
            </a:pPr>
            <a:r>
              <a:rPr lang="en-US" altLang="en-US" sz="2800" dirty="0">
                <a:solidFill>
                  <a:schemeClr val="bg1"/>
                </a:solidFill>
                <a:latin typeface="Calibri" panose="020F0502020204030204" charset="0"/>
                <a:ea typeface="Halant Medium" panose="00000600000000000000"/>
                <a:cs typeface="Calibri" panose="020F0502020204030204" charset="0"/>
                <a:sym typeface="HK Grotesk" panose="00000500000000000000"/>
              </a:rPr>
              <a:t>A method to represent numbers using symbols.</a:t>
            </a:r>
            <a:endParaRPr lang="en-US" altLang="en-US" sz="2800" dirty="0">
              <a:solidFill>
                <a:schemeClr val="bg1"/>
              </a:solidFill>
              <a:latin typeface="Calibri" panose="020F0502020204030204" charset="0"/>
              <a:ea typeface="Halant Medium" panose="00000600000000000000"/>
              <a:cs typeface="Calibri" panose="020F0502020204030204" charset="0"/>
              <a:sym typeface="HK Grotesk" panose="00000500000000000000"/>
            </a:endParaRPr>
          </a:p>
          <a:p>
            <a:pPr marL="457200" indent="-457200" algn="just">
              <a:lnSpc>
                <a:spcPct val="100000"/>
              </a:lnSpc>
              <a:buFont typeface="Arial" panose="020B0604020202020204" pitchFamily="34" charset="0"/>
              <a:buChar char="•"/>
            </a:pPr>
            <a:r>
              <a:rPr lang="en-US" altLang="en-US" sz="2800" dirty="0">
                <a:solidFill>
                  <a:schemeClr val="bg1"/>
                </a:solidFill>
                <a:latin typeface="Calibri" panose="020F0502020204030204" charset="0"/>
                <a:ea typeface="Halant Medium" panose="00000600000000000000"/>
                <a:cs typeface="Calibri" panose="020F0502020204030204" charset="0"/>
                <a:sym typeface="HK Grotesk" panose="00000500000000000000"/>
              </a:rPr>
              <a:t>Each system has a base.</a:t>
            </a:r>
            <a:endParaRPr lang="en-US" altLang="en-US" sz="2800" dirty="0">
              <a:solidFill>
                <a:schemeClr val="bg1"/>
              </a:solidFill>
              <a:latin typeface="Calibri" panose="020F0502020204030204" charset="0"/>
              <a:ea typeface="Halant Medium" panose="00000600000000000000"/>
              <a:cs typeface="Calibri" panose="020F0502020204030204" charset="0"/>
              <a:sym typeface="HK Grotesk" panose="00000500000000000000"/>
            </a:endParaRPr>
          </a:p>
          <a:p>
            <a:pPr marL="457200" indent="-457200" algn="just">
              <a:lnSpc>
                <a:spcPct val="100000"/>
              </a:lnSpc>
              <a:buFont typeface="Arial" panose="020B0604020202020204" pitchFamily="34" charset="0"/>
              <a:buChar char="•"/>
            </a:pPr>
            <a:r>
              <a:rPr lang="en-US" altLang="en-US" sz="2800" dirty="0">
                <a:solidFill>
                  <a:schemeClr val="bg1"/>
                </a:solidFill>
                <a:latin typeface="Calibri" panose="020F0502020204030204" charset="0"/>
                <a:ea typeface="Halant Medium" panose="00000600000000000000"/>
                <a:cs typeface="Calibri" panose="020F0502020204030204" charset="0"/>
                <a:sym typeface="HK Grotesk" panose="00000500000000000000"/>
              </a:rPr>
              <a:t>Base = total number of digits used</a:t>
            </a:r>
            <a:endParaRPr lang="en-US" altLang="en-US" sz="2800" dirty="0">
              <a:solidFill>
                <a:schemeClr val="bg1"/>
              </a:solidFill>
              <a:latin typeface="Calibri" panose="020F0502020204030204" charset="0"/>
              <a:ea typeface="Halant Medium" panose="00000600000000000000"/>
              <a:cs typeface="Calibri" panose="020F0502020204030204" charset="0"/>
              <a:sym typeface="HK Grotesk" panose="00000500000000000000"/>
            </a:endParaRPr>
          </a:p>
          <a:p>
            <a:pPr marL="457200" indent="-457200" algn="just">
              <a:lnSpc>
                <a:spcPct val="100000"/>
              </a:lnSpc>
              <a:buFont typeface="Arial" panose="020B0604020202020204" pitchFamily="34" charset="0"/>
              <a:buChar char="•"/>
            </a:pPr>
            <a:endParaRPr lang="en-US" altLang="en-US" sz="2800" dirty="0">
              <a:solidFill>
                <a:schemeClr val="bg1"/>
              </a:solidFill>
              <a:latin typeface="Calibri" panose="020F0502020204030204" charset="0"/>
              <a:ea typeface="Halant Medium" panose="00000600000000000000"/>
              <a:cs typeface="Calibri" panose="020F0502020204030204" charset="0"/>
              <a:sym typeface="HK Grotesk" panose="00000500000000000000"/>
            </a:endParaRPr>
          </a:p>
          <a:p>
            <a:pPr algn="just">
              <a:lnSpc>
                <a:spcPct val="100000"/>
              </a:lnSpc>
            </a:pPr>
            <a:r>
              <a:rPr lang="en-US" altLang="en-US" sz="2800" b="1" dirty="0">
                <a:solidFill>
                  <a:schemeClr val="bg1"/>
                </a:solidFill>
                <a:latin typeface="Calibri" panose="020F0502020204030204" charset="0"/>
                <a:ea typeface="Halant Medium" panose="00000600000000000000"/>
                <a:cs typeface="Calibri" panose="020F0502020204030204" charset="0"/>
                <a:sym typeface="HK Grotesk" panose="00000500000000000000"/>
              </a:rPr>
              <a:t>Example:</a:t>
            </a:r>
            <a:endParaRPr lang="en-US" altLang="en-US" sz="2800" b="1" dirty="0">
              <a:solidFill>
                <a:schemeClr val="bg1"/>
              </a:solidFill>
              <a:latin typeface="Calibri" panose="020F0502020204030204" charset="0"/>
              <a:ea typeface="Halant Medium" panose="00000600000000000000"/>
              <a:cs typeface="Calibri" panose="020F0502020204030204" charset="0"/>
              <a:sym typeface="HK Grotesk" panose="00000500000000000000"/>
            </a:endParaRPr>
          </a:p>
          <a:p>
            <a:pPr marL="457200" indent="-457200" algn="just">
              <a:lnSpc>
                <a:spcPct val="100000"/>
              </a:lnSpc>
              <a:buFont typeface="Arial" panose="020B0604020202020204" pitchFamily="34" charset="0"/>
              <a:buChar char="•"/>
            </a:pPr>
            <a:r>
              <a:rPr lang="en-US" altLang="en-US" sz="2800" dirty="0">
                <a:solidFill>
                  <a:schemeClr val="bg1"/>
                </a:solidFill>
                <a:latin typeface="Calibri" panose="020F0502020204030204" charset="0"/>
                <a:ea typeface="Halant Medium" panose="00000600000000000000"/>
                <a:cs typeface="Calibri" panose="020F0502020204030204" charset="0"/>
                <a:sym typeface="HK Grotesk" panose="00000500000000000000"/>
              </a:rPr>
              <a:t>Decimal → Base 10</a:t>
            </a:r>
            <a:endParaRPr lang="en-US" altLang="en-US" sz="2800" dirty="0">
              <a:solidFill>
                <a:schemeClr val="bg1"/>
              </a:solidFill>
              <a:latin typeface="Calibri" panose="020F0502020204030204" charset="0"/>
              <a:ea typeface="Halant Medium" panose="00000600000000000000"/>
              <a:cs typeface="Calibri" panose="020F0502020204030204" charset="0"/>
              <a:sym typeface="HK Grotesk" panose="00000500000000000000"/>
            </a:endParaRPr>
          </a:p>
          <a:p>
            <a:pPr marL="457200" indent="-457200" algn="just">
              <a:lnSpc>
                <a:spcPct val="100000"/>
              </a:lnSpc>
              <a:buFont typeface="Arial" panose="020B0604020202020204" pitchFamily="34" charset="0"/>
              <a:buChar char="•"/>
            </a:pPr>
            <a:r>
              <a:rPr lang="en-US" altLang="en-US" sz="2800" dirty="0">
                <a:solidFill>
                  <a:schemeClr val="bg1"/>
                </a:solidFill>
                <a:latin typeface="Calibri" panose="020F0502020204030204" charset="0"/>
                <a:ea typeface="Halant Medium" panose="00000600000000000000"/>
                <a:cs typeface="Calibri" panose="020F0502020204030204" charset="0"/>
                <a:sym typeface="HK Grotesk" panose="00000500000000000000"/>
              </a:rPr>
              <a:t>Binary → Base 2</a:t>
            </a:r>
            <a:endParaRPr lang="en-US" altLang="en-US" sz="2800" dirty="0">
              <a:solidFill>
                <a:schemeClr val="bg1"/>
              </a:solidFill>
              <a:latin typeface="Calibri" panose="020F0502020204030204" charset="0"/>
              <a:ea typeface="Halant Medium" panose="00000600000000000000"/>
              <a:cs typeface="Calibri" panose="020F0502020204030204" charset="0"/>
              <a:sym typeface="HK Grotesk" panose="00000500000000000000"/>
            </a:endParaRPr>
          </a:p>
          <a:p>
            <a:pPr marL="457200" indent="-457200" algn="just">
              <a:lnSpc>
                <a:spcPct val="100000"/>
              </a:lnSpc>
              <a:buFont typeface="Arial" panose="020B0604020202020204" pitchFamily="34" charset="0"/>
              <a:buChar char="•"/>
            </a:pPr>
            <a:r>
              <a:rPr lang="en-US" altLang="en-US" sz="2800" dirty="0">
                <a:solidFill>
                  <a:schemeClr val="bg1"/>
                </a:solidFill>
                <a:latin typeface="Calibri" panose="020F0502020204030204" charset="0"/>
                <a:ea typeface="Halant Medium" panose="00000600000000000000"/>
                <a:cs typeface="Calibri" panose="020F0502020204030204" charset="0"/>
                <a:sym typeface="HK Grotesk" panose="00000500000000000000"/>
              </a:rPr>
              <a:t>Octal → Base 8</a:t>
            </a:r>
            <a:endParaRPr lang="en-US" altLang="en-US" sz="2800" dirty="0">
              <a:solidFill>
                <a:schemeClr val="bg1"/>
              </a:solidFill>
              <a:latin typeface="Calibri" panose="020F0502020204030204" charset="0"/>
              <a:ea typeface="Halant Medium" panose="00000600000000000000"/>
              <a:cs typeface="Calibri" panose="020F0502020204030204" charset="0"/>
              <a:sym typeface="HK Grotesk" panose="00000500000000000000"/>
            </a:endParaRPr>
          </a:p>
          <a:p>
            <a:pPr marL="457200" indent="-457200" algn="just">
              <a:lnSpc>
                <a:spcPct val="100000"/>
              </a:lnSpc>
              <a:buFont typeface="Arial" panose="020B0604020202020204" pitchFamily="34" charset="0"/>
              <a:buChar char="•"/>
            </a:pPr>
            <a:r>
              <a:rPr lang="en-US" altLang="en-US" sz="2800" dirty="0">
                <a:solidFill>
                  <a:schemeClr val="bg1"/>
                </a:solidFill>
                <a:latin typeface="Calibri" panose="020F0502020204030204" charset="0"/>
                <a:ea typeface="Halant Medium" panose="00000600000000000000"/>
                <a:cs typeface="Calibri" panose="020F0502020204030204" charset="0"/>
                <a:sym typeface="HK Grotesk" panose="00000500000000000000"/>
              </a:rPr>
              <a:t>Hexa → Base 16</a:t>
            </a:r>
            <a:endParaRPr lang="en-US" altLang="en-US" sz="2800" dirty="0">
              <a:solidFill>
                <a:schemeClr val="bg1"/>
              </a:solidFill>
              <a:latin typeface="Calibri" panose="020F0502020204030204" charset="0"/>
              <a:ea typeface="Halant Medium" panose="00000600000000000000"/>
              <a:cs typeface="Calibri" panose="020F0502020204030204" charset="0"/>
              <a:sym typeface="HK Grotesk" panose="0000050000000000000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731520" y="913289"/>
            <a:ext cx="8290560" cy="3258492"/>
            <a:chOff x="0" y="-28575"/>
            <a:chExt cx="11054080" cy="4344656"/>
          </a:xfrm>
        </p:grpSpPr>
        <p:sp>
          <p:nvSpPr>
            <p:cNvPr id="4" name="TextBox 4"/>
            <p:cNvSpPr txBox="1"/>
            <p:nvPr/>
          </p:nvSpPr>
          <p:spPr>
            <a:xfrm>
              <a:off x="0" y="-28575"/>
              <a:ext cx="11054080" cy="666327"/>
            </a:xfrm>
            <a:prstGeom prst="rect">
              <a:avLst/>
            </a:prstGeom>
          </p:spPr>
          <p:txBody>
            <a:bodyPr lIns="0" tIns="0" rIns="0" bIns="0" rtlCol="0" anchor="t">
              <a:spAutoFit/>
            </a:bodyPr>
            <a:lstStyle/>
            <a:p>
              <a:pPr marL="0" lvl="0" indent="0" algn="l">
                <a:lnSpc>
                  <a:spcPts val="3900"/>
                </a:lnSpc>
                <a:spcBef>
                  <a:spcPct val="0"/>
                </a:spcBef>
              </a:pPr>
              <a:r>
                <a:rPr lang="en-US" sz="3000" b="1">
                  <a:solidFill>
                    <a:srgbClr val="731F7D"/>
                  </a:solidFill>
                  <a:latin typeface="Halant Bold" panose="00000800000000000000"/>
                  <a:ea typeface="Halant Bold" panose="00000800000000000000"/>
                  <a:cs typeface="Halant Bold" panose="00000800000000000000"/>
                  <a:sym typeface="Halant Bold" panose="00000800000000000000"/>
                </a:rPr>
                <a:t> 1. Decimal Number System (Base 10)</a:t>
              </a:r>
              <a:endParaRPr lang="en-US" sz="3000" b="1">
                <a:solidFill>
                  <a:srgbClr val="731F7D"/>
                </a:solidFill>
                <a:latin typeface="Halant Bold" panose="00000800000000000000"/>
                <a:ea typeface="Halant Bold" panose="00000800000000000000"/>
                <a:cs typeface="Halant Bold" panose="00000800000000000000"/>
                <a:sym typeface="Halant Bold" panose="00000800000000000000"/>
              </a:endParaRPr>
            </a:p>
          </p:txBody>
        </p:sp>
        <p:sp>
          <p:nvSpPr>
            <p:cNvPr id="5" name="TextBox 5"/>
            <p:cNvSpPr txBox="1"/>
            <p:nvPr/>
          </p:nvSpPr>
          <p:spPr>
            <a:xfrm>
              <a:off x="0" y="777014"/>
              <a:ext cx="11054080" cy="3539067"/>
            </a:xfrm>
            <a:prstGeom prst="rect">
              <a:avLst/>
            </a:prstGeom>
          </p:spPr>
          <p:txBody>
            <a:bodyPr lIns="0" tIns="0" rIns="0" bIns="0" rtlCol="0" anchor="t">
              <a:spAutoFit/>
            </a:bodyPr>
            <a:lstStyle/>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Digits: 0–9</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Positional values: powers of 10</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269875" lvl="1" indent="0" algn="just">
                <a:lnSpc>
                  <a:spcPct val="150000"/>
                </a:lnSpc>
                <a:buFont typeface="Arial" panose="020B0604020202020204"/>
                <a:buNone/>
              </a:pPr>
              <a:r>
                <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rPr>
                <a:t>Example:</a:t>
              </a:r>
              <a:endPar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269875" lvl="1" indent="0" algn="just">
                <a:lnSpc>
                  <a:spcPct val="150000"/>
                </a:lnSpc>
                <a:buFont typeface="Arial" panose="020B0604020202020204"/>
                <a:buNone/>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345 = 3×10² + 4×10¹ + 5×10⁰</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Most common system used by humans</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p:txBody>
        </p:sp>
      </p:grpSp>
      <p:sp>
        <p:nvSpPr>
          <p:cNvPr id="6" name="Freeform 6"/>
          <p:cNvSpPr/>
          <p:nvPr/>
        </p:nvSpPr>
        <p:spPr>
          <a:xfrm rot="313119">
            <a:off x="7871314" y="-1358233"/>
            <a:ext cx="3312451" cy="3167532"/>
          </a:xfrm>
          <a:custGeom>
            <a:avLst/>
            <a:gdLst/>
            <a:ahLst/>
            <a:cxnLst/>
            <a:rect l="l" t="t" r="r" b="b"/>
            <a:pathLst>
              <a:path w="3312451" h="3167532">
                <a:moveTo>
                  <a:pt x="0" y="0"/>
                </a:moveTo>
                <a:lnTo>
                  <a:pt x="3312451" y="0"/>
                </a:lnTo>
                <a:lnTo>
                  <a:pt x="3312451" y="3167532"/>
                </a:lnTo>
                <a:lnTo>
                  <a:pt x="0" y="3167532"/>
                </a:lnTo>
                <a:lnTo>
                  <a:pt x="0" y="0"/>
                </a:lnTo>
                <a:close/>
              </a:path>
            </a:pathLst>
          </a:custGeom>
          <a:blipFill>
            <a:blip r:embed="rId1"/>
            <a:stretch>
              <a:fillRect/>
            </a:stretch>
          </a:blipFill>
        </p:spPr>
      </p:sp>
      <p:pic>
        <p:nvPicPr>
          <p:cNvPr id="7" name="Picture 6" descr="Decimal_digit"/>
          <p:cNvPicPr>
            <a:picLocks noChangeAspect="1"/>
          </p:cNvPicPr>
          <p:nvPr/>
        </p:nvPicPr>
        <p:blipFill>
          <a:blip r:embed="rId2"/>
          <a:stretch>
            <a:fillRect/>
          </a:stretch>
        </p:blipFill>
        <p:spPr>
          <a:xfrm>
            <a:off x="2057400" y="4343400"/>
            <a:ext cx="5789295" cy="25781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731520" y="913289"/>
            <a:ext cx="8290560" cy="3258492"/>
            <a:chOff x="0" y="-28575"/>
            <a:chExt cx="11054080" cy="4344656"/>
          </a:xfrm>
        </p:grpSpPr>
        <p:sp>
          <p:nvSpPr>
            <p:cNvPr id="4" name="TextBox 4"/>
            <p:cNvSpPr txBox="1"/>
            <p:nvPr/>
          </p:nvSpPr>
          <p:spPr>
            <a:xfrm>
              <a:off x="0" y="-28575"/>
              <a:ext cx="11054080" cy="666327"/>
            </a:xfrm>
            <a:prstGeom prst="rect">
              <a:avLst/>
            </a:prstGeom>
          </p:spPr>
          <p:txBody>
            <a:bodyPr lIns="0" tIns="0" rIns="0" bIns="0" rtlCol="0" anchor="t">
              <a:spAutoFit/>
            </a:bodyPr>
            <a:lstStyle/>
            <a:p>
              <a:pPr marL="0" lvl="0" indent="0" algn="l">
                <a:lnSpc>
                  <a:spcPts val="3900"/>
                </a:lnSpc>
                <a:spcBef>
                  <a:spcPct val="0"/>
                </a:spcBef>
              </a:pPr>
              <a:r>
                <a:rPr lang="en-US" sz="3000" b="1">
                  <a:solidFill>
                    <a:srgbClr val="731F7D"/>
                  </a:solidFill>
                  <a:latin typeface="Halant Bold" panose="00000800000000000000"/>
                  <a:ea typeface="Halant Bold" panose="00000800000000000000"/>
                  <a:cs typeface="Halant Bold" panose="00000800000000000000"/>
                  <a:sym typeface="Halant Bold" panose="00000800000000000000"/>
                </a:rPr>
                <a:t> 2. Binary Number System (Base 2)</a:t>
              </a:r>
              <a:endParaRPr lang="en-US" sz="3000" b="1">
                <a:solidFill>
                  <a:srgbClr val="731F7D"/>
                </a:solidFill>
                <a:latin typeface="Halant Bold" panose="00000800000000000000"/>
                <a:ea typeface="Halant Bold" panose="00000800000000000000"/>
                <a:cs typeface="Halant Bold" panose="00000800000000000000"/>
                <a:sym typeface="Halant Bold" panose="00000800000000000000"/>
              </a:endParaRPr>
            </a:p>
          </p:txBody>
        </p:sp>
        <p:sp>
          <p:nvSpPr>
            <p:cNvPr id="5" name="TextBox 5"/>
            <p:cNvSpPr txBox="1"/>
            <p:nvPr/>
          </p:nvSpPr>
          <p:spPr>
            <a:xfrm>
              <a:off x="0" y="777014"/>
              <a:ext cx="11054080" cy="3539067"/>
            </a:xfrm>
            <a:prstGeom prst="rect">
              <a:avLst/>
            </a:prstGeom>
          </p:spPr>
          <p:txBody>
            <a:bodyPr lIns="0" tIns="0" rIns="0" bIns="0" rtlCol="0" anchor="t">
              <a:spAutoFit/>
            </a:bodyPr>
            <a:lstStyle/>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Digits: 0 and 1</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Used internally by computers</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Positional values: powers of 2</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269875" lvl="1" indent="0" algn="just">
                <a:lnSpc>
                  <a:spcPct val="150000"/>
                </a:lnSpc>
                <a:buFont typeface="Arial" panose="020B0604020202020204" pitchFamily="34" charset="0"/>
                <a:buNone/>
              </a:pPr>
              <a:r>
                <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rPr>
                <a:t>Example:</a:t>
              </a:r>
              <a:endPar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1011₂ = 1×2³ + 0×2² + 1×2¹ + 1×2⁰s</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p:txBody>
        </p:sp>
      </p:grpSp>
      <p:sp>
        <p:nvSpPr>
          <p:cNvPr id="6" name="Freeform 6"/>
          <p:cNvSpPr/>
          <p:nvPr/>
        </p:nvSpPr>
        <p:spPr>
          <a:xfrm rot="313119">
            <a:off x="7871314" y="-1358233"/>
            <a:ext cx="3312451" cy="3167532"/>
          </a:xfrm>
          <a:custGeom>
            <a:avLst/>
            <a:gdLst/>
            <a:ahLst/>
            <a:cxnLst/>
            <a:rect l="l" t="t" r="r" b="b"/>
            <a:pathLst>
              <a:path w="3312451" h="3167532">
                <a:moveTo>
                  <a:pt x="0" y="0"/>
                </a:moveTo>
                <a:lnTo>
                  <a:pt x="3312451" y="0"/>
                </a:lnTo>
                <a:lnTo>
                  <a:pt x="3312451" y="3167532"/>
                </a:lnTo>
                <a:lnTo>
                  <a:pt x="0" y="3167532"/>
                </a:lnTo>
                <a:lnTo>
                  <a:pt x="0" y="0"/>
                </a:lnTo>
                <a:close/>
              </a:path>
            </a:pathLst>
          </a:custGeom>
          <a:blipFill>
            <a:blip r:embed="rId1"/>
            <a:stretch>
              <a:fillRect/>
            </a:stretch>
          </a:blipFill>
        </p:spPr>
      </p:sp>
      <p:pic>
        <p:nvPicPr>
          <p:cNvPr id="7" name="Picture 6" descr="images"/>
          <p:cNvPicPr>
            <a:picLocks noChangeAspect="1"/>
          </p:cNvPicPr>
          <p:nvPr/>
        </p:nvPicPr>
        <p:blipFill>
          <a:blip r:embed="rId2"/>
          <a:stretch>
            <a:fillRect/>
          </a:stretch>
        </p:blipFill>
        <p:spPr>
          <a:xfrm>
            <a:off x="6096000" y="3124200"/>
            <a:ext cx="3011170" cy="3675380"/>
          </a:xfrm>
          <a:prstGeom prst="rect">
            <a:avLst/>
          </a:prstGeom>
          <a:ln>
            <a:solidFill>
              <a:schemeClr val="tx1"/>
            </a:solid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731520" y="913289"/>
            <a:ext cx="8290560" cy="3258492"/>
            <a:chOff x="0" y="-28575"/>
            <a:chExt cx="11054080" cy="4344656"/>
          </a:xfrm>
        </p:grpSpPr>
        <p:sp>
          <p:nvSpPr>
            <p:cNvPr id="4" name="TextBox 4"/>
            <p:cNvSpPr txBox="1"/>
            <p:nvPr/>
          </p:nvSpPr>
          <p:spPr>
            <a:xfrm>
              <a:off x="0" y="-28575"/>
              <a:ext cx="11054080" cy="666327"/>
            </a:xfrm>
            <a:prstGeom prst="rect">
              <a:avLst/>
            </a:prstGeom>
          </p:spPr>
          <p:txBody>
            <a:bodyPr lIns="0" tIns="0" rIns="0" bIns="0" rtlCol="0" anchor="t">
              <a:spAutoFit/>
            </a:bodyPr>
            <a:lstStyle/>
            <a:p>
              <a:pPr marL="0" lvl="0" indent="0" algn="l">
                <a:lnSpc>
                  <a:spcPts val="3900"/>
                </a:lnSpc>
                <a:spcBef>
                  <a:spcPct val="0"/>
                </a:spcBef>
              </a:pPr>
              <a:r>
                <a:rPr lang="en-US" sz="3000" b="1">
                  <a:solidFill>
                    <a:srgbClr val="731F7D"/>
                  </a:solidFill>
                  <a:latin typeface="Halant Bold" panose="00000800000000000000"/>
                  <a:ea typeface="Halant Bold" panose="00000800000000000000"/>
                  <a:cs typeface="Halant Bold" panose="00000800000000000000"/>
                  <a:sym typeface="Halant Bold" panose="00000800000000000000"/>
                </a:rPr>
                <a:t> 3. Octal Number System (Base 8)</a:t>
              </a:r>
              <a:endParaRPr lang="en-US" sz="3000" b="1">
                <a:solidFill>
                  <a:srgbClr val="731F7D"/>
                </a:solidFill>
                <a:latin typeface="Halant Bold" panose="00000800000000000000"/>
                <a:ea typeface="Halant Bold" panose="00000800000000000000"/>
                <a:cs typeface="Halant Bold" panose="00000800000000000000"/>
                <a:sym typeface="Halant Bold" panose="00000800000000000000"/>
              </a:endParaRPr>
            </a:p>
          </p:txBody>
        </p:sp>
        <p:sp>
          <p:nvSpPr>
            <p:cNvPr id="5" name="TextBox 5"/>
            <p:cNvSpPr txBox="1"/>
            <p:nvPr/>
          </p:nvSpPr>
          <p:spPr>
            <a:xfrm>
              <a:off x="0" y="777014"/>
              <a:ext cx="11054080" cy="3539067"/>
            </a:xfrm>
            <a:prstGeom prst="rect">
              <a:avLst/>
            </a:prstGeom>
          </p:spPr>
          <p:txBody>
            <a:bodyPr lIns="0" tIns="0" rIns="0" bIns="0" rtlCol="0" anchor="t">
              <a:spAutoFit/>
            </a:bodyPr>
            <a:lstStyle/>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Digits: 0–7</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Shortcut representation of binary</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Each octal digit = 3 binary bits</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269875" lvl="1" indent="0" algn="just">
                <a:lnSpc>
                  <a:spcPct val="150000"/>
                </a:lnSpc>
                <a:buFont typeface="Arial" panose="020B0604020202020204" pitchFamily="34" charset="0"/>
                <a:buNone/>
              </a:pPr>
              <a:r>
                <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rPr>
                <a:t>Example:</a:t>
              </a:r>
              <a:endPar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17₈</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p:txBody>
        </p:sp>
      </p:grpSp>
      <p:sp>
        <p:nvSpPr>
          <p:cNvPr id="6" name="Freeform 6"/>
          <p:cNvSpPr/>
          <p:nvPr/>
        </p:nvSpPr>
        <p:spPr>
          <a:xfrm rot="313119">
            <a:off x="7871314" y="-1358233"/>
            <a:ext cx="3312451" cy="3167532"/>
          </a:xfrm>
          <a:custGeom>
            <a:avLst/>
            <a:gdLst/>
            <a:ahLst/>
            <a:cxnLst/>
            <a:rect l="l" t="t" r="r" b="b"/>
            <a:pathLst>
              <a:path w="3312451" h="3167532">
                <a:moveTo>
                  <a:pt x="0" y="0"/>
                </a:moveTo>
                <a:lnTo>
                  <a:pt x="3312451" y="0"/>
                </a:lnTo>
                <a:lnTo>
                  <a:pt x="3312451" y="3167532"/>
                </a:lnTo>
                <a:lnTo>
                  <a:pt x="0" y="3167532"/>
                </a:lnTo>
                <a:lnTo>
                  <a:pt x="0" y="0"/>
                </a:lnTo>
                <a:close/>
              </a:path>
            </a:pathLst>
          </a:custGeom>
          <a:blipFill>
            <a:blip r:embed="rId1"/>
            <a:stretch>
              <a:fillRect/>
            </a:stretch>
          </a:blipFill>
        </p:spPr>
      </p:sp>
      <p:pic>
        <p:nvPicPr>
          <p:cNvPr id="7" name="Picture 6" descr="octal"/>
          <p:cNvPicPr>
            <a:picLocks noChangeAspect="1"/>
          </p:cNvPicPr>
          <p:nvPr/>
        </p:nvPicPr>
        <p:blipFill>
          <a:blip r:embed="rId2"/>
          <a:stretch>
            <a:fillRect/>
          </a:stretch>
        </p:blipFill>
        <p:spPr>
          <a:xfrm>
            <a:off x="3581400" y="3886200"/>
            <a:ext cx="5518785" cy="2904490"/>
          </a:xfrm>
          <a:prstGeom prst="rect">
            <a:avLst/>
          </a:prstGeom>
          <a:ln>
            <a:solidFill>
              <a:schemeClr val="tx1"/>
            </a:solid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731520" y="913289"/>
            <a:ext cx="8290560" cy="2727631"/>
            <a:chOff x="0" y="-28575"/>
            <a:chExt cx="11054080" cy="3636842"/>
          </a:xfrm>
        </p:grpSpPr>
        <p:sp>
          <p:nvSpPr>
            <p:cNvPr id="4" name="TextBox 4"/>
            <p:cNvSpPr txBox="1"/>
            <p:nvPr/>
          </p:nvSpPr>
          <p:spPr>
            <a:xfrm>
              <a:off x="0" y="-28575"/>
              <a:ext cx="11054080" cy="666327"/>
            </a:xfrm>
            <a:prstGeom prst="rect">
              <a:avLst/>
            </a:prstGeom>
          </p:spPr>
          <p:txBody>
            <a:bodyPr lIns="0" tIns="0" rIns="0" bIns="0" rtlCol="0" anchor="t">
              <a:spAutoFit/>
            </a:bodyPr>
            <a:lstStyle/>
            <a:p>
              <a:pPr marL="0" lvl="0" indent="0" algn="l">
                <a:lnSpc>
                  <a:spcPts val="3900"/>
                </a:lnSpc>
                <a:spcBef>
                  <a:spcPct val="0"/>
                </a:spcBef>
              </a:pPr>
              <a:r>
                <a:rPr lang="en-US" sz="3000" b="1">
                  <a:solidFill>
                    <a:srgbClr val="731F7D"/>
                  </a:solidFill>
                  <a:latin typeface="Halant Bold" panose="00000800000000000000"/>
                  <a:ea typeface="Halant Bold" panose="00000800000000000000"/>
                  <a:cs typeface="Halant Bold" panose="00000800000000000000"/>
                  <a:sym typeface="Halant Bold" panose="00000800000000000000"/>
                </a:rPr>
                <a:t> 4. Hexadecimal Number System (Base 16)</a:t>
              </a:r>
              <a:endParaRPr lang="en-US" sz="3000" b="1">
                <a:solidFill>
                  <a:srgbClr val="731F7D"/>
                </a:solidFill>
                <a:latin typeface="Halant Bold" panose="00000800000000000000"/>
                <a:ea typeface="Halant Bold" panose="00000800000000000000"/>
                <a:cs typeface="Halant Bold" panose="00000800000000000000"/>
                <a:sym typeface="Halant Bold" panose="00000800000000000000"/>
              </a:endParaRPr>
            </a:p>
          </p:txBody>
        </p:sp>
        <p:sp>
          <p:nvSpPr>
            <p:cNvPr id="5" name="TextBox 5"/>
            <p:cNvSpPr txBox="1"/>
            <p:nvPr/>
          </p:nvSpPr>
          <p:spPr>
            <a:xfrm>
              <a:off x="0" y="777014"/>
              <a:ext cx="11054080" cy="2831253"/>
            </a:xfrm>
            <a:prstGeom prst="rect">
              <a:avLst/>
            </a:prstGeom>
          </p:spPr>
          <p:txBody>
            <a:bodyPr lIns="0" tIns="0" rIns="0" bIns="0" rtlCol="0" anchor="t">
              <a:spAutoFit/>
            </a:bodyPr>
            <a:lstStyle/>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Digits: 0–9 and A–F</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A=10, B=11, C=12, D=13, E=14, F=15</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Each hex digit = 4 binary bits</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Widely used in programming &amp; memory addressing</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p:txBody>
        </p:sp>
      </p:grpSp>
      <p:sp>
        <p:nvSpPr>
          <p:cNvPr id="6" name="Freeform 6"/>
          <p:cNvSpPr/>
          <p:nvPr/>
        </p:nvSpPr>
        <p:spPr>
          <a:xfrm rot="313119">
            <a:off x="7871314" y="-1358233"/>
            <a:ext cx="3312451" cy="3167532"/>
          </a:xfrm>
          <a:custGeom>
            <a:avLst/>
            <a:gdLst/>
            <a:ahLst/>
            <a:cxnLst/>
            <a:rect l="l" t="t" r="r" b="b"/>
            <a:pathLst>
              <a:path w="3312451" h="3167532">
                <a:moveTo>
                  <a:pt x="0" y="0"/>
                </a:moveTo>
                <a:lnTo>
                  <a:pt x="3312451" y="0"/>
                </a:lnTo>
                <a:lnTo>
                  <a:pt x="3312451" y="3167532"/>
                </a:lnTo>
                <a:lnTo>
                  <a:pt x="0" y="3167532"/>
                </a:lnTo>
                <a:lnTo>
                  <a:pt x="0" y="0"/>
                </a:lnTo>
                <a:close/>
              </a:path>
            </a:pathLst>
          </a:custGeom>
          <a:blipFill>
            <a:blip r:embed="rId1"/>
            <a:stretch>
              <a:fillRect/>
            </a:stretch>
          </a:blipFill>
        </p:spPr>
      </p:sp>
      <p:pic>
        <p:nvPicPr>
          <p:cNvPr id="8" name="Picture 7"/>
          <p:cNvPicPr>
            <a:picLocks noChangeAspect="1"/>
          </p:cNvPicPr>
          <p:nvPr/>
        </p:nvPicPr>
        <p:blipFill>
          <a:blip r:embed="rId2"/>
          <a:srcRect t="25971" b="39723"/>
          <a:stretch>
            <a:fillRect/>
          </a:stretch>
        </p:blipFill>
        <p:spPr>
          <a:xfrm>
            <a:off x="1600200" y="4095115"/>
            <a:ext cx="6502400" cy="1924685"/>
          </a:xfrm>
          <a:prstGeom prst="rect">
            <a:avLst/>
          </a:prstGeom>
          <a:ln>
            <a:solidFill>
              <a:schemeClr val="tx1"/>
            </a:solid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xfLokO8"/>
          <p:cNvPicPr>
            <a:picLocks noChangeAspect="1"/>
          </p:cNvPicPr>
          <p:nvPr/>
        </p:nvPicPr>
        <p:blipFill>
          <a:blip r:embed="rId1"/>
          <a:stretch>
            <a:fillRect/>
          </a:stretch>
        </p:blipFill>
        <p:spPr>
          <a:xfrm>
            <a:off x="-30480" y="0"/>
            <a:ext cx="9783445" cy="732409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381000" y="1143000"/>
            <a:ext cx="8314690" cy="730885"/>
          </a:xfrm>
          <a:prstGeom prst="rect">
            <a:avLst/>
          </a:prstGeom>
        </p:spPr>
        <p:txBody>
          <a:bodyPr lIns="0" tIns="0" rIns="0" bIns="0" rtlCol="0" anchor="t">
            <a:noAutofit/>
          </a:bodyPr>
          <a:lstStyle/>
          <a:p>
            <a:pPr indent="457200" algn="l">
              <a:lnSpc>
                <a:spcPts val="5900"/>
              </a:lnSpc>
            </a:pPr>
            <a:r>
              <a:rPr lang="en-US" sz="5000" b="1">
                <a:solidFill>
                  <a:srgbClr val="000000"/>
                </a:solidFill>
                <a:latin typeface="Calibri" panose="020F0502020204030204" charset="0"/>
                <a:ea typeface="HK Grotesk Bold" panose="00000800000000000000"/>
                <a:cs typeface="Calibri" panose="020F0502020204030204" charset="0"/>
                <a:sym typeface="HK Grotesk Bold" panose="00000800000000000000"/>
              </a:rPr>
              <a:t>Number System Conversions</a:t>
            </a:r>
            <a:endParaRPr lang="en-US" sz="5000" b="1">
              <a:solidFill>
                <a:srgbClr val="000000"/>
              </a:solidFill>
              <a:latin typeface="Calibri" panose="020F0502020204030204" charset="0"/>
              <a:ea typeface="HK Grotesk Bold" panose="00000800000000000000"/>
              <a:cs typeface="Calibri" panose="020F0502020204030204" charset="0"/>
              <a:sym typeface="HK Grotesk Bold" panose="00000800000000000000"/>
            </a:endParaRPr>
          </a:p>
        </p:txBody>
      </p:sp>
      <p:grpSp>
        <p:nvGrpSpPr>
          <p:cNvPr id="4" name="Group 4"/>
          <p:cNvGrpSpPr/>
          <p:nvPr/>
        </p:nvGrpSpPr>
        <p:grpSpPr>
          <a:xfrm>
            <a:off x="838200" y="2057570"/>
            <a:ext cx="8290560" cy="4202102"/>
            <a:chOff x="0" y="-28575"/>
            <a:chExt cx="11054080" cy="5602803"/>
          </a:xfrm>
        </p:grpSpPr>
        <p:sp>
          <p:nvSpPr>
            <p:cNvPr id="5" name="TextBox 5"/>
            <p:cNvSpPr txBox="1"/>
            <p:nvPr/>
          </p:nvSpPr>
          <p:spPr>
            <a:xfrm>
              <a:off x="0" y="-28575"/>
              <a:ext cx="11054080" cy="666327"/>
            </a:xfrm>
            <a:prstGeom prst="rect">
              <a:avLst/>
            </a:prstGeom>
          </p:spPr>
          <p:txBody>
            <a:bodyPr lIns="0" tIns="0" rIns="0" bIns="0" rtlCol="0" anchor="t">
              <a:spAutoFit/>
            </a:bodyPr>
            <a:lstStyle/>
            <a:p>
              <a:pPr marL="0" lvl="0" indent="0" algn="l">
                <a:lnSpc>
                  <a:spcPts val="3900"/>
                </a:lnSpc>
                <a:spcBef>
                  <a:spcPct val="0"/>
                </a:spcBef>
              </a:pPr>
              <a:r>
                <a:rPr lang="en-US" sz="3000" b="1">
                  <a:solidFill>
                    <a:srgbClr val="7030A0"/>
                  </a:solidFill>
                  <a:latin typeface="Halant Bold" panose="00000800000000000000"/>
                  <a:ea typeface="Halant Bold" panose="00000800000000000000"/>
                  <a:cs typeface="Halant Bold" panose="00000800000000000000"/>
                  <a:sym typeface="Halant Bold" panose="00000800000000000000"/>
                </a:rPr>
                <a:t>Overview:</a:t>
              </a:r>
              <a:endParaRPr lang="en-US" sz="3000" b="1">
                <a:solidFill>
                  <a:srgbClr val="7030A0"/>
                </a:solidFill>
                <a:latin typeface="Halant Bold" panose="00000800000000000000"/>
                <a:ea typeface="Halant Bold" panose="00000800000000000000"/>
                <a:cs typeface="Halant Bold" panose="00000800000000000000"/>
                <a:sym typeface="Halant Bold" panose="00000800000000000000"/>
              </a:endParaRPr>
            </a:p>
          </p:txBody>
        </p:sp>
        <p:sp>
          <p:nvSpPr>
            <p:cNvPr id="6" name="TextBox 6"/>
            <p:cNvSpPr txBox="1"/>
            <p:nvPr/>
          </p:nvSpPr>
          <p:spPr>
            <a:xfrm>
              <a:off x="0" y="777014"/>
              <a:ext cx="11054080" cy="4797214"/>
            </a:xfrm>
            <a:prstGeom prst="rect">
              <a:avLst/>
            </a:prstGeom>
          </p:spPr>
          <p:txBody>
            <a:bodyPr lIns="0" tIns="0" rIns="0" bIns="0" rtlCol="0" anchor="t">
              <a:spAutoFit/>
            </a:bodyPr>
            <a:lstStyle/>
            <a:p>
              <a:pPr marL="342900" indent="-342900" algn="just">
                <a:lnSpc>
                  <a:spcPct val="150000"/>
                </a:lnSpc>
                <a:buFont typeface="Arial" panose="020B0604020202020204" pitchFamily="34" charset="0"/>
                <a:buChar char="•"/>
              </a:pPr>
              <a:r>
                <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rPr>
                <a:t>Decimal ↔ Binary</a:t>
              </a:r>
              <a:endPar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endParaRPr>
            </a:p>
            <a:p>
              <a:pPr marL="342900" indent="-342900" algn="just">
                <a:lnSpc>
                  <a:spcPct val="150000"/>
                </a:lnSpc>
                <a:buFont typeface="Arial" panose="020B0604020202020204" pitchFamily="34" charset="0"/>
                <a:buChar char="•"/>
              </a:pPr>
              <a:r>
                <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rPr>
                <a:t>Decimal ↔ Octal</a:t>
              </a:r>
              <a:endPar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endParaRPr>
            </a:p>
            <a:p>
              <a:pPr marL="342900" indent="-342900" algn="just">
                <a:lnSpc>
                  <a:spcPct val="150000"/>
                </a:lnSpc>
                <a:buFont typeface="Arial" panose="020B0604020202020204" pitchFamily="34" charset="0"/>
                <a:buChar char="•"/>
              </a:pPr>
              <a:r>
                <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rPr>
                <a:t>Decimal ↔ Hexadecimal</a:t>
              </a:r>
              <a:endPar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endParaRPr>
            </a:p>
            <a:p>
              <a:pPr marL="342900" indent="-342900" algn="just">
                <a:lnSpc>
                  <a:spcPct val="150000"/>
                </a:lnSpc>
                <a:buFont typeface="Arial" panose="020B0604020202020204" pitchFamily="34" charset="0"/>
                <a:buChar char="•"/>
              </a:pPr>
              <a:r>
                <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rPr>
                <a:t>Binary ↔ Decimal</a:t>
              </a:r>
              <a:endPar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endParaRPr>
            </a:p>
            <a:p>
              <a:pPr marL="342900" indent="-342900" algn="just">
                <a:lnSpc>
                  <a:spcPct val="150000"/>
                </a:lnSpc>
                <a:buFont typeface="Arial" panose="020B0604020202020204" pitchFamily="34" charset="0"/>
                <a:buChar char="•"/>
              </a:pPr>
              <a:r>
                <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rPr>
                <a:t>Binary ↔ Octal</a:t>
              </a:r>
              <a:endPar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endParaRPr>
            </a:p>
            <a:p>
              <a:pPr marL="342900" indent="-342900" algn="just">
                <a:lnSpc>
                  <a:spcPct val="150000"/>
                </a:lnSpc>
                <a:buFont typeface="Arial" panose="020B0604020202020204" pitchFamily="34" charset="0"/>
                <a:buChar char="•"/>
              </a:pPr>
              <a:r>
                <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rPr>
                <a:t>Binary ↔ Hexadecimal</a:t>
              </a:r>
              <a:endPar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endParaRPr>
            </a:p>
            <a:p>
              <a:pPr algn="just">
                <a:lnSpc>
                  <a:spcPts val="3220"/>
                </a:lnSpc>
                <a:spcBef>
                  <a:spcPct val="0"/>
                </a:spcBef>
              </a:pPr>
              <a:endParaRPr lang="en-US" sz="2300" spc="-22">
                <a:solidFill>
                  <a:srgbClr val="000000"/>
                </a:solidFill>
                <a:latin typeface="Assistant" panose="00000500000000000000"/>
                <a:ea typeface="Assistant" panose="00000500000000000000"/>
                <a:cs typeface="Assistant" panose="00000500000000000000"/>
                <a:sym typeface="Assistant" panose="00000500000000000000"/>
              </a:endParaRPr>
            </a:p>
          </p:txBody>
        </p:sp>
      </p:grpSp>
      <p:sp>
        <p:nvSpPr>
          <p:cNvPr id="7" name="Freeform 7"/>
          <p:cNvSpPr/>
          <p:nvPr/>
        </p:nvSpPr>
        <p:spPr>
          <a:xfrm rot="313119">
            <a:off x="7871314" y="-1358233"/>
            <a:ext cx="3312451" cy="3167532"/>
          </a:xfrm>
          <a:custGeom>
            <a:avLst/>
            <a:gdLst/>
            <a:ahLst/>
            <a:cxnLst/>
            <a:rect l="l" t="t" r="r" b="b"/>
            <a:pathLst>
              <a:path w="3312451" h="3167532">
                <a:moveTo>
                  <a:pt x="0" y="0"/>
                </a:moveTo>
                <a:lnTo>
                  <a:pt x="3312451" y="0"/>
                </a:lnTo>
                <a:lnTo>
                  <a:pt x="3312451" y="3167532"/>
                </a:lnTo>
                <a:lnTo>
                  <a:pt x="0" y="3167532"/>
                </a:lnTo>
                <a:lnTo>
                  <a:pt x="0" y="0"/>
                </a:lnTo>
                <a:close/>
              </a:path>
            </a:pathLst>
          </a:custGeom>
          <a:blipFill>
            <a:blip r:embed="rId1"/>
            <a:stretch>
              <a:fillRect/>
            </a:stretch>
          </a:blipFill>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731520" y="913289"/>
            <a:ext cx="8290560" cy="4320211"/>
            <a:chOff x="0" y="-28575"/>
            <a:chExt cx="11054080" cy="5760283"/>
          </a:xfrm>
        </p:grpSpPr>
        <p:sp>
          <p:nvSpPr>
            <p:cNvPr id="4" name="TextBox 4"/>
            <p:cNvSpPr txBox="1"/>
            <p:nvPr/>
          </p:nvSpPr>
          <p:spPr>
            <a:xfrm>
              <a:off x="0" y="-28575"/>
              <a:ext cx="11054080" cy="666327"/>
            </a:xfrm>
            <a:prstGeom prst="rect">
              <a:avLst/>
            </a:prstGeom>
          </p:spPr>
          <p:txBody>
            <a:bodyPr lIns="0" tIns="0" rIns="0" bIns="0" rtlCol="0" anchor="t">
              <a:spAutoFit/>
            </a:bodyPr>
            <a:lstStyle/>
            <a:p>
              <a:pPr marL="0" lvl="0" indent="0" algn="l">
                <a:lnSpc>
                  <a:spcPts val="3900"/>
                </a:lnSpc>
                <a:spcBef>
                  <a:spcPct val="0"/>
                </a:spcBef>
              </a:pPr>
              <a:r>
                <a:rPr lang="en-US" sz="3000" b="1">
                  <a:solidFill>
                    <a:srgbClr val="731F7D"/>
                  </a:solidFill>
                  <a:latin typeface="Halant Bold" panose="00000800000000000000"/>
                  <a:ea typeface="Halant Bold" panose="00000800000000000000"/>
                  <a:cs typeface="Halant Bold" panose="00000800000000000000"/>
                  <a:sym typeface="Halant Bold" panose="00000800000000000000"/>
                </a:rPr>
                <a:t> 1. </a:t>
              </a:r>
              <a:r>
                <a:rPr lang="en-US" altLang="en-US" sz="3000" b="1">
                  <a:solidFill>
                    <a:srgbClr val="731F7D"/>
                  </a:solidFill>
                  <a:latin typeface="Halant Bold" panose="00000800000000000000"/>
                  <a:ea typeface="Halant Bold" panose="00000800000000000000"/>
                  <a:cs typeface="Halant Bold" panose="00000800000000000000"/>
                  <a:sym typeface="Halant Bold" panose="00000800000000000000"/>
                </a:rPr>
                <a:t>Decimal to Binary Conversion</a:t>
              </a:r>
              <a:endParaRPr lang="en-US" sz="3000" b="1">
                <a:solidFill>
                  <a:srgbClr val="731F7D"/>
                </a:solidFill>
                <a:latin typeface="Halant Bold" panose="00000800000000000000"/>
                <a:ea typeface="Halant Bold" panose="00000800000000000000"/>
                <a:cs typeface="Halant Bold" panose="00000800000000000000"/>
                <a:sym typeface="Halant Bold" panose="00000800000000000000"/>
              </a:endParaRPr>
            </a:p>
          </p:txBody>
        </p:sp>
        <p:sp>
          <p:nvSpPr>
            <p:cNvPr id="5" name="TextBox 5"/>
            <p:cNvSpPr txBox="1"/>
            <p:nvPr/>
          </p:nvSpPr>
          <p:spPr>
            <a:xfrm>
              <a:off x="0" y="777014"/>
              <a:ext cx="11054080" cy="4954694"/>
            </a:xfrm>
            <a:prstGeom prst="rect">
              <a:avLst/>
            </a:prstGeom>
          </p:spPr>
          <p:txBody>
            <a:bodyPr lIns="0" tIns="0" rIns="0" bIns="0" rtlCol="0" anchor="t">
              <a:spAutoFit/>
            </a:bodyPr>
            <a:lstStyle/>
            <a:p>
              <a:pPr marL="269875" lvl="1" indent="0" algn="just">
                <a:lnSpc>
                  <a:spcPct val="150000"/>
                </a:lnSpc>
                <a:buFont typeface="Arial" panose="020B0604020202020204" pitchFamily="34" charset="0"/>
                <a:buNone/>
              </a:pPr>
              <a:r>
                <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rPr>
                <a:t>Steps:</a:t>
              </a:r>
              <a:endPar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Divide number by 2</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Record remainder</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Continue until quotient = 0</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Read remainders bottom to top</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269875" lvl="1" indent="0" algn="just">
                <a:lnSpc>
                  <a:spcPct val="150000"/>
                </a:lnSpc>
                <a:buFont typeface="Arial" panose="020B0604020202020204" pitchFamily="34" charset="0"/>
                <a:buNone/>
              </a:pPr>
              <a:r>
                <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rPr>
                <a:t>Example:</a:t>
              </a:r>
              <a:endPar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25₁₀ → 11001₂</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p:txBody>
        </p:sp>
      </p:grpSp>
      <p:sp>
        <p:nvSpPr>
          <p:cNvPr id="6" name="Freeform 6"/>
          <p:cNvSpPr/>
          <p:nvPr/>
        </p:nvSpPr>
        <p:spPr>
          <a:xfrm rot="313119">
            <a:off x="7871314" y="-1358233"/>
            <a:ext cx="3312451" cy="3167532"/>
          </a:xfrm>
          <a:custGeom>
            <a:avLst/>
            <a:gdLst/>
            <a:ahLst/>
            <a:cxnLst/>
            <a:rect l="l" t="t" r="r" b="b"/>
            <a:pathLst>
              <a:path w="3312451" h="3167532">
                <a:moveTo>
                  <a:pt x="0" y="0"/>
                </a:moveTo>
                <a:lnTo>
                  <a:pt x="3312451" y="0"/>
                </a:lnTo>
                <a:lnTo>
                  <a:pt x="3312451" y="3167532"/>
                </a:lnTo>
                <a:lnTo>
                  <a:pt x="0" y="3167532"/>
                </a:lnTo>
                <a:lnTo>
                  <a:pt x="0" y="0"/>
                </a:lnTo>
                <a:close/>
              </a:path>
            </a:pathLst>
          </a:custGeom>
          <a:blipFill>
            <a:blip r:embed="rId1"/>
            <a:stretch>
              <a:fillRect/>
            </a:stretch>
          </a:blipFill>
        </p:spPr>
      </p:sp>
      <p:pic>
        <p:nvPicPr>
          <p:cNvPr id="8" name="Picture 7"/>
          <p:cNvPicPr/>
          <p:nvPr/>
        </p:nvPicPr>
        <p:blipFill>
          <a:blip r:embed="rId2"/>
          <a:srcRect t="9231" b="6154"/>
          <a:stretch>
            <a:fillRect/>
          </a:stretch>
        </p:blipFill>
        <p:spPr>
          <a:xfrm>
            <a:off x="5334000" y="1905000"/>
            <a:ext cx="3873500" cy="4191000"/>
          </a:xfrm>
          <a:prstGeom prst="rect">
            <a:avLst/>
          </a:prstGeom>
          <a:ln>
            <a:solidFill>
              <a:schemeClr val="tx1"/>
            </a:solid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731520" y="913289"/>
            <a:ext cx="8290560" cy="5382567"/>
            <a:chOff x="0" y="-28575"/>
            <a:chExt cx="11054080" cy="7176758"/>
          </a:xfrm>
        </p:grpSpPr>
        <p:sp>
          <p:nvSpPr>
            <p:cNvPr id="4" name="TextBox 4"/>
            <p:cNvSpPr txBox="1"/>
            <p:nvPr/>
          </p:nvSpPr>
          <p:spPr>
            <a:xfrm>
              <a:off x="0" y="-28575"/>
              <a:ext cx="11054080" cy="666327"/>
            </a:xfrm>
            <a:prstGeom prst="rect">
              <a:avLst/>
            </a:prstGeom>
          </p:spPr>
          <p:txBody>
            <a:bodyPr lIns="0" tIns="0" rIns="0" bIns="0" rtlCol="0" anchor="t">
              <a:spAutoFit/>
            </a:bodyPr>
            <a:lstStyle/>
            <a:p>
              <a:pPr marL="0" lvl="0" indent="0" algn="l">
                <a:lnSpc>
                  <a:spcPts val="3900"/>
                </a:lnSpc>
                <a:spcBef>
                  <a:spcPct val="0"/>
                </a:spcBef>
              </a:pPr>
              <a:r>
                <a:rPr lang="en-US" sz="3000" b="1">
                  <a:solidFill>
                    <a:srgbClr val="731F7D"/>
                  </a:solidFill>
                  <a:latin typeface="Halant Bold" panose="00000800000000000000"/>
                  <a:ea typeface="Halant Bold" panose="00000800000000000000"/>
                  <a:cs typeface="Halant Bold" panose="00000800000000000000"/>
                  <a:sym typeface="Halant Bold" panose="00000800000000000000"/>
                </a:rPr>
                <a:t> 2. </a:t>
              </a:r>
              <a:r>
                <a:rPr lang="en-US" altLang="en-US" sz="3000" b="1">
                  <a:solidFill>
                    <a:srgbClr val="731F7D"/>
                  </a:solidFill>
                  <a:latin typeface="Halant Bold" panose="00000800000000000000"/>
                  <a:ea typeface="Halant Bold" panose="00000800000000000000"/>
                  <a:cs typeface="Halant Bold" panose="00000800000000000000"/>
                  <a:sym typeface="Halant Bold" panose="00000800000000000000"/>
                </a:rPr>
                <a:t>Decimal to Octal Conversion</a:t>
              </a:r>
              <a:endParaRPr lang="en-US" sz="3000" b="1">
                <a:solidFill>
                  <a:srgbClr val="731F7D"/>
                </a:solidFill>
                <a:latin typeface="Halant Bold" panose="00000800000000000000"/>
                <a:ea typeface="Halant Bold" panose="00000800000000000000"/>
                <a:cs typeface="Halant Bold" panose="00000800000000000000"/>
                <a:sym typeface="Halant Bold" panose="00000800000000000000"/>
              </a:endParaRPr>
            </a:p>
          </p:txBody>
        </p:sp>
        <p:sp>
          <p:nvSpPr>
            <p:cNvPr id="5" name="TextBox 5"/>
            <p:cNvSpPr txBox="1"/>
            <p:nvPr/>
          </p:nvSpPr>
          <p:spPr>
            <a:xfrm>
              <a:off x="0" y="777014"/>
              <a:ext cx="11054080" cy="6371169"/>
            </a:xfrm>
            <a:prstGeom prst="rect">
              <a:avLst/>
            </a:prstGeom>
          </p:spPr>
          <p:txBody>
            <a:bodyPr lIns="0" tIns="0" rIns="0" bIns="0" rtlCol="0" anchor="t">
              <a:spAutoFit/>
            </a:bodyPr>
            <a:lstStyle/>
            <a:p>
              <a:pPr marL="269875" lvl="1" indent="0" algn="just">
                <a:lnSpc>
                  <a:spcPct val="150000"/>
                </a:lnSpc>
                <a:buFont typeface="Arial" panose="020B0604020202020204" pitchFamily="34" charset="0"/>
                <a:buNone/>
              </a:pPr>
              <a:r>
                <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rPr>
                <a:t>Steps:</a:t>
              </a:r>
              <a:endPar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Divide number by 8</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Record remainder</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Continue until quotient = 0</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Read remainders bottom to top</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269875" lvl="1" indent="0" algn="just">
                <a:lnSpc>
                  <a:spcPct val="150000"/>
                </a:lnSpc>
                <a:buFont typeface="Arial" panose="020B0604020202020204" pitchFamily="34" charset="0"/>
                <a:buNone/>
              </a:pPr>
              <a:r>
                <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rPr>
                <a:t>Example:</a:t>
              </a:r>
              <a:endPar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65₁₀ → 101₈</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269875" lvl="1" indent="0" algn="just">
                <a:lnSpc>
                  <a:spcPct val="150000"/>
                </a:lnSpc>
                <a:buFont typeface="Arial" panose="020B0604020202020204" pitchFamily="34" charset="0"/>
                <a:buNone/>
              </a:pPr>
              <a:r>
                <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rPr>
                <a:t>Student Activity:</a:t>
              </a:r>
              <a:endPar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Convert 83₁₀ → Octal</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p:txBody>
        </p:sp>
      </p:grpSp>
      <p:sp>
        <p:nvSpPr>
          <p:cNvPr id="6" name="Freeform 6"/>
          <p:cNvSpPr/>
          <p:nvPr/>
        </p:nvSpPr>
        <p:spPr>
          <a:xfrm rot="313119">
            <a:off x="7871314" y="-1358233"/>
            <a:ext cx="3312451" cy="3167532"/>
          </a:xfrm>
          <a:custGeom>
            <a:avLst/>
            <a:gdLst/>
            <a:ahLst/>
            <a:cxnLst/>
            <a:rect l="l" t="t" r="r" b="b"/>
            <a:pathLst>
              <a:path w="3312451" h="3167532">
                <a:moveTo>
                  <a:pt x="0" y="0"/>
                </a:moveTo>
                <a:lnTo>
                  <a:pt x="3312451" y="0"/>
                </a:lnTo>
                <a:lnTo>
                  <a:pt x="3312451" y="3167532"/>
                </a:lnTo>
                <a:lnTo>
                  <a:pt x="0" y="3167532"/>
                </a:lnTo>
                <a:lnTo>
                  <a:pt x="0" y="0"/>
                </a:lnTo>
                <a:close/>
              </a:path>
            </a:pathLst>
          </a:custGeom>
          <a:blipFill>
            <a:blip r:embed="rId1"/>
            <a:stretch>
              <a:fillRect/>
            </a:stretch>
          </a:blipFill>
        </p:spPr>
      </p:sp>
      <p:pic>
        <p:nvPicPr>
          <p:cNvPr id="2" name="Picture 1"/>
          <p:cNvPicPr/>
          <p:nvPr/>
        </p:nvPicPr>
        <p:blipFill>
          <a:blip r:embed="rId2"/>
          <a:stretch>
            <a:fillRect/>
          </a:stretch>
        </p:blipFill>
        <p:spPr>
          <a:xfrm>
            <a:off x="5412105" y="2209800"/>
            <a:ext cx="3609975" cy="3251835"/>
          </a:xfrm>
          <a:prstGeom prst="rect">
            <a:avLst/>
          </a:prstGeom>
          <a:ln>
            <a:solidFill>
              <a:schemeClr val="tx1"/>
            </a:solid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731520" y="913289"/>
            <a:ext cx="8290560" cy="5382567"/>
            <a:chOff x="0" y="-28575"/>
            <a:chExt cx="11054080" cy="7176758"/>
          </a:xfrm>
        </p:grpSpPr>
        <p:sp>
          <p:nvSpPr>
            <p:cNvPr id="4" name="TextBox 4"/>
            <p:cNvSpPr txBox="1"/>
            <p:nvPr/>
          </p:nvSpPr>
          <p:spPr>
            <a:xfrm>
              <a:off x="0" y="-28575"/>
              <a:ext cx="11054080" cy="666327"/>
            </a:xfrm>
            <a:prstGeom prst="rect">
              <a:avLst/>
            </a:prstGeom>
          </p:spPr>
          <p:txBody>
            <a:bodyPr lIns="0" tIns="0" rIns="0" bIns="0" rtlCol="0" anchor="t">
              <a:spAutoFit/>
            </a:bodyPr>
            <a:lstStyle/>
            <a:p>
              <a:pPr marL="0" lvl="0" indent="0" algn="l">
                <a:lnSpc>
                  <a:spcPts val="3900"/>
                </a:lnSpc>
                <a:spcBef>
                  <a:spcPct val="0"/>
                </a:spcBef>
              </a:pPr>
              <a:r>
                <a:rPr lang="en-US" sz="3000" b="1">
                  <a:solidFill>
                    <a:srgbClr val="731F7D"/>
                  </a:solidFill>
                  <a:latin typeface="Halant Bold" panose="00000800000000000000"/>
                  <a:ea typeface="Halant Bold" panose="00000800000000000000"/>
                  <a:cs typeface="Halant Bold" panose="00000800000000000000"/>
                  <a:sym typeface="Halant Bold" panose="00000800000000000000"/>
                </a:rPr>
                <a:t> 3. </a:t>
              </a:r>
              <a:r>
                <a:rPr lang="en-US" altLang="en-US" sz="3000" b="1">
                  <a:solidFill>
                    <a:srgbClr val="731F7D"/>
                  </a:solidFill>
                  <a:latin typeface="Halant Bold" panose="00000800000000000000"/>
                  <a:ea typeface="Halant Bold" panose="00000800000000000000"/>
                  <a:cs typeface="Halant Bold" panose="00000800000000000000"/>
                  <a:sym typeface="Halant Bold" panose="00000800000000000000"/>
                </a:rPr>
                <a:t>Decimal to Hexadecimal Conversion</a:t>
              </a:r>
              <a:endParaRPr lang="en-US" sz="3000" b="1">
                <a:solidFill>
                  <a:srgbClr val="731F7D"/>
                </a:solidFill>
                <a:latin typeface="Halant Bold" panose="00000800000000000000"/>
                <a:ea typeface="Halant Bold" panose="00000800000000000000"/>
                <a:cs typeface="Halant Bold" panose="00000800000000000000"/>
                <a:sym typeface="Halant Bold" panose="00000800000000000000"/>
              </a:endParaRPr>
            </a:p>
          </p:txBody>
        </p:sp>
        <p:sp>
          <p:nvSpPr>
            <p:cNvPr id="5" name="TextBox 5"/>
            <p:cNvSpPr txBox="1"/>
            <p:nvPr/>
          </p:nvSpPr>
          <p:spPr>
            <a:xfrm>
              <a:off x="0" y="777014"/>
              <a:ext cx="11054080" cy="6371169"/>
            </a:xfrm>
            <a:prstGeom prst="rect">
              <a:avLst/>
            </a:prstGeom>
          </p:spPr>
          <p:txBody>
            <a:bodyPr lIns="0" tIns="0" rIns="0" bIns="0" rtlCol="0" anchor="t">
              <a:spAutoFit/>
            </a:bodyPr>
            <a:lstStyle/>
            <a:p>
              <a:pPr marL="269875" lvl="1" indent="0" algn="just">
                <a:lnSpc>
                  <a:spcPct val="150000"/>
                </a:lnSpc>
                <a:buFont typeface="Arial" panose="020B0604020202020204" pitchFamily="34" charset="0"/>
                <a:buNone/>
              </a:pPr>
              <a:r>
                <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rPr>
                <a:t>Steps:</a:t>
              </a:r>
              <a:endPar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Divide number by 16</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Record remainder</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Continue until quotient = 0</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Convert values 10–15 into A–F</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269875" lvl="1" indent="0" algn="just">
                <a:lnSpc>
                  <a:spcPct val="150000"/>
                </a:lnSpc>
                <a:buFont typeface="Arial" panose="020B0604020202020204" pitchFamily="34" charset="0"/>
                <a:buNone/>
              </a:pPr>
              <a:r>
                <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rPr>
                <a:t>Example:</a:t>
              </a:r>
              <a:endPar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254₁₀ → FE₁₆</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269875" lvl="1" indent="0" algn="just">
                <a:lnSpc>
                  <a:spcPct val="150000"/>
                </a:lnSpc>
                <a:buFont typeface="Arial" panose="020B0604020202020204" pitchFamily="34" charset="0"/>
                <a:buNone/>
              </a:pPr>
              <a:r>
                <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rPr>
                <a:t>Student Activity:</a:t>
              </a:r>
              <a:endPar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Convert 125₁₀ → Hexadecimal</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p:txBody>
        </p:sp>
      </p:grpSp>
      <p:sp>
        <p:nvSpPr>
          <p:cNvPr id="6" name="Freeform 6"/>
          <p:cNvSpPr/>
          <p:nvPr/>
        </p:nvSpPr>
        <p:spPr>
          <a:xfrm rot="313119">
            <a:off x="7871314" y="-1358233"/>
            <a:ext cx="3312451" cy="3167532"/>
          </a:xfrm>
          <a:custGeom>
            <a:avLst/>
            <a:gdLst/>
            <a:ahLst/>
            <a:cxnLst/>
            <a:rect l="l" t="t" r="r" b="b"/>
            <a:pathLst>
              <a:path w="3312451" h="3167532">
                <a:moveTo>
                  <a:pt x="0" y="0"/>
                </a:moveTo>
                <a:lnTo>
                  <a:pt x="3312451" y="0"/>
                </a:lnTo>
                <a:lnTo>
                  <a:pt x="3312451" y="3167532"/>
                </a:lnTo>
                <a:lnTo>
                  <a:pt x="0" y="3167532"/>
                </a:lnTo>
                <a:lnTo>
                  <a:pt x="0" y="0"/>
                </a:lnTo>
                <a:close/>
              </a:path>
            </a:pathLst>
          </a:custGeom>
          <a:blipFill>
            <a:blip r:embed="rId1"/>
            <a:stretch>
              <a:fillRect/>
            </a:stretch>
          </a:blipFill>
        </p:spPr>
      </p:sp>
      <p:pic>
        <p:nvPicPr>
          <p:cNvPr id="2" name="Picture 1"/>
          <p:cNvPicPr/>
          <p:nvPr/>
        </p:nvPicPr>
        <p:blipFill>
          <a:blip r:embed="rId2"/>
          <a:srcRect t="11259"/>
          <a:stretch>
            <a:fillRect/>
          </a:stretch>
        </p:blipFill>
        <p:spPr>
          <a:xfrm>
            <a:off x="5257800" y="2286000"/>
            <a:ext cx="3808095" cy="3345180"/>
          </a:xfrm>
          <a:prstGeom prst="rect">
            <a:avLst/>
          </a:prstGeom>
          <a:ln>
            <a:solidFill>
              <a:schemeClr val="tx1"/>
            </a:solid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731520" y="913289"/>
            <a:ext cx="8290560" cy="3789351"/>
            <a:chOff x="0" y="-28575"/>
            <a:chExt cx="11054080" cy="5052470"/>
          </a:xfrm>
        </p:grpSpPr>
        <p:sp>
          <p:nvSpPr>
            <p:cNvPr id="4" name="TextBox 4"/>
            <p:cNvSpPr txBox="1"/>
            <p:nvPr/>
          </p:nvSpPr>
          <p:spPr>
            <a:xfrm>
              <a:off x="0" y="-28575"/>
              <a:ext cx="11054080" cy="666327"/>
            </a:xfrm>
            <a:prstGeom prst="rect">
              <a:avLst/>
            </a:prstGeom>
          </p:spPr>
          <p:txBody>
            <a:bodyPr lIns="0" tIns="0" rIns="0" bIns="0" rtlCol="0" anchor="t">
              <a:spAutoFit/>
            </a:bodyPr>
            <a:lstStyle/>
            <a:p>
              <a:pPr marL="0" lvl="0" indent="0" algn="l">
                <a:lnSpc>
                  <a:spcPts val="3900"/>
                </a:lnSpc>
                <a:spcBef>
                  <a:spcPct val="0"/>
                </a:spcBef>
              </a:pPr>
              <a:r>
                <a:rPr lang="en-US" sz="3000" b="1">
                  <a:solidFill>
                    <a:srgbClr val="731F7D"/>
                  </a:solidFill>
                  <a:latin typeface="Halant Bold" panose="00000800000000000000"/>
                  <a:ea typeface="Halant Bold" panose="00000800000000000000"/>
                  <a:cs typeface="Halant Bold" panose="00000800000000000000"/>
                  <a:sym typeface="Halant Bold" panose="00000800000000000000"/>
                </a:rPr>
                <a:t> 4. </a:t>
              </a:r>
              <a:r>
                <a:rPr lang="en-US" altLang="en-US" sz="3000" b="1">
                  <a:solidFill>
                    <a:srgbClr val="731F7D"/>
                  </a:solidFill>
                  <a:latin typeface="Halant Bold" panose="00000800000000000000"/>
                  <a:ea typeface="Halant Bold" panose="00000800000000000000"/>
                  <a:cs typeface="Halant Bold" panose="00000800000000000000"/>
                  <a:sym typeface="Halant Bold" panose="00000800000000000000"/>
                </a:rPr>
                <a:t>Binary to Decimal Conversion</a:t>
              </a:r>
              <a:endParaRPr lang="en-US" sz="3000" b="1">
                <a:solidFill>
                  <a:srgbClr val="731F7D"/>
                </a:solidFill>
                <a:latin typeface="Halant Bold" panose="00000800000000000000"/>
                <a:ea typeface="Halant Bold" panose="00000800000000000000"/>
                <a:cs typeface="Halant Bold" panose="00000800000000000000"/>
                <a:sym typeface="Halant Bold" panose="00000800000000000000"/>
              </a:endParaRPr>
            </a:p>
          </p:txBody>
        </p:sp>
        <p:sp>
          <p:nvSpPr>
            <p:cNvPr id="5" name="TextBox 5"/>
            <p:cNvSpPr txBox="1"/>
            <p:nvPr/>
          </p:nvSpPr>
          <p:spPr>
            <a:xfrm>
              <a:off x="0" y="777014"/>
              <a:ext cx="11054080" cy="4246881"/>
            </a:xfrm>
            <a:prstGeom prst="rect">
              <a:avLst/>
            </a:prstGeom>
          </p:spPr>
          <p:txBody>
            <a:bodyPr lIns="0" tIns="0" rIns="0" bIns="0" rtlCol="0" anchor="t">
              <a:spAutoFit/>
            </a:bodyPr>
            <a:lstStyle/>
            <a:p>
              <a:pPr marL="269875" lvl="1" indent="0" algn="just">
                <a:lnSpc>
                  <a:spcPct val="150000"/>
                </a:lnSpc>
                <a:buFont typeface="Arial" panose="020B0604020202020204" pitchFamily="34" charset="0"/>
                <a:buNone/>
              </a:pPr>
              <a:r>
                <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rPr>
                <a:t>Steps:</a:t>
              </a:r>
              <a:endPar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Write positional values</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Multiply digits with powers of 2</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Add results</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269875" lvl="1" indent="0" algn="just">
                <a:lnSpc>
                  <a:spcPct val="150000"/>
                </a:lnSpc>
                <a:buFont typeface="Arial" panose="020B0604020202020204" pitchFamily="34" charset="0"/>
                <a:buNone/>
              </a:pPr>
              <a:r>
                <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rPr>
                <a:t>Example:</a:t>
              </a:r>
              <a:endPar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1011₂ = 11₁₀</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p:txBody>
        </p:sp>
      </p:grpSp>
      <p:sp>
        <p:nvSpPr>
          <p:cNvPr id="6" name="Freeform 6"/>
          <p:cNvSpPr/>
          <p:nvPr/>
        </p:nvSpPr>
        <p:spPr>
          <a:xfrm rot="313119">
            <a:off x="7871314" y="-1358233"/>
            <a:ext cx="3312451" cy="3167532"/>
          </a:xfrm>
          <a:custGeom>
            <a:avLst/>
            <a:gdLst/>
            <a:ahLst/>
            <a:cxnLst/>
            <a:rect l="l" t="t" r="r" b="b"/>
            <a:pathLst>
              <a:path w="3312451" h="3167532">
                <a:moveTo>
                  <a:pt x="0" y="0"/>
                </a:moveTo>
                <a:lnTo>
                  <a:pt x="3312451" y="0"/>
                </a:lnTo>
                <a:lnTo>
                  <a:pt x="3312451" y="3167532"/>
                </a:lnTo>
                <a:lnTo>
                  <a:pt x="0" y="3167532"/>
                </a:lnTo>
                <a:lnTo>
                  <a:pt x="0" y="0"/>
                </a:lnTo>
                <a:close/>
              </a:path>
            </a:pathLst>
          </a:custGeom>
          <a:blipFill>
            <a:blip r:embed="rId1"/>
            <a:stretch>
              <a:fillRect/>
            </a:stretch>
          </a:blipFill>
        </p:spPr>
      </p:sp>
      <p:pic>
        <p:nvPicPr>
          <p:cNvPr id="2" name="Picture 1"/>
          <p:cNvPicPr/>
          <p:nvPr/>
        </p:nvPicPr>
        <p:blipFill>
          <a:blip r:embed="rId2"/>
          <a:stretch>
            <a:fillRect/>
          </a:stretch>
        </p:blipFill>
        <p:spPr>
          <a:xfrm>
            <a:off x="4148455" y="3344545"/>
            <a:ext cx="4873625" cy="3256280"/>
          </a:xfrm>
          <a:prstGeom prst="rect">
            <a:avLst/>
          </a:prstGeom>
          <a:ln>
            <a:solidFill>
              <a:schemeClr val="tx1"/>
            </a:solid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731520" y="913289"/>
            <a:ext cx="8290560" cy="3258492"/>
            <a:chOff x="0" y="-28575"/>
            <a:chExt cx="11054080" cy="4344657"/>
          </a:xfrm>
        </p:grpSpPr>
        <p:sp>
          <p:nvSpPr>
            <p:cNvPr id="4" name="TextBox 4"/>
            <p:cNvSpPr txBox="1"/>
            <p:nvPr/>
          </p:nvSpPr>
          <p:spPr>
            <a:xfrm>
              <a:off x="0" y="-28575"/>
              <a:ext cx="11054080" cy="666327"/>
            </a:xfrm>
            <a:prstGeom prst="rect">
              <a:avLst/>
            </a:prstGeom>
          </p:spPr>
          <p:txBody>
            <a:bodyPr lIns="0" tIns="0" rIns="0" bIns="0" rtlCol="0" anchor="t">
              <a:spAutoFit/>
            </a:bodyPr>
            <a:lstStyle/>
            <a:p>
              <a:pPr marL="0" lvl="0" indent="0" algn="l">
                <a:lnSpc>
                  <a:spcPts val="3900"/>
                </a:lnSpc>
                <a:spcBef>
                  <a:spcPct val="0"/>
                </a:spcBef>
              </a:pPr>
              <a:r>
                <a:rPr lang="en-US" sz="3000" b="1">
                  <a:solidFill>
                    <a:srgbClr val="731F7D"/>
                  </a:solidFill>
                  <a:latin typeface="Halant Bold" panose="00000800000000000000"/>
                  <a:ea typeface="Halant Bold" panose="00000800000000000000"/>
                  <a:cs typeface="Halant Bold" panose="00000800000000000000"/>
                  <a:sym typeface="Halant Bold" panose="00000800000000000000"/>
                </a:rPr>
                <a:t> 5. </a:t>
              </a:r>
              <a:r>
                <a:rPr lang="en-US" altLang="en-US" sz="3000" b="1">
                  <a:solidFill>
                    <a:srgbClr val="731F7D"/>
                  </a:solidFill>
                  <a:latin typeface="Halant Bold" panose="00000800000000000000"/>
                  <a:ea typeface="Halant Bold" panose="00000800000000000000"/>
                  <a:cs typeface="Halant Bold" panose="00000800000000000000"/>
                  <a:sym typeface="Halant Bold" panose="00000800000000000000"/>
                </a:rPr>
                <a:t>Binary to Octal Conversion</a:t>
              </a:r>
              <a:endParaRPr lang="en-US" altLang="en-US" sz="3000" b="1">
                <a:solidFill>
                  <a:srgbClr val="731F7D"/>
                </a:solidFill>
                <a:latin typeface="Halant Bold" panose="00000800000000000000"/>
                <a:ea typeface="Halant Bold" panose="00000800000000000000"/>
                <a:cs typeface="Halant Bold" panose="00000800000000000000"/>
                <a:sym typeface="Halant Bold" panose="00000800000000000000"/>
              </a:endParaRPr>
            </a:p>
          </p:txBody>
        </p:sp>
        <p:sp>
          <p:nvSpPr>
            <p:cNvPr id="5" name="TextBox 5"/>
            <p:cNvSpPr txBox="1"/>
            <p:nvPr/>
          </p:nvSpPr>
          <p:spPr>
            <a:xfrm>
              <a:off x="0" y="777014"/>
              <a:ext cx="11054080" cy="3539068"/>
            </a:xfrm>
            <a:prstGeom prst="rect">
              <a:avLst/>
            </a:prstGeom>
          </p:spPr>
          <p:txBody>
            <a:bodyPr lIns="0" tIns="0" rIns="0" bIns="0" rtlCol="0" anchor="t">
              <a:spAutoFit/>
            </a:bodyPr>
            <a:lstStyle/>
            <a:p>
              <a:pPr marL="0" lvl="1" indent="0" algn="just">
                <a:lnSpc>
                  <a:spcPct val="150000"/>
                </a:lnSpc>
                <a:buFont typeface="Arial" panose="020B0604020202020204" pitchFamily="34" charset="0"/>
                <a:buNone/>
              </a:pPr>
              <a:r>
                <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rPr>
                <a:t>    Steps:</a:t>
              </a:r>
              <a:endPar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Group binary digits into sets of 3</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Convert each group to octal</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269875" lvl="1" indent="0" algn="just">
                <a:lnSpc>
                  <a:spcPct val="150000"/>
                </a:lnSpc>
                <a:buFont typeface="Arial" panose="020B0604020202020204" pitchFamily="34" charset="0"/>
                <a:buNone/>
              </a:pPr>
              <a:r>
                <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rPr>
                <a:t>Example:</a:t>
              </a:r>
              <a:endPar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111010₂ → 72₈</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p:txBody>
        </p:sp>
      </p:grpSp>
      <p:sp>
        <p:nvSpPr>
          <p:cNvPr id="6" name="Freeform 6"/>
          <p:cNvSpPr/>
          <p:nvPr/>
        </p:nvSpPr>
        <p:spPr>
          <a:xfrm rot="313119">
            <a:off x="7871314" y="-1358233"/>
            <a:ext cx="3312451" cy="3167532"/>
          </a:xfrm>
          <a:custGeom>
            <a:avLst/>
            <a:gdLst/>
            <a:ahLst/>
            <a:cxnLst/>
            <a:rect l="l" t="t" r="r" b="b"/>
            <a:pathLst>
              <a:path w="3312451" h="3167532">
                <a:moveTo>
                  <a:pt x="0" y="0"/>
                </a:moveTo>
                <a:lnTo>
                  <a:pt x="3312451" y="0"/>
                </a:lnTo>
                <a:lnTo>
                  <a:pt x="3312451" y="3167532"/>
                </a:lnTo>
                <a:lnTo>
                  <a:pt x="0" y="3167532"/>
                </a:lnTo>
                <a:lnTo>
                  <a:pt x="0" y="0"/>
                </a:lnTo>
                <a:close/>
              </a:path>
            </a:pathLst>
          </a:custGeom>
          <a:blipFill>
            <a:blip r:embed="rId1"/>
            <a:stretch>
              <a:fillRect/>
            </a:stretch>
          </a:blipFill>
        </p:spPr>
      </p:sp>
      <p:pic>
        <p:nvPicPr>
          <p:cNvPr id="2" name="Picture 1"/>
          <p:cNvPicPr/>
          <p:nvPr/>
        </p:nvPicPr>
        <p:blipFill>
          <a:blip r:embed="rId2"/>
          <a:srcRect l="10892" t="6000" r="14514" b="6000"/>
          <a:stretch>
            <a:fillRect/>
          </a:stretch>
        </p:blipFill>
        <p:spPr>
          <a:xfrm>
            <a:off x="3733800" y="3276600"/>
            <a:ext cx="5257800" cy="3597910"/>
          </a:xfrm>
          <a:prstGeom prst="rect">
            <a:avLst/>
          </a:prstGeom>
          <a:ln>
            <a:solidFill>
              <a:schemeClr val="tx1"/>
            </a:solid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731520" y="913289"/>
            <a:ext cx="8290560" cy="3258492"/>
            <a:chOff x="0" y="-28575"/>
            <a:chExt cx="11054080" cy="4344657"/>
          </a:xfrm>
        </p:grpSpPr>
        <p:sp>
          <p:nvSpPr>
            <p:cNvPr id="4" name="TextBox 4"/>
            <p:cNvSpPr txBox="1"/>
            <p:nvPr/>
          </p:nvSpPr>
          <p:spPr>
            <a:xfrm>
              <a:off x="0" y="-28575"/>
              <a:ext cx="11054080" cy="666327"/>
            </a:xfrm>
            <a:prstGeom prst="rect">
              <a:avLst/>
            </a:prstGeom>
          </p:spPr>
          <p:txBody>
            <a:bodyPr lIns="0" tIns="0" rIns="0" bIns="0" rtlCol="0" anchor="t">
              <a:spAutoFit/>
            </a:bodyPr>
            <a:lstStyle/>
            <a:p>
              <a:pPr marL="0" lvl="0" indent="0" algn="l">
                <a:lnSpc>
                  <a:spcPts val="3900"/>
                </a:lnSpc>
                <a:spcBef>
                  <a:spcPct val="0"/>
                </a:spcBef>
              </a:pPr>
              <a:r>
                <a:rPr lang="en-US" sz="3000" b="1">
                  <a:solidFill>
                    <a:srgbClr val="731F7D"/>
                  </a:solidFill>
                  <a:latin typeface="Halant Bold" panose="00000800000000000000"/>
                  <a:ea typeface="Halant Bold" panose="00000800000000000000"/>
                  <a:cs typeface="Halant Bold" panose="00000800000000000000"/>
                  <a:sym typeface="Halant Bold" panose="00000800000000000000"/>
                </a:rPr>
                <a:t> 6. </a:t>
              </a:r>
              <a:r>
                <a:rPr lang="en-US" altLang="en-US" sz="3000" b="1">
                  <a:solidFill>
                    <a:srgbClr val="731F7D"/>
                  </a:solidFill>
                  <a:latin typeface="Halant Bold" panose="00000800000000000000"/>
                  <a:ea typeface="Halant Bold" panose="00000800000000000000"/>
                  <a:cs typeface="Halant Bold" panose="00000800000000000000"/>
                  <a:sym typeface="Halant Bold" panose="00000800000000000000"/>
                </a:rPr>
                <a:t>Binary to Hexadecimal Conversion</a:t>
              </a:r>
              <a:endParaRPr lang="en-US" sz="3000" b="1">
                <a:solidFill>
                  <a:srgbClr val="731F7D"/>
                </a:solidFill>
                <a:latin typeface="Halant Bold" panose="00000800000000000000"/>
                <a:ea typeface="Halant Bold" panose="00000800000000000000"/>
                <a:cs typeface="Halant Bold" panose="00000800000000000000"/>
                <a:sym typeface="Halant Bold" panose="00000800000000000000"/>
              </a:endParaRPr>
            </a:p>
          </p:txBody>
        </p:sp>
        <p:sp>
          <p:nvSpPr>
            <p:cNvPr id="5" name="TextBox 5"/>
            <p:cNvSpPr txBox="1"/>
            <p:nvPr/>
          </p:nvSpPr>
          <p:spPr>
            <a:xfrm>
              <a:off x="0" y="777014"/>
              <a:ext cx="11054080" cy="3539068"/>
            </a:xfrm>
            <a:prstGeom prst="rect">
              <a:avLst/>
            </a:prstGeom>
          </p:spPr>
          <p:txBody>
            <a:bodyPr lIns="0" tIns="0" rIns="0" bIns="0" rtlCol="0" anchor="t">
              <a:spAutoFit/>
            </a:bodyPr>
            <a:lstStyle/>
            <a:p>
              <a:pPr marL="269875" lvl="1" indent="0" algn="just">
                <a:lnSpc>
                  <a:spcPct val="150000"/>
                </a:lnSpc>
                <a:buFont typeface="Arial" panose="020B0604020202020204" pitchFamily="34" charset="0"/>
                <a:buNone/>
              </a:pPr>
              <a:r>
                <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rPr>
                <a:t>Steps:</a:t>
              </a:r>
              <a:endPar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Group binary digits into sets of 4</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Convert each group to hex</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269875" lvl="1" indent="0" algn="just">
                <a:lnSpc>
                  <a:spcPct val="150000"/>
                </a:lnSpc>
                <a:buFont typeface="Arial" panose="020B0604020202020204" pitchFamily="34" charset="0"/>
                <a:buNone/>
              </a:pPr>
              <a:r>
                <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rPr>
                <a:t>Example:</a:t>
              </a:r>
              <a:endPar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11111111₂ → FF₁₆</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p:txBody>
        </p:sp>
      </p:grpSp>
      <p:sp>
        <p:nvSpPr>
          <p:cNvPr id="6" name="Freeform 6"/>
          <p:cNvSpPr/>
          <p:nvPr/>
        </p:nvSpPr>
        <p:spPr>
          <a:xfrm rot="313119">
            <a:off x="7871314" y="-1358233"/>
            <a:ext cx="3312451" cy="3167532"/>
          </a:xfrm>
          <a:custGeom>
            <a:avLst/>
            <a:gdLst/>
            <a:ahLst/>
            <a:cxnLst/>
            <a:rect l="l" t="t" r="r" b="b"/>
            <a:pathLst>
              <a:path w="3312451" h="3167532">
                <a:moveTo>
                  <a:pt x="0" y="0"/>
                </a:moveTo>
                <a:lnTo>
                  <a:pt x="3312451" y="0"/>
                </a:lnTo>
                <a:lnTo>
                  <a:pt x="3312451" y="3167532"/>
                </a:lnTo>
                <a:lnTo>
                  <a:pt x="0" y="3167532"/>
                </a:lnTo>
                <a:lnTo>
                  <a:pt x="0" y="0"/>
                </a:lnTo>
                <a:close/>
              </a:path>
            </a:pathLst>
          </a:custGeom>
          <a:blipFill>
            <a:blip r:embed="rId1"/>
            <a:stretch>
              <a:fillRect/>
            </a:stretch>
          </a:blipFill>
        </p:spPr>
      </p:sp>
      <p:pic>
        <p:nvPicPr>
          <p:cNvPr id="2" name="Picture 1"/>
          <p:cNvPicPr/>
          <p:nvPr/>
        </p:nvPicPr>
        <p:blipFill>
          <a:blip r:embed="rId2"/>
          <a:srcRect l="14281" t="11187" r="15385" b="1281"/>
          <a:stretch>
            <a:fillRect/>
          </a:stretch>
        </p:blipFill>
        <p:spPr>
          <a:xfrm>
            <a:off x="5674360" y="1600200"/>
            <a:ext cx="3347720" cy="5127625"/>
          </a:xfrm>
          <a:prstGeom prst="rect">
            <a:avLst/>
          </a:prstGeom>
          <a:ln>
            <a:solidFill>
              <a:schemeClr val="tx1"/>
            </a:solidFill>
          </a:ln>
        </p:spPr>
      </p:pic>
      <p:pic>
        <p:nvPicPr>
          <p:cNvPr id="7" name="Picture 6"/>
          <p:cNvPicPr/>
          <p:nvPr/>
        </p:nvPicPr>
        <p:blipFill>
          <a:blip r:embed="rId3"/>
          <a:stretch>
            <a:fillRect/>
          </a:stretch>
        </p:blipFill>
        <p:spPr>
          <a:xfrm>
            <a:off x="838200" y="4276725"/>
            <a:ext cx="4356100" cy="2451100"/>
          </a:xfrm>
          <a:prstGeom prst="rect">
            <a:avLst/>
          </a:prstGeom>
          <a:ln>
            <a:solidFill>
              <a:schemeClr val="tx1"/>
            </a:solid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381000" y="762000"/>
            <a:ext cx="8314690" cy="730885"/>
          </a:xfrm>
          <a:prstGeom prst="rect">
            <a:avLst/>
          </a:prstGeom>
        </p:spPr>
        <p:txBody>
          <a:bodyPr lIns="0" tIns="0" rIns="0" bIns="0" rtlCol="0" anchor="t">
            <a:noAutofit/>
          </a:bodyPr>
          <a:lstStyle/>
          <a:p>
            <a:pPr indent="457200" algn="l">
              <a:lnSpc>
                <a:spcPts val="5900"/>
              </a:lnSpc>
            </a:pPr>
            <a:r>
              <a:rPr lang="en-US" sz="5000" b="1">
                <a:solidFill>
                  <a:srgbClr val="000000"/>
                </a:solidFill>
                <a:latin typeface="Calibri" panose="020F0502020204030204" charset="0"/>
                <a:ea typeface="HK Grotesk Bold" panose="00000800000000000000"/>
                <a:cs typeface="Calibri" panose="020F0502020204030204" charset="0"/>
                <a:sym typeface="HK Grotesk Bold" panose="00000800000000000000"/>
              </a:rPr>
              <a:t>Number System Arithmetic</a:t>
            </a:r>
            <a:endParaRPr lang="en-US" sz="5000" b="1">
              <a:solidFill>
                <a:srgbClr val="000000"/>
              </a:solidFill>
              <a:latin typeface="Calibri" panose="020F0502020204030204" charset="0"/>
              <a:ea typeface="HK Grotesk Bold" panose="00000800000000000000"/>
              <a:cs typeface="Calibri" panose="020F0502020204030204" charset="0"/>
              <a:sym typeface="HK Grotesk Bold" panose="00000800000000000000"/>
            </a:endParaRPr>
          </a:p>
        </p:txBody>
      </p:sp>
      <p:grpSp>
        <p:nvGrpSpPr>
          <p:cNvPr id="4" name="Group 4"/>
          <p:cNvGrpSpPr/>
          <p:nvPr/>
        </p:nvGrpSpPr>
        <p:grpSpPr>
          <a:xfrm>
            <a:off x="838200" y="1676570"/>
            <a:ext cx="8290560" cy="4851072"/>
            <a:chOff x="0" y="-28575"/>
            <a:chExt cx="11054080" cy="6468096"/>
          </a:xfrm>
        </p:grpSpPr>
        <p:sp>
          <p:nvSpPr>
            <p:cNvPr id="5" name="TextBox 5"/>
            <p:cNvSpPr txBox="1"/>
            <p:nvPr/>
          </p:nvSpPr>
          <p:spPr>
            <a:xfrm>
              <a:off x="0" y="-28575"/>
              <a:ext cx="11054080" cy="666327"/>
            </a:xfrm>
            <a:prstGeom prst="rect">
              <a:avLst/>
            </a:prstGeom>
          </p:spPr>
          <p:txBody>
            <a:bodyPr lIns="0" tIns="0" rIns="0" bIns="0" rtlCol="0" anchor="t">
              <a:spAutoFit/>
            </a:bodyPr>
            <a:lstStyle/>
            <a:p>
              <a:pPr marL="0" lvl="0" indent="0" algn="l">
                <a:lnSpc>
                  <a:spcPts val="3900"/>
                </a:lnSpc>
                <a:spcBef>
                  <a:spcPct val="0"/>
                </a:spcBef>
              </a:pPr>
              <a:r>
                <a:rPr lang="en-US" sz="3000" b="1">
                  <a:solidFill>
                    <a:srgbClr val="7030A0"/>
                  </a:solidFill>
                  <a:latin typeface="Halant Bold" panose="00000800000000000000"/>
                  <a:ea typeface="Halant Bold" panose="00000800000000000000"/>
                  <a:cs typeface="Halant Bold" panose="00000800000000000000"/>
                  <a:sym typeface="Halant Bold" panose="00000800000000000000"/>
                </a:rPr>
                <a:t>Overview:</a:t>
              </a:r>
              <a:endParaRPr lang="en-US" sz="3000" b="1">
                <a:solidFill>
                  <a:srgbClr val="7030A0"/>
                </a:solidFill>
                <a:latin typeface="Halant Bold" panose="00000800000000000000"/>
                <a:ea typeface="Halant Bold" panose="00000800000000000000"/>
                <a:cs typeface="Halant Bold" panose="00000800000000000000"/>
                <a:sym typeface="Halant Bold" panose="00000800000000000000"/>
              </a:endParaRPr>
            </a:p>
          </p:txBody>
        </p:sp>
        <p:sp>
          <p:nvSpPr>
            <p:cNvPr id="6" name="TextBox 6"/>
            <p:cNvSpPr txBox="1"/>
            <p:nvPr/>
          </p:nvSpPr>
          <p:spPr>
            <a:xfrm>
              <a:off x="0" y="777014"/>
              <a:ext cx="11054080" cy="5662507"/>
            </a:xfrm>
            <a:prstGeom prst="rect">
              <a:avLst/>
            </a:prstGeom>
          </p:spPr>
          <p:txBody>
            <a:bodyPr lIns="0" tIns="0" rIns="0" bIns="0" rtlCol="0" anchor="t">
              <a:spAutoFit/>
            </a:bodyPr>
            <a:lstStyle/>
            <a:p>
              <a:pPr marL="342900" indent="-342900" algn="just">
                <a:lnSpc>
                  <a:spcPct val="150000"/>
                </a:lnSpc>
                <a:buFont typeface="Arial" panose="020B0604020202020204" pitchFamily="34" charset="0"/>
                <a:buChar char="•"/>
              </a:pPr>
              <a:r>
                <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rPr>
                <a:t>Decimal Addition</a:t>
              </a:r>
              <a:endPar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endParaRPr>
            </a:p>
            <a:p>
              <a:pPr marL="342900" indent="-342900" algn="just">
                <a:lnSpc>
                  <a:spcPct val="150000"/>
                </a:lnSpc>
                <a:buFont typeface="Arial" panose="020B0604020202020204" pitchFamily="34" charset="0"/>
                <a:buChar char="•"/>
              </a:pPr>
              <a:r>
                <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rPr>
                <a:t>Binary Addition</a:t>
              </a:r>
              <a:endPar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endParaRPr>
            </a:p>
            <a:p>
              <a:pPr marL="342900" indent="-342900" algn="just">
                <a:lnSpc>
                  <a:spcPct val="150000"/>
                </a:lnSpc>
                <a:buFont typeface="Arial" panose="020B0604020202020204" pitchFamily="34" charset="0"/>
                <a:buChar char="•"/>
              </a:pPr>
              <a:r>
                <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rPr>
                <a:t>Octal Addition</a:t>
              </a:r>
              <a:endPar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endParaRPr>
            </a:p>
            <a:p>
              <a:pPr marL="342900" indent="-342900" algn="just">
                <a:lnSpc>
                  <a:spcPct val="150000"/>
                </a:lnSpc>
                <a:buFont typeface="Arial" panose="020B0604020202020204" pitchFamily="34" charset="0"/>
                <a:buChar char="•"/>
              </a:pPr>
              <a:r>
                <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rPr>
                <a:t>Hexadecimal Addition</a:t>
              </a:r>
              <a:endPar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endParaRPr>
            </a:p>
            <a:p>
              <a:pPr marL="342900" indent="-342900" algn="just">
                <a:lnSpc>
                  <a:spcPct val="150000"/>
                </a:lnSpc>
                <a:buFont typeface="Arial" panose="020B0604020202020204" pitchFamily="34" charset="0"/>
                <a:buChar char="•"/>
              </a:pPr>
              <a:r>
                <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rPr>
                <a:t>Decimal Subtraction</a:t>
              </a:r>
              <a:endPar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endParaRPr>
            </a:p>
            <a:p>
              <a:pPr marL="342900" indent="-342900" algn="just">
                <a:lnSpc>
                  <a:spcPct val="150000"/>
                </a:lnSpc>
                <a:buFont typeface="Arial" panose="020B0604020202020204" pitchFamily="34" charset="0"/>
                <a:buChar char="•"/>
              </a:pPr>
              <a:r>
                <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rPr>
                <a:t>Binary Subtraction</a:t>
              </a:r>
              <a:endPar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endParaRPr>
            </a:p>
            <a:p>
              <a:pPr marL="342900" indent="-342900" algn="just">
                <a:lnSpc>
                  <a:spcPct val="150000"/>
                </a:lnSpc>
                <a:buFont typeface="Arial" panose="020B0604020202020204" pitchFamily="34" charset="0"/>
                <a:buChar char="•"/>
              </a:pPr>
              <a:r>
                <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rPr>
                <a:t>Octal Substraction</a:t>
              </a:r>
              <a:endPar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endParaRPr>
            </a:p>
            <a:p>
              <a:pPr marL="342900" indent="-342900" algn="just">
                <a:lnSpc>
                  <a:spcPct val="150000"/>
                </a:lnSpc>
                <a:buFont typeface="Arial" panose="020B0604020202020204" pitchFamily="34" charset="0"/>
                <a:buChar char="•"/>
              </a:pPr>
              <a:r>
                <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rPr>
                <a:t>Hexadecimal Subtraction</a:t>
              </a:r>
              <a:endParaRPr lang="en-US" sz="2300" spc="-22">
                <a:solidFill>
                  <a:srgbClr val="000000"/>
                </a:solidFill>
                <a:latin typeface="Assistant" panose="00000500000000000000"/>
                <a:ea typeface="Assistant" panose="00000500000000000000"/>
                <a:cs typeface="Assistant" panose="00000500000000000000"/>
                <a:sym typeface="Assistant" panose="00000500000000000000"/>
              </a:endParaRPr>
            </a:p>
          </p:txBody>
        </p:sp>
      </p:grpSp>
      <p:sp>
        <p:nvSpPr>
          <p:cNvPr id="7" name="Freeform 7"/>
          <p:cNvSpPr/>
          <p:nvPr/>
        </p:nvSpPr>
        <p:spPr>
          <a:xfrm rot="313119">
            <a:off x="7871314" y="-1358233"/>
            <a:ext cx="3312451" cy="3167532"/>
          </a:xfrm>
          <a:custGeom>
            <a:avLst/>
            <a:gdLst/>
            <a:ahLst/>
            <a:cxnLst/>
            <a:rect l="l" t="t" r="r" b="b"/>
            <a:pathLst>
              <a:path w="3312451" h="3167532">
                <a:moveTo>
                  <a:pt x="0" y="0"/>
                </a:moveTo>
                <a:lnTo>
                  <a:pt x="3312451" y="0"/>
                </a:lnTo>
                <a:lnTo>
                  <a:pt x="3312451" y="3167532"/>
                </a:lnTo>
                <a:lnTo>
                  <a:pt x="0" y="3167532"/>
                </a:lnTo>
                <a:lnTo>
                  <a:pt x="0" y="0"/>
                </a:lnTo>
                <a:close/>
              </a:path>
            </a:pathLst>
          </a:custGeom>
          <a:blipFill>
            <a:blip r:embed="rId1"/>
            <a:stretch>
              <a:fillRect/>
            </a:stretch>
          </a:blipFill>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731520" y="913289"/>
            <a:ext cx="8290560" cy="2196771"/>
            <a:chOff x="0" y="-28575"/>
            <a:chExt cx="11054080" cy="2929030"/>
          </a:xfrm>
        </p:grpSpPr>
        <p:sp>
          <p:nvSpPr>
            <p:cNvPr id="4" name="TextBox 4"/>
            <p:cNvSpPr txBox="1"/>
            <p:nvPr/>
          </p:nvSpPr>
          <p:spPr>
            <a:xfrm>
              <a:off x="0" y="-28575"/>
              <a:ext cx="11054080" cy="666327"/>
            </a:xfrm>
            <a:prstGeom prst="rect">
              <a:avLst/>
            </a:prstGeom>
          </p:spPr>
          <p:txBody>
            <a:bodyPr lIns="0" tIns="0" rIns="0" bIns="0" rtlCol="0" anchor="t">
              <a:spAutoFit/>
            </a:bodyPr>
            <a:lstStyle/>
            <a:p>
              <a:pPr marL="0" lvl="0" indent="0" algn="l">
                <a:lnSpc>
                  <a:spcPts val="3900"/>
                </a:lnSpc>
                <a:spcBef>
                  <a:spcPct val="0"/>
                </a:spcBef>
              </a:pPr>
              <a:r>
                <a:rPr lang="en-US" sz="3000" b="1">
                  <a:solidFill>
                    <a:srgbClr val="731F7D"/>
                  </a:solidFill>
                  <a:latin typeface="Halant Bold" panose="00000800000000000000"/>
                  <a:ea typeface="Halant Bold" panose="00000800000000000000"/>
                  <a:cs typeface="Halant Bold" panose="00000800000000000000"/>
                  <a:sym typeface="Halant Bold" panose="00000800000000000000"/>
                </a:rPr>
                <a:t> 1. </a:t>
              </a:r>
              <a:r>
                <a:rPr lang="en-US" altLang="en-US" sz="3000" b="1">
                  <a:solidFill>
                    <a:srgbClr val="731F7D"/>
                  </a:solidFill>
                  <a:latin typeface="Halant Bold" panose="00000800000000000000"/>
                  <a:ea typeface="Halant Bold" panose="00000800000000000000"/>
                  <a:cs typeface="Halant Bold" panose="00000800000000000000"/>
                  <a:sym typeface="Halant Bold" panose="00000800000000000000"/>
                </a:rPr>
                <a:t>Decimal Addition</a:t>
              </a:r>
              <a:endParaRPr lang="en-US" altLang="en-US" sz="3000" b="1">
                <a:solidFill>
                  <a:srgbClr val="731F7D"/>
                </a:solidFill>
                <a:latin typeface="Halant Bold" panose="00000800000000000000"/>
                <a:ea typeface="Halant Bold" panose="00000800000000000000"/>
                <a:cs typeface="Halant Bold" panose="00000800000000000000"/>
                <a:sym typeface="Halant Bold" panose="00000800000000000000"/>
              </a:endParaRPr>
            </a:p>
          </p:txBody>
        </p:sp>
        <p:sp>
          <p:nvSpPr>
            <p:cNvPr id="5" name="TextBox 5"/>
            <p:cNvSpPr txBox="1"/>
            <p:nvPr/>
          </p:nvSpPr>
          <p:spPr>
            <a:xfrm>
              <a:off x="0" y="777014"/>
              <a:ext cx="11054080" cy="2123441"/>
            </a:xfrm>
            <a:prstGeom prst="rect">
              <a:avLst/>
            </a:prstGeom>
          </p:spPr>
          <p:txBody>
            <a:bodyPr lIns="0" tIns="0" rIns="0" bIns="0" rtlCol="0" anchor="t">
              <a:spAutoFit/>
            </a:bodyPr>
            <a:lstStyle/>
            <a:p>
              <a:pPr marL="269875" lvl="1" indent="0" algn="just">
                <a:lnSpc>
                  <a:spcPct val="150000"/>
                </a:lnSpc>
                <a:buFont typeface="Arial" panose="020B0604020202020204" pitchFamily="34" charset="0"/>
                <a:buNone/>
              </a:pPr>
              <a:r>
                <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rPr>
                <a:t>Rules:</a:t>
              </a:r>
              <a:endPar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Base 10 carry system</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269875" lvl="1" indent="0" algn="just">
                <a:lnSpc>
                  <a:spcPct val="150000"/>
                </a:lnSpc>
                <a:buFont typeface="Arial" panose="020B0604020202020204" pitchFamily="34" charset="0"/>
                <a:buNone/>
              </a:pPr>
              <a:r>
                <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rPr>
                <a:t>Example: </a:t>
              </a: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456 + 234 = 690</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p:txBody>
        </p:sp>
      </p:grpSp>
      <p:sp>
        <p:nvSpPr>
          <p:cNvPr id="6" name="Freeform 6"/>
          <p:cNvSpPr/>
          <p:nvPr/>
        </p:nvSpPr>
        <p:spPr>
          <a:xfrm rot="313119">
            <a:off x="7871314" y="-1358233"/>
            <a:ext cx="3312451" cy="3167532"/>
          </a:xfrm>
          <a:custGeom>
            <a:avLst/>
            <a:gdLst/>
            <a:ahLst/>
            <a:cxnLst/>
            <a:rect l="l" t="t" r="r" b="b"/>
            <a:pathLst>
              <a:path w="3312451" h="3167532">
                <a:moveTo>
                  <a:pt x="0" y="0"/>
                </a:moveTo>
                <a:lnTo>
                  <a:pt x="3312451" y="0"/>
                </a:lnTo>
                <a:lnTo>
                  <a:pt x="3312451" y="3167532"/>
                </a:lnTo>
                <a:lnTo>
                  <a:pt x="0" y="3167532"/>
                </a:lnTo>
                <a:lnTo>
                  <a:pt x="0" y="0"/>
                </a:lnTo>
                <a:close/>
              </a:path>
            </a:pathLst>
          </a:custGeom>
          <a:blipFill>
            <a:blip r:embed="rId1"/>
            <a:stretch>
              <a:fillRect/>
            </a:stretch>
          </a:blipFill>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731520" y="913289"/>
            <a:ext cx="8290560" cy="3789352"/>
            <a:chOff x="0" y="-28575"/>
            <a:chExt cx="11054080" cy="5052471"/>
          </a:xfrm>
        </p:grpSpPr>
        <p:sp>
          <p:nvSpPr>
            <p:cNvPr id="4" name="TextBox 4"/>
            <p:cNvSpPr txBox="1"/>
            <p:nvPr/>
          </p:nvSpPr>
          <p:spPr>
            <a:xfrm>
              <a:off x="0" y="-28575"/>
              <a:ext cx="11054080" cy="666327"/>
            </a:xfrm>
            <a:prstGeom prst="rect">
              <a:avLst/>
            </a:prstGeom>
          </p:spPr>
          <p:txBody>
            <a:bodyPr lIns="0" tIns="0" rIns="0" bIns="0" rtlCol="0" anchor="t">
              <a:spAutoFit/>
            </a:bodyPr>
            <a:lstStyle/>
            <a:p>
              <a:pPr marL="0" lvl="0" indent="0" algn="l">
                <a:lnSpc>
                  <a:spcPts val="3900"/>
                </a:lnSpc>
                <a:spcBef>
                  <a:spcPct val="0"/>
                </a:spcBef>
              </a:pPr>
              <a:r>
                <a:rPr lang="en-US" sz="3000" b="1">
                  <a:solidFill>
                    <a:srgbClr val="731F7D"/>
                  </a:solidFill>
                  <a:latin typeface="Halant Bold" panose="00000800000000000000"/>
                  <a:ea typeface="Halant Bold" panose="00000800000000000000"/>
                  <a:cs typeface="Halant Bold" panose="00000800000000000000"/>
                  <a:sym typeface="Halant Bold" panose="00000800000000000000"/>
                </a:rPr>
                <a:t> 2. Binary</a:t>
              </a:r>
              <a:r>
                <a:rPr lang="en-US" altLang="en-US" sz="3000" b="1">
                  <a:solidFill>
                    <a:srgbClr val="731F7D"/>
                  </a:solidFill>
                  <a:latin typeface="Halant Bold" panose="00000800000000000000"/>
                  <a:ea typeface="Halant Bold" panose="00000800000000000000"/>
                  <a:cs typeface="Halant Bold" panose="00000800000000000000"/>
                  <a:sym typeface="Halant Bold" panose="00000800000000000000"/>
                </a:rPr>
                <a:t> Addition</a:t>
              </a:r>
              <a:endParaRPr lang="en-US" altLang="en-US" sz="3000" b="1">
                <a:solidFill>
                  <a:srgbClr val="731F7D"/>
                </a:solidFill>
                <a:latin typeface="Halant Bold" panose="00000800000000000000"/>
                <a:ea typeface="Halant Bold" panose="00000800000000000000"/>
                <a:cs typeface="Halant Bold" panose="00000800000000000000"/>
                <a:sym typeface="Halant Bold" panose="00000800000000000000"/>
              </a:endParaRPr>
            </a:p>
          </p:txBody>
        </p:sp>
        <p:sp>
          <p:nvSpPr>
            <p:cNvPr id="5" name="TextBox 5"/>
            <p:cNvSpPr txBox="1"/>
            <p:nvPr/>
          </p:nvSpPr>
          <p:spPr>
            <a:xfrm>
              <a:off x="0" y="777014"/>
              <a:ext cx="11054080" cy="4246882"/>
            </a:xfrm>
            <a:prstGeom prst="rect">
              <a:avLst/>
            </a:prstGeom>
          </p:spPr>
          <p:txBody>
            <a:bodyPr lIns="0" tIns="0" rIns="0" bIns="0" rtlCol="0" anchor="t">
              <a:spAutoFit/>
            </a:bodyPr>
            <a:lstStyle/>
            <a:p>
              <a:pPr marL="269875" lvl="1" indent="0" algn="just">
                <a:lnSpc>
                  <a:spcPct val="150000"/>
                </a:lnSpc>
                <a:buFont typeface="Arial" panose="020B0604020202020204" pitchFamily="34" charset="0"/>
                <a:buNone/>
              </a:pPr>
              <a:r>
                <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rPr>
                <a:t>Rules:</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0+0=0</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0+1=1</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1+0=1</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1+1=0 (with 1 carry over)</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269875" lvl="1" indent="0" algn="just">
                <a:lnSpc>
                  <a:spcPct val="150000"/>
                </a:lnSpc>
                <a:buFont typeface="Arial" panose="020B0604020202020204" pitchFamily="34" charset="0"/>
                <a:buNone/>
              </a:pPr>
              <a:r>
                <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rPr>
                <a:t>Example: </a:t>
              </a: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1011 + 0101 =10000</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p:txBody>
        </p:sp>
      </p:grpSp>
      <p:sp>
        <p:nvSpPr>
          <p:cNvPr id="6" name="Freeform 6"/>
          <p:cNvSpPr/>
          <p:nvPr/>
        </p:nvSpPr>
        <p:spPr>
          <a:xfrm rot="313119">
            <a:off x="7871314" y="-1358233"/>
            <a:ext cx="3312451" cy="3167532"/>
          </a:xfrm>
          <a:custGeom>
            <a:avLst/>
            <a:gdLst/>
            <a:ahLst/>
            <a:cxnLst/>
            <a:rect l="l" t="t" r="r" b="b"/>
            <a:pathLst>
              <a:path w="3312451" h="3167532">
                <a:moveTo>
                  <a:pt x="0" y="0"/>
                </a:moveTo>
                <a:lnTo>
                  <a:pt x="3312451" y="0"/>
                </a:lnTo>
                <a:lnTo>
                  <a:pt x="3312451" y="3167532"/>
                </a:lnTo>
                <a:lnTo>
                  <a:pt x="0" y="3167532"/>
                </a:lnTo>
                <a:lnTo>
                  <a:pt x="0" y="0"/>
                </a:lnTo>
                <a:close/>
              </a:path>
            </a:pathLst>
          </a:custGeom>
          <a:blipFill>
            <a:blip r:embed="rId1"/>
            <a:stretch>
              <a:fillRect/>
            </a:stretch>
          </a:blipFill>
        </p:spPr>
      </p:sp>
      <p:pic>
        <p:nvPicPr>
          <p:cNvPr id="7" name="Picture 6"/>
          <p:cNvPicPr/>
          <p:nvPr/>
        </p:nvPicPr>
        <p:blipFill>
          <a:blip r:embed="rId2"/>
          <a:stretch>
            <a:fillRect/>
          </a:stretch>
        </p:blipFill>
        <p:spPr>
          <a:xfrm>
            <a:off x="4800600" y="4003675"/>
            <a:ext cx="4598670" cy="2741295"/>
          </a:xfrm>
          <a:prstGeom prst="rect">
            <a:avLst/>
          </a:prstGeom>
          <a:ln>
            <a:solidFill>
              <a:schemeClr val="tx1"/>
            </a:solid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731520" y="913289"/>
            <a:ext cx="8290560" cy="3258491"/>
            <a:chOff x="0" y="-28575"/>
            <a:chExt cx="11054080" cy="4344657"/>
          </a:xfrm>
        </p:grpSpPr>
        <p:sp>
          <p:nvSpPr>
            <p:cNvPr id="4" name="TextBox 4"/>
            <p:cNvSpPr txBox="1"/>
            <p:nvPr/>
          </p:nvSpPr>
          <p:spPr>
            <a:xfrm>
              <a:off x="0" y="-28575"/>
              <a:ext cx="11054080" cy="666327"/>
            </a:xfrm>
            <a:prstGeom prst="rect">
              <a:avLst/>
            </a:prstGeom>
          </p:spPr>
          <p:txBody>
            <a:bodyPr lIns="0" tIns="0" rIns="0" bIns="0" rtlCol="0" anchor="t">
              <a:spAutoFit/>
            </a:bodyPr>
            <a:lstStyle/>
            <a:p>
              <a:pPr marL="0" lvl="0" indent="0" algn="l">
                <a:lnSpc>
                  <a:spcPts val="3900"/>
                </a:lnSpc>
                <a:spcBef>
                  <a:spcPct val="0"/>
                </a:spcBef>
              </a:pPr>
              <a:r>
                <a:rPr lang="en-US" sz="3000" b="1">
                  <a:solidFill>
                    <a:srgbClr val="731F7D"/>
                  </a:solidFill>
                  <a:latin typeface="Halant Bold" panose="00000800000000000000"/>
                  <a:ea typeface="Halant Bold" panose="00000800000000000000"/>
                  <a:cs typeface="Halant Bold" panose="00000800000000000000"/>
                  <a:sym typeface="Halant Bold" panose="00000800000000000000"/>
                </a:rPr>
                <a:t> 3. Octal</a:t>
              </a:r>
              <a:r>
                <a:rPr lang="en-US" altLang="en-US" sz="3000" b="1">
                  <a:solidFill>
                    <a:srgbClr val="731F7D"/>
                  </a:solidFill>
                  <a:latin typeface="Halant Bold" panose="00000800000000000000"/>
                  <a:ea typeface="Halant Bold" panose="00000800000000000000"/>
                  <a:cs typeface="Halant Bold" panose="00000800000000000000"/>
                  <a:sym typeface="Halant Bold" panose="00000800000000000000"/>
                </a:rPr>
                <a:t> Addition</a:t>
              </a:r>
              <a:endParaRPr lang="en-US" altLang="en-US" sz="3000" b="1">
                <a:solidFill>
                  <a:srgbClr val="731F7D"/>
                </a:solidFill>
                <a:latin typeface="Halant Bold" panose="00000800000000000000"/>
                <a:ea typeface="Halant Bold" panose="00000800000000000000"/>
                <a:cs typeface="Halant Bold" panose="00000800000000000000"/>
                <a:sym typeface="Halant Bold" panose="00000800000000000000"/>
              </a:endParaRPr>
            </a:p>
          </p:txBody>
        </p:sp>
        <p:sp>
          <p:nvSpPr>
            <p:cNvPr id="5" name="TextBox 5"/>
            <p:cNvSpPr txBox="1"/>
            <p:nvPr/>
          </p:nvSpPr>
          <p:spPr>
            <a:xfrm>
              <a:off x="0" y="777014"/>
              <a:ext cx="11054080" cy="3539068"/>
            </a:xfrm>
            <a:prstGeom prst="rect">
              <a:avLst/>
            </a:prstGeom>
          </p:spPr>
          <p:txBody>
            <a:bodyPr lIns="0" tIns="0" rIns="0" bIns="0" rtlCol="0" anchor="t">
              <a:spAutoFit/>
            </a:bodyPr>
            <a:lstStyle/>
            <a:p>
              <a:pPr marL="269875" lvl="1" indent="0" algn="just">
                <a:lnSpc>
                  <a:spcPct val="150000"/>
                </a:lnSpc>
                <a:buFont typeface="Arial" panose="020B0604020202020204" pitchFamily="34" charset="0"/>
                <a:buNone/>
              </a:pPr>
              <a:r>
                <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rPr>
                <a:t>Rules:</a:t>
              </a:r>
              <a:endPar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Base 8 arithmetic</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Carry when sum ≥ 8</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269875" lvl="1" indent="0" algn="just">
                <a:lnSpc>
                  <a:spcPct val="150000"/>
                </a:lnSpc>
                <a:buFont typeface="Arial" panose="020B0604020202020204" pitchFamily="34" charset="0"/>
                <a:buNone/>
              </a:pPr>
              <a:r>
                <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rPr>
                <a:t>Example:</a:t>
              </a:r>
              <a:endPar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17₈ + 5₈ = 24₈</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p:txBody>
        </p:sp>
      </p:grpSp>
      <p:sp>
        <p:nvSpPr>
          <p:cNvPr id="6" name="Freeform 6"/>
          <p:cNvSpPr/>
          <p:nvPr/>
        </p:nvSpPr>
        <p:spPr>
          <a:xfrm rot="313119">
            <a:off x="7871314" y="-1358233"/>
            <a:ext cx="3312451" cy="3167532"/>
          </a:xfrm>
          <a:custGeom>
            <a:avLst/>
            <a:gdLst/>
            <a:ahLst/>
            <a:cxnLst/>
            <a:rect l="l" t="t" r="r" b="b"/>
            <a:pathLst>
              <a:path w="3312451" h="3167532">
                <a:moveTo>
                  <a:pt x="0" y="0"/>
                </a:moveTo>
                <a:lnTo>
                  <a:pt x="3312451" y="0"/>
                </a:lnTo>
                <a:lnTo>
                  <a:pt x="3312451" y="3167532"/>
                </a:lnTo>
                <a:lnTo>
                  <a:pt x="0" y="3167532"/>
                </a:lnTo>
                <a:lnTo>
                  <a:pt x="0" y="0"/>
                </a:lnTo>
                <a:close/>
              </a:path>
            </a:pathLst>
          </a:custGeom>
          <a:blipFill>
            <a:blip r:embed="rId1"/>
            <a:stretch>
              <a:fillRect/>
            </a:stretch>
          </a:blipFill>
        </p:spPr>
      </p:sp>
      <p:pic>
        <p:nvPicPr>
          <p:cNvPr id="8" name="Picture 7" descr="585c3716-1f13-437a-aaa0-aa5d182c4b87"/>
          <p:cNvPicPr>
            <a:picLocks noChangeAspect="1"/>
          </p:cNvPicPr>
          <p:nvPr/>
        </p:nvPicPr>
        <p:blipFill>
          <a:blip r:embed="rId2"/>
          <a:srcRect l="3906" t="4297" r="7813" b="10156"/>
          <a:stretch>
            <a:fillRect/>
          </a:stretch>
        </p:blipFill>
        <p:spPr>
          <a:xfrm>
            <a:off x="3886200" y="2819400"/>
            <a:ext cx="5371465" cy="3942080"/>
          </a:xfrm>
          <a:prstGeom prst="rect">
            <a:avLst/>
          </a:prstGeom>
          <a:ln>
            <a:solidFill>
              <a:schemeClr val="tx1"/>
            </a:solid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685800" y="533559"/>
            <a:ext cx="8290560" cy="4851071"/>
            <a:chOff x="0" y="-28575"/>
            <a:chExt cx="11054080" cy="6468098"/>
          </a:xfrm>
        </p:grpSpPr>
        <p:sp>
          <p:nvSpPr>
            <p:cNvPr id="4" name="TextBox 4"/>
            <p:cNvSpPr txBox="1"/>
            <p:nvPr/>
          </p:nvSpPr>
          <p:spPr>
            <a:xfrm>
              <a:off x="0" y="-28575"/>
              <a:ext cx="11054080" cy="666327"/>
            </a:xfrm>
            <a:prstGeom prst="rect">
              <a:avLst/>
            </a:prstGeom>
          </p:spPr>
          <p:txBody>
            <a:bodyPr lIns="0" tIns="0" rIns="0" bIns="0" rtlCol="0" anchor="t">
              <a:spAutoFit/>
            </a:bodyPr>
            <a:lstStyle/>
            <a:p>
              <a:pPr marL="0" lvl="0" indent="0" algn="l">
                <a:lnSpc>
                  <a:spcPts val="3900"/>
                </a:lnSpc>
                <a:spcBef>
                  <a:spcPct val="0"/>
                </a:spcBef>
              </a:pPr>
              <a:r>
                <a:rPr lang="en-US" sz="3000" b="1">
                  <a:solidFill>
                    <a:srgbClr val="731F7D"/>
                  </a:solidFill>
                  <a:latin typeface="Halant Bold" panose="00000800000000000000"/>
                  <a:ea typeface="Halant Bold" panose="00000800000000000000"/>
                  <a:cs typeface="Halant Bold" panose="00000800000000000000"/>
                  <a:sym typeface="Halant Bold" panose="00000800000000000000"/>
                </a:rPr>
                <a:t> 4. Hexad</a:t>
              </a:r>
              <a:r>
                <a:rPr lang="en-US" altLang="en-US" sz="3000" b="1">
                  <a:solidFill>
                    <a:srgbClr val="731F7D"/>
                  </a:solidFill>
                  <a:latin typeface="Halant Bold" panose="00000800000000000000"/>
                  <a:ea typeface="Halant Bold" panose="00000800000000000000"/>
                  <a:cs typeface="Halant Bold" panose="00000800000000000000"/>
                  <a:sym typeface="Halant Bold" panose="00000800000000000000"/>
                </a:rPr>
                <a:t>ecimal Addition</a:t>
              </a:r>
              <a:endParaRPr lang="en-US" altLang="en-US" sz="3000" b="1">
                <a:solidFill>
                  <a:srgbClr val="731F7D"/>
                </a:solidFill>
                <a:latin typeface="Halant Bold" panose="00000800000000000000"/>
                <a:ea typeface="Halant Bold" panose="00000800000000000000"/>
                <a:cs typeface="Halant Bold" panose="00000800000000000000"/>
                <a:sym typeface="Halant Bold" panose="00000800000000000000"/>
              </a:endParaRPr>
            </a:p>
          </p:txBody>
        </p:sp>
        <p:sp>
          <p:nvSpPr>
            <p:cNvPr id="5" name="TextBox 5"/>
            <p:cNvSpPr txBox="1"/>
            <p:nvPr/>
          </p:nvSpPr>
          <p:spPr>
            <a:xfrm>
              <a:off x="0" y="777014"/>
              <a:ext cx="11054080" cy="5662509"/>
            </a:xfrm>
            <a:prstGeom prst="rect">
              <a:avLst/>
            </a:prstGeom>
          </p:spPr>
          <p:txBody>
            <a:bodyPr lIns="0" tIns="0" rIns="0" bIns="0" rtlCol="0" anchor="t">
              <a:spAutoFit/>
            </a:bodyPr>
            <a:lstStyle/>
            <a:p>
              <a:pPr marL="269875" lvl="1" indent="0" algn="just">
                <a:lnSpc>
                  <a:spcPct val="150000"/>
                </a:lnSpc>
                <a:buFont typeface="Arial" panose="020B0604020202020204" pitchFamily="34" charset="0"/>
                <a:buNone/>
              </a:pPr>
              <a:r>
                <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rPr>
                <a:t>Rules:</a:t>
              </a:r>
              <a:endPar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Base 16 arithmetic</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Digits range from 0–9 and A–F</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A=10, B=11, C=12, D=13, E=14, F=15</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Carry occurs when sum ≥ 16</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If result exceeds F, convert to decimal, divide by 16, carry forward.</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269875" lvl="1" indent="0" algn="just">
                <a:lnSpc>
                  <a:spcPct val="150000"/>
                </a:lnSpc>
                <a:buFont typeface="Arial" panose="020B0604020202020204" pitchFamily="34" charset="0"/>
                <a:buNone/>
              </a:pPr>
              <a:r>
                <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rPr>
                <a:t>Example:</a:t>
              </a:r>
              <a:endPar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A₁₆ + 5₁₆ = F₁₆</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p:txBody>
        </p:sp>
      </p:grpSp>
      <p:sp>
        <p:nvSpPr>
          <p:cNvPr id="6" name="Freeform 6"/>
          <p:cNvSpPr/>
          <p:nvPr/>
        </p:nvSpPr>
        <p:spPr>
          <a:xfrm rot="313119">
            <a:off x="7871314" y="-1358233"/>
            <a:ext cx="3312451" cy="3167532"/>
          </a:xfrm>
          <a:custGeom>
            <a:avLst/>
            <a:gdLst/>
            <a:ahLst/>
            <a:cxnLst/>
            <a:rect l="l" t="t" r="r" b="b"/>
            <a:pathLst>
              <a:path w="3312451" h="3167532">
                <a:moveTo>
                  <a:pt x="0" y="0"/>
                </a:moveTo>
                <a:lnTo>
                  <a:pt x="3312451" y="0"/>
                </a:lnTo>
                <a:lnTo>
                  <a:pt x="3312451" y="3167532"/>
                </a:lnTo>
                <a:lnTo>
                  <a:pt x="0" y="3167532"/>
                </a:lnTo>
                <a:lnTo>
                  <a:pt x="0" y="0"/>
                </a:lnTo>
                <a:close/>
              </a:path>
            </a:pathLst>
          </a:custGeom>
          <a:blipFill>
            <a:blip r:embed="rId1"/>
            <a:stretch>
              <a:fillRect/>
            </a:stretch>
          </a:blipFill>
        </p:spPr>
      </p:sp>
      <p:pic>
        <p:nvPicPr>
          <p:cNvPr id="9" name="Picture 8"/>
          <p:cNvPicPr/>
          <p:nvPr/>
        </p:nvPicPr>
        <p:blipFill>
          <a:blip r:embed="rId2"/>
          <a:srcRect l="2409" t="26563" r="3282" b="13021"/>
          <a:stretch>
            <a:fillRect/>
          </a:stretch>
        </p:blipFill>
        <p:spPr>
          <a:xfrm>
            <a:off x="4191000" y="4419600"/>
            <a:ext cx="4700905" cy="2530475"/>
          </a:xfrm>
          <a:prstGeom prst="rect">
            <a:avLst/>
          </a:prstGeom>
          <a:ln>
            <a:solidFill>
              <a:schemeClr val="tx1"/>
            </a:solid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731520" y="913289"/>
            <a:ext cx="8290560" cy="2727632"/>
            <a:chOff x="0" y="-28575"/>
            <a:chExt cx="11054080" cy="3636844"/>
          </a:xfrm>
        </p:grpSpPr>
        <p:sp>
          <p:nvSpPr>
            <p:cNvPr id="4" name="TextBox 4"/>
            <p:cNvSpPr txBox="1"/>
            <p:nvPr/>
          </p:nvSpPr>
          <p:spPr>
            <a:xfrm>
              <a:off x="0" y="-28575"/>
              <a:ext cx="11054080" cy="666327"/>
            </a:xfrm>
            <a:prstGeom prst="rect">
              <a:avLst/>
            </a:prstGeom>
          </p:spPr>
          <p:txBody>
            <a:bodyPr lIns="0" tIns="0" rIns="0" bIns="0" rtlCol="0" anchor="t">
              <a:spAutoFit/>
            </a:bodyPr>
            <a:lstStyle/>
            <a:p>
              <a:pPr marL="0" lvl="0" indent="0" algn="l">
                <a:lnSpc>
                  <a:spcPts val="3900"/>
                </a:lnSpc>
                <a:spcBef>
                  <a:spcPct val="0"/>
                </a:spcBef>
              </a:pPr>
              <a:r>
                <a:rPr lang="en-US" sz="3000" b="1">
                  <a:solidFill>
                    <a:srgbClr val="731F7D"/>
                  </a:solidFill>
                  <a:latin typeface="Halant Bold" panose="00000800000000000000"/>
                  <a:ea typeface="Halant Bold" panose="00000800000000000000"/>
                  <a:cs typeface="Halant Bold" panose="00000800000000000000"/>
                  <a:sym typeface="Halant Bold" panose="00000800000000000000"/>
                </a:rPr>
                <a:t> 5. </a:t>
              </a:r>
              <a:r>
                <a:rPr lang="en-US" altLang="en-US" sz="3000" b="1">
                  <a:solidFill>
                    <a:srgbClr val="731F7D"/>
                  </a:solidFill>
                  <a:latin typeface="Halant Bold" panose="00000800000000000000"/>
                  <a:ea typeface="Halant Bold" panose="00000800000000000000"/>
                  <a:cs typeface="Halant Bold" panose="00000800000000000000"/>
                  <a:sym typeface="Halant Bold" panose="00000800000000000000"/>
                </a:rPr>
                <a:t>Decimal Subtraction</a:t>
              </a:r>
              <a:endParaRPr lang="en-US" altLang="en-US" sz="3000" b="1">
                <a:solidFill>
                  <a:srgbClr val="731F7D"/>
                </a:solidFill>
                <a:latin typeface="Halant Bold" panose="00000800000000000000"/>
                <a:ea typeface="Halant Bold" panose="00000800000000000000"/>
                <a:cs typeface="Halant Bold" panose="00000800000000000000"/>
                <a:sym typeface="Halant Bold" panose="00000800000000000000"/>
              </a:endParaRPr>
            </a:p>
          </p:txBody>
        </p:sp>
        <p:sp>
          <p:nvSpPr>
            <p:cNvPr id="5" name="TextBox 5"/>
            <p:cNvSpPr txBox="1"/>
            <p:nvPr/>
          </p:nvSpPr>
          <p:spPr>
            <a:xfrm>
              <a:off x="0" y="777014"/>
              <a:ext cx="11054080" cy="2831255"/>
            </a:xfrm>
            <a:prstGeom prst="rect">
              <a:avLst/>
            </a:prstGeom>
          </p:spPr>
          <p:txBody>
            <a:bodyPr lIns="0" tIns="0" rIns="0" bIns="0" rtlCol="0" anchor="t">
              <a:spAutoFit/>
            </a:bodyPr>
            <a:lstStyle/>
            <a:p>
              <a:pPr marL="269875" lvl="1" indent="0" algn="just">
                <a:lnSpc>
                  <a:spcPct val="150000"/>
                </a:lnSpc>
                <a:buFont typeface="Arial" panose="020B0604020202020204" pitchFamily="34" charset="0"/>
                <a:buNone/>
              </a:pPr>
              <a:r>
                <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rPr>
                <a:t>Rules:</a:t>
              </a:r>
              <a:endPar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Borrow method</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269875" lvl="1" indent="0" algn="just">
                <a:lnSpc>
                  <a:spcPct val="150000"/>
                </a:lnSpc>
                <a:buFont typeface="Arial" panose="020B0604020202020204" pitchFamily="34" charset="0"/>
                <a:buNone/>
              </a:pPr>
              <a:r>
                <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rPr>
                <a:t>Example:</a:t>
              </a:r>
              <a:endPar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523 − 248 = 275</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p:txBody>
        </p:sp>
      </p:grpSp>
      <p:sp>
        <p:nvSpPr>
          <p:cNvPr id="6" name="Freeform 6"/>
          <p:cNvSpPr/>
          <p:nvPr/>
        </p:nvSpPr>
        <p:spPr>
          <a:xfrm rot="313119">
            <a:off x="7871314" y="-1358233"/>
            <a:ext cx="3312451" cy="3167532"/>
          </a:xfrm>
          <a:custGeom>
            <a:avLst/>
            <a:gdLst/>
            <a:ahLst/>
            <a:cxnLst/>
            <a:rect l="l" t="t" r="r" b="b"/>
            <a:pathLst>
              <a:path w="3312451" h="3167532">
                <a:moveTo>
                  <a:pt x="0" y="0"/>
                </a:moveTo>
                <a:lnTo>
                  <a:pt x="3312451" y="0"/>
                </a:lnTo>
                <a:lnTo>
                  <a:pt x="3312451" y="3167532"/>
                </a:lnTo>
                <a:lnTo>
                  <a:pt x="0" y="3167532"/>
                </a:lnTo>
                <a:lnTo>
                  <a:pt x="0" y="0"/>
                </a:lnTo>
                <a:close/>
              </a:path>
            </a:pathLst>
          </a:custGeom>
          <a:blipFill>
            <a:blip r:embed="rId1"/>
            <a:stretch>
              <a:fillRect/>
            </a:stretch>
          </a:blipFill>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731520" y="913289"/>
            <a:ext cx="8290560" cy="4320211"/>
            <a:chOff x="0" y="-28575"/>
            <a:chExt cx="11054080" cy="5760284"/>
          </a:xfrm>
        </p:grpSpPr>
        <p:sp>
          <p:nvSpPr>
            <p:cNvPr id="4" name="TextBox 4"/>
            <p:cNvSpPr txBox="1"/>
            <p:nvPr/>
          </p:nvSpPr>
          <p:spPr>
            <a:xfrm>
              <a:off x="0" y="-28575"/>
              <a:ext cx="11054080" cy="666327"/>
            </a:xfrm>
            <a:prstGeom prst="rect">
              <a:avLst/>
            </a:prstGeom>
          </p:spPr>
          <p:txBody>
            <a:bodyPr lIns="0" tIns="0" rIns="0" bIns="0" rtlCol="0" anchor="t">
              <a:spAutoFit/>
            </a:bodyPr>
            <a:lstStyle/>
            <a:p>
              <a:pPr marL="0" lvl="0" indent="0" algn="l">
                <a:lnSpc>
                  <a:spcPts val="3900"/>
                </a:lnSpc>
                <a:spcBef>
                  <a:spcPct val="0"/>
                </a:spcBef>
              </a:pPr>
              <a:r>
                <a:rPr lang="en-US" sz="3000" b="1">
                  <a:solidFill>
                    <a:srgbClr val="731F7D"/>
                  </a:solidFill>
                  <a:latin typeface="Halant Bold" panose="00000800000000000000"/>
                  <a:ea typeface="Halant Bold" panose="00000800000000000000"/>
                  <a:cs typeface="Halant Bold" panose="00000800000000000000"/>
                  <a:sym typeface="Halant Bold" panose="00000800000000000000"/>
                </a:rPr>
                <a:t> 6. Binary</a:t>
              </a:r>
              <a:r>
                <a:rPr lang="en-US" altLang="en-US" sz="3000" b="1">
                  <a:solidFill>
                    <a:srgbClr val="731F7D"/>
                  </a:solidFill>
                  <a:latin typeface="Halant Bold" panose="00000800000000000000"/>
                  <a:ea typeface="Halant Bold" panose="00000800000000000000"/>
                  <a:cs typeface="Halant Bold" panose="00000800000000000000"/>
                  <a:sym typeface="Halant Bold" panose="00000800000000000000"/>
                </a:rPr>
                <a:t> Subtraction</a:t>
              </a:r>
              <a:endParaRPr lang="en-US" altLang="en-US" sz="3000" b="1">
                <a:solidFill>
                  <a:srgbClr val="731F7D"/>
                </a:solidFill>
                <a:latin typeface="Halant Bold" panose="00000800000000000000"/>
                <a:ea typeface="Halant Bold" panose="00000800000000000000"/>
                <a:cs typeface="Halant Bold" panose="00000800000000000000"/>
                <a:sym typeface="Halant Bold" panose="00000800000000000000"/>
              </a:endParaRPr>
            </a:p>
          </p:txBody>
        </p:sp>
        <p:sp>
          <p:nvSpPr>
            <p:cNvPr id="5" name="TextBox 5"/>
            <p:cNvSpPr txBox="1"/>
            <p:nvPr/>
          </p:nvSpPr>
          <p:spPr>
            <a:xfrm>
              <a:off x="0" y="777014"/>
              <a:ext cx="11054080" cy="4954695"/>
            </a:xfrm>
            <a:prstGeom prst="rect">
              <a:avLst/>
            </a:prstGeom>
          </p:spPr>
          <p:txBody>
            <a:bodyPr lIns="0" tIns="0" rIns="0" bIns="0" rtlCol="0" anchor="t">
              <a:spAutoFit/>
            </a:bodyPr>
            <a:lstStyle/>
            <a:p>
              <a:pPr marL="269875" lvl="1" indent="0" algn="just">
                <a:lnSpc>
                  <a:spcPct val="150000"/>
                </a:lnSpc>
                <a:buFont typeface="Arial" panose="020B0604020202020204" pitchFamily="34" charset="0"/>
                <a:buNone/>
              </a:pPr>
              <a:r>
                <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rPr>
                <a:t>Rules:</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0−0=0</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1−0=1</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1−1=0</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0−1= 1 (with one borrow)</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269875" lvl="1" indent="0" algn="just">
                <a:lnSpc>
                  <a:spcPct val="150000"/>
                </a:lnSpc>
                <a:buFont typeface="Arial" panose="020B0604020202020204" pitchFamily="34" charset="0"/>
                <a:buNone/>
              </a:pPr>
              <a:r>
                <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rPr>
                <a:t>Example:</a:t>
              </a:r>
              <a:endPar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1010 − 0011 = 0111</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p:txBody>
        </p:sp>
      </p:grpSp>
      <p:sp>
        <p:nvSpPr>
          <p:cNvPr id="6" name="Freeform 6"/>
          <p:cNvSpPr/>
          <p:nvPr/>
        </p:nvSpPr>
        <p:spPr>
          <a:xfrm rot="313119">
            <a:off x="7871314" y="-1358233"/>
            <a:ext cx="3312451" cy="3167532"/>
          </a:xfrm>
          <a:custGeom>
            <a:avLst/>
            <a:gdLst/>
            <a:ahLst/>
            <a:cxnLst/>
            <a:rect l="l" t="t" r="r" b="b"/>
            <a:pathLst>
              <a:path w="3312451" h="3167532">
                <a:moveTo>
                  <a:pt x="0" y="0"/>
                </a:moveTo>
                <a:lnTo>
                  <a:pt x="3312451" y="0"/>
                </a:lnTo>
                <a:lnTo>
                  <a:pt x="3312451" y="3167532"/>
                </a:lnTo>
                <a:lnTo>
                  <a:pt x="0" y="3167532"/>
                </a:lnTo>
                <a:lnTo>
                  <a:pt x="0" y="0"/>
                </a:lnTo>
                <a:close/>
              </a:path>
            </a:pathLst>
          </a:custGeom>
          <a:blipFill>
            <a:blip r:embed="rId1"/>
            <a:stretch>
              <a:fillRect/>
            </a:stretch>
          </a:blipFill>
        </p:spPr>
      </p:sp>
      <p:pic>
        <p:nvPicPr>
          <p:cNvPr id="2" name="Picture 1"/>
          <p:cNvPicPr/>
          <p:nvPr/>
        </p:nvPicPr>
        <p:blipFill>
          <a:blip r:embed="rId2"/>
          <a:srcRect l="12031" t="29167" r="21406"/>
          <a:stretch>
            <a:fillRect/>
          </a:stretch>
        </p:blipFill>
        <p:spPr>
          <a:xfrm>
            <a:off x="4697095" y="2228215"/>
            <a:ext cx="4523105" cy="2820035"/>
          </a:xfrm>
          <a:prstGeom prst="rect">
            <a:avLst/>
          </a:prstGeom>
          <a:ln>
            <a:solidFill>
              <a:schemeClr val="tx1"/>
            </a:solid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731520" y="913289"/>
            <a:ext cx="8290560" cy="2727631"/>
            <a:chOff x="0" y="-28575"/>
            <a:chExt cx="11054080" cy="3636843"/>
          </a:xfrm>
        </p:grpSpPr>
        <p:sp>
          <p:nvSpPr>
            <p:cNvPr id="4" name="TextBox 4"/>
            <p:cNvSpPr txBox="1"/>
            <p:nvPr/>
          </p:nvSpPr>
          <p:spPr>
            <a:xfrm>
              <a:off x="0" y="-28575"/>
              <a:ext cx="11054080" cy="666327"/>
            </a:xfrm>
            <a:prstGeom prst="rect">
              <a:avLst/>
            </a:prstGeom>
          </p:spPr>
          <p:txBody>
            <a:bodyPr lIns="0" tIns="0" rIns="0" bIns="0" rtlCol="0" anchor="t">
              <a:spAutoFit/>
            </a:bodyPr>
            <a:lstStyle/>
            <a:p>
              <a:pPr marL="0" lvl="0" indent="0" algn="l">
                <a:lnSpc>
                  <a:spcPts val="3900"/>
                </a:lnSpc>
                <a:spcBef>
                  <a:spcPct val="0"/>
                </a:spcBef>
              </a:pPr>
              <a:r>
                <a:rPr lang="en-US" sz="3000" b="1">
                  <a:solidFill>
                    <a:srgbClr val="731F7D"/>
                  </a:solidFill>
                  <a:latin typeface="Halant Bold" panose="00000800000000000000"/>
                  <a:ea typeface="Halant Bold" panose="00000800000000000000"/>
                  <a:cs typeface="Halant Bold" panose="00000800000000000000"/>
                  <a:sym typeface="Halant Bold" panose="00000800000000000000"/>
                </a:rPr>
                <a:t> 7. Octal</a:t>
              </a:r>
              <a:r>
                <a:rPr lang="en-US" altLang="en-US" sz="3000" b="1">
                  <a:solidFill>
                    <a:srgbClr val="731F7D"/>
                  </a:solidFill>
                  <a:latin typeface="Halant Bold" panose="00000800000000000000"/>
                  <a:ea typeface="Halant Bold" panose="00000800000000000000"/>
                  <a:cs typeface="Halant Bold" panose="00000800000000000000"/>
                  <a:sym typeface="Halant Bold" panose="00000800000000000000"/>
                </a:rPr>
                <a:t> Subtraction</a:t>
              </a:r>
              <a:endParaRPr lang="en-US" altLang="en-US" sz="3000" b="1">
                <a:solidFill>
                  <a:srgbClr val="731F7D"/>
                </a:solidFill>
                <a:latin typeface="Halant Bold" panose="00000800000000000000"/>
                <a:ea typeface="Halant Bold" panose="00000800000000000000"/>
                <a:cs typeface="Halant Bold" panose="00000800000000000000"/>
                <a:sym typeface="Halant Bold" panose="00000800000000000000"/>
              </a:endParaRPr>
            </a:p>
          </p:txBody>
        </p:sp>
        <p:sp>
          <p:nvSpPr>
            <p:cNvPr id="5" name="TextBox 5"/>
            <p:cNvSpPr txBox="1"/>
            <p:nvPr/>
          </p:nvSpPr>
          <p:spPr>
            <a:xfrm>
              <a:off x="0" y="777014"/>
              <a:ext cx="11054080" cy="2831254"/>
            </a:xfrm>
            <a:prstGeom prst="rect">
              <a:avLst/>
            </a:prstGeom>
          </p:spPr>
          <p:txBody>
            <a:bodyPr lIns="0" tIns="0" rIns="0" bIns="0" rtlCol="0" anchor="t">
              <a:spAutoFit/>
            </a:bodyPr>
            <a:lstStyle/>
            <a:p>
              <a:pPr marL="269875" lvl="1" indent="0" algn="just">
                <a:lnSpc>
                  <a:spcPct val="150000"/>
                </a:lnSpc>
                <a:buFont typeface="Arial" panose="020B0604020202020204" pitchFamily="34" charset="0"/>
                <a:buNone/>
              </a:pPr>
              <a:r>
                <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rPr>
                <a:t>Rules:</a:t>
              </a:r>
              <a:endPar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Borrow when digit smaller</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269875" lvl="1" indent="0" algn="just">
                <a:lnSpc>
                  <a:spcPct val="150000"/>
                </a:lnSpc>
                <a:buFont typeface="Arial" panose="020B0604020202020204" pitchFamily="34" charset="0"/>
                <a:buNone/>
              </a:pPr>
              <a:r>
                <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rPr>
                <a:t>Example:</a:t>
              </a:r>
              <a:endPar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25₈ − 7₈ = 16₈</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p:txBody>
        </p:sp>
      </p:grpSp>
      <p:sp>
        <p:nvSpPr>
          <p:cNvPr id="6" name="Freeform 6"/>
          <p:cNvSpPr/>
          <p:nvPr/>
        </p:nvSpPr>
        <p:spPr>
          <a:xfrm rot="313119">
            <a:off x="7871314" y="-1358233"/>
            <a:ext cx="3312451" cy="3167532"/>
          </a:xfrm>
          <a:custGeom>
            <a:avLst/>
            <a:gdLst/>
            <a:ahLst/>
            <a:cxnLst/>
            <a:rect l="l" t="t" r="r" b="b"/>
            <a:pathLst>
              <a:path w="3312451" h="3167532">
                <a:moveTo>
                  <a:pt x="0" y="0"/>
                </a:moveTo>
                <a:lnTo>
                  <a:pt x="3312451" y="0"/>
                </a:lnTo>
                <a:lnTo>
                  <a:pt x="3312451" y="3167532"/>
                </a:lnTo>
                <a:lnTo>
                  <a:pt x="0" y="3167532"/>
                </a:lnTo>
                <a:lnTo>
                  <a:pt x="0" y="0"/>
                </a:lnTo>
                <a:close/>
              </a:path>
            </a:pathLst>
          </a:custGeom>
          <a:blipFill>
            <a:blip r:embed="rId1"/>
            <a:stretch>
              <a:fillRect/>
            </a:stretch>
          </a:blipFill>
        </p:spPr>
      </p:sp>
      <p:pic>
        <p:nvPicPr>
          <p:cNvPr id="2" name="Picture 1"/>
          <p:cNvPicPr/>
          <p:nvPr/>
        </p:nvPicPr>
        <p:blipFill>
          <a:blip r:embed="rId2"/>
          <a:stretch>
            <a:fillRect/>
          </a:stretch>
        </p:blipFill>
        <p:spPr>
          <a:xfrm>
            <a:off x="3673475" y="3331210"/>
            <a:ext cx="5452745" cy="3254375"/>
          </a:xfrm>
          <a:prstGeom prst="rect">
            <a:avLst/>
          </a:prstGeom>
          <a:ln>
            <a:solidFill>
              <a:schemeClr val="tx1"/>
            </a:solid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731520" y="913289"/>
            <a:ext cx="8290560" cy="3789352"/>
            <a:chOff x="0" y="-28575"/>
            <a:chExt cx="11054080" cy="5052471"/>
          </a:xfrm>
        </p:grpSpPr>
        <p:sp>
          <p:nvSpPr>
            <p:cNvPr id="4" name="TextBox 4"/>
            <p:cNvSpPr txBox="1"/>
            <p:nvPr/>
          </p:nvSpPr>
          <p:spPr>
            <a:xfrm>
              <a:off x="0" y="-28575"/>
              <a:ext cx="11054080" cy="666327"/>
            </a:xfrm>
            <a:prstGeom prst="rect">
              <a:avLst/>
            </a:prstGeom>
          </p:spPr>
          <p:txBody>
            <a:bodyPr lIns="0" tIns="0" rIns="0" bIns="0" rtlCol="0" anchor="t">
              <a:spAutoFit/>
            </a:bodyPr>
            <a:lstStyle/>
            <a:p>
              <a:pPr marL="0" lvl="0" indent="0" algn="l">
                <a:lnSpc>
                  <a:spcPts val="3900"/>
                </a:lnSpc>
                <a:spcBef>
                  <a:spcPct val="0"/>
                </a:spcBef>
              </a:pPr>
              <a:r>
                <a:rPr lang="en-US" sz="3000" b="1">
                  <a:solidFill>
                    <a:srgbClr val="731F7D"/>
                  </a:solidFill>
                  <a:latin typeface="Halant Bold" panose="00000800000000000000"/>
                  <a:ea typeface="Halant Bold" panose="00000800000000000000"/>
                  <a:cs typeface="Halant Bold" panose="00000800000000000000"/>
                  <a:sym typeface="Halant Bold" panose="00000800000000000000"/>
                </a:rPr>
                <a:t> 8. Hexadecimal</a:t>
              </a:r>
              <a:r>
                <a:rPr lang="en-US" altLang="en-US" sz="3000" b="1">
                  <a:solidFill>
                    <a:srgbClr val="731F7D"/>
                  </a:solidFill>
                  <a:latin typeface="Halant Bold" panose="00000800000000000000"/>
                  <a:ea typeface="Halant Bold" panose="00000800000000000000"/>
                  <a:cs typeface="Halant Bold" panose="00000800000000000000"/>
                  <a:sym typeface="Halant Bold" panose="00000800000000000000"/>
                </a:rPr>
                <a:t> Subtraction</a:t>
              </a:r>
              <a:endParaRPr lang="en-US" altLang="en-US" sz="3000" b="1">
                <a:solidFill>
                  <a:srgbClr val="731F7D"/>
                </a:solidFill>
                <a:latin typeface="Halant Bold" panose="00000800000000000000"/>
                <a:ea typeface="Halant Bold" panose="00000800000000000000"/>
                <a:cs typeface="Halant Bold" panose="00000800000000000000"/>
                <a:sym typeface="Halant Bold" panose="00000800000000000000"/>
              </a:endParaRPr>
            </a:p>
          </p:txBody>
        </p:sp>
        <p:sp>
          <p:nvSpPr>
            <p:cNvPr id="5" name="TextBox 5"/>
            <p:cNvSpPr txBox="1"/>
            <p:nvPr/>
          </p:nvSpPr>
          <p:spPr>
            <a:xfrm>
              <a:off x="0" y="777014"/>
              <a:ext cx="11054080" cy="4246882"/>
            </a:xfrm>
            <a:prstGeom prst="rect">
              <a:avLst/>
            </a:prstGeom>
          </p:spPr>
          <p:txBody>
            <a:bodyPr lIns="0" tIns="0" rIns="0" bIns="0" rtlCol="0" anchor="t">
              <a:spAutoFit/>
            </a:bodyPr>
            <a:lstStyle/>
            <a:p>
              <a:pPr marL="269875" lvl="1" indent="0" algn="just">
                <a:lnSpc>
                  <a:spcPct val="150000"/>
                </a:lnSpc>
                <a:buFont typeface="Arial" panose="020B0604020202020204" pitchFamily="34" charset="0"/>
                <a:buNone/>
              </a:pPr>
              <a:r>
                <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rPr>
                <a:t>Rules:</a:t>
              </a:r>
              <a:endPar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Borrow when top digit is smaller</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Convert A–F into decimal values when needed</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After subtraction, convert result back to hexadecimal</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269875" lvl="1" indent="0" algn="just">
                <a:lnSpc>
                  <a:spcPct val="150000"/>
                </a:lnSpc>
                <a:buFont typeface="Arial" panose="020B0604020202020204" pitchFamily="34" charset="0"/>
                <a:buNone/>
              </a:pPr>
              <a:r>
                <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rPr>
                <a:t>Example:</a:t>
              </a:r>
              <a:endPar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1A₁₆ − 5₁₆ = 15₁₆</a:t>
              </a:r>
              <a:endPar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endParaRPr>
            </a:p>
          </p:txBody>
        </p:sp>
      </p:grpSp>
      <p:sp>
        <p:nvSpPr>
          <p:cNvPr id="6" name="Freeform 6"/>
          <p:cNvSpPr/>
          <p:nvPr/>
        </p:nvSpPr>
        <p:spPr>
          <a:xfrm rot="313119">
            <a:off x="7871314" y="-1358233"/>
            <a:ext cx="3312451" cy="3167532"/>
          </a:xfrm>
          <a:custGeom>
            <a:avLst/>
            <a:gdLst/>
            <a:ahLst/>
            <a:cxnLst/>
            <a:rect l="l" t="t" r="r" b="b"/>
            <a:pathLst>
              <a:path w="3312451" h="3167532">
                <a:moveTo>
                  <a:pt x="0" y="0"/>
                </a:moveTo>
                <a:lnTo>
                  <a:pt x="3312451" y="0"/>
                </a:lnTo>
                <a:lnTo>
                  <a:pt x="3312451" y="3167532"/>
                </a:lnTo>
                <a:lnTo>
                  <a:pt x="0" y="3167532"/>
                </a:lnTo>
                <a:lnTo>
                  <a:pt x="0" y="0"/>
                </a:lnTo>
                <a:close/>
              </a:path>
            </a:pathLst>
          </a:custGeom>
          <a:blipFill>
            <a:blip r:embed="rId1"/>
            <a:stretch>
              <a:fillRect/>
            </a:stretch>
          </a:blipFill>
        </p:spPr>
      </p:sp>
      <p:pic>
        <p:nvPicPr>
          <p:cNvPr id="2" name="Picture 1"/>
          <p:cNvPicPr/>
          <p:nvPr/>
        </p:nvPicPr>
        <p:blipFill>
          <a:blip r:embed="rId2"/>
          <a:stretch>
            <a:fillRect/>
          </a:stretch>
        </p:blipFill>
        <p:spPr>
          <a:xfrm>
            <a:off x="3823335" y="4038600"/>
            <a:ext cx="5198745" cy="2174875"/>
          </a:xfrm>
          <a:prstGeom prst="rect">
            <a:avLst/>
          </a:prstGeom>
          <a:ln>
            <a:solidFill>
              <a:schemeClr val="tx1"/>
            </a:solid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0" y="152400"/>
            <a:ext cx="8771890" cy="730885"/>
          </a:xfrm>
          <a:prstGeom prst="rect">
            <a:avLst/>
          </a:prstGeom>
        </p:spPr>
        <p:txBody>
          <a:bodyPr lIns="0" tIns="0" rIns="0" bIns="0" rtlCol="0" anchor="t">
            <a:noAutofit/>
          </a:bodyPr>
          <a:lstStyle/>
          <a:p>
            <a:pPr indent="457200" algn="l">
              <a:lnSpc>
                <a:spcPts val="5900"/>
              </a:lnSpc>
            </a:pPr>
            <a:r>
              <a:rPr lang="en-US" altLang="en-US" sz="5000" b="1">
                <a:solidFill>
                  <a:srgbClr val="000000"/>
                </a:solidFill>
                <a:latin typeface="Calibri" panose="020F0502020204030204" charset="0"/>
                <a:ea typeface="HK Grotesk Bold" panose="00000800000000000000"/>
                <a:cs typeface="Calibri" panose="020F0502020204030204" charset="0"/>
                <a:sym typeface="HK Grotesk Bold" panose="00000800000000000000"/>
              </a:rPr>
              <a:t>Applications in Computing</a:t>
            </a:r>
            <a:endParaRPr lang="en-US" altLang="en-US" sz="5000" b="1">
              <a:solidFill>
                <a:srgbClr val="000000"/>
              </a:solidFill>
              <a:latin typeface="Calibri" panose="020F0502020204030204" charset="0"/>
              <a:ea typeface="HK Grotesk Bold" panose="00000800000000000000"/>
              <a:cs typeface="Calibri" panose="020F0502020204030204" charset="0"/>
              <a:sym typeface="HK Grotesk Bold" panose="00000800000000000000"/>
            </a:endParaRPr>
          </a:p>
        </p:txBody>
      </p:sp>
      <p:sp>
        <p:nvSpPr>
          <p:cNvPr id="6" name="TextBox 6"/>
          <p:cNvSpPr txBox="1"/>
          <p:nvPr/>
        </p:nvSpPr>
        <p:spPr>
          <a:xfrm>
            <a:off x="457200" y="883285"/>
            <a:ext cx="8827135" cy="6229350"/>
          </a:xfrm>
          <a:prstGeom prst="rect">
            <a:avLst/>
          </a:prstGeom>
        </p:spPr>
        <p:txBody>
          <a:bodyPr wrap="square" lIns="0" tIns="0" rIns="0" bIns="0" rtlCol="0" anchor="t">
            <a:noAutofit/>
          </a:bodyPr>
          <a:lstStyle/>
          <a:p>
            <a:pPr indent="0" algn="just">
              <a:lnSpc>
                <a:spcPct val="150000"/>
              </a:lnSpc>
              <a:buFont typeface="Arial" panose="020B0604020202020204" pitchFamily="34" charset="0"/>
              <a:buNone/>
            </a:pPr>
            <a:r>
              <a:rPr lang="en-US" altLang="en-US" sz="2300" b="1" spc="-22">
                <a:solidFill>
                  <a:srgbClr val="7030A0"/>
                </a:solidFill>
                <a:latin typeface="Calibri" panose="020F0502020204030204" charset="0"/>
                <a:ea typeface="Assistant" panose="00000500000000000000"/>
                <a:cs typeface="Calibri" panose="020F0502020204030204" charset="0"/>
                <a:sym typeface="Assistant" panose="00000500000000000000"/>
              </a:rPr>
              <a:t>1. Data Representation</a:t>
            </a:r>
            <a:endParaRPr lang="en-US" altLang="en-US" sz="2300" b="1" spc="-22">
              <a:solidFill>
                <a:srgbClr val="7030A0"/>
              </a:solidFill>
              <a:latin typeface="Calibri" panose="020F0502020204030204" charset="0"/>
              <a:ea typeface="Assistant" panose="00000500000000000000"/>
              <a:cs typeface="Calibri" panose="020F0502020204030204" charset="0"/>
              <a:sym typeface="Assistant" panose="00000500000000000000"/>
            </a:endParaRPr>
          </a:p>
          <a:p>
            <a:pPr marL="342900" indent="-342900" algn="just">
              <a:lnSpc>
                <a:spcPct val="150000"/>
              </a:lnSpc>
              <a:buFont typeface="Arial" panose="020B0604020202020204" pitchFamily="34" charset="0"/>
              <a:buChar char="•"/>
            </a:pPr>
            <a:r>
              <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rPr>
              <a:t>All data stored in binary (text, images, audio, video)</a:t>
            </a:r>
            <a:endPar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endParaRPr>
          </a:p>
          <a:p>
            <a:pPr marL="342900" indent="-342900" algn="just">
              <a:lnSpc>
                <a:spcPct val="150000"/>
              </a:lnSpc>
              <a:buFont typeface="Arial" panose="020B0604020202020204" pitchFamily="34" charset="0"/>
              <a:buChar char="•"/>
            </a:pPr>
            <a:r>
              <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rPr>
              <a:t>Example: Character 'A' = 01000001 (ASCII)</a:t>
            </a:r>
            <a:endPar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endParaRPr>
          </a:p>
          <a:p>
            <a:pPr indent="0" algn="just">
              <a:lnSpc>
                <a:spcPct val="150000"/>
              </a:lnSpc>
              <a:buFont typeface="Arial" panose="020B0604020202020204" pitchFamily="34" charset="0"/>
              <a:buNone/>
            </a:pPr>
            <a:r>
              <a:rPr lang="en-US" altLang="en-US" sz="2300" b="1" spc="-22">
                <a:solidFill>
                  <a:srgbClr val="7030A0"/>
                </a:solidFill>
                <a:latin typeface="Calibri" panose="020F0502020204030204" charset="0"/>
                <a:ea typeface="Assistant" panose="00000500000000000000"/>
                <a:cs typeface="Calibri" panose="020F0502020204030204" charset="0"/>
                <a:sym typeface="Assistant" panose="00000500000000000000"/>
              </a:rPr>
              <a:t>2. Memory Addressing</a:t>
            </a:r>
            <a:endParaRPr lang="en-US" altLang="en-US" sz="2300" b="1" spc="-22">
              <a:solidFill>
                <a:srgbClr val="7030A0"/>
              </a:solidFill>
              <a:latin typeface="Calibri" panose="020F0502020204030204" charset="0"/>
              <a:ea typeface="Assistant" panose="00000500000000000000"/>
              <a:cs typeface="Calibri" panose="020F0502020204030204" charset="0"/>
              <a:sym typeface="Assistant" panose="00000500000000000000"/>
            </a:endParaRPr>
          </a:p>
          <a:p>
            <a:pPr marL="342900" indent="-342900" algn="just">
              <a:lnSpc>
                <a:spcPct val="150000"/>
              </a:lnSpc>
              <a:buFont typeface="Arial" panose="020B0604020202020204" pitchFamily="34" charset="0"/>
              <a:buChar char="•"/>
            </a:pPr>
            <a:r>
              <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rPr>
              <a:t>Memory locations written in hexadecimal. Example Address: 0x1A3F</a:t>
            </a:r>
            <a:endPar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endParaRPr>
          </a:p>
          <a:p>
            <a:pPr marL="342900" indent="-342900" algn="just">
              <a:lnSpc>
                <a:spcPct val="150000"/>
              </a:lnSpc>
              <a:buFont typeface="Arial" panose="020B0604020202020204" pitchFamily="34" charset="0"/>
              <a:buChar char="•"/>
            </a:pPr>
            <a:r>
              <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rPr>
              <a:t>Hex is shorter and easier than binary</a:t>
            </a:r>
            <a:endPar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endParaRPr>
          </a:p>
          <a:p>
            <a:pPr indent="0" algn="just">
              <a:lnSpc>
                <a:spcPct val="150000"/>
              </a:lnSpc>
              <a:buFont typeface="Arial" panose="020B0604020202020204" pitchFamily="34" charset="0"/>
              <a:buNone/>
            </a:pPr>
            <a:r>
              <a:rPr lang="en-US" altLang="en-US" sz="2300" b="1" spc="-22">
                <a:solidFill>
                  <a:srgbClr val="7030A0"/>
                </a:solidFill>
                <a:latin typeface="Calibri" panose="020F0502020204030204" charset="0"/>
                <a:ea typeface="Assistant" panose="00000500000000000000"/>
                <a:cs typeface="Calibri" panose="020F0502020204030204" charset="0"/>
                <a:sym typeface="Assistant" panose="00000500000000000000"/>
              </a:rPr>
              <a:t>3. Machine Language</a:t>
            </a:r>
            <a:endParaRPr lang="en-US" altLang="en-US" sz="2300" b="1" spc="-22">
              <a:solidFill>
                <a:srgbClr val="7030A0"/>
              </a:solidFill>
              <a:latin typeface="Calibri" panose="020F0502020204030204" charset="0"/>
              <a:ea typeface="Assistant" panose="00000500000000000000"/>
              <a:cs typeface="Calibri" panose="020F0502020204030204" charset="0"/>
              <a:sym typeface="Assistant" panose="00000500000000000000"/>
            </a:endParaRPr>
          </a:p>
          <a:p>
            <a:pPr marL="342900" indent="-342900" algn="just">
              <a:lnSpc>
                <a:spcPct val="150000"/>
              </a:lnSpc>
              <a:buFont typeface="Arial" panose="020B0604020202020204" pitchFamily="34" charset="0"/>
              <a:buChar char="•"/>
            </a:pPr>
            <a:r>
              <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rPr>
              <a:t>CPU instructions written in binary</a:t>
            </a:r>
            <a:endPar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endParaRPr>
          </a:p>
          <a:p>
            <a:pPr marL="342900" indent="-342900" algn="just">
              <a:lnSpc>
                <a:spcPct val="150000"/>
              </a:lnSpc>
              <a:buFont typeface="Arial" panose="020B0604020202020204" pitchFamily="34" charset="0"/>
              <a:buChar char="•"/>
            </a:pPr>
            <a:r>
              <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rPr>
              <a:t>Programmers often read them in hexadecimal form</a:t>
            </a:r>
            <a:endPar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endParaRPr>
          </a:p>
          <a:p>
            <a:pPr indent="0" algn="just">
              <a:lnSpc>
                <a:spcPct val="150000"/>
              </a:lnSpc>
              <a:buFont typeface="Arial" panose="020B0604020202020204" pitchFamily="34" charset="0"/>
              <a:buNone/>
            </a:pPr>
            <a:r>
              <a:rPr lang="en-US" altLang="en-US" sz="2300" b="1" spc="-22">
                <a:solidFill>
                  <a:srgbClr val="7030A0"/>
                </a:solidFill>
                <a:latin typeface="Calibri" panose="020F0502020204030204" charset="0"/>
                <a:ea typeface="Assistant" panose="00000500000000000000"/>
                <a:cs typeface="Calibri" panose="020F0502020204030204" charset="0"/>
                <a:sym typeface="Assistant" panose="00000500000000000000"/>
              </a:rPr>
              <a:t>4. Digital Electronics</a:t>
            </a:r>
            <a:endParaRPr lang="en-US" altLang="en-US" sz="2300" b="1" spc="-22">
              <a:solidFill>
                <a:srgbClr val="7030A0"/>
              </a:solidFill>
              <a:latin typeface="Calibri" panose="020F0502020204030204" charset="0"/>
              <a:ea typeface="Assistant" panose="00000500000000000000"/>
              <a:cs typeface="Calibri" panose="020F0502020204030204" charset="0"/>
              <a:sym typeface="Assistant" panose="00000500000000000000"/>
            </a:endParaRPr>
          </a:p>
          <a:p>
            <a:pPr marL="342900" indent="-342900" algn="just">
              <a:lnSpc>
                <a:spcPct val="150000"/>
              </a:lnSpc>
              <a:buFont typeface="Arial" panose="020B0604020202020204" pitchFamily="34" charset="0"/>
              <a:buChar char="•"/>
            </a:pPr>
            <a:r>
              <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rPr>
              <a:t>Circuits use binary signals. eg: ON = 1, OFF = 0</a:t>
            </a:r>
            <a:endPar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endParaRPr>
          </a:p>
          <a:p>
            <a:pPr marL="342900" indent="-342900" algn="just">
              <a:lnSpc>
                <a:spcPct val="150000"/>
              </a:lnSpc>
              <a:buFont typeface="Arial" panose="020B0604020202020204" pitchFamily="34" charset="0"/>
              <a:buChar char="•"/>
            </a:pPr>
            <a:r>
              <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rPr>
              <a:t>Used in logic gates and processors</a:t>
            </a:r>
            <a:endPar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endParaRPr>
          </a:p>
        </p:txBody>
      </p:sp>
      <p:sp>
        <p:nvSpPr>
          <p:cNvPr id="7" name="Freeform 7"/>
          <p:cNvSpPr/>
          <p:nvPr/>
        </p:nvSpPr>
        <p:spPr>
          <a:xfrm rot="313119">
            <a:off x="7871314" y="-1358233"/>
            <a:ext cx="3312451" cy="3167532"/>
          </a:xfrm>
          <a:custGeom>
            <a:avLst/>
            <a:gdLst/>
            <a:ahLst/>
            <a:cxnLst/>
            <a:rect l="l" t="t" r="r" b="b"/>
            <a:pathLst>
              <a:path w="3312451" h="3167532">
                <a:moveTo>
                  <a:pt x="0" y="0"/>
                </a:moveTo>
                <a:lnTo>
                  <a:pt x="3312451" y="0"/>
                </a:lnTo>
                <a:lnTo>
                  <a:pt x="3312451" y="3167532"/>
                </a:lnTo>
                <a:lnTo>
                  <a:pt x="0" y="3167532"/>
                </a:lnTo>
                <a:lnTo>
                  <a:pt x="0" y="0"/>
                </a:lnTo>
                <a:close/>
              </a:path>
            </a:pathLst>
          </a:custGeom>
          <a:blipFill>
            <a:blip r:embed="rId1"/>
            <a:stretch>
              <a:fillRect/>
            </a:stretch>
          </a:blipFill>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562610" y="913289"/>
            <a:ext cx="8459470" cy="3188970"/>
            <a:chOff x="-225213" y="-28575"/>
            <a:chExt cx="11279293" cy="4251961"/>
          </a:xfrm>
        </p:grpSpPr>
        <p:sp>
          <p:nvSpPr>
            <p:cNvPr id="4" name="TextBox 4"/>
            <p:cNvSpPr txBox="1"/>
            <p:nvPr/>
          </p:nvSpPr>
          <p:spPr>
            <a:xfrm>
              <a:off x="0" y="-28575"/>
              <a:ext cx="11054080" cy="666327"/>
            </a:xfrm>
            <a:prstGeom prst="rect">
              <a:avLst/>
            </a:prstGeom>
          </p:spPr>
          <p:txBody>
            <a:bodyPr lIns="0" tIns="0" rIns="0" bIns="0" rtlCol="0" anchor="t">
              <a:spAutoFit/>
            </a:bodyPr>
            <a:lstStyle/>
            <a:p>
              <a:pPr marL="0" lvl="0" indent="0" algn="l">
                <a:lnSpc>
                  <a:spcPts val="3900"/>
                </a:lnSpc>
                <a:spcBef>
                  <a:spcPct val="0"/>
                </a:spcBef>
              </a:pPr>
              <a:r>
                <a:rPr lang="en-US" altLang="en-US" sz="3000" b="1">
                  <a:solidFill>
                    <a:srgbClr val="731F7D"/>
                  </a:solidFill>
                  <a:latin typeface="Halant Bold" panose="00000800000000000000"/>
                  <a:ea typeface="Halant Bold" panose="00000800000000000000"/>
                  <a:cs typeface="Halant Bold" panose="00000800000000000000"/>
                  <a:sym typeface="Halant Bold" panose="00000800000000000000"/>
                </a:rPr>
                <a:t>Practice Questions</a:t>
              </a:r>
              <a:endParaRPr lang="en-US" altLang="en-US" sz="3000" b="1">
                <a:solidFill>
                  <a:srgbClr val="731F7D"/>
                </a:solidFill>
                <a:latin typeface="Halant Bold" panose="00000800000000000000"/>
                <a:ea typeface="Halant Bold" panose="00000800000000000000"/>
                <a:cs typeface="Halant Bold" panose="00000800000000000000"/>
                <a:sym typeface="Halant Bold" panose="00000800000000000000"/>
              </a:endParaRPr>
            </a:p>
          </p:txBody>
        </p:sp>
        <p:sp>
          <p:nvSpPr>
            <p:cNvPr id="5" name="TextBox 5"/>
            <p:cNvSpPr txBox="1"/>
            <p:nvPr/>
          </p:nvSpPr>
          <p:spPr>
            <a:xfrm>
              <a:off x="-225213" y="776605"/>
              <a:ext cx="11279293" cy="3446781"/>
            </a:xfrm>
            <a:prstGeom prst="rect">
              <a:avLst/>
            </a:prstGeom>
          </p:spPr>
          <p:txBody>
            <a:bodyPr wrap="square" lIns="0" tIns="0" rIns="0" bIns="0" rtlCol="0" anchor="t">
              <a:spAutoFit/>
            </a:bodyPr>
            <a:lstStyle/>
            <a:p>
              <a:pPr marL="612775" lvl="1" indent="-342900" algn="just">
                <a:lnSpc>
                  <a:spcPct val="150000"/>
                </a:lnSpc>
                <a:buFont typeface="Arial" panose="020B0604020202020204" pitchFamily="34" charset="0"/>
                <a:buChar char="•"/>
              </a:pPr>
              <a:r>
                <a:rPr lang="en-US" altLang="en-US" sz="2800" spc="-22">
                  <a:solidFill>
                    <a:srgbClr val="000000"/>
                  </a:solidFill>
                  <a:latin typeface="Calibri" panose="020F0502020204030204" charset="0"/>
                  <a:ea typeface="Assistant" panose="00000500000000000000"/>
                  <a:cs typeface="Calibri" panose="020F0502020204030204" charset="0"/>
                  <a:sym typeface="Assistant" panose="00000500000000000000"/>
                </a:rPr>
                <a:t>Convert 45₁₀ to binary</a:t>
              </a:r>
              <a:endParaRPr lang="en-US" altLang="en-US" sz="28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800" spc="-22">
                  <a:solidFill>
                    <a:srgbClr val="000000"/>
                  </a:solidFill>
                  <a:latin typeface="Calibri" panose="020F0502020204030204" charset="0"/>
                  <a:ea typeface="Assistant" panose="00000500000000000000"/>
                  <a:cs typeface="Calibri" panose="020F0502020204030204" charset="0"/>
                  <a:sym typeface="Assistant" panose="00000500000000000000"/>
                </a:rPr>
                <a:t>Convert 1101₂ to decimal</a:t>
              </a:r>
              <a:endParaRPr lang="en-US" altLang="en-US" sz="28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800" spc="-22">
                  <a:solidFill>
                    <a:srgbClr val="000000"/>
                  </a:solidFill>
                  <a:latin typeface="Calibri" panose="020F0502020204030204" charset="0"/>
                  <a:ea typeface="Assistant" panose="00000500000000000000"/>
                  <a:cs typeface="Calibri" panose="020F0502020204030204" charset="0"/>
                  <a:sym typeface="Assistant" panose="00000500000000000000"/>
                </a:rPr>
                <a:t>Add 1010₂ + 0111₂</a:t>
              </a:r>
              <a:endParaRPr lang="en-US" altLang="en-US" sz="2800" spc="-22">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612775" lvl="1" indent="-342900" algn="just">
                <a:lnSpc>
                  <a:spcPct val="150000"/>
                </a:lnSpc>
                <a:buFont typeface="Arial" panose="020B0604020202020204" pitchFamily="34" charset="0"/>
                <a:buChar char="•"/>
              </a:pPr>
              <a:r>
                <a:rPr lang="en-US" altLang="en-US" sz="2800" spc="-22">
                  <a:solidFill>
                    <a:srgbClr val="000000"/>
                  </a:solidFill>
                  <a:latin typeface="Calibri" panose="020F0502020204030204" charset="0"/>
                  <a:ea typeface="Assistant" panose="00000500000000000000"/>
                  <a:cs typeface="Calibri" panose="020F0502020204030204" charset="0"/>
                  <a:sym typeface="Assistant" panose="00000500000000000000"/>
                </a:rPr>
                <a:t>Subtract 1A₁₆ − B₁₆</a:t>
              </a:r>
              <a:endParaRPr lang="en-US" altLang="en-US" sz="2800" spc="-22">
                <a:solidFill>
                  <a:srgbClr val="000000"/>
                </a:solidFill>
                <a:latin typeface="Calibri" panose="020F0502020204030204" charset="0"/>
                <a:ea typeface="Assistant" panose="00000500000000000000"/>
                <a:cs typeface="Calibri" panose="020F0502020204030204" charset="0"/>
                <a:sym typeface="Assistant" panose="00000500000000000000"/>
              </a:endParaRPr>
            </a:p>
          </p:txBody>
        </p:sp>
      </p:grpSp>
      <p:sp>
        <p:nvSpPr>
          <p:cNvPr id="6" name="Freeform 6"/>
          <p:cNvSpPr/>
          <p:nvPr/>
        </p:nvSpPr>
        <p:spPr>
          <a:xfrm rot="313119">
            <a:off x="7871314" y="-1358233"/>
            <a:ext cx="3312451" cy="3167532"/>
          </a:xfrm>
          <a:custGeom>
            <a:avLst/>
            <a:gdLst/>
            <a:ahLst/>
            <a:cxnLst/>
            <a:rect l="l" t="t" r="r" b="b"/>
            <a:pathLst>
              <a:path w="3312451" h="3167532">
                <a:moveTo>
                  <a:pt x="0" y="0"/>
                </a:moveTo>
                <a:lnTo>
                  <a:pt x="3312451" y="0"/>
                </a:lnTo>
                <a:lnTo>
                  <a:pt x="3312451" y="3167532"/>
                </a:lnTo>
                <a:lnTo>
                  <a:pt x="0" y="3167532"/>
                </a:lnTo>
                <a:lnTo>
                  <a:pt x="0" y="0"/>
                </a:lnTo>
                <a:close/>
              </a:path>
            </a:pathLst>
          </a:custGeom>
          <a:blipFill>
            <a:blip r:embed="rId1"/>
            <a:stretch>
              <a:fillRect/>
            </a:stretch>
          </a:blipFill>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4D1354"/>
        </a:solidFill>
        <a:effectLst/>
      </p:bgPr>
    </p:bg>
    <p:spTree>
      <p:nvGrpSpPr>
        <p:cNvPr id="1" name=""/>
        <p:cNvGrpSpPr/>
        <p:nvPr/>
      </p:nvGrpSpPr>
      <p:grpSpPr>
        <a:xfrm>
          <a:off x="0" y="0"/>
          <a:ext cx="0" cy="0"/>
          <a:chOff x="0" y="0"/>
          <a:chExt cx="0" cy="0"/>
        </a:xfrm>
      </p:grpSpPr>
      <p:sp>
        <p:nvSpPr>
          <p:cNvPr id="2" name="Freeform 2"/>
          <p:cNvSpPr/>
          <p:nvPr/>
        </p:nvSpPr>
        <p:spPr>
          <a:xfrm rot="-5400000">
            <a:off x="5866787" y="-1370945"/>
            <a:ext cx="5550062" cy="4939555"/>
          </a:xfrm>
          <a:custGeom>
            <a:avLst/>
            <a:gdLst/>
            <a:ahLst/>
            <a:cxnLst/>
            <a:rect l="l" t="t" r="r" b="b"/>
            <a:pathLst>
              <a:path w="5550062" h="4939555">
                <a:moveTo>
                  <a:pt x="0" y="0"/>
                </a:moveTo>
                <a:lnTo>
                  <a:pt x="5550061" y="0"/>
                </a:lnTo>
                <a:lnTo>
                  <a:pt x="5550061" y="4939555"/>
                </a:lnTo>
                <a:lnTo>
                  <a:pt x="0" y="4939555"/>
                </a:lnTo>
                <a:lnTo>
                  <a:pt x="0" y="0"/>
                </a:lnTo>
                <a:close/>
              </a:path>
            </a:pathLst>
          </a:custGeom>
          <a:blipFill>
            <a:blip r:embed="rId1"/>
            <a:stretch>
              <a:fillRect/>
            </a:stretch>
          </a:blipFill>
        </p:spPr>
      </p:sp>
      <p:sp>
        <p:nvSpPr>
          <p:cNvPr id="3" name="Freeform 3"/>
          <p:cNvSpPr/>
          <p:nvPr/>
        </p:nvSpPr>
        <p:spPr>
          <a:xfrm rot="-5017281">
            <a:off x="6200148" y="787734"/>
            <a:ext cx="1060123" cy="1004466"/>
          </a:xfrm>
          <a:custGeom>
            <a:avLst/>
            <a:gdLst/>
            <a:ahLst/>
            <a:cxnLst/>
            <a:rect l="l" t="t" r="r" b="b"/>
            <a:pathLst>
              <a:path w="1060123" h="1004466">
                <a:moveTo>
                  <a:pt x="0" y="0"/>
                </a:moveTo>
                <a:lnTo>
                  <a:pt x="1060123" y="0"/>
                </a:lnTo>
                <a:lnTo>
                  <a:pt x="1060123" y="1004466"/>
                </a:lnTo>
                <a:lnTo>
                  <a:pt x="0" y="1004466"/>
                </a:lnTo>
                <a:lnTo>
                  <a:pt x="0" y="0"/>
                </a:lnTo>
                <a:close/>
              </a:path>
            </a:pathLst>
          </a:custGeom>
          <a:blipFill>
            <a:blip r:embed="rId2"/>
            <a:stretch>
              <a:fillRect/>
            </a:stretch>
          </a:blipFill>
        </p:spPr>
      </p:sp>
      <p:sp>
        <p:nvSpPr>
          <p:cNvPr id="4" name="Freeform 4"/>
          <p:cNvSpPr/>
          <p:nvPr/>
        </p:nvSpPr>
        <p:spPr>
          <a:xfrm rot="-10567437">
            <a:off x="8175470" y="5527229"/>
            <a:ext cx="2209570" cy="2112901"/>
          </a:xfrm>
          <a:custGeom>
            <a:avLst/>
            <a:gdLst/>
            <a:ahLst/>
            <a:cxnLst/>
            <a:rect l="l" t="t" r="r" b="b"/>
            <a:pathLst>
              <a:path w="2209570" h="2112901">
                <a:moveTo>
                  <a:pt x="0" y="0"/>
                </a:moveTo>
                <a:lnTo>
                  <a:pt x="2209570" y="0"/>
                </a:lnTo>
                <a:lnTo>
                  <a:pt x="2209570" y="2112902"/>
                </a:lnTo>
                <a:lnTo>
                  <a:pt x="0" y="2112902"/>
                </a:lnTo>
                <a:lnTo>
                  <a:pt x="0" y="0"/>
                </a:lnTo>
                <a:close/>
              </a:path>
            </a:pathLst>
          </a:custGeom>
          <a:blipFill>
            <a:blip r:embed="rId3"/>
            <a:stretch>
              <a:fillRect/>
            </a:stretch>
          </a:blipFill>
        </p:spPr>
      </p:sp>
      <p:grpSp>
        <p:nvGrpSpPr>
          <p:cNvPr id="5" name="Group 5"/>
          <p:cNvGrpSpPr/>
          <p:nvPr/>
        </p:nvGrpSpPr>
        <p:grpSpPr>
          <a:xfrm>
            <a:off x="457200" y="1905178"/>
            <a:ext cx="6731019" cy="2675077"/>
            <a:chOff x="-101600" y="9525"/>
            <a:chExt cx="8974692" cy="3566769"/>
          </a:xfrm>
        </p:grpSpPr>
        <p:sp>
          <p:nvSpPr>
            <p:cNvPr id="6" name="TextBox 6"/>
            <p:cNvSpPr txBox="1"/>
            <p:nvPr/>
          </p:nvSpPr>
          <p:spPr>
            <a:xfrm>
              <a:off x="0" y="9525"/>
              <a:ext cx="8873092" cy="1008380"/>
            </a:xfrm>
            <a:prstGeom prst="rect">
              <a:avLst/>
            </a:prstGeom>
          </p:spPr>
          <p:txBody>
            <a:bodyPr lIns="0" tIns="0" rIns="0" bIns="0" rtlCol="0" anchor="t">
              <a:spAutoFit/>
            </a:bodyPr>
            <a:lstStyle/>
            <a:p>
              <a:pPr algn="l">
                <a:lnSpc>
                  <a:spcPts val="5900"/>
                </a:lnSpc>
              </a:pPr>
              <a:r>
                <a:rPr lang="en-US" sz="4000" b="1">
                  <a:solidFill>
                    <a:srgbClr val="FFFFFF"/>
                  </a:solidFill>
                  <a:latin typeface="Calibri" panose="020F0502020204030204" charset="0"/>
                  <a:ea typeface="HK Grotesk Bold" panose="00000800000000000000"/>
                  <a:cs typeface="Calibri" panose="020F0502020204030204" charset="0"/>
                  <a:sym typeface="HK Grotesk Bold" panose="00000800000000000000"/>
                </a:rPr>
                <a:t>Summary of Lecture 3</a:t>
              </a:r>
              <a:endParaRPr lang="en-US" sz="4000" b="1">
                <a:solidFill>
                  <a:srgbClr val="FFFFFF"/>
                </a:solidFill>
                <a:latin typeface="Calibri" panose="020F0502020204030204" charset="0"/>
                <a:ea typeface="HK Grotesk Bold" panose="00000800000000000000"/>
                <a:cs typeface="Calibri" panose="020F0502020204030204" charset="0"/>
                <a:sym typeface="HK Grotesk Bold" panose="00000800000000000000"/>
              </a:endParaRPr>
            </a:p>
          </p:txBody>
        </p:sp>
        <p:sp>
          <p:nvSpPr>
            <p:cNvPr id="7" name="TextBox 7"/>
            <p:cNvSpPr txBox="1"/>
            <p:nvPr/>
          </p:nvSpPr>
          <p:spPr>
            <a:xfrm>
              <a:off x="-101600" y="1182767"/>
              <a:ext cx="8873092" cy="2393527"/>
            </a:xfrm>
            <a:prstGeom prst="rect">
              <a:avLst/>
            </a:prstGeom>
          </p:spPr>
          <p:txBody>
            <a:bodyPr lIns="0" tIns="0" rIns="0" bIns="0" rtlCol="0" anchor="t">
              <a:spAutoFit/>
            </a:bodyPr>
            <a:lstStyle/>
            <a:p>
              <a:pPr marL="342900" indent="-342900" algn="just">
                <a:lnSpc>
                  <a:spcPts val="3500"/>
                </a:lnSpc>
                <a:spcBef>
                  <a:spcPct val="0"/>
                </a:spcBef>
                <a:buFont typeface="Arial" panose="020B0604020202020204" pitchFamily="34" charset="0"/>
                <a:buChar char="•"/>
              </a:pPr>
              <a:r>
                <a:rPr lang="en-US" altLang="en-US" sz="2500" spc="-24">
                  <a:solidFill>
                    <a:srgbClr val="FFFFFF"/>
                  </a:solidFill>
                  <a:latin typeface="Assistant" panose="00000500000000000000"/>
                  <a:ea typeface="Assistant" panose="00000500000000000000"/>
                  <a:cs typeface="Assistant" panose="00000500000000000000"/>
                  <a:sym typeface="Assistant" panose="00000500000000000000"/>
                </a:rPr>
                <a:t>Learned number systems</a:t>
              </a:r>
              <a:endParaRPr lang="en-US" altLang="en-US" sz="2500" spc="-24">
                <a:solidFill>
                  <a:srgbClr val="FFFFFF"/>
                </a:solidFill>
                <a:latin typeface="Assistant" panose="00000500000000000000"/>
                <a:ea typeface="Assistant" panose="00000500000000000000"/>
                <a:cs typeface="Assistant" panose="00000500000000000000"/>
                <a:sym typeface="Assistant" panose="00000500000000000000"/>
              </a:endParaRPr>
            </a:p>
            <a:p>
              <a:pPr marL="342900" indent="-342900" algn="just">
                <a:lnSpc>
                  <a:spcPts val="3500"/>
                </a:lnSpc>
                <a:spcBef>
                  <a:spcPct val="0"/>
                </a:spcBef>
                <a:buFont typeface="Arial" panose="020B0604020202020204" pitchFamily="34" charset="0"/>
                <a:buChar char="•"/>
              </a:pPr>
              <a:r>
                <a:rPr lang="en-US" altLang="en-US" sz="2500" spc="-24">
                  <a:solidFill>
                    <a:srgbClr val="FFFFFF"/>
                  </a:solidFill>
                  <a:latin typeface="Assistant" panose="00000500000000000000"/>
                  <a:ea typeface="Assistant" panose="00000500000000000000"/>
                  <a:cs typeface="Assistant" panose="00000500000000000000"/>
                  <a:sym typeface="Assistant" panose="00000500000000000000"/>
                </a:rPr>
                <a:t>Learned conversions</a:t>
              </a:r>
              <a:endParaRPr lang="en-US" altLang="en-US" sz="2500" spc="-24">
                <a:solidFill>
                  <a:srgbClr val="FFFFFF"/>
                </a:solidFill>
                <a:latin typeface="Assistant" panose="00000500000000000000"/>
                <a:ea typeface="Assistant" panose="00000500000000000000"/>
                <a:cs typeface="Assistant" panose="00000500000000000000"/>
                <a:sym typeface="Assistant" panose="00000500000000000000"/>
              </a:endParaRPr>
            </a:p>
            <a:p>
              <a:pPr marL="342900" indent="-342900" algn="just">
                <a:lnSpc>
                  <a:spcPts val="3500"/>
                </a:lnSpc>
                <a:spcBef>
                  <a:spcPct val="0"/>
                </a:spcBef>
                <a:buFont typeface="Arial" panose="020B0604020202020204" pitchFamily="34" charset="0"/>
                <a:buChar char="•"/>
              </a:pPr>
              <a:r>
                <a:rPr lang="en-US" altLang="en-US" sz="2500" spc="-24">
                  <a:solidFill>
                    <a:srgbClr val="FFFFFF"/>
                  </a:solidFill>
                  <a:latin typeface="Assistant" panose="00000500000000000000"/>
                  <a:ea typeface="Assistant" panose="00000500000000000000"/>
                  <a:cs typeface="Assistant" panose="00000500000000000000"/>
                  <a:sym typeface="Assistant" panose="00000500000000000000"/>
                </a:rPr>
                <a:t>Practiced arithmetic operations</a:t>
              </a:r>
              <a:endParaRPr lang="en-US" altLang="en-US" sz="2500" spc="-24">
                <a:solidFill>
                  <a:srgbClr val="FFFFFF"/>
                </a:solidFill>
                <a:latin typeface="Assistant" panose="00000500000000000000"/>
                <a:ea typeface="Assistant" panose="00000500000000000000"/>
                <a:cs typeface="Assistant" panose="00000500000000000000"/>
                <a:sym typeface="Assistant" panose="00000500000000000000"/>
              </a:endParaRPr>
            </a:p>
            <a:p>
              <a:pPr marL="342900" indent="-342900" algn="just">
                <a:lnSpc>
                  <a:spcPts val="3500"/>
                </a:lnSpc>
                <a:spcBef>
                  <a:spcPct val="0"/>
                </a:spcBef>
                <a:buFont typeface="Arial" panose="020B0604020202020204" pitchFamily="34" charset="0"/>
                <a:buChar char="•"/>
              </a:pPr>
              <a:r>
                <a:rPr lang="en-US" altLang="en-US" sz="2500" spc="-24">
                  <a:solidFill>
                    <a:srgbClr val="FFFFFF"/>
                  </a:solidFill>
                  <a:latin typeface="Assistant" panose="00000500000000000000"/>
                  <a:ea typeface="Assistant" panose="00000500000000000000"/>
                  <a:cs typeface="Assistant" panose="00000500000000000000"/>
                  <a:sym typeface="Assistant" panose="00000500000000000000"/>
                </a:rPr>
                <a:t>Understood computing applications</a:t>
              </a:r>
              <a:endParaRPr lang="en-US" altLang="en-US" sz="2500" spc="-24">
                <a:solidFill>
                  <a:srgbClr val="FFFFFF"/>
                </a:solidFill>
                <a:latin typeface="Assistant" panose="00000500000000000000"/>
                <a:ea typeface="Assistant" panose="00000500000000000000"/>
                <a:cs typeface="Assistant" panose="00000500000000000000"/>
                <a:sym typeface="Assistant" panose="00000500000000000000"/>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4519</Words>
  <Application>WPS Presentation</Application>
  <PresentationFormat>Custom</PresentationFormat>
  <Paragraphs>252</Paragraphs>
  <Slides>29</Slides>
  <Notes>1</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29</vt:i4>
      </vt:variant>
    </vt:vector>
  </HeadingPairs>
  <TitlesOfParts>
    <vt:vector size="45" baseType="lpstr">
      <vt:lpstr>Arial</vt:lpstr>
      <vt:lpstr>SimSun</vt:lpstr>
      <vt:lpstr>Wingdings</vt:lpstr>
      <vt:lpstr>Halant Medium</vt:lpstr>
      <vt:lpstr>Halant Bold</vt:lpstr>
      <vt:lpstr>HK Grotesk Bold</vt:lpstr>
      <vt:lpstr>Segoe Print</vt:lpstr>
      <vt:lpstr>Calibri</vt:lpstr>
      <vt:lpstr>Assistant</vt:lpstr>
      <vt:lpstr>Assistant Bold</vt:lpstr>
      <vt:lpstr>HK Grotesk</vt:lpstr>
      <vt:lpstr>Arial</vt:lpstr>
      <vt:lpstr>Wingdings</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ICT Lecture 1</dc:title>
  <dc:creator/>
  <cp:lastModifiedBy>Administrator</cp:lastModifiedBy>
  <cp:revision>17</cp:revision>
  <dcterms:created xsi:type="dcterms:W3CDTF">2006-08-16T00:00:00Z</dcterms:created>
  <dcterms:modified xsi:type="dcterms:W3CDTF">2026-02-14T13:26:54Z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0619587701084622B2FE28AD10B5130E_13</vt:lpwstr>
  </property>
  <property fmtid="{D5CDD505-2E9C-101B-9397-08002B2CF9AE}" pid="3" name="KSOProductBuildVer">
    <vt:lpwstr>1033-12.1.0.25242</vt:lpwstr>
  </property>
</Properties>
</file>