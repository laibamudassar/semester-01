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275" r:id="rId19"/>
  </p:sldIdLst>
  <p:sldSz cx="9753600" cy="73152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Halant Bold" panose="020B0604020202020204" charset="0"/>
      <p:bold r:id="rId22"/>
    </p:embeddedFont>
    <p:embeddedFont>
      <p:font typeface="Halant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 showGuides="1">
      <p:cViewPr varScale="1">
        <p:scale>
          <a:sx n="63" d="100"/>
          <a:sy n="63" d="100"/>
        </p:scale>
        <p:origin x="1260" y="32"/>
      </p:cViewPr>
      <p:guideLst>
        <p:guide orient="horz" pos="2304"/>
        <p:guide pos="29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0D1A6-AFC0-4378-A879-24768797485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7AA2C-B60B-4B49-A158-C68B6DC031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3081-B78E-2E52-C347-9625EB58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53BC4-9AB6-6878-3132-8BB70E90D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7E43F-D254-2362-2D5E-ED6A08377BD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40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6198-DBB1-91E1-73ED-425F12CA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0CC4C-637B-AC6A-E5ED-ACC4BA109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1D3BE-E0F5-A7B0-95D2-98EE7239FF9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84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E2AA-B1A8-F6F3-9897-D7701D69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78A06-CA48-126D-EBB1-81EA83D02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EC579-672D-99BC-C163-645C3D239B7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43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71F9-2127-8103-D705-CD590709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053F0-F8F7-E431-42CC-674FD98DA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4834C-3665-DB34-AD73-1F79AA070F6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93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8C13-D682-C394-FE51-79CEB472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E4F83-1848-8D05-AB32-2C4E1C985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F68CB-7DB9-8E6E-72F2-46A3333545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74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FD37-1883-0991-D68D-EDDBCDA9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8D2D3-F913-C62D-8C5C-ECC212C47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50FDB-1E5D-6FDB-0BBB-BA2C1A415C6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02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01B4-6D01-76CD-F488-18F8C013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DA7D6-A3C5-6A0C-55A6-F09F4E089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AE4BF-0FF2-392E-CC9D-5D6D61F940D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83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CBF1-2A3F-E02B-A859-40B266E49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6B239-A08D-421C-0534-30AA0F8E7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6C3CF-AA81-C2BD-D2CB-0BF81B44630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09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ED7F-9F29-1AA8-14ED-33AC14C5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C713E-EFE6-1589-B38B-8D2BF29BD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A7658-24E7-2F51-603F-27800A6D1A6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22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07E9-352B-20C4-01F5-5D85F1862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5337C-A191-D797-3C97-D819AD147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8F582-DD64-23D7-1A21-14EA95F77EF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95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F1F6-61FB-4B21-0039-EFC4C618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14B1-EAFA-8FD1-DB66-C1F64551B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FA540-E5A2-10D4-B722-4E5D0368F44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19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438C-3637-8C78-66CF-BD530184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E952-9964-2117-A944-1A1C3A6F3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CC1E3-D75E-AF92-1233-E2E556BD521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47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7887-CB5E-B293-FC8E-FC3850328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D1133-61F2-0308-1BDF-BC3750E5E6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C58A8-208C-862B-5CF7-728EFD8D524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0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505" y="1981362"/>
            <a:ext cx="6200241" cy="3225074"/>
            <a:chOff x="0" y="-160655"/>
            <a:chExt cx="8266987" cy="4300099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8259"/>
              <a:ext cx="3020201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731F7D"/>
                  </a:solidFill>
                  <a:latin typeface="Halant Medium" panose="00000600000000000000"/>
                  <a:ea typeface="Halant Medium" panose="00000600000000000000"/>
                  <a:cs typeface="Halant Medium" panose="00000600000000000000"/>
                  <a:sym typeface="Halant Medium" panose="00000600000000000000"/>
                </a:rPr>
                <a:t> </a:t>
              </a:r>
              <a:r>
                <a:rPr lang="en-US" sz="27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 (CSC101)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3005" y="-160655"/>
              <a:ext cx="8083982" cy="3631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0"/>
                </a:lnSpc>
              </a:pPr>
              <a:r>
                <a:rPr lang="en-US" sz="6000" b="1" dirty="0">
                  <a:solidFill>
                    <a:srgbClr val="000000"/>
                  </a:solidFill>
                  <a:latin typeface="+mj-lt"/>
                  <a:ea typeface="HK Grotesk Bold" panose="00000800000000000000"/>
                  <a:cs typeface="+mj-lt"/>
                  <a:sym typeface="HK Grotesk Bold" panose="00000800000000000000"/>
                </a:rPr>
                <a:t>Information Communication Technology 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5550229">
            <a:off x="4207487" y="-1075063"/>
            <a:ext cx="5867962" cy="5088881"/>
          </a:xfrm>
          <a:custGeom>
            <a:avLst/>
            <a:gdLst/>
            <a:ahLst/>
            <a:cxnLst/>
            <a:rect l="l" t="t" r="r" b="b"/>
            <a:pathLst>
              <a:path w="5867962" h="5222486">
                <a:moveTo>
                  <a:pt x="0" y="0"/>
                </a:moveTo>
                <a:lnTo>
                  <a:pt x="5867963" y="0"/>
                </a:lnTo>
                <a:lnTo>
                  <a:pt x="5867963" y="5222487"/>
                </a:lnTo>
                <a:lnTo>
                  <a:pt x="0" y="522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17281">
            <a:off x="3529970" y="912669"/>
            <a:ext cx="1170984" cy="1109507"/>
          </a:xfrm>
          <a:custGeom>
            <a:avLst/>
            <a:gdLst/>
            <a:ahLst/>
            <a:cxnLst/>
            <a:rect l="l" t="t" r="r" b="b"/>
            <a:pathLst>
              <a:path w="1170984" h="1109507">
                <a:moveTo>
                  <a:pt x="0" y="0"/>
                </a:moveTo>
                <a:lnTo>
                  <a:pt x="1170984" y="0"/>
                </a:lnTo>
                <a:lnTo>
                  <a:pt x="1170984" y="1109508"/>
                </a:lnTo>
                <a:lnTo>
                  <a:pt x="0" y="110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567437">
            <a:off x="8110392" y="5055177"/>
            <a:ext cx="2588757" cy="2475499"/>
          </a:xfrm>
          <a:custGeom>
            <a:avLst/>
            <a:gdLst/>
            <a:ahLst/>
            <a:cxnLst/>
            <a:rect l="l" t="t" r="r" b="b"/>
            <a:pathLst>
              <a:path w="2588757" h="2475499">
                <a:moveTo>
                  <a:pt x="0" y="0"/>
                </a:moveTo>
                <a:lnTo>
                  <a:pt x="2588756" y="0"/>
                </a:lnTo>
                <a:lnTo>
                  <a:pt x="2588756" y="2475498"/>
                </a:lnTo>
                <a:lnTo>
                  <a:pt x="0" y="2475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7602" y="5313139"/>
            <a:ext cx="7099307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400" b="1" dirty="0">
                <a:solidFill>
                  <a:srgbClr val="731F7D"/>
                </a:solidFill>
                <a:latin typeface="Arial Black" panose="020B0A04020102020204" pitchFamily="34" charset="0"/>
                <a:ea typeface="Halant Bold" panose="00000800000000000000"/>
                <a:cs typeface="Halant Bold" panose="00000800000000000000"/>
                <a:sym typeface="Halant Bold" panose="00000800000000000000"/>
              </a:rPr>
              <a:t>Lecture 13</a:t>
            </a:r>
          </a:p>
          <a:p>
            <a:pPr algn="l">
              <a:lnSpc>
                <a:spcPts val="3780"/>
              </a:lnSpc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Instructor: Mariam Fiaz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email: mariamsherwani434@gmail.com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98132">
            <a:off x="7524355" y="4826078"/>
            <a:ext cx="3828488" cy="4232275"/>
          </a:xfrm>
          <a:custGeom>
            <a:avLst/>
            <a:gdLst/>
            <a:ahLst/>
            <a:cxnLst/>
            <a:rect l="l" t="t" r="r" b="b"/>
            <a:pathLst>
              <a:path w="3828488" h="4232275">
                <a:moveTo>
                  <a:pt x="0" y="0"/>
                </a:moveTo>
                <a:lnTo>
                  <a:pt x="3828488" y="0"/>
                </a:lnTo>
                <a:lnTo>
                  <a:pt x="3828488" y="4232275"/>
                </a:lnTo>
                <a:lnTo>
                  <a:pt x="0" y="4232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81" b="-1174"/>
            </a:stretch>
          </a:blipFill>
        </p:spPr>
      </p:sp>
      <p:sp>
        <p:nvSpPr>
          <p:cNvPr id="3" name="Freeform 3"/>
          <p:cNvSpPr/>
          <p:nvPr/>
        </p:nvSpPr>
        <p:spPr>
          <a:xfrm rot="-2715964">
            <a:off x="5760526" y="5871583"/>
            <a:ext cx="983734" cy="932088"/>
          </a:xfrm>
          <a:custGeom>
            <a:avLst/>
            <a:gdLst/>
            <a:ahLst/>
            <a:cxnLst/>
            <a:rect l="l" t="t" r="r" b="b"/>
            <a:pathLst>
              <a:path w="983734" h="932088">
                <a:moveTo>
                  <a:pt x="0" y="0"/>
                </a:moveTo>
                <a:lnTo>
                  <a:pt x="983734" y="0"/>
                </a:lnTo>
                <a:lnTo>
                  <a:pt x="983734" y="932087"/>
                </a:lnTo>
                <a:lnTo>
                  <a:pt x="0" y="93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212463">
            <a:off x="5642474" y="-928349"/>
            <a:ext cx="2866520" cy="3318692"/>
          </a:xfrm>
          <a:custGeom>
            <a:avLst/>
            <a:gdLst/>
            <a:ahLst/>
            <a:cxnLst/>
            <a:rect l="l" t="t" r="r" b="b"/>
            <a:pathLst>
              <a:path w="2866520" h="3318692">
                <a:moveTo>
                  <a:pt x="0" y="0"/>
                </a:moveTo>
                <a:lnTo>
                  <a:pt x="2866520" y="0"/>
                </a:lnTo>
                <a:lnTo>
                  <a:pt x="2866520" y="3318693"/>
                </a:lnTo>
                <a:lnTo>
                  <a:pt x="0" y="3318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91572" y="2255770"/>
            <a:ext cx="9112904" cy="4112337"/>
            <a:chOff x="-40828" y="0"/>
            <a:chExt cx="12150538" cy="5483116"/>
          </a:xfrm>
        </p:grpSpPr>
        <p:sp>
          <p:nvSpPr>
            <p:cNvPr id="6" name="TextBox 6"/>
            <p:cNvSpPr txBox="1"/>
            <p:nvPr/>
          </p:nvSpPr>
          <p:spPr>
            <a:xfrm>
              <a:off x="-40828" y="503147"/>
              <a:ext cx="8342712" cy="12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75"/>
                </a:lnSpc>
              </a:pPr>
              <a:r>
                <a:rPr lang="en-US" sz="6250" b="1" dirty="0">
                  <a:solidFill>
                    <a:srgbClr val="FFFFFF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Reference Books: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42219" y="0"/>
              <a:ext cx="1567491" cy="1138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35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21" y="2032000"/>
              <a:ext cx="10667154" cy="34511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-457200" algn="just">
                <a:lnSpc>
                  <a:spcPts val="3360"/>
                </a:lnSpc>
                <a:buFont typeface="+mj-lt"/>
                <a:buAutoNum type="arabicPeriod"/>
              </a:pPr>
              <a:r>
                <a:rPr lang="en-US" sz="2400" b="1" dirty="0">
                  <a:solidFill>
                    <a:schemeClr val="bg1"/>
                  </a:solidFill>
                </a:rPr>
                <a:t>Python Basics: A Practical Introduction to Python 3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Authors: David Amos, Dan Bader, Joanna Jablonski, Fletcher Heisler </a:t>
              </a:r>
              <a:r>
                <a:rPr lang="en-US" sz="2400" b="1" dirty="0">
                  <a:solidFill>
                    <a:schemeClr val="bg1"/>
                  </a:solidFill>
                </a:rPr>
                <a:t>(Read Chapter 3 and 5)</a:t>
              </a:r>
              <a:endParaRPr lang="en-US" sz="2400" b="1" spc="-24" dirty="0">
                <a:solidFill>
                  <a:schemeClr val="bg1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marL="259080" lvl="1" indent="0" algn="just">
                <a:lnSpc>
                  <a:spcPts val="3360"/>
                </a:lnSpc>
                <a:buNone/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5462" y="307697"/>
            <a:ext cx="8085278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Topic: “Python Basics – Programs, Variables &amp; Input”</a:t>
            </a:r>
          </a:p>
          <a:p>
            <a:r>
              <a:rPr lang="en-US" sz="5000" b="1" dirty="0">
                <a:solidFill>
                  <a:srgbClr val="000000"/>
                </a:solidFill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Contents</a:t>
            </a:r>
            <a:r>
              <a:rPr lang="en-US" sz="5000" b="1" dirty="0">
                <a:solidFill>
                  <a:srgbClr val="000000"/>
                </a:solidFill>
                <a:ea typeface="HK Grotesk Bold" panose="00000800000000000000"/>
                <a:cs typeface="HK Grotesk Bold" panose="00000800000000000000"/>
                <a:sym typeface="HK Grotesk Bold" panose="00000800000000000000"/>
              </a:rPr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Computer Program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Python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First Program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Indentation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Control Structures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Errors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Variables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Assignment Operator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Naming Rules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Integer &amp; Float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Identifiers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User Input &amp; eval()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print() Function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Expressions vs Statements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 Summary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3" name="Freeform 3"/>
          <p:cNvSpPr/>
          <p:nvPr/>
        </p:nvSpPr>
        <p:spPr>
          <a:xfrm rot="-10141306">
            <a:off x="-2409895" y="4771487"/>
            <a:ext cx="4069550" cy="3891507"/>
          </a:xfrm>
          <a:custGeom>
            <a:avLst/>
            <a:gdLst/>
            <a:ahLst/>
            <a:cxnLst/>
            <a:rect l="l" t="t" r="r" b="b"/>
            <a:pathLst>
              <a:path w="4069550" h="3891507">
                <a:moveTo>
                  <a:pt x="0" y="0"/>
                </a:moveTo>
                <a:lnTo>
                  <a:pt x="4069550" y="0"/>
                </a:lnTo>
                <a:lnTo>
                  <a:pt x="4069550" y="3891507"/>
                </a:lnTo>
                <a:lnTo>
                  <a:pt x="0" y="389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5462" y="7507606"/>
            <a:ext cx="7658557" cy="25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Freeform 7"/>
          <p:cNvSpPr/>
          <p:nvPr/>
        </p:nvSpPr>
        <p:spPr>
          <a:xfrm rot="9440951">
            <a:off x="-716899" y="223696"/>
            <a:ext cx="1433798" cy="1358524"/>
          </a:xfrm>
          <a:custGeom>
            <a:avLst/>
            <a:gdLst/>
            <a:ahLst/>
            <a:cxnLst/>
            <a:rect l="l" t="t" r="r" b="b"/>
            <a:pathLst>
              <a:path w="1433798" h="1358524">
                <a:moveTo>
                  <a:pt x="0" y="0"/>
                </a:moveTo>
                <a:lnTo>
                  <a:pt x="1433798" y="0"/>
                </a:lnTo>
                <a:lnTo>
                  <a:pt x="1433798" y="1358523"/>
                </a:lnTo>
                <a:lnTo>
                  <a:pt x="0" y="1358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60162" y="914400"/>
            <a:ext cx="8633276" cy="4684393"/>
            <a:chOff x="157480" y="-267335"/>
            <a:chExt cx="11511034" cy="6245853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Computer Program: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0096" y="884220"/>
              <a:ext cx="11125802" cy="5094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A computer program is a set of instructions that tells a computer how to perform a task step-by-step.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It works like a recipe: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dirty="0"/>
                <a:t>      input </a:t>
              </a:r>
              <a:r>
                <a:rPr lang="en-US" sz="2400" b="1" dirty="0"/>
                <a:t>→</a:t>
              </a:r>
              <a:r>
                <a:rPr lang="en-US" sz="2400" dirty="0"/>
                <a:t> process </a:t>
              </a:r>
              <a:r>
                <a:rPr lang="en-US" sz="2400" b="1" dirty="0"/>
                <a:t>→</a:t>
              </a:r>
              <a:r>
                <a:rPr lang="en-US" sz="2400" dirty="0"/>
                <a:t> output.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dirty="0"/>
                <a:t>A calculator program takes numbers (input), performs calculation, and shows result.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2C68-BAC7-2494-9BBA-51E734C1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A8F68E-F28E-BB18-1D3A-757EAAD7C151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6746F6-3CA8-7A60-5AEC-43DF556D0CFC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5E5D49F-A268-6182-53E7-7CD0E4291B7A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2694C8B-11E2-A45A-7CC6-27DE34AB5862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Python: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B5F800C-8D94-3E06-42B6-C4499CD252EE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Python is a simple and readable programming language used to build real-world applications.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It is beginner-friendly because its syntax looks like English.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print("Learning Python")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69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81FF-4DAD-D0E5-E239-A97B8774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C32264-0812-0750-D684-C0394E09AEE8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06FA930-EAFD-D452-C63F-FFCA78F8045B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00D755F-230A-DA5C-9854-DB3D955391C9}"/>
              </a:ext>
            </a:extLst>
          </p:cNvPr>
          <p:cNvGrpSpPr/>
          <p:nvPr/>
        </p:nvGrpSpPr>
        <p:grpSpPr>
          <a:xfrm>
            <a:off x="560162" y="914400"/>
            <a:ext cx="8633276" cy="4130395"/>
            <a:chOff x="157480" y="-267335"/>
            <a:chExt cx="11511034" cy="550718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55A74D4-0E17-6D5D-C60F-888FCECBC31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First Python Program: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218154-CE4B-7FD6-4E70-6A90113FABD1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43556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The first program is used to check if Python is working.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It teaches how to display output.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print("Hello, World")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Output: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dirty="0"/>
                <a:t>Hello, 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487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3F8D0-5351-5825-D123-077E3EBE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FC0C91-E32C-9126-37D0-82086A1523BA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DA69490-F07D-C10F-54FB-15B666BB2C64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3D83096-DD17-B14B-FED9-CFB5BDE1BB02}"/>
              </a:ext>
            </a:extLst>
          </p:cNvPr>
          <p:cNvGrpSpPr/>
          <p:nvPr/>
        </p:nvGrpSpPr>
        <p:grpSpPr>
          <a:xfrm>
            <a:off x="560162" y="914400"/>
            <a:ext cx="8633276" cy="4684393"/>
            <a:chOff x="157480" y="-267335"/>
            <a:chExt cx="11511034" cy="624584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1415038-ADD7-7A07-D73E-2DE987505643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Indentation: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D73698-37BC-78FC-5291-5FF77E2BFA4D}"/>
                </a:ext>
              </a:extLst>
            </p:cNvPr>
            <p:cNvSpPr txBox="1"/>
            <p:nvPr/>
          </p:nvSpPr>
          <p:spPr>
            <a:xfrm>
              <a:off x="350096" y="884219"/>
              <a:ext cx="11125802" cy="50942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Indentation means spaces before a line to show which code belongs together. 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Python uses indentation instead of { }.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latinLnBrk="1">
                <a:lnSpc>
                  <a:spcPct val="150000"/>
                </a:lnSpc>
              </a:pPr>
              <a:r>
                <a:rPr lang="en-US" sz="2400" b="1" dirty="0"/>
                <a:t>if 5 &gt; 2:</a:t>
              </a:r>
              <a:br>
                <a:rPr lang="en-US" sz="2400" b="1" dirty="0"/>
              </a:br>
              <a:r>
                <a:rPr lang="en-US" sz="2400" b="1" dirty="0"/>
                <a:t>    </a:t>
              </a:r>
              <a:r>
                <a:rPr lang="en-US" sz="2400" dirty="0"/>
                <a:t>print("Correct")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Without indentation → error.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326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33AC-0457-FB25-1F80-B21EDB83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0F0EF9-DF7C-2471-0EF6-0609872AA3E9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F858707-6C61-ADB7-B79C-5C91C8404312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BD8F83C-53A9-6D77-AEE1-A6213BDFFE1B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2CAB96B-1BF5-B4F0-8708-93461B7B9AD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Control Structures: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AFCCB65-8DCC-6555-61DD-B044EE4F0CB6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/>
                <a:t>Control structures decide how code runs (decision or repetition).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They make programs smart.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latinLnBrk="1">
                <a:lnSpc>
                  <a:spcPct val="150000"/>
                </a:lnSpc>
              </a:pPr>
              <a:r>
                <a:rPr lang="en-US" sz="2400" b="1" dirty="0"/>
                <a:t>if 10 &gt; 5:</a:t>
              </a:r>
              <a:br>
                <a:rPr lang="en-US" sz="2400" dirty="0"/>
              </a:br>
              <a:r>
                <a:rPr lang="en-US" sz="2400" dirty="0"/>
                <a:t>    print("Yes")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16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CBD6-F06A-E897-7BD9-AE0C3AEF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6B222B-830F-FF9C-9AB0-9FEBB8218DBD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A0A919F-283F-8DBB-A2EF-BB65314EAE4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140BD3F-195C-E1A6-A046-66ABBDA2974B}"/>
              </a:ext>
            </a:extLst>
          </p:cNvPr>
          <p:cNvGrpSpPr/>
          <p:nvPr/>
        </p:nvGrpSpPr>
        <p:grpSpPr>
          <a:xfrm>
            <a:off x="560162" y="914400"/>
            <a:ext cx="8633276" cy="4130395"/>
            <a:chOff x="157480" y="-267335"/>
            <a:chExt cx="11511034" cy="550718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D08669-38F7-FD32-2D71-044F36E2E990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Errors: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247BDF8-4C6D-9873-D532-9D2B906CA109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43556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Errors are mistakes in code.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Two types:</a:t>
              </a:r>
            </a:p>
            <a:p>
              <a:pPr marL="457200" lvl="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/>
                <a:t>Syntax error (writing mistake)</a:t>
              </a:r>
            </a:p>
            <a:p>
              <a:pPr marL="457200" lvl="0" indent="-4572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/>
                <a:t>Runtime error (during execution) 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print("Hello)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052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D4BB-B1A4-F2F9-13F8-9EE393D5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65C886-ACD7-220C-5913-0CFAC0365C53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A3CC77-6F79-8AE5-7A8B-61B73532599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A0916A2-AC98-C2A9-1937-5D7EE2FDA885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6E29D11-E4F6-DB08-4DCC-10BB1555FA88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Variables: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04D3DF-5ED6-C95E-5600-6BB7238A55CE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Variables store data so we can reuse it. It works like a container for storing a value.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Think of it as a container with a name.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name = "Ali"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853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A728-1AC6-CAB1-7B76-BF161F9F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B5248C-A831-05DE-027E-021EDA8CE174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6947E4-21C9-1344-9893-7FFD477C9ED8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20C380A-D820-791C-15F5-A4CB011CF5F5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215FFF2-4235-DC5E-D234-89C049DAB195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Assignment Operator (=):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8ED587-4066-D093-6C34-C79CA4A46BCD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It stores value into a variable. 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Right side value goes into left side name.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(=) is an Assignment Operator.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dirty="0"/>
                <a:t>x = 10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4790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0709-7069-2369-3B83-6C293A8A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75571F-86F4-FAED-31E8-5416185EEE1C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210706-359C-9226-AB6D-0C703288BE4A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2DDC6A5-16EB-DED7-48B1-11276A176404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85234AD-6758-058B-B927-AF6278E39C3A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Naming Rules: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45FA8E2-96FE-1C92-4B9B-2A33A53B8EA4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Variable names must follow rules.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Must not start with number, no spaces.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Include Letters, Special symbols etc.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 err="1"/>
                <a:t>student_name</a:t>
              </a:r>
              <a:r>
                <a:rPr lang="en-US" sz="2400" dirty="0"/>
                <a:t> = "Ali"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02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2B33-B2B4-D744-768F-995F7A9A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59C795-B9E5-502C-21F1-1D74525D25CE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571FF22-9360-12CF-38E3-B55E7896AD1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53D6DE8-3EDD-D987-C142-EF4618B666ED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A4324E2-9FD3-119E-4458-182A77605E30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Integer and Float Number: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082118A-46AF-D2B9-BD52-B071EC05328F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Integer = whole number (no decimal).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Float = decimal number.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Examples:</a:t>
              </a:r>
            </a:p>
            <a:p>
              <a:pPr marL="342900" indent="-342900" latinLnBrk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x = 5      </a:t>
              </a:r>
              <a:r>
                <a:rPr lang="en-US" sz="2400" i="1" dirty="0">
                  <a:solidFill>
                    <a:schemeClr val="accent1"/>
                  </a:solidFill>
                </a:rPr>
                <a:t># integer</a:t>
              </a:r>
            </a:p>
            <a:p>
              <a:pPr marL="342900" indent="-342900" latinLnBrk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pi = 3.14  </a:t>
              </a:r>
              <a:r>
                <a:rPr lang="en-US" sz="2400" i="1" dirty="0">
                  <a:solidFill>
                    <a:schemeClr val="accent1"/>
                  </a:solidFill>
                </a:rPr>
                <a:t># float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375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9F41-5B00-C625-6767-A4AFB92EE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7FC33F-D28B-1E6E-037F-F14010F8DC71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54E7B16-AFDA-A648-AA18-141ABA290D6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A268D03-5D42-A440-AEC9-C18D9DDF3722}"/>
              </a:ext>
            </a:extLst>
          </p:cNvPr>
          <p:cNvGrpSpPr/>
          <p:nvPr/>
        </p:nvGrpSpPr>
        <p:grpSpPr>
          <a:xfrm>
            <a:off x="560162" y="914400"/>
            <a:ext cx="8633276" cy="3022399"/>
            <a:chOff x="157480" y="-267335"/>
            <a:chExt cx="11511034" cy="402986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9FF2584-8AFE-4626-D2DC-EC82E0F0C44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Identifiers: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28CB27F-0D60-4996-B0CA-E7E92D8583D5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28783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Identifiers are names of variables/functions.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They help identify data.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age = 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041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F07B-19DA-3055-B2CA-923A8792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BA3EAD-B044-75C3-3FFC-B8EEF9A59223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80E478-A40C-C2CA-1C2C-C5A773078BDE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0EC0F64-1E2E-B19D-909D-71164A1C54AD}"/>
              </a:ext>
            </a:extLst>
          </p:cNvPr>
          <p:cNvGrpSpPr/>
          <p:nvPr/>
        </p:nvGrpSpPr>
        <p:grpSpPr>
          <a:xfrm>
            <a:off x="560162" y="914400"/>
            <a:ext cx="8633276" cy="4130395"/>
            <a:chOff x="157480" y="-267335"/>
            <a:chExt cx="11511034" cy="550718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23CD2A6-AE7E-503E-6961-8E5CAA019D93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User Input &amp; eval():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70EB69E-E0EE-5B0E-ACF8-71A873B0967F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43556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/>
                <a:t>Input takes data from user. 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By default, it is string.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name = input("Enter name: ")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/>
                <a:t>eval() converts input into number.</a:t>
              </a:r>
            </a:p>
            <a:p>
              <a:pPr algn="just" latinLnBrk="1">
                <a:lnSpc>
                  <a:spcPct val="150000"/>
                </a:lnSpc>
              </a:pPr>
              <a:r>
                <a:rPr lang="en-US" sz="2400" dirty="0"/>
                <a:t>num = eval(input("Enter number: "))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66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E839-F633-3FE8-5D52-494B765A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FC68C-FEB7-889C-EAC5-826B132188CE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407C1B1-F619-AB07-54DE-DC84285D6DF4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E59EB39-FA96-E2B1-EEBB-AB88A9673763}"/>
              </a:ext>
            </a:extLst>
          </p:cNvPr>
          <p:cNvGrpSpPr/>
          <p:nvPr/>
        </p:nvGrpSpPr>
        <p:grpSpPr>
          <a:xfrm>
            <a:off x="560162" y="914400"/>
            <a:ext cx="8633276" cy="3576397"/>
            <a:chOff x="157480" y="-267335"/>
            <a:chExt cx="11511034" cy="476852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6319FA9-5A72-829B-378F-D9D73ED6687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print() Function: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A5C2E6-DB52-E15F-413C-B679E140ED0C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36169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/>
                <a:t>print() displays output.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Can format output.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latinLnBrk="1">
                <a:lnSpc>
                  <a:spcPct val="150000"/>
                </a:lnSpc>
              </a:pPr>
              <a:r>
                <a:rPr lang="en-US" sz="2400" dirty="0"/>
                <a:t>print("Hello", end=" ")</a:t>
              </a:r>
              <a:br>
                <a:rPr lang="en-US" sz="2400" dirty="0"/>
              </a:br>
              <a:r>
                <a:rPr lang="en-US" sz="2400" dirty="0"/>
                <a:t>print("World")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3412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EFD8-2A39-34A6-0D47-04A24B55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A8463D-25AC-F7AC-2EEB-B3F12A434F73}"/>
              </a:ext>
            </a:extLst>
          </p:cNvPr>
          <p:cNvSpPr/>
          <p:nvPr/>
        </p:nvSpPr>
        <p:spPr>
          <a:xfrm rot="-1100510">
            <a:off x="4063260" y="-38161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E2C090E-E28F-5803-06E1-434F1712787F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EAC4ABC-6B97-4D7B-7140-7EECE7048AD4}"/>
              </a:ext>
            </a:extLst>
          </p:cNvPr>
          <p:cNvGrpSpPr/>
          <p:nvPr/>
        </p:nvGrpSpPr>
        <p:grpSpPr>
          <a:xfrm>
            <a:off x="560162" y="914400"/>
            <a:ext cx="8633276" cy="4130395"/>
            <a:chOff x="157480" y="-267335"/>
            <a:chExt cx="11511034" cy="550718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8944DF8-4DFD-CDD2-6FCD-AC4FC0779ED3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cs typeface="Calibri" panose="020F0502020204030204" charset="0"/>
                  <a:sym typeface="HK Grotesk Bold" panose="00000800000000000000"/>
                </a:rPr>
                <a:t>Expression vs Statement: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AEA0AB-9F7C-F24F-62C5-449574DD9D6D}"/>
                </a:ext>
              </a:extLst>
            </p:cNvPr>
            <p:cNvSpPr txBox="1"/>
            <p:nvPr/>
          </p:nvSpPr>
          <p:spPr>
            <a:xfrm>
              <a:off x="350096" y="884220"/>
              <a:ext cx="11125802" cy="43556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/>
                <a:t>Expression </a:t>
              </a:r>
              <a:r>
                <a:rPr lang="en-US" sz="2400" b="1" dirty="0"/>
                <a:t>→</a:t>
              </a:r>
              <a:r>
                <a:rPr lang="en-US" sz="2400" dirty="0"/>
                <a:t> gives value Statement </a:t>
              </a:r>
              <a:r>
                <a:rPr lang="en-US" sz="2400" b="1" dirty="0"/>
                <a:t>→</a:t>
              </a:r>
              <a:r>
                <a:rPr lang="en-US" sz="2400" dirty="0"/>
                <a:t> performs action.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</a:p>
            <a:p>
              <a:pPr marL="342900" indent="-342900" latinLnBrk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2 + 3      </a:t>
              </a:r>
              <a:r>
                <a:rPr lang="en-US" sz="2400" i="1" dirty="0">
                  <a:solidFill>
                    <a:schemeClr val="accent1"/>
                  </a:solidFill>
                </a:rPr>
                <a:t># expression</a:t>
              </a:r>
            </a:p>
            <a:p>
              <a:pPr marL="342900" indent="-342900" latinLnBrk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x = 5      </a:t>
              </a:r>
              <a:r>
                <a:rPr lang="en-US" sz="2400" i="1" dirty="0">
                  <a:solidFill>
                    <a:schemeClr val="accent1"/>
                  </a:solidFill>
                </a:rPr>
                <a:t># statement</a:t>
              </a:r>
              <a:endParaRPr lang="en-US" sz="2400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br>
                <a:rPr lang="en-US" sz="2400" dirty="0"/>
              </a:b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7675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866787" y="-1370945"/>
            <a:ext cx="5550062" cy="4939555"/>
          </a:xfrm>
          <a:custGeom>
            <a:avLst/>
            <a:gdLst/>
            <a:ahLst/>
            <a:cxnLst/>
            <a:rect l="l" t="t" r="r" b="b"/>
            <a:pathLst>
              <a:path w="5550062" h="4939555">
                <a:moveTo>
                  <a:pt x="0" y="0"/>
                </a:moveTo>
                <a:lnTo>
                  <a:pt x="5550061" y="0"/>
                </a:lnTo>
                <a:lnTo>
                  <a:pt x="5550061" y="4939555"/>
                </a:lnTo>
                <a:lnTo>
                  <a:pt x="0" y="4939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017281">
            <a:off x="6200148" y="787734"/>
            <a:ext cx="1060123" cy="1004466"/>
          </a:xfrm>
          <a:custGeom>
            <a:avLst/>
            <a:gdLst/>
            <a:ahLst/>
            <a:cxnLst/>
            <a:rect l="l" t="t" r="r" b="b"/>
            <a:pathLst>
              <a:path w="1060123" h="1004466">
                <a:moveTo>
                  <a:pt x="0" y="0"/>
                </a:moveTo>
                <a:lnTo>
                  <a:pt x="1060123" y="0"/>
                </a:lnTo>
                <a:lnTo>
                  <a:pt x="1060123" y="1004466"/>
                </a:lnTo>
                <a:lnTo>
                  <a:pt x="0" y="100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567437">
            <a:off x="8175470" y="5527229"/>
            <a:ext cx="2209570" cy="2112901"/>
          </a:xfrm>
          <a:custGeom>
            <a:avLst/>
            <a:gdLst/>
            <a:ahLst/>
            <a:cxnLst/>
            <a:rect l="l" t="t" r="r" b="b"/>
            <a:pathLst>
              <a:path w="2209570" h="2112901">
                <a:moveTo>
                  <a:pt x="0" y="0"/>
                </a:moveTo>
                <a:lnTo>
                  <a:pt x="2209570" y="0"/>
                </a:lnTo>
                <a:lnTo>
                  <a:pt x="2209570" y="2112902"/>
                </a:lnTo>
                <a:lnTo>
                  <a:pt x="0" y="211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3405" y="1981200"/>
            <a:ext cx="6300796" cy="4577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900"/>
              </a:lnSpc>
            </a:pPr>
            <a:r>
              <a:rPr lang="en-US" sz="3600" b="1" dirty="0">
                <a:solidFill>
                  <a:schemeClr val="bg1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Summary of Lecture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Program = instructions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Python = easy language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Indentation = structure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Variables = storage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Integer/Float = data types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Input/Output = interaction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Expression vs Statement = basic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608</Words>
  <Application>Microsoft Office PowerPoint</Application>
  <PresentationFormat>Custom</PresentationFormat>
  <Paragraphs>115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HK Grotesk Bold</vt:lpstr>
      <vt:lpstr>Arial</vt:lpstr>
      <vt:lpstr>Arial Black</vt:lpstr>
      <vt:lpstr>Halant Bold</vt:lpstr>
      <vt:lpstr>Halant Medium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Lecture 1</dc:title>
  <dc:creator/>
  <cp:lastModifiedBy>Admin</cp:lastModifiedBy>
  <cp:revision>67</cp:revision>
  <dcterms:created xsi:type="dcterms:W3CDTF">2006-08-16T00:00:00Z</dcterms:created>
  <dcterms:modified xsi:type="dcterms:W3CDTF">2026-05-02T11:43:35Z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0619587701084622B2FE28AD10B5130E_13</vt:lpwstr>
  </property>
  <property fmtid="{D5CDD505-2E9C-101B-9397-08002B2CF9AE}" pid="3" name="KSOProductBuildVer">
    <vt:lpwstr>1033-12.1.0.25242</vt:lpwstr>
  </property>
</Properties>
</file>