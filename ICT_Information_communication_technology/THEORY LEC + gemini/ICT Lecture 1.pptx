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753600" cy="7315200"/>
  <p:notesSz cx="6858000" cy="9144000"/>
  <p:embeddedFontLst>
    <p:embeddedFont>
      <p:font typeface="HK Grotesk" panose="020B0604020202020204" charset="0"/>
      <p:regular r:id="rId23"/>
    </p:embeddedFont>
    <p:embeddedFont>
      <p:font typeface="Halant" panose="020B0604020202020204" charset="0"/>
      <p:regular r:id="rId24"/>
    </p:embeddedFont>
    <p:embeddedFont>
      <p:font typeface="Calibri" panose="020F0502020204030204" pitchFamily="34" charset="0"/>
      <p:regular r:id="rId25"/>
      <p:bold r:id="rId26"/>
      <p:italic r:id="rId27"/>
      <p:boldItalic r:id="rId28"/>
    </p:embeddedFont>
    <p:embeddedFont>
      <p:font typeface="HK Grotesk Bold" panose="020B0604020202020204" charset="0"/>
      <p:regular r:id="rId29"/>
    </p:embeddedFont>
    <p:embeddedFont>
      <p:font typeface="Assistant" panose="020B0604020202020204" charset="-79"/>
      <p:regular r:id="rId30"/>
    </p:embeddedFont>
    <p:embeddedFont>
      <p:font typeface="Assistant Bold" panose="020B0604020202020204" charset="-79"/>
      <p:regular r:id="rId31"/>
    </p:embeddedFont>
    <p:embeddedFont>
      <p:font typeface="Halant Medium" panose="020B0604020202020204" charset="0"/>
      <p:regular r:id="rId32"/>
    </p:embeddedFont>
    <p:embeddedFont>
      <p:font typeface="Halant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141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t>2/1/2026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t>‹#›</a:t>
            </a:fld>
            <a:endParaRPr lang="en-US"/>
          </a:p>
        </p:txBody>
      </p:sp>
    </p:spTree>
    <p:extLst>
      <p:ext uri="{BB962C8B-B14F-4D97-AF65-F5344CB8AC3E}">
        <p14:creationId xmlns:p14="http://schemas.microsoft.com/office/powerpoint/2010/main" val="3125596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AD7AA2C-B60B-4B49-A158-C68B6DC03181}" type="slidenum">
              <a:rPr lang="en-US" smtClean="0"/>
              <a:t>17</a:t>
            </a:fld>
            <a:endParaRPr lang="en-US"/>
          </a:p>
        </p:txBody>
      </p:sp>
    </p:spTree>
    <p:extLst>
      <p:ext uri="{BB962C8B-B14F-4D97-AF65-F5344CB8AC3E}">
        <p14:creationId xmlns:p14="http://schemas.microsoft.com/office/powerpoint/2010/main" val="734954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2101853"/>
            <a:ext cx="6200241" cy="3104583"/>
            <a:chOff x="0" y="0"/>
            <a:chExt cx="8266987" cy="4139444"/>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79"/>
                </a:lnSpc>
                <a:spcBef>
                  <a:spcPct val="0"/>
                </a:spcBef>
              </a:pPr>
              <a:r>
                <a:rPr lang="en-US" sz="2700" b="1">
                  <a:solidFill>
                    <a:srgbClr val="731F7D"/>
                  </a:solidFill>
                  <a:latin typeface="Halant Medium"/>
                  <a:ea typeface="Halant Medium"/>
                  <a:cs typeface="Halant Medium"/>
                  <a:sym typeface="Halant Medium"/>
                </a:rPr>
                <a:t> </a:t>
              </a:r>
              <a:r>
                <a:rPr lang="en-US" sz="2700" b="1">
                  <a:solidFill>
                    <a:srgbClr val="731F7D"/>
                  </a:solidFill>
                  <a:latin typeface="Halant Bold"/>
                  <a:ea typeface="Halant Bold"/>
                  <a:cs typeface="Halant Bold"/>
                  <a:sym typeface="Halant Bold"/>
                </a:rPr>
                <a:t>  (CSC101)</a:t>
              </a:r>
            </a:p>
          </p:txBody>
        </p:sp>
        <p:sp>
          <p:nvSpPr>
            <p:cNvPr id="4" name="TextBox 4"/>
            <p:cNvSpPr txBox="1"/>
            <p:nvPr/>
          </p:nvSpPr>
          <p:spPr>
            <a:xfrm>
              <a:off x="183005" y="9525"/>
              <a:ext cx="8083982" cy="3586359"/>
            </a:xfrm>
            <a:prstGeom prst="rect">
              <a:avLst/>
            </a:prstGeom>
          </p:spPr>
          <p:txBody>
            <a:bodyPr lIns="0" tIns="0" rIns="0" bIns="0" rtlCol="0" anchor="t">
              <a:spAutoFit/>
            </a:bodyPr>
            <a:lstStyle/>
            <a:p>
              <a:pPr algn="l">
                <a:lnSpc>
                  <a:spcPts val="7080"/>
                </a:lnSpc>
              </a:pPr>
              <a:r>
                <a:rPr lang="en-US" sz="6000" b="1">
                  <a:solidFill>
                    <a:srgbClr val="000000"/>
                  </a:solidFill>
                  <a:latin typeface="HK Grotesk Bold"/>
                  <a:ea typeface="HK Grotesk Bold"/>
                  <a:cs typeface="HK Grotesk Bold"/>
                  <a:sym typeface="HK Grotesk Bold"/>
                </a:rPr>
                <a:t>Information Communication Technology </a:t>
              </a: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2"/>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3"/>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4"/>
            <a:stretch>
              <a:fillRect/>
            </a:stretch>
          </a:blipFill>
        </p:spPr>
      </p:sp>
      <p:sp>
        <p:nvSpPr>
          <p:cNvPr id="8" name="TextBox 8"/>
          <p:cNvSpPr txBox="1"/>
          <p:nvPr/>
        </p:nvSpPr>
        <p:spPr>
          <a:xfrm>
            <a:off x="467602" y="5313139"/>
            <a:ext cx="7099307" cy="1407795"/>
          </a:xfrm>
          <a:prstGeom prst="rect">
            <a:avLst/>
          </a:prstGeom>
        </p:spPr>
        <p:txBody>
          <a:bodyPr lIns="0" tIns="0" rIns="0" bIns="0" rtlCol="0" anchor="t">
            <a:spAutoFit/>
          </a:bodyPr>
          <a:lstStyle/>
          <a:p>
            <a:pPr algn="l">
              <a:lnSpc>
                <a:spcPts val="3780"/>
              </a:lnSpc>
            </a:pPr>
            <a:r>
              <a:rPr lang="en-US" sz="2700" b="1">
                <a:solidFill>
                  <a:srgbClr val="731F7D"/>
                </a:solidFill>
                <a:latin typeface="Halant Bold"/>
                <a:ea typeface="Halant Bold"/>
                <a:cs typeface="Halant Bold"/>
                <a:sym typeface="Halant Bold"/>
              </a:rPr>
              <a:t>Lecture 1</a:t>
            </a:r>
          </a:p>
          <a:p>
            <a:pPr algn="l">
              <a:lnSpc>
                <a:spcPts val="3780"/>
              </a:lnSpc>
            </a:pPr>
            <a:r>
              <a:rPr lang="en-US" sz="2700" b="1">
                <a:solidFill>
                  <a:srgbClr val="731F7D"/>
                </a:solidFill>
                <a:latin typeface="Halant Bold"/>
                <a:ea typeface="Halant Bold"/>
                <a:cs typeface="Halant Bold"/>
                <a:sym typeface="Halant Bold"/>
              </a:rPr>
              <a:t>Instructor: Mariam Fiaz</a:t>
            </a:r>
          </a:p>
          <a:p>
            <a:pPr algn="l">
              <a:lnSpc>
                <a:spcPts val="3779"/>
              </a:lnSpc>
              <a:spcBef>
                <a:spcPct val="0"/>
              </a:spcBef>
            </a:pPr>
            <a:r>
              <a:rPr lang="en-US" sz="2700" b="1">
                <a:solidFill>
                  <a:srgbClr val="731F7D"/>
                </a:solidFill>
                <a:latin typeface="Halant Bold"/>
                <a:ea typeface="Halant Bold"/>
                <a:cs typeface="Halant Bold"/>
                <a:sym typeface="Halant Bold"/>
              </a:rPr>
              <a:t>email: mariamsherwani434@gmail.com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377670" y="418345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2"/>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3"/>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4"/>
            <a:stretch>
              <a:fillRect/>
            </a:stretch>
          </a:blipFill>
        </p:spPr>
      </p:sp>
      <p:grpSp>
        <p:nvGrpSpPr>
          <p:cNvPr id="5" name="Group 5"/>
          <p:cNvGrpSpPr/>
          <p:nvPr/>
        </p:nvGrpSpPr>
        <p:grpSpPr>
          <a:xfrm>
            <a:off x="111098" y="1146640"/>
            <a:ext cx="9306842" cy="4847646"/>
            <a:chOff x="-299413" y="0"/>
            <a:chExt cx="12409123" cy="6463528"/>
          </a:xfrm>
        </p:grpSpPr>
        <p:sp>
          <p:nvSpPr>
            <p:cNvPr id="6" name="TextBox 6"/>
            <p:cNvSpPr txBox="1"/>
            <p:nvPr/>
          </p:nvSpPr>
          <p:spPr>
            <a:xfrm>
              <a:off x="-35748" y="909547"/>
              <a:ext cx="8342712" cy="1222209"/>
            </a:xfrm>
            <a:prstGeom prst="rect">
              <a:avLst/>
            </a:prstGeom>
          </p:spPr>
          <p:txBody>
            <a:bodyPr lIns="0" tIns="0" rIns="0" bIns="0" rtlCol="0" anchor="t">
              <a:spAutoFit/>
            </a:bodyPr>
            <a:lstStyle/>
            <a:p>
              <a:pPr algn="l">
                <a:lnSpc>
                  <a:spcPts val="7374"/>
                </a:lnSpc>
              </a:pPr>
              <a:r>
                <a:rPr lang="en-US" sz="6249" b="1" dirty="0">
                  <a:solidFill>
                    <a:srgbClr val="FFFFFF"/>
                  </a:solidFill>
                  <a:latin typeface="HK Grotesk Bold"/>
                  <a:ea typeface="HK Grotesk Bold"/>
                  <a:cs typeface="HK Grotesk Bold"/>
                  <a:sym typeface="HK Grotesk Bold"/>
                </a:rPr>
                <a:t>Reference Books:</a:t>
              </a: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7"/>
                </a:lnSpc>
                <a:spcBef>
                  <a:spcPct val="0"/>
                </a:spcBef>
              </a:pPr>
              <a:endParaRPr/>
            </a:p>
          </p:txBody>
        </p:sp>
        <p:sp>
          <p:nvSpPr>
            <p:cNvPr id="8" name="TextBox 8"/>
            <p:cNvSpPr txBox="1"/>
            <p:nvPr/>
          </p:nvSpPr>
          <p:spPr>
            <a:xfrm>
              <a:off x="-299413" y="2394036"/>
              <a:ext cx="10880962" cy="4069492"/>
            </a:xfrm>
            <a:prstGeom prst="rect">
              <a:avLst/>
            </a:prstGeom>
          </p:spPr>
          <p:txBody>
            <a:bodyPr wrap="square" lIns="0" tIns="0" rIns="0" bIns="0" rtlCol="0" anchor="t">
              <a:spAutoFit/>
            </a:bodyPr>
            <a:lstStyle/>
            <a:p>
              <a:pPr marL="518160" lvl="1" indent="-259080" algn="just">
                <a:lnSpc>
                  <a:spcPts val="3359"/>
                </a:lnSpc>
                <a:buAutoNum type="arabicPeriod"/>
              </a:pPr>
              <a:r>
                <a:rPr lang="en-US" sz="2400" spc="-24" dirty="0">
                  <a:solidFill>
                    <a:srgbClr val="FFFFFF"/>
                  </a:solidFill>
                  <a:latin typeface="Assistant"/>
                  <a:ea typeface="Assistant"/>
                  <a:cs typeface="Assistant"/>
                  <a:sym typeface="Assistant"/>
                </a:rPr>
                <a:t>Understanding Computers: Today and Tomorrow, Comprehensive – Deborah Morley &amp; Charles S. Parker, Cengage Learning, 2017</a:t>
              </a:r>
              <a:r>
                <a:rPr lang="en-US" sz="2400" b="1" spc="-24" dirty="0">
                  <a:solidFill>
                    <a:srgbClr val="FFFFFF"/>
                  </a:solidFill>
                  <a:latin typeface="Assistant Bold"/>
                  <a:ea typeface="Assistant Bold"/>
                  <a:cs typeface="Assistant Bold"/>
                  <a:sym typeface="Assistant Bold"/>
                </a:rPr>
                <a:t> (Read Chapters 1 &amp; 4)</a:t>
              </a:r>
            </a:p>
            <a:p>
              <a:pPr algn="just">
                <a:lnSpc>
                  <a:spcPts val="3359"/>
                </a:lnSpc>
              </a:pPr>
              <a:endParaRPr lang="en-US" sz="2400" b="1" spc="-24" dirty="0">
                <a:solidFill>
                  <a:srgbClr val="FFFFFF"/>
                </a:solidFill>
                <a:latin typeface="Assistant Bold"/>
                <a:ea typeface="Assistant Bold"/>
                <a:cs typeface="Assistant Bold"/>
                <a:sym typeface="Assistant Bold"/>
              </a:endParaRPr>
            </a:p>
            <a:p>
              <a:pPr marL="518160" lvl="1" indent="-259080" algn="just">
                <a:lnSpc>
                  <a:spcPts val="3359"/>
                </a:lnSpc>
                <a:buAutoNum type="arabicPeriod"/>
              </a:pPr>
              <a:r>
                <a:rPr lang="en-US" sz="2400" spc="-24" dirty="0">
                  <a:solidFill>
                    <a:srgbClr val="FFFFFF"/>
                  </a:solidFill>
                  <a:latin typeface="Assistant"/>
                  <a:ea typeface="Assistant"/>
                  <a:cs typeface="Assistant"/>
                  <a:sym typeface="Assistant"/>
                </a:rPr>
                <a:t>Computer Science Illuminated – Nell Dale &amp; John Lewis, Jones &amp; Bartlett Learning, LLC, 2020</a:t>
              </a:r>
              <a:r>
                <a:rPr lang="en-US" sz="2400" b="1" spc="-24" dirty="0">
                  <a:solidFill>
                    <a:srgbClr val="FFFFFF"/>
                  </a:solidFill>
                  <a:latin typeface="Assistant Bold"/>
                  <a:ea typeface="Assistant Bold"/>
                  <a:cs typeface="Assistant Bold"/>
                  <a:sym typeface="Assistant Bold"/>
                </a:rPr>
                <a:t> (Read Chapter 1)</a:t>
              </a:r>
            </a:p>
            <a:p>
              <a:pPr algn="just">
                <a:lnSpc>
                  <a:spcPts val="3359"/>
                </a:lnSpc>
                <a:spcBef>
                  <a:spcPct val="0"/>
                </a:spcBef>
              </a:pPr>
              <a:endParaRPr lang="en-US" sz="2400" b="1" spc="-24" dirty="0">
                <a:solidFill>
                  <a:srgbClr val="FFFFFF"/>
                </a:solidFill>
                <a:latin typeface="Assistant Bold"/>
                <a:ea typeface="Assistant Bold"/>
                <a:cs typeface="Assistant Bold"/>
                <a:sym typeface="Assistant 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1584" y="527357"/>
            <a:ext cx="7502435" cy="751201"/>
          </a:xfrm>
          <a:prstGeom prst="rect">
            <a:avLst/>
          </a:prstGeom>
        </p:spPr>
        <p:txBody>
          <a:bodyPr lIns="0" tIns="0" rIns="0" bIns="0" rtlCol="0" anchor="t">
            <a:spAutoFit/>
          </a:bodyPr>
          <a:lstStyle/>
          <a:p>
            <a:pPr algn="l">
              <a:lnSpc>
                <a:spcPts val="5900"/>
              </a:lnSpc>
            </a:pPr>
            <a:r>
              <a:rPr lang="en-US" sz="5000" b="1">
                <a:solidFill>
                  <a:srgbClr val="000000"/>
                </a:solidFill>
                <a:latin typeface="HK Grotesk Bold"/>
                <a:ea typeface="HK Grotesk Bold"/>
                <a:cs typeface="HK Grotesk Bold"/>
                <a:sym typeface="HK Grotesk Bold"/>
              </a:rPr>
              <a:t>Contents:</a:t>
            </a:r>
          </a:p>
        </p:txBody>
      </p:sp>
      <p:sp>
        <p:nvSpPr>
          <p:cNvPr id="3" name="Freeform 3"/>
          <p:cNvSpPr/>
          <p:nvPr/>
        </p:nvSpPr>
        <p:spPr>
          <a:xfrm rot="-10141306">
            <a:off x="-2034775" y="4670550"/>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2"/>
            <a:stretch>
              <a:fillRect/>
            </a:stretch>
          </a:blipFill>
        </p:spPr>
      </p:sp>
      <p:grpSp>
        <p:nvGrpSpPr>
          <p:cNvPr id="4" name="Group 4"/>
          <p:cNvGrpSpPr/>
          <p:nvPr/>
        </p:nvGrpSpPr>
        <p:grpSpPr>
          <a:xfrm>
            <a:off x="1285462" y="1447723"/>
            <a:ext cx="7658557" cy="5847314"/>
            <a:chOff x="0" y="-28575"/>
            <a:chExt cx="10211409" cy="7796418"/>
          </a:xfrm>
        </p:grpSpPr>
        <p:sp>
          <p:nvSpPr>
            <p:cNvPr id="5" name="TextBox 5"/>
            <p:cNvSpPr txBox="1"/>
            <p:nvPr/>
          </p:nvSpPr>
          <p:spPr>
            <a:xfrm>
              <a:off x="0" y="-28575"/>
              <a:ext cx="10211409" cy="7335341"/>
            </a:xfrm>
            <a:prstGeom prst="rect">
              <a:avLst/>
            </a:prstGeom>
          </p:spPr>
          <p:txBody>
            <a:bodyPr lIns="0" tIns="0" rIns="0" bIns="0" rtlCol="0" anchor="t">
              <a:spAutoFit/>
            </a:bodyPr>
            <a:lstStyle/>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Basic Definition of IT, Computer Technology &amp; Communications Technology</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Role of IT in Society</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Computing Models: Turing Model, Von Neumann Model</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Input Devices</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Output Devices</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How Computers Process Data</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Central Processing Unit (CPU)</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Memory</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Bus &amp; Types</a:t>
              </a:r>
            </a:p>
            <a:p>
              <a:pPr marL="550982" lvl="1" indent="-275491" algn="l">
                <a:lnSpc>
                  <a:spcPts val="3317"/>
                </a:lnSpc>
                <a:buFont typeface="Arial"/>
                <a:buChar char="•"/>
              </a:pPr>
              <a:r>
                <a:rPr lang="en-US" sz="2552" dirty="0">
                  <a:solidFill>
                    <a:srgbClr val="000000"/>
                  </a:solidFill>
                  <a:latin typeface="Halant Medium"/>
                  <a:ea typeface="Halant Medium"/>
                  <a:cs typeface="Halant Medium"/>
                  <a:sym typeface="Halant Medium"/>
                </a:rPr>
                <a:t>Ports &amp; Interfaces</a:t>
              </a:r>
            </a:p>
            <a:p>
              <a:pPr marL="0" lvl="0" indent="0" algn="l">
                <a:lnSpc>
                  <a:spcPts val="3317"/>
                </a:lnSpc>
                <a:spcBef>
                  <a:spcPct val="0"/>
                </a:spcBef>
              </a:pPr>
              <a:endParaRPr lang="en-US" sz="2552" dirty="0">
                <a:solidFill>
                  <a:srgbClr val="000000"/>
                </a:solidFill>
                <a:latin typeface="Halant Medium"/>
                <a:ea typeface="Halant Medium"/>
                <a:cs typeface="Halant Medium"/>
                <a:sym typeface="Halant Medium"/>
              </a:endParaRPr>
            </a:p>
          </p:txBody>
        </p:sp>
        <p:sp>
          <p:nvSpPr>
            <p:cNvPr id="6" name="TextBox 6"/>
            <p:cNvSpPr txBox="1"/>
            <p:nvPr/>
          </p:nvSpPr>
          <p:spPr>
            <a:xfrm>
              <a:off x="0" y="7434048"/>
              <a:ext cx="10211409" cy="333795"/>
            </a:xfrm>
            <a:prstGeom prst="rect">
              <a:avLst/>
            </a:prstGeom>
          </p:spPr>
          <p:txBody>
            <a:bodyPr lIns="0" tIns="0" rIns="0" bIns="0" rtlCol="0" anchor="t">
              <a:spAutoFit/>
            </a:bodyPr>
            <a:lstStyle/>
            <a:p>
              <a:pPr algn="l">
                <a:lnSpc>
                  <a:spcPts val="2143"/>
                </a:lnSpc>
                <a:spcBef>
                  <a:spcPct val="0"/>
                </a:spcBef>
              </a:pPr>
              <a:endParaRPr/>
            </a:p>
          </p:txBody>
        </p:sp>
      </p:gr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1137487" y="-339949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2"/>
            <a:stretch>
              <a:fillRect/>
            </a:stretch>
          </a:blipFill>
        </p:spPr>
      </p:sp>
      <p:sp>
        <p:nvSpPr>
          <p:cNvPr id="3" name="Freeform 3"/>
          <p:cNvSpPr/>
          <p:nvPr/>
        </p:nvSpPr>
        <p:spPr>
          <a:xfrm rot="-2715964">
            <a:off x="7936607" y="32851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3"/>
            <a:stretch>
              <a:fillRect/>
            </a:stretch>
          </a:blipFill>
        </p:spPr>
      </p:sp>
      <p:sp>
        <p:nvSpPr>
          <p:cNvPr id="4" name="Freeform 4"/>
          <p:cNvSpPr/>
          <p:nvPr/>
        </p:nvSpPr>
        <p:spPr>
          <a:xfrm rot="-795738">
            <a:off x="8327515" y="578795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p:cNvGrpSpPr/>
          <p:nvPr/>
        </p:nvGrpSpPr>
        <p:grpSpPr>
          <a:xfrm>
            <a:off x="491701" y="2112783"/>
            <a:ext cx="8770197" cy="4219579"/>
            <a:chOff x="0" y="9525"/>
            <a:chExt cx="11693596" cy="5626105"/>
          </a:xfrm>
        </p:grpSpPr>
        <p:sp>
          <p:nvSpPr>
            <p:cNvPr id="6" name="TextBox 6"/>
            <p:cNvSpPr txBox="1"/>
            <p:nvPr/>
          </p:nvSpPr>
          <p:spPr>
            <a:xfrm>
              <a:off x="0" y="9525"/>
              <a:ext cx="11511034" cy="1693968"/>
            </a:xfrm>
            <a:prstGeom prst="rect">
              <a:avLst/>
            </a:prstGeom>
          </p:spPr>
          <p:txBody>
            <a:bodyPr lIns="0" tIns="0" rIns="0" bIns="0" rtlCol="0" anchor="t">
              <a:spAutoFit/>
            </a:bodyPr>
            <a:lstStyle/>
            <a:p>
              <a:pPr algn="l">
                <a:lnSpc>
                  <a:spcPts val="5899"/>
                </a:lnSpc>
              </a:pPr>
              <a:r>
                <a:rPr lang="en-US" sz="4999" b="1">
                  <a:solidFill>
                    <a:srgbClr val="000000"/>
                  </a:solidFill>
                  <a:latin typeface="HK Grotesk Bold"/>
                  <a:ea typeface="HK Grotesk Bold"/>
                  <a:cs typeface="HK Grotesk Bold"/>
                  <a:sym typeface="HK Grotesk Bold"/>
                </a:rPr>
                <a:t>Information Technology (IT):</a:t>
              </a:r>
            </a:p>
            <a:p>
              <a:pPr algn="l">
                <a:lnSpc>
                  <a:spcPts val="4130"/>
                </a:lnSpc>
              </a:pPr>
              <a:r>
                <a:rPr lang="en-US" sz="3500" b="1">
                  <a:solidFill>
                    <a:srgbClr val="731F7D"/>
                  </a:solidFill>
                  <a:latin typeface="HK Grotesk Bold"/>
                  <a:ea typeface="HK Grotesk Bold"/>
                  <a:cs typeface="HK Grotesk Bold"/>
                  <a:sym typeface="HK Grotesk Bold"/>
                </a:rPr>
                <a:t>Basic Defination</a:t>
              </a:r>
            </a:p>
          </p:txBody>
        </p:sp>
        <p:sp>
          <p:nvSpPr>
            <p:cNvPr id="7" name="TextBox 7"/>
            <p:cNvSpPr txBox="1"/>
            <p:nvPr/>
          </p:nvSpPr>
          <p:spPr>
            <a:xfrm>
              <a:off x="0" y="2044903"/>
              <a:ext cx="11693596" cy="3590727"/>
            </a:xfrm>
            <a:prstGeom prst="rect">
              <a:avLst/>
            </a:prstGeom>
          </p:spPr>
          <p:txBody>
            <a:bodyPr lIns="0" tIns="0" rIns="0" bIns="0" rtlCol="0" anchor="t">
              <a:spAutoFit/>
            </a:bodyPr>
            <a:lstStyle/>
            <a:p>
              <a:pPr marL="0" lvl="0" indent="0" algn="just">
                <a:lnSpc>
                  <a:spcPts val="3499"/>
                </a:lnSpc>
                <a:spcBef>
                  <a:spcPct val="0"/>
                </a:spcBef>
              </a:pPr>
              <a:r>
                <a:rPr lang="en-US" sz="2499" dirty="0">
                  <a:solidFill>
                    <a:srgbClr val="000000"/>
                  </a:solidFill>
                  <a:latin typeface="Halant Medium"/>
                  <a:ea typeface="Halant Medium"/>
                  <a:cs typeface="Halant Medium"/>
                  <a:sym typeface="Halant Medium"/>
                </a:rPr>
                <a:t>Information Technology (IT) refers to the use of computers, software, networks, and communication systems to collect, process, store, and transmit information. IT combines computing devices with communication technologies to support data handling, information exchange, and decision-making in organizations and society.</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494633">
            <a:off x="639456" y="5240195"/>
            <a:ext cx="1552782" cy="1471261"/>
          </a:xfrm>
          <a:custGeom>
            <a:avLst/>
            <a:gdLst/>
            <a:ahLst/>
            <a:cxnLst/>
            <a:rect l="l" t="t" r="r" b="b"/>
            <a:pathLst>
              <a:path w="1552782" h="1471261">
                <a:moveTo>
                  <a:pt x="0" y="0"/>
                </a:moveTo>
                <a:lnTo>
                  <a:pt x="1552782" y="0"/>
                </a:lnTo>
                <a:lnTo>
                  <a:pt x="1552782" y="1471261"/>
                </a:lnTo>
                <a:lnTo>
                  <a:pt x="0" y="1471261"/>
                </a:lnTo>
                <a:lnTo>
                  <a:pt x="0" y="0"/>
                </a:lnTo>
                <a:close/>
              </a:path>
            </a:pathLst>
          </a:custGeom>
          <a:blipFill>
            <a:blip r:embed="rId2"/>
            <a:stretch>
              <a:fillRect/>
            </a:stretch>
          </a:blipFill>
        </p:spPr>
      </p:sp>
      <p:sp>
        <p:nvSpPr>
          <p:cNvPr id="3" name="Freeform 3"/>
          <p:cNvSpPr/>
          <p:nvPr/>
        </p:nvSpPr>
        <p:spPr>
          <a:xfrm>
            <a:off x="-1095310" y="-388589"/>
            <a:ext cx="3423538" cy="3046949"/>
          </a:xfrm>
          <a:custGeom>
            <a:avLst/>
            <a:gdLst/>
            <a:ahLst/>
            <a:cxnLst/>
            <a:rect l="l" t="t" r="r" b="b"/>
            <a:pathLst>
              <a:path w="3423538" h="3046949">
                <a:moveTo>
                  <a:pt x="0" y="0"/>
                </a:moveTo>
                <a:lnTo>
                  <a:pt x="3423538" y="0"/>
                </a:lnTo>
                <a:lnTo>
                  <a:pt x="3423538" y="3046949"/>
                </a:lnTo>
                <a:lnTo>
                  <a:pt x="0" y="3046949"/>
                </a:lnTo>
                <a:lnTo>
                  <a:pt x="0" y="0"/>
                </a:lnTo>
                <a:close/>
              </a:path>
            </a:pathLst>
          </a:custGeom>
          <a:blipFill>
            <a:blip r:embed="rId3"/>
            <a:stretch>
              <a:fillRect/>
            </a:stretch>
          </a:blipFill>
        </p:spPr>
      </p:sp>
      <p:sp>
        <p:nvSpPr>
          <p:cNvPr id="4" name="Freeform 4"/>
          <p:cNvSpPr/>
          <p:nvPr/>
        </p:nvSpPr>
        <p:spPr>
          <a:xfrm rot="380713">
            <a:off x="905565" y="2449450"/>
            <a:ext cx="3496375" cy="3343409"/>
          </a:xfrm>
          <a:custGeom>
            <a:avLst/>
            <a:gdLst/>
            <a:ahLst/>
            <a:cxnLst/>
            <a:rect l="l" t="t" r="r" b="b"/>
            <a:pathLst>
              <a:path w="3496375" h="3343409">
                <a:moveTo>
                  <a:pt x="0" y="0"/>
                </a:moveTo>
                <a:lnTo>
                  <a:pt x="3496376" y="0"/>
                </a:lnTo>
                <a:lnTo>
                  <a:pt x="3496376" y="3343409"/>
                </a:lnTo>
                <a:lnTo>
                  <a:pt x="0" y="3343409"/>
                </a:lnTo>
                <a:lnTo>
                  <a:pt x="0" y="0"/>
                </a:lnTo>
                <a:close/>
              </a:path>
            </a:pathLst>
          </a:custGeom>
          <a:blipFill>
            <a:blip r:embed="rId4"/>
            <a:stretch>
              <a:fillRect/>
            </a:stretch>
          </a:blipFill>
        </p:spPr>
      </p:sp>
      <p:sp>
        <p:nvSpPr>
          <p:cNvPr id="5" name="TextBox 5"/>
          <p:cNvSpPr txBox="1"/>
          <p:nvPr/>
        </p:nvSpPr>
        <p:spPr>
          <a:xfrm>
            <a:off x="4433746" y="1519462"/>
            <a:ext cx="4853603" cy="4276275"/>
          </a:xfrm>
          <a:prstGeom prst="rect">
            <a:avLst/>
          </a:prstGeom>
        </p:spPr>
        <p:txBody>
          <a:bodyPr lIns="0" tIns="0" rIns="0" bIns="0" rtlCol="0" anchor="t">
            <a:spAutoFit/>
          </a:bodyPr>
          <a:lstStyle/>
          <a:p>
            <a:pPr algn="ctr">
              <a:lnSpc>
                <a:spcPts val="4216"/>
              </a:lnSpc>
            </a:pPr>
            <a:r>
              <a:rPr lang="en-US" sz="3572">
                <a:solidFill>
                  <a:srgbClr val="FFFFFF"/>
                </a:solidFill>
                <a:latin typeface="HK Grotesk"/>
                <a:ea typeface="HK Grotesk"/>
                <a:cs typeface="HK Grotesk"/>
                <a:sym typeface="HK Grotesk"/>
              </a:rPr>
              <a:t>IT is not limited to computers alone; it also includes networking infrastructure, software applications, data management systems, and digital communication tools.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2"/>
            <a:stretch>
              <a:fillRect/>
            </a:stretch>
          </a:blipFill>
        </p:spPr>
      </p:sp>
      <p:sp>
        <p:nvSpPr>
          <p:cNvPr id="3" name="TextBox 3"/>
          <p:cNvSpPr txBox="1"/>
          <p:nvPr/>
        </p:nvSpPr>
        <p:spPr>
          <a:xfrm>
            <a:off x="222075" y="603378"/>
            <a:ext cx="9301479" cy="1489701"/>
          </a:xfrm>
          <a:prstGeom prst="rect">
            <a:avLst/>
          </a:prstGeom>
        </p:spPr>
        <p:txBody>
          <a:bodyPr lIns="0" tIns="0" rIns="0" bIns="0" rtlCol="0" anchor="t">
            <a:spAutoFit/>
          </a:bodyPr>
          <a:lstStyle/>
          <a:p>
            <a:pPr algn="ctr">
              <a:lnSpc>
                <a:spcPts val="5900"/>
              </a:lnSpc>
            </a:pPr>
            <a:r>
              <a:rPr lang="en-US" sz="5000" b="1">
                <a:solidFill>
                  <a:srgbClr val="000000"/>
                </a:solidFill>
                <a:latin typeface="HK Grotesk Bold"/>
                <a:ea typeface="HK Grotesk Bold"/>
                <a:cs typeface="HK Grotesk Bold"/>
                <a:sym typeface="HK Grotesk Bold"/>
              </a:rPr>
              <a:t>Computer Technology and Communication Technology</a:t>
            </a:r>
          </a:p>
        </p:txBody>
      </p:sp>
      <p:grpSp>
        <p:nvGrpSpPr>
          <p:cNvPr id="4" name="Group 4"/>
          <p:cNvGrpSpPr/>
          <p:nvPr/>
        </p:nvGrpSpPr>
        <p:grpSpPr>
          <a:xfrm>
            <a:off x="467360" y="2561729"/>
            <a:ext cx="3897454" cy="3465819"/>
            <a:chOff x="0" y="0"/>
            <a:chExt cx="5196605" cy="4621092"/>
          </a:xfrm>
        </p:grpSpPr>
        <p:sp>
          <p:nvSpPr>
            <p:cNvPr id="5" name="TextBox 5"/>
            <p:cNvSpPr txBox="1"/>
            <p:nvPr/>
          </p:nvSpPr>
          <p:spPr>
            <a:xfrm>
              <a:off x="0" y="-28575"/>
              <a:ext cx="5196605" cy="1200362"/>
            </a:xfrm>
            <a:prstGeom prst="rect">
              <a:avLst/>
            </a:prstGeom>
          </p:spPr>
          <p:txBody>
            <a:bodyPr lIns="0" tIns="0" rIns="0" bIns="0" rtlCol="0" anchor="t">
              <a:spAutoFit/>
            </a:bodyPr>
            <a:lstStyle/>
            <a:p>
              <a:pPr algn="ctr">
                <a:lnSpc>
                  <a:spcPts val="3639"/>
                </a:lnSpc>
              </a:pPr>
              <a:r>
                <a:rPr lang="en-US" sz="2799" b="1">
                  <a:solidFill>
                    <a:srgbClr val="731F7D"/>
                  </a:solidFill>
                  <a:latin typeface="Halant Bold"/>
                  <a:ea typeface="Halant Bold"/>
                  <a:cs typeface="Halant Bold"/>
                  <a:sym typeface="Halant Bold"/>
                </a:rPr>
                <a:t>Computer </a:t>
              </a:r>
            </a:p>
            <a:p>
              <a:pPr marL="0" lvl="0" indent="0" algn="ctr">
                <a:lnSpc>
                  <a:spcPts val="3639"/>
                </a:lnSpc>
                <a:spcBef>
                  <a:spcPct val="0"/>
                </a:spcBef>
              </a:pPr>
              <a:r>
                <a:rPr lang="en-US" sz="2799" b="1">
                  <a:solidFill>
                    <a:srgbClr val="731F7D"/>
                  </a:solidFill>
                  <a:latin typeface="Halant Bold"/>
                  <a:ea typeface="Halant Bold"/>
                  <a:cs typeface="Halant Bold"/>
                  <a:sym typeface="Halant Bold"/>
                </a:rPr>
                <a:t>Tecchnology</a:t>
              </a:r>
            </a:p>
          </p:txBody>
        </p:sp>
        <p:sp>
          <p:nvSpPr>
            <p:cNvPr id="6" name="TextBox 6"/>
            <p:cNvSpPr txBox="1"/>
            <p:nvPr/>
          </p:nvSpPr>
          <p:spPr>
            <a:xfrm>
              <a:off x="0" y="1361425"/>
              <a:ext cx="5196605" cy="3259667"/>
            </a:xfrm>
            <a:prstGeom prst="rect">
              <a:avLst/>
            </a:prstGeom>
          </p:spPr>
          <p:txBody>
            <a:bodyPr lIns="0" tIns="0" rIns="0" bIns="0" rtlCol="0" anchor="t">
              <a:spAutoFit/>
            </a:bodyPr>
            <a:lstStyle/>
            <a:p>
              <a:pPr algn="just">
                <a:lnSpc>
                  <a:spcPts val="2799"/>
                </a:lnSpc>
                <a:spcBef>
                  <a:spcPct val="0"/>
                </a:spcBef>
              </a:pPr>
              <a:r>
                <a:rPr lang="en-US" sz="1999" spc="-19">
                  <a:solidFill>
                    <a:srgbClr val="000000"/>
                  </a:solidFill>
                  <a:latin typeface="Assistant"/>
                  <a:ea typeface="Assistant"/>
                  <a:cs typeface="Assistant"/>
                  <a:sym typeface="Assistant"/>
                </a:rPr>
                <a:t>Computer technology focuses on hardware and software systems used to process data into meaningful information. It includes input devices, processing units, memory systems, output devices, and the software that controls system operations. </a:t>
              </a:r>
            </a:p>
          </p:txBody>
        </p:sp>
      </p:grpSp>
      <p:sp>
        <p:nvSpPr>
          <p:cNvPr id="7" name="Freeform 7"/>
          <p:cNvSpPr/>
          <p:nvPr/>
        </p:nvSpPr>
        <p:spPr>
          <a:xfrm rot="313119">
            <a:off x="7867328" y="-12185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3"/>
            <a:stretch>
              <a:fillRect/>
            </a:stretch>
          </a:blipFill>
        </p:spPr>
      </p:sp>
      <p:grpSp>
        <p:nvGrpSpPr>
          <p:cNvPr id="8" name="Group 8"/>
          <p:cNvGrpSpPr/>
          <p:nvPr/>
        </p:nvGrpSpPr>
        <p:grpSpPr>
          <a:xfrm>
            <a:off x="4717131" y="2561729"/>
            <a:ext cx="4588334" cy="4170669"/>
            <a:chOff x="0" y="0"/>
            <a:chExt cx="6117779" cy="5560892"/>
          </a:xfrm>
        </p:grpSpPr>
        <p:sp>
          <p:nvSpPr>
            <p:cNvPr id="9" name="TextBox 9"/>
            <p:cNvSpPr txBox="1"/>
            <p:nvPr/>
          </p:nvSpPr>
          <p:spPr>
            <a:xfrm>
              <a:off x="0" y="-28575"/>
              <a:ext cx="6117779" cy="1200362"/>
            </a:xfrm>
            <a:prstGeom prst="rect">
              <a:avLst/>
            </a:prstGeom>
          </p:spPr>
          <p:txBody>
            <a:bodyPr lIns="0" tIns="0" rIns="0" bIns="0" rtlCol="0" anchor="t">
              <a:spAutoFit/>
            </a:bodyPr>
            <a:lstStyle/>
            <a:p>
              <a:pPr algn="ctr">
                <a:lnSpc>
                  <a:spcPts val="3639"/>
                </a:lnSpc>
              </a:pPr>
              <a:r>
                <a:rPr lang="en-US" sz="2799" b="1">
                  <a:solidFill>
                    <a:srgbClr val="731F7D"/>
                  </a:solidFill>
                  <a:latin typeface="Halant Bold"/>
                  <a:ea typeface="Halant Bold"/>
                  <a:cs typeface="Halant Bold"/>
                  <a:sym typeface="Halant Bold"/>
                </a:rPr>
                <a:t>Communication </a:t>
              </a:r>
            </a:p>
            <a:p>
              <a:pPr marL="0" lvl="0" indent="0" algn="ctr">
                <a:lnSpc>
                  <a:spcPts val="3639"/>
                </a:lnSpc>
                <a:spcBef>
                  <a:spcPct val="0"/>
                </a:spcBef>
              </a:pPr>
              <a:r>
                <a:rPr lang="en-US" sz="2799" b="1">
                  <a:solidFill>
                    <a:srgbClr val="731F7D"/>
                  </a:solidFill>
                  <a:latin typeface="Halant Bold"/>
                  <a:ea typeface="Halant Bold"/>
                  <a:cs typeface="Halant Bold"/>
                  <a:sym typeface="Halant Bold"/>
                </a:rPr>
                <a:t>Tecchnology</a:t>
              </a:r>
            </a:p>
          </p:txBody>
        </p:sp>
        <p:sp>
          <p:nvSpPr>
            <p:cNvPr id="10" name="TextBox 10"/>
            <p:cNvSpPr txBox="1"/>
            <p:nvPr/>
          </p:nvSpPr>
          <p:spPr>
            <a:xfrm>
              <a:off x="0" y="1361425"/>
              <a:ext cx="6117779" cy="4199467"/>
            </a:xfrm>
            <a:prstGeom prst="rect">
              <a:avLst/>
            </a:prstGeom>
          </p:spPr>
          <p:txBody>
            <a:bodyPr lIns="0" tIns="0" rIns="0" bIns="0" rtlCol="0" anchor="t">
              <a:spAutoFit/>
            </a:bodyPr>
            <a:lstStyle/>
            <a:p>
              <a:pPr algn="just">
                <a:lnSpc>
                  <a:spcPts val="2799"/>
                </a:lnSpc>
                <a:spcBef>
                  <a:spcPct val="0"/>
                </a:spcBef>
              </a:pPr>
              <a:r>
                <a:rPr lang="en-US" sz="1999" spc="-19">
                  <a:solidFill>
                    <a:srgbClr val="000000"/>
                  </a:solidFill>
                  <a:latin typeface="Assistant"/>
                  <a:ea typeface="Assistant"/>
                  <a:cs typeface="Assistant"/>
                  <a:sym typeface="Assistant"/>
                </a:rPr>
                <a:t>Communication technology deals with the transmission of data and information between devices and users. It includes networks, the Internet, wireless communication systems, and data transmission protocols. Together, computer technology and communication technology form the foundation of modern Information Technology systems.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1137487" y="-339949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2"/>
            <a:stretch>
              <a:fillRect/>
            </a:stretch>
          </a:blipFill>
        </p:spPr>
      </p:sp>
      <p:sp>
        <p:nvSpPr>
          <p:cNvPr id="3" name="Freeform 3"/>
          <p:cNvSpPr/>
          <p:nvPr/>
        </p:nvSpPr>
        <p:spPr>
          <a:xfrm rot="-2715964">
            <a:off x="7936607" y="32851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3"/>
            <a:stretch>
              <a:fillRect/>
            </a:stretch>
          </a:blipFill>
        </p:spPr>
      </p:sp>
      <p:sp>
        <p:nvSpPr>
          <p:cNvPr id="4" name="Freeform 4"/>
          <p:cNvSpPr/>
          <p:nvPr/>
        </p:nvSpPr>
        <p:spPr>
          <a:xfrm rot="-795738">
            <a:off x="8327515" y="568635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p:cNvGrpSpPr/>
          <p:nvPr/>
        </p:nvGrpSpPr>
        <p:grpSpPr>
          <a:xfrm>
            <a:off x="491701" y="1989078"/>
            <a:ext cx="8770197" cy="4146449"/>
            <a:chOff x="0" y="9525"/>
            <a:chExt cx="11693596" cy="5528599"/>
          </a:xfrm>
        </p:grpSpPr>
        <p:sp>
          <p:nvSpPr>
            <p:cNvPr id="6" name="TextBox 6"/>
            <p:cNvSpPr txBox="1"/>
            <p:nvPr/>
          </p:nvSpPr>
          <p:spPr>
            <a:xfrm>
              <a:off x="0" y="9525"/>
              <a:ext cx="11511034" cy="998008"/>
            </a:xfrm>
            <a:prstGeom prst="rect">
              <a:avLst/>
            </a:prstGeom>
          </p:spPr>
          <p:txBody>
            <a:bodyPr lIns="0" tIns="0" rIns="0" bIns="0" rtlCol="0" anchor="t">
              <a:spAutoFit/>
            </a:bodyPr>
            <a:lstStyle/>
            <a:p>
              <a:pPr algn="l">
                <a:lnSpc>
                  <a:spcPts val="5899"/>
                </a:lnSpc>
              </a:pPr>
              <a:r>
                <a:rPr lang="en-US" sz="4999" b="1">
                  <a:solidFill>
                    <a:srgbClr val="000000"/>
                  </a:solidFill>
                  <a:latin typeface="HK Grotesk Bold"/>
                  <a:ea typeface="HK Grotesk Bold"/>
                  <a:cs typeface="HK Grotesk Bold"/>
                  <a:sym typeface="HK Grotesk Bold"/>
                </a:rPr>
                <a:t>Role of IT in Society</a:t>
              </a:r>
            </a:p>
          </p:txBody>
        </p:sp>
        <p:sp>
          <p:nvSpPr>
            <p:cNvPr id="7" name="TextBox 7"/>
            <p:cNvSpPr txBox="1"/>
            <p:nvPr/>
          </p:nvSpPr>
          <p:spPr>
            <a:xfrm>
              <a:off x="0" y="1348943"/>
              <a:ext cx="11693596" cy="4189181"/>
            </a:xfrm>
            <a:prstGeom prst="rect">
              <a:avLst/>
            </a:prstGeom>
          </p:spPr>
          <p:txBody>
            <a:bodyPr lIns="0" tIns="0" rIns="0" bIns="0" rtlCol="0" anchor="t">
              <a:spAutoFit/>
            </a:bodyPr>
            <a:lstStyle/>
            <a:p>
              <a:pPr marL="0" lvl="0" indent="0" algn="just">
                <a:lnSpc>
                  <a:spcPts val="3499"/>
                </a:lnSpc>
                <a:spcBef>
                  <a:spcPct val="0"/>
                </a:spcBef>
              </a:pPr>
              <a:r>
                <a:rPr lang="en-US" sz="2499" dirty="0">
                  <a:solidFill>
                    <a:srgbClr val="000000"/>
                  </a:solidFill>
                  <a:latin typeface="Halant Medium"/>
                  <a:ea typeface="Halant Medium"/>
                  <a:cs typeface="Halant Medium"/>
                  <a:sym typeface="Halant Medium"/>
                </a:rPr>
                <a:t>Information technology plays a vital role in modern society by improving access to education, enhancing healthcare services, supporting business operations, enabling global communication, and promoting social connectivity. Through digital libraries, online education platforms, and affordable computing devices, IT helps reduce the digital divide between different regions of the world.</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2"/>
            <a:stretch>
              <a:fillRect/>
            </a:stretch>
          </a:blipFill>
        </p:spPr>
      </p:sp>
      <p:sp>
        <p:nvSpPr>
          <p:cNvPr id="3" name="TextBox 3"/>
          <p:cNvSpPr txBox="1"/>
          <p:nvPr/>
        </p:nvSpPr>
        <p:spPr>
          <a:xfrm>
            <a:off x="226061" y="543684"/>
            <a:ext cx="9301479" cy="755650"/>
          </a:xfrm>
          <a:prstGeom prst="rect">
            <a:avLst/>
          </a:prstGeom>
        </p:spPr>
        <p:txBody>
          <a:bodyPr lIns="0" tIns="0" rIns="0" bIns="0" rtlCol="0" anchor="t">
            <a:spAutoFit/>
          </a:bodyPr>
          <a:lstStyle/>
          <a:p>
            <a:pPr algn="ctr">
              <a:lnSpc>
                <a:spcPts val="5900"/>
              </a:lnSpc>
            </a:pPr>
            <a:r>
              <a:rPr lang="en-US" sz="5000" b="1">
                <a:solidFill>
                  <a:srgbClr val="000000"/>
                </a:solidFill>
                <a:latin typeface="HK Grotesk Bold"/>
                <a:ea typeface="HK Grotesk Bold"/>
                <a:cs typeface="HK Grotesk Bold"/>
                <a:sym typeface="HK Grotesk Bold"/>
              </a:rPr>
              <a:t>Computing Models</a:t>
            </a:r>
          </a:p>
        </p:txBody>
      </p:sp>
      <p:grpSp>
        <p:nvGrpSpPr>
          <p:cNvPr id="4" name="Group 4"/>
          <p:cNvGrpSpPr/>
          <p:nvPr/>
        </p:nvGrpSpPr>
        <p:grpSpPr>
          <a:xfrm>
            <a:off x="731520" y="2181979"/>
            <a:ext cx="8290560" cy="5360659"/>
            <a:chOff x="0" y="0"/>
            <a:chExt cx="11054080" cy="7147546"/>
          </a:xfrm>
        </p:grpSpPr>
        <p:sp>
          <p:nvSpPr>
            <p:cNvPr id="5" name="TextBox 5"/>
            <p:cNvSpPr txBox="1"/>
            <p:nvPr/>
          </p:nvSpPr>
          <p:spPr>
            <a:xfrm>
              <a:off x="0" y="-28575"/>
              <a:ext cx="11054080" cy="625475"/>
            </a:xfrm>
            <a:prstGeom prst="rect">
              <a:avLst/>
            </a:prstGeom>
          </p:spPr>
          <p:txBody>
            <a:bodyPr lIns="0" tIns="0" rIns="0" bIns="0" rtlCol="0" anchor="t">
              <a:spAutoFit/>
            </a:bodyPr>
            <a:lstStyle/>
            <a:p>
              <a:pPr marL="0" lvl="0" indent="0" algn="l">
                <a:lnSpc>
                  <a:spcPts val="3899"/>
                </a:lnSpc>
                <a:spcBef>
                  <a:spcPct val="0"/>
                </a:spcBef>
              </a:pPr>
              <a:r>
                <a:rPr lang="en-US" sz="2999" b="1">
                  <a:solidFill>
                    <a:srgbClr val="731F7D"/>
                  </a:solidFill>
                  <a:latin typeface="Halant Bold"/>
                  <a:ea typeface="Halant Bold"/>
                  <a:cs typeface="Halant Bold"/>
                  <a:sym typeface="Halant Bold"/>
                </a:rPr>
                <a:t>1. Turing Model</a:t>
              </a:r>
            </a:p>
          </p:txBody>
        </p:sp>
        <p:sp>
          <p:nvSpPr>
            <p:cNvPr id="6" name="TextBox 6"/>
            <p:cNvSpPr txBox="1"/>
            <p:nvPr/>
          </p:nvSpPr>
          <p:spPr>
            <a:xfrm>
              <a:off x="0" y="777014"/>
              <a:ext cx="11054080" cy="6370532"/>
            </a:xfrm>
            <a:prstGeom prst="rect">
              <a:avLst/>
            </a:prstGeom>
          </p:spPr>
          <p:txBody>
            <a:bodyPr lIns="0" tIns="0" rIns="0" bIns="0" rtlCol="0" anchor="t">
              <a:spAutoFit/>
            </a:bodyPr>
            <a:lstStyle/>
            <a:p>
              <a:pPr algn="just">
                <a:lnSpc>
                  <a:spcPts val="3219"/>
                </a:lnSpc>
                <a:spcBef>
                  <a:spcPct val="0"/>
                </a:spcBef>
              </a:pPr>
              <a:r>
                <a:rPr lang="en-US" sz="2299" spc="-22">
                  <a:solidFill>
                    <a:srgbClr val="000000"/>
                  </a:solidFill>
                  <a:latin typeface="Assistant"/>
                  <a:ea typeface="Assistant"/>
                  <a:cs typeface="Assistant"/>
                  <a:sym typeface="Assistant"/>
                </a:rPr>
                <a:t>The Turing Model explains computation in terms of a theoretical machine that follows a defined set of rules to manipulate symbols on a tape. It establishes the limits of what problems can be solved using computation.</a:t>
              </a:r>
            </a:p>
            <a:p>
              <a:pPr algn="just">
                <a:lnSpc>
                  <a:spcPts val="3219"/>
                </a:lnSpc>
                <a:spcBef>
                  <a:spcPct val="0"/>
                </a:spcBef>
              </a:pPr>
              <a:r>
                <a:rPr lang="en-US" sz="2299" spc="-22">
                  <a:solidFill>
                    <a:srgbClr val="000000"/>
                  </a:solidFill>
                  <a:latin typeface="Assistant"/>
                  <a:ea typeface="Assistant"/>
                  <a:cs typeface="Assistant"/>
                  <a:sym typeface="Assistant"/>
                </a:rPr>
                <a:t>Proposed by </a:t>
              </a:r>
              <a:r>
                <a:rPr lang="en-US" sz="2299" b="1" spc="-22">
                  <a:solidFill>
                    <a:srgbClr val="000000"/>
                  </a:solidFill>
                  <a:latin typeface="Assistant Bold"/>
                  <a:ea typeface="Assistant Bold"/>
                  <a:cs typeface="Assistant Bold"/>
                  <a:sym typeface="Assistant Bold"/>
                </a:rPr>
                <a:t>Alan Turing</a:t>
              </a:r>
              <a:r>
                <a:rPr lang="en-US" sz="2299" spc="-22">
                  <a:solidFill>
                    <a:srgbClr val="000000"/>
                  </a:solidFill>
                  <a:latin typeface="Assistant"/>
                  <a:ea typeface="Assistant"/>
                  <a:cs typeface="Assistant"/>
                  <a:sym typeface="Assistant"/>
                </a:rPr>
                <a:t>, this model:</a:t>
              </a:r>
            </a:p>
            <a:p>
              <a:pPr marL="496567" lvl="1" indent="-248284" algn="just">
                <a:lnSpc>
                  <a:spcPts val="3219"/>
                </a:lnSpc>
                <a:buFont typeface="Arial"/>
                <a:buChar char="•"/>
              </a:pPr>
              <a:r>
                <a:rPr lang="en-US" sz="2299" spc="-22">
                  <a:solidFill>
                    <a:srgbClr val="000000"/>
                  </a:solidFill>
                  <a:latin typeface="Assistant"/>
                  <a:ea typeface="Assistant"/>
                  <a:cs typeface="Assistant"/>
                  <a:sym typeface="Assistant"/>
                </a:rPr>
                <a:t>Represents computation using a theoretical machine</a:t>
              </a:r>
            </a:p>
            <a:p>
              <a:pPr marL="496567" lvl="1" indent="-248284" algn="just">
                <a:lnSpc>
                  <a:spcPts val="3219"/>
                </a:lnSpc>
                <a:buFont typeface="Arial"/>
                <a:buChar char="•"/>
              </a:pPr>
              <a:r>
                <a:rPr lang="en-US" sz="2299" spc="-22">
                  <a:solidFill>
                    <a:srgbClr val="000000"/>
                  </a:solidFill>
                  <a:latin typeface="Assistant"/>
                  <a:ea typeface="Assistant"/>
                  <a:cs typeface="Assistant"/>
                  <a:sym typeface="Assistant"/>
                </a:rPr>
                <a:t>Consists of:</a:t>
              </a:r>
            </a:p>
            <a:p>
              <a:pPr marL="993135" lvl="2" indent="-331045" algn="just">
                <a:lnSpc>
                  <a:spcPts val="3219"/>
                </a:lnSpc>
                <a:spcBef>
                  <a:spcPct val="0"/>
                </a:spcBef>
                <a:buFont typeface="Arial"/>
                <a:buChar char="⚬"/>
              </a:pPr>
              <a:r>
                <a:rPr lang="en-US" sz="2299" spc="-22">
                  <a:solidFill>
                    <a:srgbClr val="000000"/>
                  </a:solidFill>
                  <a:latin typeface="Assistant"/>
                  <a:ea typeface="Assistant"/>
                  <a:cs typeface="Assistant"/>
                  <a:sym typeface="Assistant"/>
                </a:rPr>
                <a:t>An infinite tape (memory)</a:t>
              </a:r>
            </a:p>
            <a:p>
              <a:pPr marL="993135" lvl="2" indent="-331045" algn="just">
                <a:lnSpc>
                  <a:spcPts val="3219"/>
                </a:lnSpc>
                <a:spcBef>
                  <a:spcPct val="0"/>
                </a:spcBef>
                <a:buFont typeface="Arial"/>
                <a:buChar char="⚬"/>
              </a:pPr>
              <a:r>
                <a:rPr lang="en-US" sz="2299" spc="-22">
                  <a:solidFill>
                    <a:srgbClr val="000000"/>
                  </a:solidFill>
                  <a:latin typeface="Assistant"/>
                  <a:ea typeface="Assistant"/>
                  <a:cs typeface="Assistant"/>
                  <a:sym typeface="Assistant"/>
                </a:rPr>
                <a:t>A read/write head</a:t>
              </a:r>
            </a:p>
            <a:p>
              <a:pPr marL="993135" lvl="2" indent="-331045" algn="just">
                <a:lnSpc>
                  <a:spcPts val="3219"/>
                </a:lnSpc>
                <a:spcBef>
                  <a:spcPct val="0"/>
                </a:spcBef>
                <a:buFont typeface="Arial"/>
                <a:buChar char="⚬"/>
              </a:pPr>
              <a:r>
                <a:rPr lang="en-US" sz="2299" spc="-22">
                  <a:solidFill>
                    <a:srgbClr val="000000"/>
                  </a:solidFill>
                  <a:latin typeface="Assistant"/>
                  <a:ea typeface="Assistant"/>
                  <a:cs typeface="Assistant"/>
                  <a:sym typeface="Assistant"/>
                </a:rPr>
                <a:t>A set of rules</a:t>
              </a:r>
            </a:p>
            <a:p>
              <a:pPr algn="just">
                <a:lnSpc>
                  <a:spcPts val="3219"/>
                </a:lnSpc>
                <a:spcBef>
                  <a:spcPct val="0"/>
                </a:spcBef>
              </a:pPr>
              <a:endParaRPr lang="en-US" sz="2299" spc="-22">
                <a:solidFill>
                  <a:srgbClr val="000000"/>
                </a:solidFill>
                <a:latin typeface="Assistant"/>
                <a:ea typeface="Assistant"/>
                <a:cs typeface="Assistant"/>
                <a:sym typeface="Assistant"/>
              </a:endParaRPr>
            </a:p>
            <a:p>
              <a:pPr algn="just">
                <a:lnSpc>
                  <a:spcPts val="3219"/>
                </a:lnSpc>
                <a:spcBef>
                  <a:spcPct val="0"/>
                </a:spcBef>
              </a:pPr>
              <a:endParaRPr lang="en-US" sz="2299" spc="-22">
                <a:solidFill>
                  <a:srgbClr val="000000"/>
                </a:solidFill>
                <a:latin typeface="Assistant"/>
                <a:ea typeface="Assistant"/>
                <a:cs typeface="Assistant"/>
                <a:sym typeface="Assistant"/>
              </a:endParaRPr>
            </a:p>
          </p:txBody>
        </p:sp>
      </p:grpSp>
      <p:sp>
        <p:nvSpPr>
          <p:cNvPr id="7" name="Freeform 7"/>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3"/>
            <a:stretch>
              <a:fillRect/>
            </a:stretch>
          </a:blipFill>
        </p:spPr>
      </p:sp>
      <p:sp>
        <p:nvSpPr>
          <p:cNvPr id="8" name="TextBox 8"/>
          <p:cNvSpPr txBox="1"/>
          <p:nvPr/>
        </p:nvSpPr>
        <p:spPr>
          <a:xfrm>
            <a:off x="327113" y="1503164"/>
            <a:ext cx="9099374" cy="450215"/>
          </a:xfrm>
          <a:prstGeom prst="rect">
            <a:avLst/>
          </a:prstGeom>
        </p:spPr>
        <p:txBody>
          <a:bodyPr lIns="0" tIns="0" rIns="0" bIns="0" rtlCol="0" anchor="t">
            <a:spAutoFit/>
          </a:bodyPr>
          <a:lstStyle/>
          <a:p>
            <a:pPr marL="0" lvl="0" indent="0" algn="ctr">
              <a:lnSpc>
                <a:spcPts val="3639"/>
              </a:lnSpc>
              <a:spcBef>
                <a:spcPct val="0"/>
              </a:spcBef>
            </a:pPr>
            <a:r>
              <a:rPr lang="en-US" sz="2799">
                <a:solidFill>
                  <a:srgbClr val="000000"/>
                </a:solidFill>
                <a:latin typeface="Halant"/>
                <a:ea typeface="Halant"/>
                <a:cs typeface="Halant"/>
                <a:sym typeface="Halant"/>
              </a:rPr>
              <a:t>“Computing models describe how computers process data”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2"/>
            <a:stretch>
              <a:fillRect/>
            </a:stretch>
          </a:blipFill>
        </p:spPr>
      </p:sp>
      <p:grpSp>
        <p:nvGrpSpPr>
          <p:cNvPr id="3" name="Group 3"/>
          <p:cNvGrpSpPr/>
          <p:nvPr/>
        </p:nvGrpSpPr>
        <p:grpSpPr>
          <a:xfrm>
            <a:off x="731520" y="934720"/>
            <a:ext cx="8290560" cy="6160759"/>
            <a:chOff x="0" y="0"/>
            <a:chExt cx="11054080" cy="8214346"/>
          </a:xfrm>
        </p:grpSpPr>
        <p:sp>
          <p:nvSpPr>
            <p:cNvPr id="4" name="TextBox 4"/>
            <p:cNvSpPr txBox="1"/>
            <p:nvPr/>
          </p:nvSpPr>
          <p:spPr>
            <a:xfrm>
              <a:off x="0" y="-28575"/>
              <a:ext cx="11054080" cy="625475"/>
            </a:xfrm>
            <a:prstGeom prst="rect">
              <a:avLst/>
            </a:prstGeom>
          </p:spPr>
          <p:txBody>
            <a:bodyPr lIns="0" tIns="0" rIns="0" bIns="0" rtlCol="0" anchor="t">
              <a:spAutoFit/>
            </a:bodyPr>
            <a:lstStyle/>
            <a:p>
              <a:pPr marL="0" lvl="0" indent="0" algn="l">
                <a:lnSpc>
                  <a:spcPts val="3899"/>
                </a:lnSpc>
                <a:spcBef>
                  <a:spcPct val="0"/>
                </a:spcBef>
              </a:pPr>
              <a:r>
                <a:rPr lang="en-US" sz="2999" b="1">
                  <a:solidFill>
                    <a:srgbClr val="731F7D"/>
                  </a:solidFill>
                  <a:latin typeface="Halant Bold"/>
                  <a:ea typeface="Halant Bold"/>
                  <a:cs typeface="Halant Bold"/>
                  <a:sym typeface="Halant Bold"/>
                </a:rPr>
                <a:t> 2. Von Neumann Model</a:t>
              </a:r>
            </a:p>
          </p:txBody>
        </p:sp>
        <p:sp>
          <p:nvSpPr>
            <p:cNvPr id="5" name="TextBox 5"/>
            <p:cNvSpPr txBox="1"/>
            <p:nvPr/>
          </p:nvSpPr>
          <p:spPr>
            <a:xfrm>
              <a:off x="0" y="777014"/>
              <a:ext cx="11054080" cy="7437332"/>
            </a:xfrm>
            <a:prstGeom prst="rect">
              <a:avLst/>
            </a:prstGeom>
          </p:spPr>
          <p:txBody>
            <a:bodyPr lIns="0" tIns="0" rIns="0" bIns="0" rtlCol="0" anchor="t">
              <a:spAutoFit/>
            </a:bodyPr>
            <a:lstStyle/>
            <a:p>
              <a:pPr algn="just">
                <a:lnSpc>
                  <a:spcPts val="3219"/>
                </a:lnSpc>
                <a:spcBef>
                  <a:spcPct val="0"/>
                </a:spcBef>
              </a:pPr>
              <a:r>
                <a:rPr lang="en-US" sz="2299" spc="-22">
                  <a:solidFill>
                    <a:srgbClr val="000000"/>
                  </a:solidFill>
                  <a:latin typeface="Assistant"/>
                  <a:ea typeface="Assistant"/>
                  <a:cs typeface="Assistant"/>
                  <a:sym typeface="Assistant"/>
                </a:rPr>
                <a:t>The Von Neumann architecture is the basis of most modern computers.</a:t>
              </a:r>
            </a:p>
            <a:p>
              <a:pPr algn="just">
                <a:lnSpc>
                  <a:spcPts val="3219"/>
                </a:lnSpc>
                <a:spcBef>
                  <a:spcPct val="0"/>
                </a:spcBef>
              </a:pPr>
              <a:r>
                <a:rPr lang="en-US" sz="2299" spc="-22">
                  <a:solidFill>
                    <a:srgbClr val="000000"/>
                  </a:solidFill>
                  <a:latin typeface="Assistant"/>
                  <a:ea typeface="Assistant"/>
                  <a:cs typeface="Assistant"/>
                  <a:sym typeface="Assistant"/>
                </a:rPr>
                <a:t>Main components:</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Input unit</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Output unit</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Memory unit</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Control Unit</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Arithmetic &amp; Logic Unit (ALU)</a:t>
              </a:r>
            </a:p>
            <a:p>
              <a:pPr algn="just">
                <a:lnSpc>
                  <a:spcPts val="3219"/>
                </a:lnSpc>
                <a:spcBef>
                  <a:spcPct val="0"/>
                </a:spcBef>
              </a:pPr>
              <a:r>
                <a:rPr lang="en-US" sz="2299" spc="-22">
                  <a:solidFill>
                    <a:srgbClr val="000000"/>
                  </a:solidFill>
                  <a:latin typeface="Assistant"/>
                  <a:ea typeface="Assistant"/>
                  <a:cs typeface="Assistant"/>
                  <a:sym typeface="Assistant"/>
                </a:rPr>
                <a:t>Key concept:</a:t>
              </a:r>
            </a:p>
            <a:p>
              <a:pPr marL="496567" lvl="1" indent="-248284" algn="just">
                <a:lnSpc>
                  <a:spcPts val="3219"/>
                </a:lnSpc>
                <a:buFont typeface="Arial"/>
                <a:buChar char="•"/>
              </a:pPr>
              <a:r>
                <a:rPr lang="en-US" sz="2299" spc="-22">
                  <a:solidFill>
                    <a:srgbClr val="000000"/>
                  </a:solidFill>
                  <a:latin typeface="Assistant"/>
                  <a:ea typeface="Assistant"/>
                  <a:cs typeface="Assistant"/>
                  <a:sym typeface="Assistant"/>
                </a:rPr>
                <a:t>Stored-program concept (data and instructions stored in same memory)</a:t>
              </a:r>
            </a:p>
            <a:p>
              <a:pPr algn="just">
                <a:lnSpc>
                  <a:spcPts val="3219"/>
                </a:lnSpc>
                <a:spcBef>
                  <a:spcPct val="0"/>
                </a:spcBef>
              </a:pPr>
              <a:endParaRPr lang="en-US" sz="2299" spc="-22">
                <a:solidFill>
                  <a:srgbClr val="000000"/>
                </a:solidFill>
                <a:latin typeface="Assistant"/>
                <a:ea typeface="Assistant"/>
                <a:cs typeface="Assistant"/>
                <a:sym typeface="Assistant"/>
              </a:endParaRPr>
            </a:p>
            <a:p>
              <a:pPr algn="just">
                <a:lnSpc>
                  <a:spcPts val="3219"/>
                </a:lnSpc>
                <a:spcBef>
                  <a:spcPct val="0"/>
                </a:spcBef>
              </a:pPr>
              <a:endParaRPr lang="en-US" sz="2299" spc="-22">
                <a:solidFill>
                  <a:srgbClr val="000000"/>
                </a:solidFill>
                <a:latin typeface="Assistant"/>
                <a:ea typeface="Assistant"/>
                <a:cs typeface="Assistant"/>
                <a:sym typeface="Assistant"/>
              </a:endParaRPr>
            </a:p>
            <a:p>
              <a:pPr algn="just">
                <a:lnSpc>
                  <a:spcPts val="3219"/>
                </a:lnSpc>
                <a:spcBef>
                  <a:spcPct val="0"/>
                </a:spcBef>
              </a:pPr>
              <a:endParaRPr lang="en-US" sz="2299" spc="-22">
                <a:solidFill>
                  <a:srgbClr val="000000"/>
                </a:solidFill>
                <a:latin typeface="Assistant"/>
                <a:ea typeface="Assistant"/>
                <a:cs typeface="Assistant"/>
                <a:sym typeface="Assistant"/>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3"/>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15964">
            <a:off x="8769727" y="-54524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2"/>
            <a:stretch>
              <a:fillRect/>
            </a:stretch>
          </a:blipFill>
        </p:spPr>
      </p:sp>
      <p:grpSp>
        <p:nvGrpSpPr>
          <p:cNvPr id="3" name="Group 3"/>
          <p:cNvGrpSpPr/>
          <p:nvPr/>
        </p:nvGrpSpPr>
        <p:grpSpPr>
          <a:xfrm>
            <a:off x="562821" y="1007511"/>
            <a:ext cx="8627957" cy="5441675"/>
            <a:chOff x="0" y="9525"/>
            <a:chExt cx="11503943" cy="7255567"/>
          </a:xfrm>
        </p:grpSpPr>
        <p:sp>
          <p:nvSpPr>
            <p:cNvPr id="4" name="TextBox 4"/>
            <p:cNvSpPr txBox="1"/>
            <p:nvPr/>
          </p:nvSpPr>
          <p:spPr>
            <a:xfrm>
              <a:off x="0" y="9525"/>
              <a:ext cx="11324342" cy="998008"/>
            </a:xfrm>
            <a:prstGeom prst="rect">
              <a:avLst/>
            </a:prstGeom>
          </p:spPr>
          <p:txBody>
            <a:bodyPr lIns="0" tIns="0" rIns="0" bIns="0" rtlCol="0" anchor="t">
              <a:spAutoFit/>
            </a:bodyPr>
            <a:lstStyle/>
            <a:p>
              <a:pPr algn="l">
                <a:lnSpc>
                  <a:spcPts val="5899"/>
                </a:lnSpc>
              </a:pPr>
              <a:r>
                <a:rPr lang="en-US" sz="4999" b="1">
                  <a:solidFill>
                    <a:srgbClr val="731F7D"/>
                  </a:solidFill>
                  <a:latin typeface="HK Grotesk Bold"/>
                  <a:ea typeface="HK Grotesk Bold"/>
                  <a:cs typeface="HK Grotesk Bold"/>
                  <a:sym typeface="HK Grotesk Bold"/>
                </a:rPr>
                <a:t>Input Devices</a:t>
              </a:r>
            </a:p>
          </p:txBody>
        </p:sp>
        <p:sp>
          <p:nvSpPr>
            <p:cNvPr id="5" name="TextBox 5"/>
            <p:cNvSpPr txBox="1"/>
            <p:nvPr/>
          </p:nvSpPr>
          <p:spPr>
            <a:xfrm>
              <a:off x="0" y="1348943"/>
              <a:ext cx="11503943" cy="5916149"/>
            </a:xfrm>
            <a:prstGeom prst="rect">
              <a:avLst/>
            </a:prstGeom>
          </p:spPr>
          <p:txBody>
            <a:bodyPr lIns="0" tIns="0" rIns="0" bIns="0" rtlCol="0" anchor="t">
              <a:spAutoFit/>
            </a:bodyPr>
            <a:lstStyle/>
            <a:p>
              <a:pPr algn="just">
                <a:lnSpc>
                  <a:spcPts val="3499"/>
                </a:lnSpc>
              </a:pPr>
              <a:r>
                <a:rPr lang="en-US" sz="2499" dirty="0">
                  <a:solidFill>
                    <a:srgbClr val="731F7D"/>
                  </a:solidFill>
                  <a:latin typeface="Halant Medium"/>
                  <a:ea typeface="Halant Medium"/>
                  <a:cs typeface="Halant Medium"/>
                  <a:sym typeface="Halant Medium"/>
                </a:rPr>
                <a:t>I</a:t>
              </a:r>
              <a:r>
                <a:rPr lang="en-US" sz="2499" dirty="0">
                  <a:solidFill>
                    <a:srgbClr val="000000"/>
                  </a:solidFill>
                  <a:latin typeface="Halant Medium"/>
                  <a:ea typeface="Halant Medium"/>
                  <a:cs typeface="Halant Medium"/>
                  <a:sym typeface="Halant Medium"/>
                </a:rPr>
                <a:t>nput devices are used to enter data and instructions into a computer system. According to the syllabus, the main categories of input devices include: </a:t>
              </a:r>
            </a:p>
            <a:p>
              <a:pPr algn="just">
                <a:lnSpc>
                  <a:spcPts val="3499"/>
                </a:lnSpc>
              </a:pPr>
              <a:endParaRPr lang="en-US" sz="2499" b="1" dirty="0">
                <a:solidFill>
                  <a:srgbClr val="000000"/>
                </a:solidFill>
                <a:latin typeface="Halant Medium"/>
                <a:ea typeface="Halant Medium"/>
                <a:cs typeface="Halant Medium"/>
                <a:sym typeface="Halant Medium"/>
              </a:endParaRP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Keyboard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Used to input text, numbers, and commands. </a:t>
              </a: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Pointing</a:t>
              </a:r>
              <a:r>
                <a:rPr lang="en-US" sz="2499" b="1" dirty="0">
                  <a:solidFill>
                    <a:srgbClr val="000000"/>
                  </a:solidFill>
                  <a:latin typeface="Halant Medium"/>
                  <a:ea typeface="Halant Medium"/>
                  <a:cs typeface="Halant Medium"/>
                  <a:sym typeface="Halant Medium"/>
                </a:rPr>
                <a:t> </a:t>
              </a:r>
              <a:r>
                <a:rPr lang="en-US" sz="2499" b="1" dirty="0">
                  <a:solidFill>
                    <a:srgbClr val="000000"/>
                  </a:solidFill>
                  <a:latin typeface="Halant Bold"/>
                  <a:ea typeface="Halant Bold"/>
                  <a:cs typeface="Halant Bold"/>
                  <a:sym typeface="Halant Bold"/>
                </a:rPr>
                <a:t>Devices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Such as mouse and trackpad, used to control on-screen movement and selection. </a:t>
              </a: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Touch Devices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Touchscreens that allow direct interaction with the display. </a:t>
              </a:r>
            </a:p>
            <a:p>
              <a:pPr marL="0" lvl="0" indent="0" algn="just">
                <a:lnSpc>
                  <a:spcPts val="3080"/>
                </a:lnSpc>
                <a:spcBef>
                  <a:spcPct val="0"/>
                </a:spcBef>
              </a:pPr>
              <a:endParaRPr lang="en-US" sz="2499" b="1" dirty="0">
                <a:solidFill>
                  <a:srgbClr val="000000"/>
                </a:solidFill>
                <a:latin typeface="Halant Medium"/>
                <a:ea typeface="Halant Medium"/>
                <a:cs typeface="Halant Medium"/>
                <a:sym typeface="Halant Medium"/>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15964">
            <a:off x="8769727" y="-54524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2"/>
            <a:stretch>
              <a:fillRect/>
            </a:stretch>
          </a:blipFill>
        </p:spPr>
      </p:sp>
      <p:grpSp>
        <p:nvGrpSpPr>
          <p:cNvPr id="3" name="Group 3"/>
          <p:cNvGrpSpPr/>
          <p:nvPr/>
        </p:nvGrpSpPr>
        <p:grpSpPr>
          <a:xfrm>
            <a:off x="562821" y="1110063"/>
            <a:ext cx="8627957" cy="4095154"/>
            <a:chOff x="0" y="9525"/>
            <a:chExt cx="11503943" cy="5460205"/>
          </a:xfrm>
        </p:grpSpPr>
        <p:sp>
          <p:nvSpPr>
            <p:cNvPr id="4" name="TextBox 4"/>
            <p:cNvSpPr txBox="1"/>
            <p:nvPr/>
          </p:nvSpPr>
          <p:spPr>
            <a:xfrm>
              <a:off x="0" y="9525"/>
              <a:ext cx="11324342" cy="998008"/>
            </a:xfrm>
            <a:prstGeom prst="rect">
              <a:avLst/>
            </a:prstGeom>
          </p:spPr>
          <p:txBody>
            <a:bodyPr lIns="0" tIns="0" rIns="0" bIns="0" rtlCol="0" anchor="t">
              <a:spAutoFit/>
            </a:bodyPr>
            <a:lstStyle/>
            <a:p>
              <a:pPr algn="l">
                <a:lnSpc>
                  <a:spcPts val="5899"/>
                </a:lnSpc>
              </a:pPr>
              <a:r>
                <a:rPr lang="en-US" sz="4999" b="1">
                  <a:solidFill>
                    <a:srgbClr val="731F7D"/>
                  </a:solidFill>
                  <a:latin typeface="HK Grotesk Bold"/>
                  <a:ea typeface="HK Grotesk Bold"/>
                  <a:cs typeface="HK Grotesk Bold"/>
                  <a:sym typeface="HK Grotesk Bold"/>
                </a:rPr>
                <a:t>Input Devices</a:t>
              </a:r>
            </a:p>
          </p:txBody>
        </p:sp>
        <p:sp>
          <p:nvSpPr>
            <p:cNvPr id="5" name="TextBox 5"/>
            <p:cNvSpPr txBox="1"/>
            <p:nvPr/>
          </p:nvSpPr>
          <p:spPr>
            <a:xfrm>
              <a:off x="0" y="1348943"/>
              <a:ext cx="11503943" cy="4120787"/>
            </a:xfrm>
            <a:prstGeom prst="rect">
              <a:avLst/>
            </a:prstGeom>
          </p:spPr>
          <p:txBody>
            <a:bodyPr lIns="0" tIns="0" rIns="0" bIns="0" rtlCol="0" anchor="t">
              <a:spAutoFit/>
            </a:bodyPr>
            <a:lstStyle/>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Game Controllers – </a:t>
              </a:r>
              <a:r>
                <a:rPr lang="en-US" sz="2499" dirty="0">
                  <a:solidFill>
                    <a:srgbClr val="000000"/>
                  </a:solidFill>
                  <a:latin typeface="Halant Medium"/>
                  <a:ea typeface="Halant Medium"/>
                  <a:cs typeface="Halant Medium"/>
                  <a:sym typeface="Halant Medium"/>
                </a:rPr>
                <a:t>Joysticks and gamepads used mainly for gaming and simulations. </a:t>
              </a: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Optical Input Devices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Scanners and barcode readers that capture printed or visual data. </a:t>
              </a: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Audio-Visual Devices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Microphones and cameras used to input sound and images.</a:t>
              </a:r>
            </a:p>
            <a:p>
              <a:pPr algn="just">
                <a:lnSpc>
                  <a:spcPts val="3080"/>
                </a:lnSpc>
              </a:pPr>
              <a:endParaRPr lang="en-US" sz="2499" b="1" dirty="0">
                <a:solidFill>
                  <a:srgbClr val="000000"/>
                </a:solidFill>
                <a:latin typeface="Halant Medium"/>
                <a:ea typeface="Halant Medium"/>
                <a:cs typeface="Halant Medium"/>
                <a:sym typeface="Halant Medium"/>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2715964">
            <a:off x="8769727" y="-54524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2"/>
            <a:stretch>
              <a:fillRect/>
            </a:stretch>
          </a:blipFill>
        </p:spPr>
      </p:sp>
      <p:grpSp>
        <p:nvGrpSpPr>
          <p:cNvPr id="3" name="Group 3"/>
          <p:cNvGrpSpPr/>
          <p:nvPr/>
        </p:nvGrpSpPr>
        <p:grpSpPr>
          <a:xfrm>
            <a:off x="562821" y="569361"/>
            <a:ext cx="8627957" cy="6339358"/>
            <a:chOff x="0" y="9525"/>
            <a:chExt cx="11503943" cy="8452477"/>
          </a:xfrm>
        </p:grpSpPr>
        <p:sp>
          <p:nvSpPr>
            <p:cNvPr id="4" name="TextBox 4"/>
            <p:cNvSpPr txBox="1"/>
            <p:nvPr/>
          </p:nvSpPr>
          <p:spPr>
            <a:xfrm>
              <a:off x="0" y="9525"/>
              <a:ext cx="11324342" cy="998008"/>
            </a:xfrm>
            <a:prstGeom prst="rect">
              <a:avLst/>
            </a:prstGeom>
          </p:spPr>
          <p:txBody>
            <a:bodyPr lIns="0" tIns="0" rIns="0" bIns="0" rtlCol="0" anchor="t">
              <a:spAutoFit/>
            </a:bodyPr>
            <a:lstStyle/>
            <a:p>
              <a:pPr algn="l">
                <a:lnSpc>
                  <a:spcPts val="5899"/>
                </a:lnSpc>
              </a:pPr>
              <a:r>
                <a:rPr lang="en-US" sz="4999" b="1">
                  <a:solidFill>
                    <a:srgbClr val="731F7D"/>
                  </a:solidFill>
                  <a:latin typeface="HK Grotesk Bold"/>
                  <a:ea typeface="HK Grotesk Bold"/>
                  <a:cs typeface="HK Grotesk Bold"/>
                  <a:sym typeface="HK Grotesk Bold"/>
                </a:rPr>
                <a:t>Output Devices</a:t>
              </a:r>
            </a:p>
          </p:txBody>
        </p:sp>
        <p:sp>
          <p:nvSpPr>
            <p:cNvPr id="5" name="TextBox 5"/>
            <p:cNvSpPr txBox="1"/>
            <p:nvPr/>
          </p:nvSpPr>
          <p:spPr>
            <a:xfrm>
              <a:off x="0" y="1348944"/>
              <a:ext cx="11503943" cy="7113058"/>
            </a:xfrm>
            <a:prstGeom prst="rect">
              <a:avLst/>
            </a:prstGeom>
          </p:spPr>
          <p:txBody>
            <a:bodyPr wrap="square" lIns="0" tIns="0" rIns="0" bIns="0" rtlCol="0" anchor="t">
              <a:spAutoFit/>
            </a:bodyPr>
            <a:lstStyle/>
            <a:p>
              <a:pPr algn="just">
                <a:lnSpc>
                  <a:spcPts val="3499"/>
                </a:lnSpc>
              </a:pPr>
              <a:r>
                <a:rPr lang="en-US" sz="2499" dirty="0">
                  <a:solidFill>
                    <a:srgbClr val="000000"/>
                  </a:solidFill>
                  <a:latin typeface="Halant Medium"/>
                  <a:ea typeface="Halant Medium"/>
                  <a:cs typeface="Halant Medium"/>
                  <a:sym typeface="Halant Medium"/>
                </a:rPr>
                <a:t>Output devices present processed information to users in an understandable form. As stated in the syllabus, the main output devices include:</a:t>
              </a:r>
            </a:p>
            <a:p>
              <a:pPr algn="just">
                <a:lnSpc>
                  <a:spcPts val="3499"/>
                </a:lnSpc>
              </a:pPr>
              <a:endParaRPr lang="en-US" sz="2499" b="1" dirty="0">
                <a:solidFill>
                  <a:srgbClr val="000000"/>
                </a:solidFill>
                <a:latin typeface="Halant Medium"/>
                <a:ea typeface="Halant Medium"/>
                <a:cs typeface="Halant Medium"/>
                <a:sym typeface="Halant Medium"/>
              </a:endParaRP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Monitors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Display visual output such as text, images, and videos. </a:t>
              </a: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Audio Output Devices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Speakers and headphones used to produce sound output. </a:t>
              </a:r>
            </a:p>
            <a:p>
              <a:pPr marL="539749" lvl="1" indent="-269875" algn="just">
                <a:lnSpc>
                  <a:spcPts val="3499"/>
                </a:lnSpc>
                <a:buFont typeface="Arial"/>
                <a:buChar char="•"/>
              </a:pPr>
              <a:r>
                <a:rPr lang="en-US" sz="2499" b="1" dirty="0">
                  <a:solidFill>
                    <a:srgbClr val="000000"/>
                  </a:solidFill>
                  <a:latin typeface="Halant Bold"/>
                  <a:ea typeface="Halant Bold"/>
                  <a:cs typeface="Halant Bold"/>
                  <a:sym typeface="Halant Bold"/>
                </a:rPr>
                <a:t>Printers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Produce hard copies of text and graphics. </a:t>
              </a:r>
              <a:r>
                <a:rPr lang="en-US" sz="2499" b="1" dirty="0">
                  <a:solidFill>
                    <a:srgbClr val="000000"/>
                  </a:solidFill>
                  <a:latin typeface="Halant Bold"/>
                  <a:ea typeface="Halant Bold"/>
                  <a:cs typeface="Halant Bold"/>
                  <a:sym typeface="Halant Bold"/>
                </a:rPr>
                <a:t>Plotters –</a:t>
              </a:r>
              <a:r>
                <a:rPr lang="en-US" sz="2499" b="1" dirty="0">
                  <a:solidFill>
                    <a:srgbClr val="000000"/>
                  </a:solidFill>
                  <a:latin typeface="Halant Medium"/>
                  <a:ea typeface="Halant Medium"/>
                  <a:cs typeface="Halant Medium"/>
                  <a:sym typeface="Halant Medium"/>
                </a:rPr>
                <a:t> </a:t>
              </a:r>
              <a:r>
                <a:rPr lang="en-US" sz="2499" dirty="0">
                  <a:solidFill>
                    <a:srgbClr val="000000"/>
                  </a:solidFill>
                  <a:latin typeface="Halant Medium"/>
                  <a:ea typeface="Halant Medium"/>
                  <a:cs typeface="Halant Medium"/>
                  <a:sym typeface="Halant Medium"/>
                </a:rPr>
                <a:t>Used for printing large-scale graphics such as maps and engineering drawings.</a:t>
              </a:r>
            </a:p>
            <a:p>
              <a:pPr marL="0" lvl="0" indent="0" algn="just">
                <a:lnSpc>
                  <a:spcPts val="3080"/>
                </a:lnSpc>
                <a:spcBef>
                  <a:spcPct val="0"/>
                </a:spcBef>
              </a:pPr>
              <a:endParaRPr lang="en-US" sz="2499" b="1" dirty="0">
                <a:solidFill>
                  <a:srgbClr val="000000"/>
                </a:solidFill>
                <a:latin typeface="Halant Medium"/>
                <a:ea typeface="Halant Medium"/>
                <a:cs typeface="Halant Medium"/>
                <a:sym typeface="Halant Medium"/>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1256949" y="-350109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2"/>
            <a:stretch>
              <a:fillRect/>
            </a:stretch>
          </a:blipFill>
        </p:spPr>
      </p:sp>
      <p:sp>
        <p:nvSpPr>
          <p:cNvPr id="3" name="Freeform 3"/>
          <p:cNvSpPr/>
          <p:nvPr/>
        </p:nvSpPr>
        <p:spPr>
          <a:xfrm rot="-2715964">
            <a:off x="7936607" y="18627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3"/>
            <a:stretch>
              <a:fillRect/>
            </a:stretch>
          </a:blipFill>
        </p:spPr>
      </p:sp>
      <p:sp>
        <p:nvSpPr>
          <p:cNvPr id="4" name="Freeform 4"/>
          <p:cNvSpPr/>
          <p:nvPr/>
        </p:nvSpPr>
        <p:spPr>
          <a:xfrm rot="-795738">
            <a:off x="8327515" y="568635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p:cNvGrpSpPr/>
          <p:nvPr/>
        </p:nvGrpSpPr>
        <p:grpSpPr>
          <a:xfrm>
            <a:off x="491701" y="1657198"/>
            <a:ext cx="8770197" cy="5810526"/>
            <a:chOff x="0" y="0"/>
            <a:chExt cx="11693596" cy="7747367"/>
          </a:xfrm>
        </p:grpSpPr>
        <p:sp>
          <p:nvSpPr>
            <p:cNvPr id="6" name="TextBox 6"/>
            <p:cNvSpPr txBox="1"/>
            <p:nvPr/>
          </p:nvSpPr>
          <p:spPr>
            <a:xfrm>
              <a:off x="0" y="0"/>
              <a:ext cx="11511034" cy="904240"/>
            </a:xfrm>
            <a:prstGeom prst="rect">
              <a:avLst/>
            </a:prstGeom>
          </p:spPr>
          <p:txBody>
            <a:bodyPr lIns="0" tIns="0" rIns="0" bIns="0" rtlCol="0" anchor="t">
              <a:spAutoFit/>
            </a:bodyPr>
            <a:lstStyle/>
            <a:p>
              <a:pPr algn="l">
                <a:lnSpc>
                  <a:spcPts val="5310"/>
                </a:lnSpc>
              </a:pPr>
              <a:r>
                <a:rPr lang="en-US" sz="4500" b="1">
                  <a:solidFill>
                    <a:srgbClr val="000000"/>
                  </a:solidFill>
                  <a:latin typeface="HK Grotesk Bold"/>
                  <a:ea typeface="HK Grotesk Bold"/>
                  <a:cs typeface="HK Grotesk Bold"/>
                  <a:sym typeface="HK Grotesk Bold"/>
                </a:rPr>
                <a:t>How Computers Process Data</a:t>
              </a:r>
            </a:p>
          </p:txBody>
        </p:sp>
        <p:sp>
          <p:nvSpPr>
            <p:cNvPr id="7" name="TextBox 7"/>
            <p:cNvSpPr txBox="1"/>
            <p:nvPr/>
          </p:nvSpPr>
          <p:spPr>
            <a:xfrm>
              <a:off x="0" y="1164369"/>
              <a:ext cx="11693596" cy="6582998"/>
            </a:xfrm>
            <a:prstGeom prst="rect">
              <a:avLst/>
            </a:prstGeom>
          </p:spPr>
          <p:txBody>
            <a:bodyPr lIns="0" tIns="0" rIns="0" bIns="0" rtlCol="0" anchor="t">
              <a:spAutoFit/>
            </a:bodyPr>
            <a:lstStyle/>
            <a:p>
              <a:pPr algn="just">
                <a:lnSpc>
                  <a:spcPts val="3499"/>
                </a:lnSpc>
              </a:pPr>
              <a:r>
                <a:rPr lang="en-US" sz="2499" dirty="0">
                  <a:solidFill>
                    <a:srgbClr val="000000"/>
                  </a:solidFill>
                  <a:latin typeface="Halant Medium"/>
                  <a:ea typeface="Halant Medium"/>
                  <a:cs typeface="Halant Medium"/>
                  <a:sym typeface="Halant Medium"/>
                </a:rPr>
                <a:t>Computers process data using a sequence of operations known as the machine cycle. The machine cycle consists of fetching instructions, decoding them, executing the instructions, and storing the results. These operations are synchronized by the system clock.</a:t>
              </a:r>
            </a:p>
            <a:p>
              <a:pPr algn="just">
                <a:lnSpc>
                  <a:spcPts val="3499"/>
                </a:lnSpc>
              </a:pPr>
              <a:r>
                <a:rPr lang="en-US" sz="2499" dirty="0">
                  <a:solidFill>
                    <a:srgbClr val="000000"/>
                  </a:solidFill>
                  <a:latin typeface="Halant Medium"/>
                  <a:ea typeface="Halant Medium"/>
                  <a:cs typeface="Halant Medium"/>
                  <a:sym typeface="Halant Medium"/>
                </a:rPr>
                <a:t>Computers follow the Input–Process–Output (IPO) cycle:</a:t>
              </a:r>
            </a:p>
            <a:p>
              <a:pPr marL="539749" lvl="1" indent="-269875" algn="just">
                <a:lnSpc>
                  <a:spcPts val="3499"/>
                </a:lnSpc>
                <a:buAutoNum type="arabicPeriod"/>
              </a:pPr>
              <a:r>
                <a:rPr lang="en-US" sz="2499" dirty="0">
                  <a:solidFill>
                    <a:srgbClr val="000000"/>
                  </a:solidFill>
                  <a:latin typeface="Halant Medium"/>
                  <a:ea typeface="Halant Medium"/>
                  <a:cs typeface="Halant Medium"/>
                  <a:sym typeface="Halant Medium"/>
                </a:rPr>
                <a:t>Input data is entered</a:t>
              </a:r>
            </a:p>
            <a:p>
              <a:pPr marL="539749" lvl="1" indent="-269875" algn="just">
                <a:lnSpc>
                  <a:spcPts val="3499"/>
                </a:lnSpc>
                <a:buAutoNum type="arabicPeriod"/>
              </a:pPr>
              <a:r>
                <a:rPr lang="en-US" sz="2499" dirty="0">
                  <a:solidFill>
                    <a:srgbClr val="000000"/>
                  </a:solidFill>
                  <a:latin typeface="Halant Medium"/>
                  <a:ea typeface="Halant Medium"/>
                  <a:cs typeface="Halant Medium"/>
                  <a:sym typeface="Halant Medium"/>
                </a:rPr>
                <a:t>Processing is performed by CPU</a:t>
              </a:r>
            </a:p>
            <a:p>
              <a:pPr marL="539749" lvl="1" indent="-269875" algn="just">
                <a:lnSpc>
                  <a:spcPts val="3499"/>
                </a:lnSpc>
                <a:buAutoNum type="arabicPeriod"/>
              </a:pPr>
              <a:r>
                <a:rPr lang="en-US" sz="2499" dirty="0">
                  <a:solidFill>
                    <a:srgbClr val="000000"/>
                  </a:solidFill>
                  <a:latin typeface="Halant Medium"/>
                  <a:ea typeface="Halant Medium"/>
                  <a:cs typeface="Halant Medium"/>
                  <a:sym typeface="Halant Medium"/>
                </a:rPr>
                <a:t>Output information is produced</a:t>
              </a:r>
            </a:p>
            <a:p>
              <a:pPr marL="539749" lvl="1" indent="-269875" algn="just">
                <a:lnSpc>
                  <a:spcPts val="3499"/>
                </a:lnSpc>
                <a:buAutoNum type="arabicPeriod"/>
              </a:pPr>
              <a:r>
                <a:rPr lang="en-US" sz="2499" dirty="0">
                  <a:solidFill>
                    <a:srgbClr val="000000"/>
                  </a:solidFill>
                  <a:latin typeface="Halant Medium"/>
                  <a:ea typeface="Halant Medium"/>
                  <a:cs typeface="Halant Medium"/>
                  <a:sym typeface="Halant Medium"/>
                </a:rPr>
                <a:t>Results may be stored for future use</a:t>
              </a:r>
            </a:p>
            <a:p>
              <a:pPr marL="0" lvl="0" indent="0" algn="just">
                <a:lnSpc>
                  <a:spcPts val="3499"/>
                </a:lnSpc>
                <a:spcBef>
                  <a:spcPct val="0"/>
                </a:spcBef>
              </a:pPr>
              <a:endParaRPr lang="en-US" sz="2499" dirty="0">
                <a:solidFill>
                  <a:srgbClr val="000000"/>
                </a:solidFill>
                <a:latin typeface="Halant Medium"/>
                <a:ea typeface="Halant Medium"/>
                <a:cs typeface="Halant Medium"/>
                <a:sym typeface="Halant Medium"/>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2"/>
            <a:stretch>
              <a:fillRect/>
            </a:stretch>
          </a:blipFill>
        </p:spPr>
      </p:sp>
      <p:sp>
        <p:nvSpPr>
          <p:cNvPr id="3" name="TextBox 3"/>
          <p:cNvSpPr txBox="1"/>
          <p:nvPr/>
        </p:nvSpPr>
        <p:spPr>
          <a:xfrm>
            <a:off x="226061" y="955040"/>
            <a:ext cx="9301479" cy="755650"/>
          </a:xfrm>
          <a:prstGeom prst="rect">
            <a:avLst/>
          </a:prstGeom>
        </p:spPr>
        <p:txBody>
          <a:bodyPr lIns="0" tIns="0" rIns="0" bIns="0" rtlCol="0" anchor="t">
            <a:spAutoFit/>
          </a:bodyPr>
          <a:lstStyle/>
          <a:p>
            <a:pPr algn="ctr">
              <a:lnSpc>
                <a:spcPts val="5900"/>
              </a:lnSpc>
            </a:pPr>
            <a:r>
              <a:rPr lang="en-US" sz="5000" b="1">
                <a:solidFill>
                  <a:srgbClr val="000000"/>
                </a:solidFill>
                <a:latin typeface="HK Grotesk Bold"/>
                <a:ea typeface="HK Grotesk Bold"/>
                <a:cs typeface="HK Grotesk Bold"/>
                <a:sym typeface="HK Grotesk Bold"/>
              </a:rPr>
              <a:t>Central Processing Unit</a:t>
            </a:r>
          </a:p>
        </p:txBody>
      </p:sp>
      <p:grpSp>
        <p:nvGrpSpPr>
          <p:cNvPr id="4" name="Group 4"/>
          <p:cNvGrpSpPr/>
          <p:nvPr/>
        </p:nvGrpSpPr>
        <p:grpSpPr>
          <a:xfrm>
            <a:off x="955040" y="3223271"/>
            <a:ext cx="8290560" cy="3360409"/>
            <a:chOff x="0" y="0"/>
            <a:chExt cx="11054080" cy="4480546"/>
          </a:xfrm>
        </p:grpSpPr>
        <p:sp>
          <p:nvSpPr>
            <p:cNvPr id="5" name="TextBox 5"/>
            <p:cNvSpPr txBox="1"/>
            <p:nvPr/>
          </p:nvSpPr>
          <p:spPr>
            <a:xfrm>
              <a:off x="0" y="-28575"/>
              <a:ext cx="11054080" cy="625475"/>
            </a:xfrm>
            <a:prstGeom prst="rect">
              <a:avLst/>
            </a:prstGeom>
          </p:spPr>
          <p:txBody>
            <a:bodyPr lIns="0" tIns="0" rIns="0" bIns="0" rtlCol="0" anchor="t">
              <a:spAutoFit/>
            </a:bodyPr>
            <a:lstStyle/>
            <a:p>
              <a:pPr marL="0" lvl="0" indent="0" algn="l">
                <a:lnSpc>
                  <a:spcPts val="3899"/>
                </a:lnSpc>
                <a:spcBef>
                  <a:spcPct val="0"/>
                </a:spcBef>
              </a:pPr>
              <a:r>
                <a:rPr lang="en-US" sz="2999" b="1">
                  <a:solidFill>
                    <a:srgbClr val="731F7D"/>
                  </a:solidFill>
                  <a:latin typeface="Halant Bold"/>
                  <a:ea typeface="Halant Bold"/>
                  <a:cs typeface="Halant Bold"/>
                  <a:sym typeface="Halant Bold"/>
                </a:rPr>
                <a:t>1. Control Unit (CU)</a:t>
              </a:r>
            </a:p>
          </p:txBody>
        </p:sp>
        <p:sp>
          <p:nvSpPr>
            <p:cNvPr id="6" name="TextBox 6"/>
            <p:cNvSpPr txBox="1"/>
            <p:nvPr/>
          </p:nvSpPr>
          <p:spPr>
            <a:xfrm>
              <a:off x="0" y="777014"/>
              <a:ext cx="11054080" cy="3703532"/>
            </a:xfrm>
            <a:prstGeom prst="rect">
              <a:avLst/>
            </a:prstGeom>
          </p:spPr>
          <p:txBody>
            <a:bodyPr lIns="0" tIns="0" rIns="0" bIns="0" rtlCol="0" anchor="t">
              <a:spAutoFit/>
            </a:bodyPr>
            <a:lstStyle/>
            <a:p>
              <a:pPr algn="just">
                <a:lnSpc>
                  <a:spcPts val="3219"/>
                </a:lnSpc>
                <a:spcBef>
                  <a:spcPct val="0"/>
                </a:spcBef>
              </a:pPr>
              <a:r>
                <a:rPr lang="en-US" sz="2299" spc="-22">
                  <a:solidFill>
                    <a:srgbClr val="000000"/>
                  </a:solidFill>
                  <a:latin typeface="Assistant"/>
                  <a:ea typeface="Assistant"/>
                  <a:cs typeface="Assistant"/>
                  <a:sym typeface="Assistant"/>
                </a:rPr>
                <a:t>The Control Unit directs all operations of the computer system, manages data flow, and interprets program instructions.</a:t>
              </a:r>
            </a:p>
            <a:p>
              <a:pPr marL="496567" lvl="1" indent="-248284" algn="just">
                <a:lnSpc>
                  <a:spcPts val="3219"/>
                </a:lnSpc>
                <a:spcBef>
                  <a:spcPct val="0"/>
                </a:spcBef>
                <a:buFont typeface="Arial"/>
                <a:buChar char="•"/>
              </a:pPr>
              <a:r>
                <a:rPr lang="en-US" sz="2299" spc="-22">
                  <a:solidFill>
                    <a:srgbClr val="000000"/>
                  </a:solidFill>
                  <a:latin typeface="Assistant"/>
                  <a:ea typeface="Assistant"/>
                  <a:cs typeface="Assistant"/>
                  <a:sym typeface="Assistant"/>
                </a:rPr>
                <a:t>Directs all operations</a:t>
              </a:r>
            </a:p>
            <a:p>
              <a:pPr marL="496567" lvl="1" indent="-248284" algn="just">
                <a:lnSpc>
                  <a:spcPts val="3219"/>
                </a:lnSpc>
                <a:spcBef>
                  <a:spcPct val="0"/>
                </a:spcBef>
                <a:buFont typeface="Arial"/>
                <a:buChar char="•"/>
              </a:pPr>
              <a:r>
                <a:rPr lang="en-US" sz="2299" spc="-22">
                  <a:solidFill>
                    <a:srgbClr val="000000"/>
                  </a:solidFill>
                  <a:latin typeface="Assistant"/>
                  <a:ea typeface="Assistant"/>
                  <a:cs typeface="Assistant"/>
                  <a:sym typeface="Assistant"/>
                </a:rPr>
                <a:t>Fetches and decodes instructions</a:t>
              </a:r>
            </a:p>
            <a:p>
              <a:pPr marL="496567" lvl="1" indent="-248284" algn="just">
                <a:lnSpc>
                  <a:spcPts val="3219"/>
                </a:lnSpc>
                <a:spcBef>
                  <a:spcPct val="0"/>
                </a:spcBef>
                <a:buFont typeface="Arial"/>
                <a:buChar char="•"/>
              </a:pPr>
              <a:r>
                <a:rPr lang="en-US" sz="2299" spc="-22">
                  <a:solidFill>
                    <a:srgbClr val="000000"/>
                  </a:solidFill>
                  <a:latin typeface="Assistant"/>
                  <a:ea typeface="Assistant"/>
                  <a:cs typeface="Assistant"/>
                  <a:sym typeface="Assistant"/>
                </a:rPr>
                <a:t>Controls data flow between components</a:t>
              </a:r>
            </a:p>
            <a:p>
              <a:pPr algn="just">
                <a:lnSpc>
                  <a:spcPts val="3219"/>
                </a:lnSpc>
                <a:spcBef>
                  <a:spcPct val="0"/>
                </a:spcBef>
              </a:pPr>
              <a:endParaRPr lang="en-US" sz="2299" spc="-22">
                <a:solidFill>
                  <a:srgbClr val="000000"/>
                </a:solidFill>
                <a:latin typeface="Assistant"/>
                <a:ea typeface="Assistant"/>
                <a:cs typeface="Assistant"/>
                <a:sym typeface="Assistant"/>
              </a:endParaRPr>
            </a:p>
            <a:p>
              <a:pPr algn="just">
                <a:lnSpc>
                  <a:spcPts val="3219"/>
                </a:lnSpc>
                <a:spcBef>
                  <a:spcPct val="0"/>
                </a:spcBef>
              </a:pPr>
              <a:endParaRPr lang="en-US" sz="2299" spc="-22">
                <a:solidFill>
                  <a:srgbClr val="000000"/>
                </a:solidFill>
                <a:latin typeface="Assistant"/>
                <a:ea typeface="Assistant"/>
                <a:cs typeface="Assistant"/>
                <a:sym typeface="Assistant"/>
              </a:endParaRPr>
            </a:p>
          </p:txBody>
        </p:sp>
      </p:grpSp>
      <p:sp>
        <p:nvSpPr>
          <p:cNvPr id="7" name="Freeform 7"/>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3"/>
            <a:stretch>
              <a:fillRect/>
            </a:stretch>
          </a:blipFill>
        </p:spPr>
      </p:sp>
      <p:sp>
        <p:nvSpPr>
          <p:cNvPr id="8" name="TextBox 8"/>
          <p:cNvSpPr txBox="1"/>
          <p:nvPr/>
        </p:nvSpPr>
        <p:spPr>
          <a:xfrm>
            <a:off x="428165" y="1942470"/>
            <a:ext cx="9099374" cy="806450"/>
          </a:xfrm>
          <a:prstGeom prst="rect">
            <a:avLst/>
          </a:prstGeom>
        </p:spPr>
        <p:txBody>
          <a:bodyPr lIns="0" tIns="0" rIns="0" bIns="0" rtlCol="0" anchor="t">
            <a:spAutoFit/>
          </a:bodyPr>
          <a:lstStyle/>
          <a:p>
            <a:pPr marL="0" lvl="0" indent="0" algn="ctr">
              <a:lnSpc>
                <a:spcPts val="3249"/>
              </a:lnSpc>
              <a:spcBef>
                <a:spcPct val="0"/>
              </a:spcBef>
            </a:pPr>
            <a:r>
              <a:rPr lang="en-US" sz="2499">
                <a:solidFill>
                  <a:srgbClr val="000000"/>
                </a:solidFill>
                <a:latin typeface="Halant"/>
                <a:ea typeface="Halant"/>
                <a:cs typeface="Halant"/>
                <a:sym typeface="Halant"/>
              </a:rPr>
              <a:t>The Central Processing Unit is the main component responsible for processing instructions.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94633">
            <a:off x="-1399641" y="6235445"/>
            <a:ext cx="2799283" cy="2652320"/>
          </a:xfrm>
          <a:custGeom>
            <a:avLst/>
            <a:gdLst/>
            <a:ahLst/>
            <a:cxnLst/>
            <a:rect l="l" t="t" r="r" b="b"/>
            <a:pathLst>
              <a:path w="2799283" h="2652320">
                <a:moveTo>
                  <a:pt x="0" y="0"/>
                </a:moveTo>
                <a:lnTo>
                  <a:pt x="2799282" y="0"/>
                </a:lnTo>
                <a:lnTo>
                  <a:pt x="2799282" y="2652321"/>
                </a:lnTo>
                <a:lnTo>
                  <a:pt x="0" y="2652321"/>
                </a:lnTo>
                <a:lnTo>
                  <a:pt x="0" y="0"/>
                </a:lnTo>
                <a:close/>
              </a:path>
            </a:pathLst>
          </a:custGeom>
          <a:blipFill>
            <a:blip r:embed="rId2"/>
            <a:stretch>
              <a:fillRect/>
            </a:stretch>
          </a:blipFill>
        </p:spPr>
      </p:sp>
      <p:grpSp>
        <p:nvGrpSpPr>
          <p:cNvPr id="3" name="Group 3"/>
          <p:cNvGrpSpPr/>
          <p:nvPr/>
        </p:nvGrpSpPr>
        <p:grpSpPr>
          <a:xfrm>
            <a:off x="731520" y="913289"/>
            <a:ext cx="8290560" cy="2656035"/>
            <a:chOff x="0" y="-28575"/>
            <a:chExt cx="11054080" cy="3541381"/>
          </a:xfrm>
        </p:grpSpPr>
        <p:sp>
          <p:nvSpPr>
            <p:cNvPr id="4" name="TextBox 4"/>
            <p:cNvSpPr txBox="1"/>
            <p:nvPr/>
          </p:nvSpPr>
          <p:spPr>
            <a:xfrm>
              <a:off x="0" y="-28575"/>
              <a:ext cx="11054080" cy="625475"/>
            </a:xfrm>
            <a:prstGeom prst="rect">
              <a:avLst/>
            </a:prstGeom>
          </p:spPr>
          <p:txBody>
            <a:bodyPr lIns="0" tIns="0" rIns="0" bIns="0" rtlCol="0" anchor="t">
              <a:spAutoFit/>
            </a:bodyPr>
            <a:lstStyle/>
            <a:p>
              <a:pPr marL="0" lvl="0" indent="0" algn="l">
                <a:lnSpc>
                  <a:spcPts val="3899"/>
                </a:lnSpc>
                <a:spcBef>
                  <a:spcPct val="0"/>
                </a:spcBef>
              </a:pPr>
              <a:r>
                <a:rPr lang="en-US" sz="2999" b="1">
                  <a:solidFill>
                    <a:srgbClr val="731F7D"/>
                  </a:solidFill>
                  <a:latin typeface="Halant Bold"/>
                  <a:ea typeface="Halant Bold"/>
                  <a:cs typeface="Halant Bold"/>
                  <a:sym typeface="Halant Bold"/>
                </a:rPr>
                <a:t>2. Arithmetic and Logic Unit (ALU)</a:t>
              </a:r>
            </a:p>
          </p:txBody>
        </p:sp>
        <p:sp>
          <p:nvSpPr>
            <p:cNvPr id="5" name="TextBox 5"/>
            <p:cNvSpPr txBox="1"/>
            <p:nvPr/>
          </p:nvSpPr>
          <p:spPr>
            <a:xfrm>
              <a:off x="0" y="777013"/>
              <a:ext cx="11054080" cy="2735793"/>
            </a:xfrm>
            <a:prstGeom prst="rect">
              <a:avLst/>
            </a:prstGeom>
          </p:spPr>
          <p:txBody>
            <a:bodyPr wrap="square" lIns="0" tIns="0" rIns="0" bIns="0" rtlCol="0" anchor="t">
              <a:spAutoFit/>
            </a:bodyPr>
            <a:lstStyle/>
            <a:p>
              <a:pPr algn="just">
                <a:lnSpc>
                  <a:spcPts val="3219"/>
                </a:lnSpc>
              </a:pPr>
              <a:r>
                <a:rPr lang="en-US" sz="2299" spc="-22" dirty="0">
                  <a:solidFill>
                    <a:srgbClr val="000000"/>
                  </a:solidFill>
                  <a:latin typeface="Assistant"/>
                  <a:ea typeface="Assistant"/>
                  <a:cs typeface="Assistant"/>
                  <a:sym typeface="Assistant"/>
                </a:rPr>
                <a:t>The Arithmetic and Logic Unit performs arithmetic calculations and logical comparisons.</a:t>
              </a:r>
            </a:p>
            <a:p>
              <a:pPr marL="496567" lvl="1" indent="-248284" algn="just">
                <a:lnSpc>
                  <a:spcPts val="3219"/>
                </a:lnSpc>
                <a:buFont typeface="Arial"/>
                <a:buChar char="•"/>
              </a:pPr>
              <a:r>
                <a:rPr lang="en-US" sz="2299" spc="-22" dirty="0">
                  <a:solidFill>
                    <a:srgbClr val="000000"/>
                  </a:solidFill>
                  <a:latin typeface="Assistant"/>
                  <a:ea typeface="Assistant"/>
                  <a:cs typeface="Assistant"/>
                  <a:sym typeface="Assistant"/>
                </a:rPr>
                <a:t>Performs arithmetic operations</a:t>
              </a:r>
            </a:p>
            <a:p>
              <a:pPr marL="496567" lvl="1" indent="-248284" algn="just">
                <a:lnSpc>
                  <a:spcPts val="3219"/>
                </a:lnSpc>
                <a:buFont typeface="Arial"/>
                <a:buChar char="•"/>
              </a:pPr>
              <a:r>
                <a:rPr lang="en-US" sz="2299" spc="-22" dirty="0">
                  <a:solidFill>
                    <a:srgbClr val="000000"/>
                  </a:solidFill>
                  <a:latin typeface="Assistant"/>
                  <a:ea typeface="Assistant"/>
                  <a:cs typeface="Assistant"/>
                  <a:sym typeface="Assistant"/>
                </a:rPr>
                <a:t>Executes logical comparisons2. Arithmetic and Logic Unit (ALU)</a:t>
              </a:r>
            </a:p>
            <a:p>
              <a:pPr algn="just">
                <a:lnSpc>
                  <a:spcPts val="3219"/>
                </a:lnSpc>
                <a:spcBef>
                  <a:spcPct val="0"/>
                </a:spcBef>
              </a:pPr>
              <a:endParaRPr lang="en-US" sz="2299" spc="-22" dirty="0">
                <a:solidFill>
                  <a:srgbClr val="000000"/>
                </a:solidFill>
                <a:latin typeface="Assistant"/>
                <a:ea typeface="Assistant"/>
                <a:cs typeface="Assistant"/>
                <a:sym typeface="Assistant"/>
              </a:endParaRPr>
            </a:p>
          </p:txBody>
        </p:sp>
      </p:grpSp>
      <p:sp>
        <p:nvSpPr>
          <p:cNvPr id="6" name="Freeform 6"/>
          <p:cNvSpPr/>
          <p:nvPr/>
        </p:nvSpPr>
        <p:spPr>
          <a:xfrm rot="313119">
            <a:off x="7871314" y="-1358233"/>
            <a:ext cx="3312451" cy="3167532"/>
          </a:xfrm>
          <a:custGeom>
            <a:avLst/>
            <a:gdLst/>
            <a:ahLst/>
            <a:cxnLst/>
            <a:rect l="l" t="t" r="r" b="b"/>
            <a:pathLst>
              <a:path w="3312451" h="3167532">
                <a:moveTo>
                  <a:pt x="0" y="0"/>
                </a:moveTo>
                <a:lnTo>
                  <a:pt x="3312451" y="0"/>
                </a:lnTo>
                <a:lnTo>
                  <a:pt x="3312451" y="3167532"/>
                </a:lnTo>
                <a:lnTo>
                  <a:pt x="0" y="3167532"/>
                </a:lnTo>
                <a:lnTo>
                  <a:pt x="0" y="0"/>
                </a:lnTo>
                <a:close/>
              </a:path>
            </a:pathLst>
          </a:custGeom>
          <a:blipFill>
            <a:blip r:embed="rId3"/>
            <a:stretch>
              <a:fillRect/>
            </a:stretch>
          </a:blipFill>
        </p:spPr>
      </p:sp>
      <p:grpSp>
        <p:nvGrpSpPr>
          <p:cNvPr id="7" name="Group 7"/>
          <p:cNvGrpSpPr/>
          <p:nvPr/>
        </p:nvGrpSpPr>
        <p:grpSpPr>
          <a:xfrm>
            <a:off x="731520" y="3495029"/>
            <a:ext cx="8290560" cy="3360409"/>
            <a:chOff x="0" y="0"/>
            <a:chExt cx="11054080" cy="4480546"/>
          </a:xfrm>
        </p:grpSpPr>
        <p:sp>
          <p:nvSpPr>
            <p:cNvPr id="8" name="TextBox 8"/>
            <p:cNvSpPr txBox="1"/>
            <p:nvPr/>
          </p:nvSpPr>
          <p:spPr>
            <a:xfrm>
              <a:off x="0" y="-28575"/>
              <a:ext cx="11054080" cy="625475"/>
            </a:xfrm>
            <a:prstGeom prst="rect">
              <a:avLst/>
            </a:prstGeom>
          </p:spPr>
          <p:txBody>
            <a:bodyPr lIns="0" tIns="0" rIns="0" bIns="0" rtlCol="0" anchor="t">
              <a:spAutoFit/>
            </a:bodyPr>
            <a:lstStyle/>
            <a:p>
              <a:pPr marL="0" lvl="0" indent="0" algn="l">
                <a:lnSpc>
                  <a:spcPts val="3899"/>
                </a:lnSpc>
                <a:spcBef>
                  <a:spcPct val="0"/>
                </a:spcBef>
              </a:pPr>
              <a:r>
                <a:rPr lang="en-US" sz="2999" b="1">
                  <a:solidFill>
                    <a:srgbClr val="731F7D"/>
                  </a:solidFill>
                  <a:latin typeface="Halant Bold"/>
                  <a:ea typeface="Halant Bold"/>
                  <a:cs typeface="Halant Bold"/>
                  <a:sym typeface="Halant Bold"/>
                </a:rPr>
                <a:t>3. System Clock and Machine Cycle</a:t>
              </a:r>
            </a:p>
          </p:txBody>
        </p:sp>
        <p:sp>
          <p:nvSpPr>
            <p:cNvPr id="9" name="TextBox 9"/>
            <p:cNvSpPr txBox="1"/>
            <p:nvPr/>
          </p:nvSpPr>
          <p:spPr>
            <a:xfrm>
              <a:off x="0" y="777014"/>
              <a:ext cx="11054080" cy="3703532"/>
            </a:xfrm>
            <a:prstGeom prst="rect">
              <a:avLst/>
            </a:prstGeom>
          </p:spPr>
          <p:txBody>
            <a:bodyPr lIns="0" tIns="0" rIns="0" bIns="0" rtlCol="0" anchor="t">
              <a:spAutoFit/>
            </a:bodyPr>
            <a:lstStyle/>
            <a:p>
              <a:pPr marL="496567" lvl="1" indent="-248284" algn="just">
                <a:lnSpc>
                  <a:spcPts val="3219"/>
                </a:lnSpc>
                <a:buFont typeface="Arial"/>
                <a:buChar char="•"/>
              </a:pPr>
              <a:r>
                <a:rPr lang="en-US" sz="2299" spc="-22">
                  <a:solidFill>
                    <a:srgbClr val="000000"/>
                  </a:solidFill>
                  <a:latin typeface="Assistant"/>
                  <a:ea typeface="Assistant"/>
                  <a:cs typeface="Assistant"/>
                  <a:sym typeface="Assistant"/>
                </a:rPr>
                <a:t>System clock controls timing</a:t>
              </a:r>
            </a:p>
            <a:p>
              <a:pPr marL="496567" lvl="1" indent="-248284" algn="just">
                <a:lnSpc>
                  <a:spcPts val="3219"/>
                </a:lnSpc>
                <a:buFont typeface="Arial"/>
                <a:buChar char="•"/>
              </a:pPr>
              <a:r>
                <a:rPr lang="en-US" sz="2299" spc="-22">
                  <a:solidFill>
                    <a:srgbClr val="000000"/>
                  </a:solidFill>
                  <a:latin typeface="Assistant"/>
                  <a:ea typeface="Assistant"/>
                  <a:cs typeface="Assistant"/>
                  <a:sym typeface="Assistant"/>
                </a:rPr>
                <a:t>Machine cycle includes:</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Fetch</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Decode</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Execute</a:t>
              </a:r>
            </a:p>
            <a:p>
              <a:pPr marL="496567" lvl="1" indent="-248284" algn="just">
                <a:lnSpc>
                  <a:spcPts val="3219"/>
                </a:lnSpc>
                <a:buAutoNum type="arabicPeriod"/>
              </a:pPr>
              <a:r>
                <a:rPr lang="en-US" sz="2299" spc="-22">
                  <a:solidFill>
                    <a:srgbClr val="000000"/>
                  </a:solidFill>
                  <a:latin typeface="Assistant"/>
                  <a:ea typeface="Assistant"/>
                  <a:cs typeface="Assistant"/>
                  <a:sym typeface="Assistant"/>
                </a:rPr>
                <a:t>Store</a:t>
              </a:r>
            </a:p>
            <a:p>
              <a:pPr algn="just">
                <a:lnSpc>
                  <a:spcPts val="3219"/>
                </a:lnSpc>
                <a:spcBef>
                  <a:spcPct val="0"/>
                </a:spcBef>
              </a:pPr>
              <a:endParaRPr lang="en-US" sz="2299" spc="-22">
                <a:solidFill>
                  <a:srgbClr val="000000"/>
                </a:solidFill>
                <a:latin typeface="Assistant"/>
                <a:ea typeface="Assistant"/>
                <a:cs typeface="Assistant"/>
                <a:sym typeface="Assistant"/>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615856" y="355920"/>
            <a:ext cx="2521887" cy="751201"/>
          </a:xfrm>
          <a:prstGeom prst="rect">
            <a:avLst/>
          </a:prstGeom>
        </p:spPr>
        <p:txBody>
          <a:bodyPr lIns="0" tIns="0" rIns="0" bIns="0" rtlCol="0" anchor="t">
            <a:spAutoFit/>
          </a:bodyPr>
          <a:lstStyle/>
          <a:p>
            <a:pPr algn="l">
              <a:lnSpc>
                <a:spcPts val="5900"/>
              </a:lnSpc>
            </a:pPr>
            <a:r>
              <a:rPr lang="en-US" sz="5000" b="1">
                <a:solidFill>
                  <a:srgbClr val="000000"/>
                </a:solidFill>
                <a:latin typeface="HK Grotesk Bold"/>
                <a:ea typeface="HK Grotesk Bold"/>
                <a:cs typeface="HK Grotesk Bold"/>
                <a:sym typeface="HK Grotesk Bold"/>
              </a:rPr>
              <a:t>Memory</a:t>
            </a:r>
          </a:p>
        </p:txBody>
      </p:sp>
      <p:sp>
        <p:nvSpPr>
          <p:cNvPr id="3" name="Freeform 3"/>
          <p:cNvSpPr/>
          <p:nvPr/>
        </p:nvSpPr>
        <p:spPr>
          <a:xfrm rot="-10141306">
            <a:off x="-2034775" y="4670550"/>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2"/>
            <a:stretch>
              <a:fillRect/>
            </a:stretch>
          </a:blipFill>
        </p:spPr>
      </p:sp>
      <p:grpSp>
        <p:nvGrpSpPr>
          <p:cNvPr id="4" name="Group 4"/>
          <p:cNvGrpSpPr/>
          <p:nvPr/>
        </p:nvGrpSpPr>
        <p:grpSpPr>
          <a:xfrm>
            <a:off x="923197" y="1440155"/>
            <a:ext cx="2204690" cy="4085812"/>
            <a:chOff x="0" y="0"/>
            <a:chExt cx="2939587" cy="5447749"/>
          </a:xfrm>
        </p:grpSpPr>
        <p:sp>
          <p:nvSpPr>
            <p:cNvPr id="5" name="TextBox 5"/>
            <p:cNvSpPr txBox="1"/>
            <p:nvPr/>
          </p:nvSpPr>
          <p:spPr>
            <a:xfrm>
              <a:off x="0" y="-19050"/>
              <a:ext cx="2939587" cy="1068917"/>
            </a:xfrm>
            <a:prstGeom prst="rect">
              <a:avLst/>
            </a:prstGeom>
          </p:spPr>
          <p:txBody>
            <a:bodyPr lIns="0" tIns="0" rIns="0" bIns="0" rtlCol="0" anchor="t">
              <a:spAutoFit/>
            </a:bodyPr>
            <a:lstStyle/>
            <a:p>
              <a:pPr algn="l">
                <a:lnSpc>
                  <a:spcPts val="3249"/>
                </a:lnSpc>
              </a:pPr>
              <a:r>
                <a:rPr lang="en-US" sz="2499" b="1">
                  <a:solidFill>
                    <a:srgbClr val="731F7D"/>
                  </a:solidFill>
                  <a:latin typeface="Halant Bold"/>
                  <a:ea typeface="Halant Bold"/>
                  <a:cs typeface="Halant Bold"/>
                  <a:sym typeface="Halant Bold"/>
                </a:rPr>
                <a:t>Volatile Memory</a:t>
              </a:r>
            </a:p>
          </p:txBody>
        </p:sp>
        <p:sp>
          <p:nvSpPr>
            <p:cNvPr id="6" name="TextBox 6"/>
            <p:cNvSpPr txBox="1"/>
            <p:nvPr/>
          </p:nvSpPr>
          <p:spPr>
            <a:xfrm>
              <a:off x="0" y="1248282"/>
              <a:ext cx="2939587" cy="4199467"/>
            </a:xfrm>
            <a:prstGeom prst="rect">
              <a:avLst/>
            </a:prstGeom>
          </p:spPr>
          <p:txBody>
            <a:bodyPr lIns="0" tIns="0" rIns="0" bIns="0" rtlCol="0" anchor="t">
              <a:spAutoFit/>
            </a:bodyPr>
            <a:lstStyle/>
            <a:p>
              <a:pPr algn="l">
                <a:lnSpc>
                  <a:spcPts val="2799"/>
                </a:lnSpc>
                <a:spcBef>
                  <a:spcPct val="0"/>
                </a:spcBef>
              </a:pPr>
              <a:r>
                <a:rPr lang="en-US" sz="1999" spc="-19">
                  <a:solidFill>
                    <a:srgbClr val="000000"/>
                  </a:solidFill>
                  <a:latin typeface="Assistant"/>
                  <a:ea typeface="Assistant"/>
                  <a:cs typeface="Assistant"/>
                  <a:sym typeface="Assistant"/>
                </a:rPr>
                <a:t>Volatile memory stores data temporarily and loses its contents when power is turned off. Random Access Memory (RAM) is an example of volatile memory</a:t>
              </a:r>
            </a:p>
          </p:txBody>
        </p:sp>
      </p:grpSp>
      <p:grpSp>
        <p:nvGrpSpPr>
          <p:cNvPr id="7" name="Group 7"/>
          <p:cNvGrpSpPr/>
          <p:nvPr/>
        </p:nvGrpSpPr>
        <p:grpSpPr>
          <a:xfrm>
            <a:off x="3774455" y="1440155"/>
            <a:ext cx="2204690" cy="3380962"/>
            <a:chOff x="0" y="0"/>
            <a:chExt cx="2939587" cy="4507949"/>
          </a:xfrm>
        </p:grpSpPr>
        <p:sp>
          <p:nvSpPr>
            <p:cNvPr id="8" name="TextBox 8"/>
            <p:cNvSpPr txBox="1"/>
            <p:nvPr/>
          </p:nvSpPr>
          <p:spPr>
            <a:xfrm>
              <a:off x="0" y="-19050"/>
              <a:ext cx="2939587" cy="1068917"/>
            </a:xfrm>
            <a:prstGeom prst="rect">
              <a:avLst/>
            </a:prstGeom>
          </p:spPr>
          <p:txBody>
            <a:bodyPr lIns="0" tIns="0" rIns="0" bIns="0" rtlCol="0" anchor="t">
              <a:spAutoFit/>
            </a:bodyPr>
            <a:lstStyle/>
            <a:p>
              <a:pPr marL="0" lvl="0" indent="0" algn="l">
                <a:lnSpc>
                  <a:spcPts val="3249"/>
                </a:lnSpc>
                <a:spcBef>
                  <a:spcPct val="0"/>
                </a:spcBef>
              </a:pPr>
              <a:r>
                <a:rPr lang="en-US" sz="2499" b="1">
                  <a:solidFill>
                    <a:srgbClr val="731F7D"/>
                  </a:solidFill>
                  <a:latin typeface="Halant Bold"/>
                  <a:ea typeface="Halant Bold"/>
                  <a:cs typeface="Halant Bold"/>
                  <a:sym typeface="Halant Bold"/>
                </a:rPr>
                <a:t>Non-Volatile Memory</a:t>
              </a:r>
            </a:p>
          </p:txBody>
        </p:sp>
        <p:sp>
          <p:nvSpPr>
            <p:cNvPr id="9" name="TextBox 9"/>
            <p:cNvSpPr txBox="1"/>
            <p:nvPr/>
          </p:nvSpPr>
          <p:spPr>
            <a:xfrm>
              <a:off x="0" y="1248282"/>
              <a:ext cx="2939587" cy="3259667"/>
            </a:xfrm>
            <a:prstGeom prst="rect">
              <a:avLst/>
            </a:prstGeom>
          </p:spPr>
          <p:txBody>
            <a:bodyPr lIns="0" tIns="0" rIns="0" bIns="0" rtlCol="0" anchor="t">
              <a:spAutoFit/>
            </a:bodyPr>
            <a:lstStyle/>
            <a:p>
              <a:pPr algn="l">
                <a:lnSpc>
                  <a:spcPts val="2799"/>
                </a:lnSpc>
                <a:spcBef>
                  <a:spcPct val="0"/>
                </a:spcBef>
              </a:pPr>
              <a:r>
                <a:rPr lang="en-US" sz="1999" spc="-19">
                  <a:solidFill>
                    <a:srgbClr val="000000"/>
                  </a:solidFill>
                  <a:latin typeface="Assistant"/>
                  <a:ea typeface="Assistant"/>
                  <a:cs typeface="Assistant"/>
                  <a:sym typeface="Assistant"/>
                </a:rPr>
                <a:t>Non-volatile memory retains data even when power is turned off. Examples include Read-Only Memory (ROM) and flash memory.</a:t>
              </a:r>
            </a:p>
          </p:txBody>
        </p:sp>
      </p:grpSp>
      <p:grpSp>
        <p:nvGrpSpPr>
          <p:cNvPr id="10" name="Group 10"/>
          <p:cNvGrpSpPr/>
          <p:nvPr/>
        </p:nvGrpSpPr>
        <p:grpSpPr>
          <a:xfrm>
            <a:off x="6817390" y="1440155"/>
            <a:ext cx="2204690" cy="4790662"/>
            <a:chOff x="0" y="0"/>
            <a:chExt cx="2939587" cy="6387549"/>
          </a:xfrm>
        </p:grpSpPr>
        <p:sp>
          <p:nvSpPr>
            <p:cNvPr id="11" name="TextBox 11"/>
            <p:cNvSpPr txBox="1"/>
            <p:nvPr/>
          </p:nvSpPr>
          <p:spPr>
            <a:xfrm>
              <a:off x="0" y="-19050"/>
              <a:ext cx="2939587" cy="1068917"/>
            </a:xfrm>
            <a:prstGeom prst="rect">
              <a:avLst/>
            </a:prstGeom>
          </p:spPr>
          <p:txBody>
            <a:bodyPr lIns="0" tIns="0" rIns="0" bIns="0" rtlCol="0" anchor="t">
              <a:spAutoFit/>
            </a:bodyPr>
            <a:lstStyle/>
            <a:p>
              <a:pPr marL="0" lvl="0" indent="0" algn="l">
                <a:lnSpc>
                  <a:spcPts val="3249"/>
                </a:lnSpc>
                <a:spcBef>
                  <a:spcPct val="0"/>
                </a:spcBef>
              </a:pPr>
              <a:r>
                <a:rPr lang="en-US" sz="2499" b="1">
                  <a:solidFill>
                    <a:srgbClr val="731F7D"/>
                  </a:solidFill>
                  <a:latin typeface="Halant Bold"/>
                  <a:ea typeface="Halant Bold"/>
                  <a:cs typeface="Halant Bold"/>
                  <a:sym typeface="Halant Bold"/>
                </a:rPr>
                <a:t>Registers and Cache Memory</a:t>
              </a:r>
            </a:p>
          </p:txBody>
        </p:sp>
        <p:sp>
          <p:nvSpPr>
            <p:cNvPr id="12" name="TextBox 12"/>
            <p:cNvSpPr txBox="1"/>
            <p:nvPr/>
          </p:nvSpPr>
          <p:spPr>
            <a:xfrm>
              <a:off x="0" y="1248282"/>
              <a:ext cx="2939587" cy="5139267"/>
            </a:xfrm>
            <a:prstGeom prst="rect">
              <a:avLst/>
            </a:prstGeom>
          </p:spPr>
          <p:txBody>
            <a:bodyPr lIns="0" tIns="0" rIns="0" bIns="0" rtlCol="0" anchor="t">
              <a:spAutoFit/>
            </a:bodyPr>
            <a:lstStyle/>
            <a:p>
              <a:pPr algn="l">
                <a:lnSpc>
                  <a:spcPts val="2799"/>
                </a:lnSpc>
              </a:pPr>
              <a:r>
                <a:rPr lang="en-US" sz="1999" spc="-19">
                  <a:solidFill>
                    <a:srgbClr val="000000"/>
                  </a:solidFill>
                  <a:latin typeface="Assistant"/>
                  <a:ea typeface="Assistant"/>
                  <a:cs typeface="Assistant"/>
                  <a:sym typeface="Assistant"/>
                </a:rPr>
                <a:t>Registers are the fastest type of memory located inside the CPU.</a:t>
              </a:r>
            </a:p>
            <a:p>
              <a:pPr algn="l">
                <a:lnSpc>
                  <a:spcPts val="2799"/>
                </a:lnSpc>
              </a:pPr>
              <a:endParaRPr lang="en-US" sz="1999" spc="-19">
                <a:solidFill>
                  <a:srgbClr val="000000"/>
                </a:solidFill>
                <a:latin typeface="Assistant"/>
                <a:ea typeface="Assistant"/>
                <a:cs typeface="Assistant"/>
                <a:sym typeface="Assistant"/>
              </a:endParaRPr>
            </a:p>
            <a:p>
              <a:pPr algn="l">
                <a:lnSpc>
                  <a:spcPts val="2799"/>
                </a:lnSpc>
                <a:spcBef>
                  <a:spcPct val="0"/>
                </a:spcBef>
              </a:pPr>
              <a:r>
                <a:rPr lang="en-US" sz="1999" spc="-19">
                  <a:solidFill>
                    <a:srgbClr val="000000"/>
                  </a:solidFill>
                  <a:latin typeface="Assistant"/>
                  <a:ea typeface="Assistant"/>
                  <a:cs typeface="Assistant"/>
                  <a:sym typeface="Assistant"/>
                </a:rPr>
                <a:t>Cache memory is a high-speed memory that improves processing speed by storing frequently used data.</a:t>
              </a:r>
            </a:p>
          </p:txBody>
        </p:sp>
      </p:grpSp>
      <p:sp>
        <p:nvSpPr>
          <p:cNvPr id="13" name="Freeform 13"/>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3"/>
            <a:stretch>
              <a:fillRect/>
            </a:stretch>
          </a:blipFill>
        </p:spPr>
      </p:sp>
      <p:grpSp>
        <p:nvGrpSpPr>
          <p:cNvPr id="14" name="Group 14"/>
          <p:cNvGrpSpPr/>
          <p:nvPr/>
        </p:nvGrpSpPr>
        <p:grpSpPr>
          <a:xfrm>
            <a:off x="3615856" y="4980400"/>
            <a:ext cx="2952569" cy="1618143"/>
            <a:chOff x="-211465" y="-19050"/>
            <a:chExt cx="3936759" cy="2157523"/>
          </a:xfrm>
        </p:grpSpPr>
        <p:sp>
          <p:nvSpPr>
            <p:cNvPr id="15" name="TextBox 15"/>
            <p:cNvSpPr txBox="1"/>
            <p:nvPr/>
          </p:nvSpPr>
          <p:spPr>
            <a:xfrm>
              <a:off x="0" y="-19050"/>
              <a:ext cx="3725294" cy="522817"/>
            </a:xfrm>
            <a:prstGeom prst="rect">
              <a:avLst/>
            </a:prstGeom>
          </p:spPr>
          <p:txBody>
            <a:bodyPr lIns="0" tIns="0" rIns="0" bIns="0" rtlCol="0" anchor="t">
              <a:spAutoFit/>
            </a:bodyPr>
            <a:lstStyle/>
            <a:p>
              <a:pPr marL="0" lvl="0" indent="0" algn="l">
                <a:lnSpc>
                  <a:spcPts val="3249"/>
                </a:lnSpc>
                <a:spcBef>
                  <a:spcPct val="0"/>
                </a:spcBef>
              </a:pPr>
              <a:r>
                <a:rPr lang="en-US" sz="2499" b="1">
                  <a:solidFill>
                    <a:srgbClr val="731F7D"/>
                  </a:solidFill>
                  <a:latin typeface="Halant Bold"/>
                  <a:ea typeface="Halant Bold"/>
                  <a:cs typeface="Halant Bold"/>
                  <a:sym typeface="Halant Bold"/>
                </a:rPr>
                <a:t>Flash Memory</a:t>
              </a:r>
            </a:p>
          </p:txBody>
        </p:sp>
        <p:sp>
          <p:nvSpPr>
            <p:cNvPr id="16" name="TextBox 16"/>
            <p:cNvSpPr txBox="1"/>
            <p:nvPr/>
          </p:nvSpPr>
          <p:spPr>
            <a:xfrm>
              <a:off x="-211465" y="702183"/>
              <a:ext cx="3936759" cy="1436290"/>
            </a:xfrm>
            <a:prstGeom prst="rect">
              <a:avLst/>
            </a:prstGeom>
          </p:spPr>
          <p:txBody>
            <a:bodyPr wrap="square" lIns="0" tIns="0" rIns="0" bIns="0" rtlCol="0" anchor="t">
              <a:spAutoFit/>
            </a:bodyPr>
            <a:lstStyle/>
            <a:p>
              <a:pPr marL="431797" lvl="1" indent="-215899" algn="l">
                <a:lnSpc>
                  <a:spcPts val="2799"/>
                </a:lnSpc>
                <a:buFont typeface="Arial"/>
                <a:buChar char="•"/>
              </a:pPr>
              <a:r>
                <a:rPr lang="en-US" sz="1999" spc="-19" dirty="0">
                  <a:solidFill>
                    <a:srgbClr val="000000"/>
                  </a:solidFill>
                  <a:latin typeface="Assistant"/>
                  <a:ea typeface="Assistant"/>
                  <a:cs typeface="Assistant"/>
                  <a:sym typeface="Assistant"/>
                </a:rPr>
                <a:t>Non-volatile</a:t>
              </a:r>
            </a:p>
            <a:p>
              <a:pPr marL="431797" lvl="1" indent="-215899" algn="l">
                <a:lnSpc>
                  <a:spcPts val="2799"/>
                </a:lnSpc>
                <a:buFont typeface="Arial"/>
                <a:buChar char="•"/>
              </a:pPr>
              <a:r>
                <a:rPr lang="en-US" sz="1999" spc="-19" dirty="0">
                  <a:solidFill>
                    <a:srgbClr val="000000"/>
                  </a:solidFill>
                  <a:latin typeface="Assistant"/>
                  <a:ea typeface="Assistant"/>
                  <a:cs typeface="Assistant"/>
                  <a:sym typeface="Assistant"/>
                </a:rPr>
                <a:t>Used in USB drives and memory cards</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1256949" y="-374493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3" name="Freeform 3"/>
          <p:cNvSpPr/>
          <p:nvPr/>
        </p:nvSpPr>
        <p:spPr>
          <a:xfrm rot="-2715964">
            <a:off x="7936607" y="18627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4"/>
            <a:stretch>
              <a:fillRect/>
            </a:stretch>
          </a:blipFill>
        </p:spPr>
      </p:sp>
      <p:sp>
        <p:nvSpPr>
          <p:cNvPr id="4" name="Freeform 4"/>
          <p:cNvSpPr/>
          <p:nvPr/>
        </p:nvSpPr>
        <p:spPr>
          <a:xfrm rot="-795738">
            <a:off x="8510395" y="6248465"/>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p:cNvGrpSpPr/>
          <p:nvPr/>
        </p:nvGrpSpPr>
        <p:grpSpPr>
          <a:xfrm>
            <a:off x="546488" y="1042371"/>
            <a:ext cx="8521310" cy="6557309"/>
            <a:chOff x="-3" y="9525"/>
            <a:chExt cx="11361747" cy="8743078"/>
          </a:xfrm>
        </p:grpSpPr>
        <p:sp>
          <p:nvSpPr>
            <p:cNvPr id="6" name="TextBox 6"/>
            <p:cNvSpPr txBox="1"/>
            <p:nvPr/>
          </p:nvSpPr>
          <p:spPr>
            <a:xfrm>
              <a:off x="0" y="9525"/>
              <a:ext cx="11108912" cy="863127"/>
            </a:xfrm>
            <a:prstGeom prst="rect">
              <a:avLst/>
            </a:prstGeom>
          </p:spPr>
          <p:txBody>
            <a:bodyPr lIns="0" tIns="0" rIns="0" bIns="0" rtlCol="0" anchor="t">
              <a:spAutoFit/>
            </a:bodyPr>
            <a:lstStyle/>
            <a:p>
              <a:pPr algn="l">
                <a:lnSpc>
                  <a:spcPts val="5124"/>
                </a:lnSpc>
              </a:pPr>
              <a:r>
                <a:rPr lang="en-US" sz="4342" b="1">
                  <a:solidFill>
                    <a:srgbClr val="000000"/>
                  </a:solidFill>
                  <a:latin typeface="HK Grotesk Bold"/>
                  <a:ea typeface="HK Grotesk Bold"/>
                  <a:cs typeface="HK Grotesk Bold"/>
                  <a:sym typeface="HK Grotesk Bold"/>
                </a:rPr>
                <a:t>Bus and Types </a:t>
              </a:r>
            </a:p>
          </p:txBody>
        </p:sp>
        <p:sp>
          <p:nvSpPr>
            <p:cNvPr id="7" name="TextBox 7"/>
            <p:cNvSpPr txBox="1"/>
            <p:nvPr/>
          </p:nvSpPr>
          <p:spPr>
            <a:xfrm>
              <a:off x="-3" y="934224"/>
              <a:ext cx="11361747" cy="7818379"/>
            </a:xfrm>
            <a:prstGeom prst="rect">
              <a:avLst/>
            </a:prstGeom>
          </p:spPr>
          <p:txBody>
            <a:bodyPr wrap="square" lIns="0" tIns="0" rIns="0" bIns="0" rtlCol="0" anchor="t">
              <a:spAutoFit/>
            </a:bodyPr>
            <a:lstStyle/>
            <a:p>
              <a:pPr algn="just">
                <a:lnSpc>
                  <a:spcPts val="3499"/>
                </a:lnSpc>
              </a:pPr>
              <a:r>
                <a:rPr lang="en-US" sz="2499" dirty="0">
                  <a:solidFill>
                    <a:srgbClr val="000000"/>
                  </a:solidFill>
                  <a:latin typeface="Halant Medium"/>
                  <a:ea typeface="Halant Medium"/>
                  <a:cs typeface="Halant Medium"/>
                  <a:sym typeface="Halant Medium"/>
                </a:rPr>
                <a:t>A bus is a communication pathway used to transfer data, instructions, and control signals between computer components. Types of buses include data bus, address bus, and control bus.</a:t>
              </a:r>
            </a:p>
            <a:p>
              <a:pPr algn="just">
                <a:lnSpc>
                  <a:spcPts val="3499"/>
                </a:lnSpc>
              </a:pPr>
              <a:r>
                <a:rPr lang="en-US" sz="2499" dirty="0">
                  <a:solidFill>
                    <a:srgbClr val="000000"/>
                  </a:solidFill>
                  <a:latin typeface="Halant Medium"/>
                  <a:ea typeface="Halant Medium"/>
                  <a:cs typeface="Halant Medium"/>
                  <a:sym typeface="Halant Medium"/>
                </a:rPr>
                <a:t>Types of bus:</a:t>
              </a:r>
            </a:p>
            <a:p>
              <a:pPr marL="539749" lvl="1" indent="-269875" algn="just">
                <a:lnSpc>
                  <a:spcPts val="3499"/>
                </a:lnSpc>
                <a:buFont typeface="Arial"/>
                <a:buChar char="•"/>
              </a:pPr>
              <a:r>
                <a:rPr lang="en-US" sz="2499" dirty="0">
                  <a:solidFill>
                    <a:srgbClr val="000000"/>
                  </a:solidFill>
                  <a:latin typeface="Halant Medium"/>
                  <a:ea typeface="Halant Medium"/>
                  <a:cs typeface="Halant Medium"/>
                  <a:sym typeface="Halant Medium"/>
                </a:rPr>
                <a:t>Data bus (Sends data between the processor, memory, and input-output devices).</a:t>
              </a:r>
            </a:p>
            <a:p>
              <a:pPr marL="539749" lvl="1" indent="-269875" algn="just">
                <a:lnSpc>
                  <a:spcPts val="3499"/>
                </a:lnSpc>
                <a:buFont typeface="Arial"/>
                <a:buChar char="•"/>
              </a:pPr>
              <a:r>
                <a:rPr lang="en-US" sz="2499" dirty="0">
                  <a:solidFill>
                    <a:srgbClr val="000000"/>
                  </a:solidFill>
                  <a:latin typeface="Halant Medium"/>
                  <a:ea typeface="Halant Medium"/>
                  <a:cs typeface="Halant Medium"/>
                  <a:sym typeface="Halant Medium"/>
                </a:rPr>
                <a:t>Address bus (</a:t>
              </a:r>
              <a:r>
                <a:rPr lang="en-US" sz="2499" dirty="0" smtClean="0">
                  <a:solidFill>
                    <a:srgbClr val="000000"/>
                  </a:solidFill>
                  <a:latin typeface="Halant Medium"/>
                  <a:ea typeface="Halant Medium"/>
                  <a:cs typeface="Halant Medium"/>
                  <a:sym typeface="Halant Medium"/>
                </a:rPr>
                <a:t>Transmits </a:t>
              </a:r>
              <a:r>
                <a:rPr lang="en-US" sz="2499" dirty="0">
                  <a:solidFill>
                    <a:srgbClr val="000000"/>
                  </a:solidFill>
                  <a:latin typeface="Halant Medium"/>
                  <a:ea typeface="Halant Medium"/>
                  <a:cs typeface="Halant Medium"/>
                  <a:sym typeface="Halant Medium"/>
                </a:rPr>
                <a:t>the address between the processor and memory).</a:t>
              </a:r>
            </a:p>
            <a:p>
              <a:pPr marL="539749" lvl="1" indent="-269875" algn="just">
                <a:lnSpc>
                  <a:spcPts val="3499"/>
                </a:lnSpc>
                <a:buFont typeface="Arial"/>
                <a:buChar char="•"/>
              </a:pPr>
              <a:r>
                <a:rPr lang="en-US" sz="2499" dirty="0">
                  <a:solidFill>
                    <a:srgbClr val="000000"/>
                  </a:solidFill>
                  <a:latin typeface="Halant Medium"/>
                  <a:ea typeface="Halant Medium"/>
                  <a:cs typeface="Halant Medium"/>
                  <a:sym typeface="Halant Medium"/>
                </a:rPr>
                <a:t>Control bus (Transmits timing, status signals and commands between processor, memory and I/O devices).</a:t>
              </a:r>
            </a:p>
            <a:p>
              <a:pPr algn="just">
                <a:lnSpc>
                  <a:spcPts val="3377"/>
                </a:lnSpc>
              </a:pPr>
              <a:endParaRPr lang="en-US" sz="2499" dirty="0">
                <a:solidFill>
                  <a:srgbClr val="000000"/>
                </a:solidFill>
                <a:latin typeface="Halant Medium"/>
                <a:ea typeface="Halant Medium"/>
                <a:cs typeface="Halant Medium"/>
                <a:sym typeface="Halant Medium"/>
              </a:endParaRPr>
            </a:p>
            <a:p>
              <a:pPr marL="0" lvl="0" indent="0" algn="just">
                <a:lnSpc>
                  <a:spcPts val="4053"/>
                </a:lnSpc>
                <a:spcBef>
                  <a:spcPct val="0"/>
                </a:spcBef>
              </a:pPr>
              <a:endParaRPr lang="en-US" sz="2499" dirty="0">
                <a:solidFill>
                  <a:srgbClr val="000000"/>
                </a:solidFill>
                <a:latin typeface="Halant Medium"/>
                <a:ea typeface="Halant Medium"/>
                <a:cs typeface="Halant Medium"/>
                <a:sym typeface="Halant Medium"/>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3725" y="2106447"/>
            <a:ext cx="8886149" cy="4253189"/>
          </a:xfrm>
          <a:custGeom>
            <a:avLst/>
            <a:gdLst/>
            <a:ahLst/>
            <a:cxnLst/>
            <a:rect l="l" t="t" r="r" b="b"/>
            <a:pathLst>
              <a:path w="8886149" h="4253189">
                <a:moveTo>
                  <a:pt x="0" y="0"/>
                </a:moveTo>
                <a:lnTo>
                  <a:pt x="8886150" y="0"/>
                </a:lnTo>
                <a:lnTo>
                  <a:pt x="8886150" y="4253189"/>
                </a:lnTo>
                <a:lnTo>
                  <a:pt x="0" y="4253189"/>
                </a:lnTo>
                <a:lnTo>
                  <a:pt x="0" y="0"/>
                </a:lnTo>
                <a:close/>
              </a:path>
            </a:pathLst>
          </a:custGeom>
          <a:blipFill>
            <a:blip r:embed="rId2"/>
            <a:stretch>
              <a:fillRect l="-754" t="-4776" b="-476"/>
            </a:stretch>
          </a:blipFill>
        </p:spPr>
      </p:sp>
      <p:grpSp>
        <p:nvGrpSpPr>
          <p:cNvPr id="3" name="Group 3"/>
          <p:cNvGrpSpPr/>
          <p:nvPr/>
        </p:nvGrpSpPr>
        <p:grpSpPr>
          <a:xfrm>
            <a:off x="433725" y="1016152"/>
            <a:ext cx="8886149" cy="1090295"/>
            <a:chOff x="0" y="0"/>
            <a:chExt cx="11848199" cy="1453726"/>
          </a:xfrm>
        </p:grpSpPr>
        <p:sp>
          <p:nvSpPr>
            <p:cNvPr id="4" name="TextBox 4"/>
            <p:cNvSpPr txBox="1"/>
            <p:nvPr/>
          </p:nvSpPr>
          <p:spPr>
            <a:xfrm>
              <a:off x="0" y="9525"/>
              <a:ext cx="11663223" cy="998008"/>
            </a:xfrm>
            <a:prstGeom prst="rect">
              <a:avLst/>
            </a:prstGeom>
          </p:spPr>
          <p:txBody>
            <a:bodyPr lIns="0" tIns="0" rIns="0" bIns="0" rtlCol="0" anchor="t">
              <a:spAutoFit/>
            </a:bodyPr>
            <a:lstStyle/>
            <a:p>
              <a:pPr algn="ctr">
                <a:lnSpc>
                  <a:spcPts val="5899"/>
                </a:lnSpc>
              </a:pPr>
              <a:r>
                <a:rPr lang="en-US" sz="4999" b="1">
                  <a:solidFill>
                    <a:srgbClr val="4D1354"/>
                  </a:solidFill>
                  <a:latin typeface="HK Grotesk Bold"/>
                  <a:ea typeface="HK Grotesk Bold"/>
                  <a:cs typeface="HK Grotesk Bold"/>
                  <a:sym typeface="HK Grotesk Bold"/>
                </a:rPr>
                <a:t>Diagram</a:t>
              </a:r>
            </a:p>
          </p:txBody>
        </p:sp>
        <p:sp>
          <p:nvSpPr>
            <p:cNvPr id="5" name="TextBox 5"/>
            <p:cNvSpPr txBox="1"/>
            <p:nvPr/>
          </p:nvSpPr>
          <p:spPr>
            <a:xfrm>
              <a:off x="0" y="959908"/>
              <a:ext cx="11848199" cy="493818"/>
            </a:xfrm>
            <a:prstGeom prst="rect">
              <a:avLst/>
            </a:prstGeom>
          </p:spPr>
          <p:txBody>
            <a:bodyPr lIns="0" tIns="0" rIns="0" bIns="0" rtlCol="0" anchor="t">
              <a:spAutoFit/>
            </a:bodyPr>
            <a:lstStyle/>
            <a:p>
              <a:pPr algn="just">
                <a:lnSpc>
                  <a:spcPts val="3080"/>
                </a:lnSpc>
                <a:spcBef>
                  <a:spcPct val="0"/>
                </a:spcBef>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1256949" y="-350109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2"/>
            <a:stretch>
              <a:fillRect/>
            </a:stretch>
          </a:blipFill>
        </p:spPr>
      </p:sp>
      <p:sp>
        <p:nvSpPr>
          <p:cNvPr id="3" name="Freeform 3"/>
          <p:cNvSpPr/>
          <p:nvPr/>
        </p:nvSpPr>
        <p:spPr>
          <a:xfrm rot="-2715964">
            <a:off x="7936607" y="186275"/>
            <a:ext cx="1528874" cy="1448608"/>
          </a:xfrm>
          <a:custGeom>
            <a:avLst/>
            <a:gdLst/>
            <a:ahLst/>
            <a:cxnLst/>
            <a:rect l="l" t="t" r="r" b="b"/>
            <a:pathLst>
              <a:path w="1528874" h="1448608">
                <a:moveTo>
                  <a:pt x="0" y="0"/>
                </a:moveTo>
                <a:lnTo>
                  <a:pt x="1528874" y="0"/>
                </a:lnTo>
                <a:lnTo>
                  <a:pt x="1528874" y="1448609"/>
                </a:lnTo>
                <a:lnTo>
                  <a:pt x="0" y="1448609"/>
                </a:lnTo>
                <a:lnTo>
                  <a:pt x="0" y="0"/>
                </a:lnTo>
                <a:close/>
              </a:path>
            </a:pathLst>
          </a:custGeom>
          <a:blipFill>
            <a:blip r:embed="rId3"/>
            <a:stretch>
              <a:fillRect/>
            </a:stretch>
          </a:blipFill>
        </p:spPr>
      </p:sp>
      <p:sp>
        <p:nvSpPr>
          <p:cNvPr id="4" name="Freeform 4"/>
          <p:cNvSpPr/>
          <p:nvPr/>
        </p:nvSpPr>
        <p:spPr>
          <a:xfrm rot="-795738">
            <a:off x="8327515" y="568635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3"/>
            <a:stretch>
              <a:fillRect/>
            </a:stretch>
          </a:blipFill>
        </p:spPr>
      </p:sp>
      <p:grpSp>
        <p:nvGrpSpPr>
          <p:cNvPr id="5" name="Group 5"/>
          <p:cNvGrpSpPr/>
          <p:nvPr/>
        </p:nvGrpSpPr>
        <p:grpSpPr>
          <a:xfrm>
            <a:off x="546490" y="1686063"/>
            <a:ext cx="8463823" cy="4425356"/>
            <a:chOff x="0" y="9525"/>
            <a:chExt cx="11285097" cy="5900474"/>
          </a:xfrm>
        </p:grpSpPr>
        <p:sp>
          <p:nvSpPr>
            <p:cNvPr id="6" name="TextBox 6"/>
            <p:cNvSpPr txBox="1"/>
            <p:nvPr/>
          </p:nvSpPr>
          <p:spPr>
            <a:xfrm>
              <a:off x="0" y="9525"/>
              <a:ext cx="11108912" cy="863127"/>
            </a:xfrm>
            <a:prstGeom prst="rect">
              <a:avLst/>
            </a:prstGeom>
          </p:spPr>
          <p:txBody>
            <a:bodyPr lIns="0" tIns="0" rIns="0" bIns="0" rtlCol="0" anchor="t">
              <a:spAutoFit/>
            </a:bodyPr>
            <a:lstStyle/>
            <a:p>
              <a:pPr algn="l">
                <a:lnSpc>
                  <a:spcPts val="5124"/>
                </a:lnSpc>
              </a:pPr>
              <a:r>
                <a:rPr lang="en-US" sz="4342" b="1">
                  <a:solidFill>
                    <a:srgbClr val="000000"/>
                  </a:solidFill>
                  <a:latin typeface="HK Grotesk Bold"/>
                  <a:ea typeface="HK Grotesk Bold"/>
                  <a:cs typeface="HK Grotesk Bold"/>
                  <a:sym typeface="HK Grotesk Bold"/>
                </a:rPr>
                <a:t>Ports </a:t>
              </a:r>
            </a:p>
          </p:txBody>
        </p:sp>
        <p:sp>
          <p:nvSpPr>
            <p:cNvPr id="7" name="TextBox 7"/>
            <p:cNvSpPr txBox="1"/>
            <p:nvPr/>
          </p:nvSpPr>
          <p:spPr>
            <a:xfrm>
              <a:off x="0" y="1122363"/>
              <a:ext cx="11285097" cy="4787636"/>
            </a:xfrm>
            <a:prstGeom prst="rect">
              <a:avLst/>
            </a:prstGeom>
          </p:spPr>
          <p:txBody>
            <a:bodyPr lIns="0" tIns="0" rIns="0" bIns="0" rtlCol="0" anchor="t">
              <a:spAutoFit/>
            </a:bodyPr>
            <a:lstStyle/>
            <a:p>
              <a:pPr algn="just">
                <a:lnSpc>
                  <a:spcPts val="3499"/>
                </a:lnSpc>
              </a:pPr>
              <a:r>
                <a:rPr lang="en-US" sz="2499" dirty="0">
                  <a:solidFill>
                    <a:srgbClr val="000000"/>
                  </a:solidFill>
                  <a:latin typeface="Halant Medium"/>
                  <a:ea typeface="Halant Medium"/>
                  <a:cs typeface="Halant Medium"/>
                  <a:sym typeface="Halant Medium"/>
                </a:rPr>
                <a:t>Ports are interfaces used to connect external devices to a computer system, such as USB ports, HDMI ports, and network ports.</a:t>
              </a:r>
            </a:p>
            <a:p>
              <a:pPr algn="just">
                <a:lnSpc>
                  <a:spcPts val="3499"/>
                </a:lnSpc>
              </a:pPr>
              <a:r>
                <a:rPr lang="en-US" sz="2499" dirty="0">
                  <a:solidFill>
                    <a:srgbClr val="000000"/>
                  </a:solidFill>
                  <a:latin typeface="Halant Medium"/>
                  <a:ea typeface="Halant Medium"/>
                  <a:cs typeface="Halant Medium"/>
                  <a:sym typeface="Halant Medium"/>
                </a:rPr>
                <a:t>Examples:</a:t>
              </a:r>
            </a:p>
            <a:p>
              <a:pPr marL="539749" lvl="1" indent="-269875" algn="just">
                <a:lnSpc>
                  <a:spcPts val="3499"/>
                </a:lnSpc>
                <a:buFont typeface="Arial"/>
                <a:buChar char="•"/>
              </a:pPr>
              <a:r>
                <a:rPr lang="en-US" sz="2499" dirty="0">
                  <a:solidFill>
                    <a:srgbClr val="000000"/>
                  </a:solidFill>
                  <a:latin typeface="Halant Medium"/>
                  <a:ea typeface="Halant Medium"/>
                  <a:cs typeface="Halant Medium"/>
                  <a:sym typeface="Halant Medium"/>
                </a:rPr>
                <a:t>USB</a:t>
              </a:r>
            </a:p>
            <a:p>
              <a:pPr marL="539749" lvl="1" indent="-269875" algn="just">
                <a:lnSpc>
                  <a:spcPts val="3499"/>
                </a:lnSpc>
                <a:buFont typeface="Arial"/>
                <a:buChar char="•"/>
              </a:pPr>
              <a:r>
                <a:rPr lang="en-US" sz="2499" dirty="0">
                  <a:solidFill>
                    <a:srgbClr val="000000"/>
                  </a:solidFill>
                  <a:latin typeface="Halant Medium"/>
                  <a:ea typeface="Halant Medium"/>
                  <a:cs typeface="Halant Medium"/>
                  <a:sym typeface="Halant Medium"/>
                </a:rPr>
                <a:t>HDMI</a:t>
              </a:r>
            </a:p>
            <a:p>
              <a:pPr marL="539749" lvl="1" indent="-269875" algn="just">
                <a:lnSpc>
                  <a:spcPts val="3499"/>
                </a:lnSpc>
                <a:buFont typeface="Arial"/>
                <a:buChar char="•"/>
              </a:pPr>
              <a:r>
                <a:rPr lang="en-US" sz="2499" dirty="0">
                  <a:solidFill>
                    <a:srgbClr val="000000"/>
                  </a:solidFill>
                  <a:latin typeface="Halant Medium"/>
                  <a:ea typeface="Halant Medium"/>
                  <a:cs typeface="Halant Medium"/>
                  <a:sym typeface="Halant Medium"/>
                </a:rPr>
                <a:t>Ethernet</a:t>
              </a:r>
            </a:p>
            <a:p>
              <a:pPr marL="0" lvl="0" indent="0" algn="just">
                <a:lnSpc>
                  <a:spcPts val="3499"/>
                </a:lnSpc>
                <a:spcBef>
                  <a:spcPct val="0"/>
                </a:spcBef>
              </a:pPr>
              <a:endParaRPr lang="en-US" sz="2499" b="1" dirty="0">
                <a:solidFill>
                  <a:srgbClr val="000000"/>
                </a:solidFill>
                <a:latin typeface="Halant Medium"/>
                <a:ea typeface="Halant Medium"/>
                <a:cs typeface="Halant Medium"/>
                <a:sym typeface="Halant Medium"/>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4035447" y="-1338560"/>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2"/>
            <a:stretch>
              <a:fillRect/>
            </a:stretch>
          </a:blipFill>
        </p:spPr>
      </p:sp>
      <p:sp>
        <p:nvSpPr>
          <p:cNvPr id="3" name="Freeform 3"/>
          <p:cNvSpPr/>
          <p:nvPr/>
        </p:nvSpPr>
        <p:spPr>
          <a:xfrm rot="-5017281">
            <a:off x="3589663" y="81186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3"/>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4"/>
            <a:stretch>
              <a:fillRect/>
            </a:stretch>
          </a:blipFill>
        </p:spPr>
      </p:sp>
      <p:grpSp>
        <p:nvGrpSpPr>
          <p:cNvPr id="5" name="Group 5"/>
          <p:cNvGrpSpPr/>
          <p:nvPr/>
        </p:nvGrpSpPr>
        <p:grpSpPr>
          <a:xfrm>
            <a:off x="731520" y="2287924"/>
            <a:ext cx="6654819" cy="4295756"/>
            <a:chOff x="0" y="0"/>
            <a:chExt cx="8873092" cy="5727675"/>
          </a:xfrm>
        </p:grpSpPr>
        <p:sp>
          <p:nvSpPr>
            <p:cNvPr id="6" name="TextBox 6"/>
            <p:cNvSpPr txBox="1"/>
            <p:nvPr/>
          </p:nvSpPr>
          <p:spPr>
            <a:xfrm>
              <a:off x="0" y="9525"/>
              <a:ext cx="8873092" cy="1944379"/>
            </a:xfrm>
            <a:prstGeom prst="rect">
              <a:avLst/>
            </a:prstGeom>
          </p:spPr>
          <p:txBody>
            <a:bodyPr lIns="0" tIns="0" rIns="0" bIns="0" rtlCol="0" anchor="t">
              <a:spAutoFit/>
            </a:bodyPr>
            <a:lstStyle/>
            <a:p>
              <a:pPr algn="l">
                <a:lnSpc>
                  <a:spcPts val="5899"/>
                </a:lnSpc>
              </a:pPr>
              <a:r>
                <a:rPr lang="en-US" sz="4999" b="1">
                  <a:solidFill>
                    <a:srgbClr val="FFFFFF"/>
                  </a:solidFill>
                  <a:latin typeface="HK Grotesk Bold"/>
                  <a:ea typeface="HK Grotesk Bold"/>
                  <a:cs typeface="HK Grotesk Bold"/>
                  <a:sym typeface="HK Grotesk Bold"/>
                </a:rPr>
                <a:t>Summary of</a:t>
              </a:r>
            </a:p>
            <a:p>
              <a:pPr algn="l">
                <a:lnSpc>
                  <a:spcPts val="5900"/>
                </a:lnSpc>
              </a:pPr>
              <a:r>
                <a:rPr lang="en-US" sz="5000" b="1">
                  <a:solidFill>
                    <a:srgbClr val="FFFFFF"/>
                  </a:solidFill>
                  <a:latin typeface="HK Grotesk Bold"/>
                  <a:ea typeface="HK Grotesk Bold"/>
                  <a:cs typeface="HK Grotesk Bold"/>
                  <a:sym typeface="HK Grotesk Bold"/>
                </a:rPr>
                <a:t>Lecture 1</a:t>
              </a:r>
            </a:p>
          </p:txBody>
        </p:sp>
        <p:sp>
          <p:nvSpPr>
            <p:cNvPr id="7" name="TextBox 7"/>
            <p:cNvSpPr txBox="1"/>
            <p:nvPr/>
          </p:nvSpPr>
          <p:spPr>
            <a:xfrm>
              <a:off x="0" y="2269040"/>
              <a:ext cx="8873092" cy="3458634"/>
            </a:xfrm>
            <a:prstGeom prst="rect">
              <a:avLst/>
            </a:prstGeom>
          </p:spPr>
          <p:txBody>
            <a:bodyPr lIns="0" tIns="0" rIns="0" bIns="0" rtlCol="0" anchor="t">
              <a:spAutoFit/>
            </a:bodyPr>
            <a:lstStyle/>
            <a:p>
              <a:pPr algn="just">
                <a:lnSpc>
                  <a:spcPts val="3499"/>
                </a:lnSpc>
                <a:spcBef>
                  <a:spcPct val="0"/>
                </a:spcBef>
              </a:pPr>
              <a:r>
                <a:rPr lang="en-US" sz="2499" spc="-24">
                  <a:solidFill>
                    <a:srgbClr val="FFFFFF"/>
                  </a:solidFill>
                  <a:latin typeface="Assistant"/>
                  <a:ea typeface="Assistant"/>
                  <a:cs typeface="Assistant"/>
                  <a:sym typeface="Assistant"/>
                </a:rPr>
                <a:t>In this lecture, we introduced Information Technology, its role in society, and basic computing models. We covered how computers process data, CPU and memory functions, input and output devices, and the role of buses and ports in system communication.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1133</Words>
  <Application>Microsoft Office PowerPoint</Application>
  <PresentationFormat>Custom</PresentationFormat>
  <Paragraphs>124</Paragraphs>
  <Slides>20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HK Grotesk</vt:lpstr>
      <vt:lpstr>Halant</vt:lpstr>
      <vt:lpstr>Calibri</vt:lpstr>
      <vt:lpstr>HK Grotesk Bold</vt:lpstr>
      <vt:lpstr>Assistant</vt:lpstr>
      <vt:lpstr>Assistant Bold</vt:lpstr>
      <vt:lpstr>Arial</vt:lpstr>
      <vt:lpstr>Halant Medium</vt:lpstr>
      <vt:lpstr>Halant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cp:lastModifiedBy>premier</cp:lastModifiedBy>
  <cp:revision>4</cp:revision>
  <dcterms:created xsi:type="dcterms:W3CDTF">2006-08-16T00:00:00Z</dcterms:created>
  <dcterms:modified xsi:type="dcterms:W3CDTF">2026-02-01T17:25:02Z</dcterms:modified>
  <dc:identifier>DAHAD4iyJ5M</dc:identifier>
</cp:coreProperties>
</file>