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401" r:id="rId6"/>
    <p:sldId id="434" r:id="rId7"/>
    <p:sldId id="421" r:id="rId8"/>
    <p:sldId id="435" r:id="rId9"/>
    <p:sldId id="422" r:id="rId10"/>
    <p:sldId id="436" r:id="rId11"/>
    <p:sldId id="423" r:id="rId12"/>
    <p:sldId id="437" r:id="rId13"/>
    <p:sldId id="424" r:id="rId14"/>
    <p:sldId id="431" r:id="rId15"/>
    <p:sldId id="425" r:id="rId16"/>
    <p:sldId id="432" r:id="rId17"/>
    <p:sldId id="426" r:id="rId18"/>
    <p:sldId id="433" r:id="rId19"/>
    <p:sldId id="427" r:id="rId20"/>
    <p:sldId id="275" r:id="rId21"/>
  </p:sldIdLst>
  <p:sldSz cx="9753600" cy="7315200"/>
  <p:notesSz cx="6858000" cy="9144000"/>
  <p:embeddedFontLst>
    <p:embeddedFont>
      <p:font typeface="Arial Black" panose="020B0A04020102020204" pitchFamily="34" charset="0"/>
      <p:bold r:id="rId23"/>
    </p:embeddedFont>
    <p:embeddedFont>
      <p:font typeface="Halant Bold" panose="020B0604020202020204" charset="0"/>
      <p:bold r:id="rId24"/>
    </p:embeddedFont>
    <p:embeddedFont>
      <p:font typeface="Halant Medium"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29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showGuides="1">
      <p:cViewPr varScale="1">
        <p:scale>
          <a:sx n="63" d="100"/>
          <a:sy n="63" d="100"/>
        </p:scale>
        <p:origin x="1260" y="56"/>
      </p:cViewPr>
      <p:guideLst>
        <p:guide orient="horz" pos="2304"/>
        <p:guide pos="29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4/17/2026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FC16-F706-6F09-B377-BAB4DEEB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68C93-5BFA-9C29-81C0-CCA41A928D3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77C2B6F-AA5C-0955-8329-AAB3A346A69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76430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909DB-C0F6-50D5-E9CE-3D4C714CB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60445-6C81-A4DF-340C-D600DF68A51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89018E1-9579-D2BC-0702-A913614BE5F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7772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D41E8-4C9D-22D9-665D-1CF2CE05E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40166-ED4E-FEC4-2F9B-8713E5FBDE43}"/>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629BB59-0C9A-F1E5-9D56-8F1FE5C7651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671113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6C13-17FE-1FB0-2F39-EE9A02AFA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DF21B-581E-57EB-AEE6-1ABD3E8DC36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8D83EA8-2912-4756-8DAF-884D77ED60A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18471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B210-4085-9886-E795-DA29CF68F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D4FEC-A600-E246-66B7-A3509DC96F4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8288490-F81A-BFC8-4E1A-E845DF1CE9F0}"/>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26463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4199-AF21-2ED0-C8B3-F6D958573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8A150-6518-C0F4-9334-806A5E50E86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BE3971D-6174-9137-0908-51FF9F24185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198592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2A2B7-AF3E-2EC7-B7D1-E8A5BDFCC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7092D-D0D1-0840-9B1C-CE275A85140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D4469FC-FF4E-0795-CA29-F5DB67791A4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7497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B4528-1337-0144-45E9-78250A9BD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AF34B-67CC-A1DC-B5C7-24200407D13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87D2473-852D-0600-011A-669C7553CD70}"/>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96712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3529-9B34-B90E-1AA0-ABEA951A0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3F88D-E35B-9D82-CC77-57651FD41E7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C6B1517-C4B4-61B7-4E93-A612ED4C933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563646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A15E3-7BB9-71EB-A74E-FFC519F08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4DE5A-0D8E-0077-8D0F-25E09F0BBA2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13D7EA8-4B0A-411C-C27D-53E7E6338226}"/>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670906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3875-765F-B9DE-2B2F-A83C9F6BB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F246D-8926-D010-43A4-96ADB8F9C09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3BD7EE5-583C-AA8D-B32D-7B962DD0BEB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00899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dirty="0">
                  <a:solidFill>
                    <a:srgbClr val="000000"/>
                  </a:solidFill>
                  <a:latin typeface="+mj-lt"/>
                  <a:ea typeface="HK Grotesk Bold" panose="00000800000000000000"/>
                  <a:cs typeface="+mj-lt"/>
                  <a:sym typeface="HK Grotesk Bold" panose="00000800000000000000"/>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400" b="1" dirty="0">
                <a:solidFill>
                  <a:srgbClr val="731F7D"/>
                </a:solidFill>
                <a:latin typeface="Arial Black" panose="020B0A04020102020204" pitchFamily="34" charset="0"/>
                <a:ea typeface="Halant Bold" panose="00000800000000000000"/>
                <a:cs typeface="Halant Bold" panose="00000800000000000000"/>
                <a:sym typeface="Halant Bold" panose="00000800000000000000"/>
              </a:rPr>
              <a:t>Lecture 11</a:t>
            </a:r>
          </a:p>
          <a:p>
            <a:pPr algn="l">
              <a:lnSpc>
                <a:spcPts val="3780"/>
              </a:lnSpc>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p>
          <a:p>
            <a:pPr algn="l">
              <a:lnSpc>
                <a:spcPts val="3780"/>
              </a:lnSpc>
              <a:spcBef>
                <a:spcPct val="0"/>
              </a:spcBef>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524355" y="48260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491572" y="2255770"/>
            <a:ext cx="9112904" cy="4112337"/>
            <a:chOff x="-40828" y="0"/>
            <a:chExt cx="12150538" cy="5483116"/>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endParaRPr/>
            </a:p>
          </p:txBody>
        </p:sp>
        <p:sp>
          <p:nvSpPr>
            <p:cNvPr id="8" name="TextBox 8"/>
            <p:cNvSpPr txBox="1"/>
            <p:nvPr/>
          </p:nvSpPr>
          <p:spPr>
            <a:xfrm>
              <a:off x="60421" y="2032000"/>
              <a:ext cx="10667154" cy="3451116"/>
            </a:xfrm>
            <a:prstGeom prst="rect">
              <a:avLst/>
            </a:prstGeom>
          </p:spPr>
          <p:txBody>
            <a:bodyPr wrap="square" lIns="0" tIns="0" rIns="0" bIns="0" rtlCol="0" anchor="t">
              <a:spAutoFit/>
            </a:bodyPr>
            <a:lstStyle/>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6)</a:t>
              </a:r>
            </a:p>
            <a:p>
              <a:pPr lvl="1" indent="-457200" algn="just">
                <a:lnSpc>
                  <a:spcPts val="3360"/>
                </a:lnSpc>
                <a:buFont typeface="+mj-lt"/>
                <a:buAutoNum type="arabicPeriod"/>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63522" y="449702"/>
            <a:ext cx="7502435" cy="6415795"/>
          </a:xfrm>
          <a:prstGeom prst="rect">
            <a:avLst/>
          </a:prstGeom>
        </p:spPr>
        <p:txBody>
          <a:bodyPr lIns="0" tIns="0" rIns="0" bIns="0" rtlCol="0" anchor="t">
            <a:spAutoFit/>
          </a:bodyPr>
          <a:lstStyle/>
          <a:p>
            <a:r>
              <a:rPr lang="en-US" sz="2800" b="1" dirty="0"/>
              <a:t>Topic: Problem Solving, Pseudocode &amp; Flowcharts (Sequential Structure and Decision Structure)</a:t>
            </a:r>
          </a:p>
          <a:p>
            <a:pPr>
              <a:lnSpc>
                <a:spcPts val="5900"/>
              </a:lnSpc>
            </a:pPr>
            <a:r>
              <a:rPr lang="en-US" sz="5000" b="1" dirty="0">
                <a:solidFill>
                  <a:srgbClr val="000000"/>
                </a:solidFill>
                <a:ea typeface="HK Grotesk Bold" panose="00000800000000000000"/>
                <a:cs typeface="Calibri" panose="020F0502020204030204" charset="0"/>
                <a:sym typeface="HK Grotesk Bold" panose="00000800000000000000"/>
              </a:rPr>
              <a:t>Contents</a:t>
            </a:r>
            <a:r>
              <a:rPr lang="en-US" sz="5000" b="1" dirty="0">
                <a:solidFill>
                  <a:srgbClr val="000000"/>
                </a:solidFill>
                <a:ea typeface="HK Grotesk Bold" panose="00000800000000000000"/>
                <a:cs typeface="HK Grotesk Bold" panose="00000800000000000000"/>
                <a:sym typeface="HK Grotesk Bold" panose="00000800000000000000"/>
              </a:rPr>
              <a:t>:</a:t>
            </a:r>
          </a:p>
          <a:p>
            <a:pPr marL="342900" lvl="0" indent="-342900">
              <a:lnSpc>
                <a:spcPct val="150000"/>
              </a:lnSpc>
              <a:buFont typeface="+mj-lt"/>
              <a:buAutoNum type="arabicPeriod"/>
            </a:pPr>
            <a:r>
              <a:rPr lang="en-US" sz="2100" dirty="0"/>
              <a:t>Problem Solving in Programming</a:t>
            </a:r>
          </a:p>
          <a:p>
            <a:pPr marL="342900" lvl="0" indent="-342900">
              <a:lnSpc>
                <a:spcPct val="150000"/>
              </a:lnSpc>
              <a:buFont typeface="+mj-lt"/>
              <a:buAutoNum type="arabicPeriod"/>
            </a:pPr>
            <a:r>
              <a:rPr lang="en-US" sz="2100" dirty="0"/>
              <a:t>Sequential Structure</a:t>
            </a:r>
          </a:p>
          <a:p>
            <a:pPr marL="342900" lvl="0" indent="-342900">
              <a:lnSpc>
                <a:spcPct val="150000"/>
              </a:lnSpc>
              <a:buFont typeface="+mj-lt"/>
              <a:buAutoNum type="arabicPeriod"/>
            </a:pPr>
            <a:r>
              <a:rPr lang="en-US" sz="2100" dirty="0"/>
              <a:t>Pseudocode</a:t>
            </a:r>
          </a:p>
          <a:p>
            <a:pPr marL="342900" lvl="0" indent="-342900">
              <a:lnSpc>
                <a:spcPct val="150000"/>
              </a:lnSpc>
              <a:buFont typeface="+mj-lt"/>
              <a:buAutoNum type="arabicPeriod"/>
            </a:pPr>
            <a:r>
              <a:rPr lang="en-US" sz="2100" dirty="0"/>
              <a:t>Flowcharts</a:t>
            </a:r>
          </a:p>
          <a:p>
            <a:pPr marL="342900" lvl="0" indent="-342900">
              <a:lnSpc>
                <a:spcPct val="150000"/>
              </a:lnSpc>
              <a:buFont typeface="+mj-lt"/>
              <a:buAutoNum type="arabicPeriod"/>
            </a:pPr>
            <a:r>
              <a:rPr lang="en-US" sz="2100" dirty="0"/>
              <a:t>Decision Structure</a:t>
            </a:r>
          </a:p>
          <a:p>
            <a:pPr marL="342900" lvl="0" indent="-342900">
              <a:lnSpc>
                <a:spcPct val="150000"/>
              </a:lnSpc>
              <a:buFont typeface="+mj-lt"/>
              <a:buAutoNum type="arabicPeriod"/>
            </a:pPr>
            <a:r>
              <a:rPr lang="en-US" sz="2100" dirty="0"/>
              <a:t>Examples (Sequential &amp; Decision)</a:t>
            </a:r>
          </a:p>
          <a:p>
            <a:pPr marL="342900" lvl="0" indent="-342900">
              <a:lnSpc>
                <a:spcPct val="150000"/>
              </a:lnSpc>
              <a:buFont typeface="+mj-lt"/>
              <a:buAutoNum type="arabicPeriod"/>
            </a:pPr>
            <a:r>
              <a:rPr lang="en-US" sz="2100" dirty="0"/>
              <a:t>Discussion &amp; Practice using Pseudocode (Sequential &amp; Decision)</a:t>
            </a:r>
          </a:p>
          <a:p>
            <a:pPr marL="342900" lvl="0" indent="-342900">
              <a:lnSpc>
                <a:spcPct val="150000"/>
              </a:lnSpc>
              <a:buFont typeface="+mj-lt"/>
              <a:buAutoNum type="arabicPeriod"/>
            </a:pPr>
            <a:r>
              <a:rPr lang="en-US" sz="2100" dirty="0"/>
              <a:t>Generating Flowcharts (Sequential &amp; Decision)</a:t>
            </a:r>
          </a:p>
          <a:p>
            <a:pPr marL="342900" lvl="0" indent="-342900">
              <a:lnSpc>
                <a:spcPct val="150000"/>
              </a:lnSpc>
              <a:buFont typeface="+mj-lt"/>
              <a:buAutoNum type="arabicPeriod"/>
            </a:pPr>
            <a:r>
              <a:rPr lang="en-US" sz="2100" dirty="0"/>
              <a:t>Advantages of Pseudocode and Flowcharts</a:t>
            </a:r>
          </a:p>
          <a:p>
            <a:pPr marL="342900" lvl="0" indent="-342900">
              <a:lnSpc>
                <a:spcPct val="150000"/>
              </a:lnSpc>
              <a:buFont typeface="+mj-lt"/>
              <a:buAutoNum type="arabicPeriod"/>
            </a:pPr>
            <a:r>
              <a:rPr lang="en-US" sz="2100" dirty="0"/>
              <a:t> Summary</a:t>
            </a:r>
          </a:p>
        </p:txBody>
      </p:sp>
      <p:sp>
        <p:nvSpPr>
          <p:cNvPr id="3" name="Freeform 3"/>
          <p:cNvSpPr/>
          <p:nvPr/>
        </p:nvSpPr>
        <p:spPr>
          <a:xfrm rot="-10141306">
            <a:off x="-2409895" y="4771487"/>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sp>
        <p:nvSpPr>
          <p:cNvPr id="6" name="TextBox 6"/>
          <p:cNvSpPr txBox="1"/>
          <p:nvPr/>
        </p:nvSpPr>
        <p:spPr>
          <a:xfrm>
            <a:off x="1285462" y="7507606"/>
            <a:ext cx="7658557" cy="250346"/>
          </a:xfrm>
          <a:prstGeom prst="rect">
            <a:avLst/>
          </a:prstGeom>
        </p:spPr>
        <p:txBody>
          <a:bodyPr lIns="0" tIns="0" rIns="0" bIns="0" rtlCol="0" anchor="t">
            <a:spAutoFit/>
          </a:bodyPr>
          <a:lstStyle/>
          <a:p>
            <a:pPr algn="l">
              <a:lnSpc>
                <a:spcPts val="2145"/>
              </a:lnSpc>
              <a:spcBef>
                <a:spcPct val="0"/>
              </a:spcBef>
            </a:pPr>
            <a:endParaRPr/>
          </a:p>
        </p:txBody>
      </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4063260" y="-38161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560162" y="685800"/>
            <a:ext cx="8633276" cy="6421387"/>
            <a:chOff x="157480" y="-267335"/>
            <a:chExt cx="11511034" cy="8561844"/>
          </a:xfrm>
        </p:grpSpPr>
        <p:sp>
          <p:nvSpPr>
            <p:cNvPr id="6" name="TextBox 6"/>
            <p:cNvSpPr txBox="1"/>
            <p:nvPr/>
          </p:nvSpPr>
          <p:spPr>
            <a:xfrm>
              <a:off x="157480" y="-267335"/>
              <a:ext cx="11511034" cy="19820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Problem Solving in Programming:</a:t>
              </a:r>
            </a:p>
          </p:txBody>
        </p:sp>
        <p:sp>
          <p:nvSpPr>
            <p:cNvPr id="7" name="TextBox 7"/>
            <p:cNvSpPr txBox="1"/>
            <p:nvPr/>
          </p:nvSpPr>
          <p:spPr>
            <a:xfrm>
              <a:off x="350096" y="1722884"/>
              <a:ext cx="11125802" cy="6571625"/>
            </a:xfrm>
            <a:prstGeom prst="rect">
              <a:avLst/>
            </a:prstGeom>
          </p:spPr>
          <p:txBody>
            <a:bodyPr wrap="square" lIns="0" tIns="0" rIns="0" bIns="0" rtlCol="0" anchor="t">
              <a:spAutoFit/>
            </a:bodyPr>
            <a:lstStyle/>
            <a:p>
              <a:pPr algn="just">
                <a:lnSpc>
                  <a:spcPct val="150000"/>
                </a:lnSpc>
              </a:pPr>
              <a:r>
                <a:rPr lang="en-US" sz="2400" dirty="0"/>
                <a:t>Problem solving in programming means understanding a problem and creating a clear step-by-step solution using logic.</a:t>
              </a:r>
            </a:p>
            <a:p>
              <a:pPr algn="just">
                <a:lnSpc>
                  <a:spcPct val="150000"/>
                </a:lnSpc>
              </a:pPr>
              <a:r>
                <a:rPr lang="en-US" sz="2400" dirty="0"/>
                <a:t>The problem-solving process typically involves: </a:t>
              </a:r>
            </a:p>
            <a:p>
              <a:pPr algn="just">
                <a:lnSpc>
                  <a:spcPct val="150000"/>
                </a:lnSpc>
              </a:pPr>
              <a:r>
                <a:rPr lang="en-US" sz="2400" dirty="0"/>
                <a:t>•</a:t>
              </a:r>
              <a:r>
                <a:rPr lang="en-US" sz="2400" b="1" dirty="0"/>
                <a:t> Problem analysis </a:t>
              </a:r>
              <a:r>
                <a:rPr lang="en-US" sz="2400" dirty="0"/>
                <a:t>(understanding requirements).</a:t>
              </a:r>
            </a:p>
            <a:p>
              <a:pPr algn="just">
                <a:lnSpc>
                  <a:spcPct val="150000"/>
                </a:lnSpc>
              </a:pPr>
              <a:r>
                <a:rPr lang="en-US" sz="2400" dirty="0"/>
                <a:t>• </a:t>
              </a:r>
              <a:r>
                <a:rPr lang="en-US" sz="2400" b="1" dirty="0"/>
                <a:t>Solution design </a:t>
              </a:r>
              <a:r>
                <a:rPr lang="en-US" sz="2400" dirty="0"/>
                <a:t>(developing an algorithm).</a:t>
              </a:r>
            </a:p>
            <a:p>
              <a:pPr algn="just">
                <a:lnSpc>
                  <a:spcPct val="150000"/>
                </a:lnSpc>
              </a:pPr>
              <a:r>
                <a:rPr lang="en-US" sz="2400" dirty="0"/>
                <a:t>• </a:t>
              </a:r>
              <a:r>
                <a:rPr lang="en-US" sz="2400" b="1" dirty="0"/>
                <a:t>Representation</a:t>
              </a:r>
              <a:r>
                <a:rPr lang="en-US" sz="2400" dirty="0"/>
                <a:t> (pseudocode or flowchart). </a:t>
              </a:r>
            </a:p>
            <a:p>
              <a:pPr algn="just">
                <a:lnSpc>
                  <a:spcPct val="150000"/>
                </a:lnSpc>
              </a:pPr>
              <a:r>
                <a:rPr lang="en-US" sz="2400" dirty="0"/>
                <a:t>•</a:t>
              </a:r>
              <a:r>
                <a:rPr lang="en-US" sz="2400" b="1" dirty="0"/>
                <a:t> Implementation </a:t>
              </a:r>
              <a:r>
                <a:rPr lang="en-US" sz="2400" dirty="0"/>
                <a:t>(coding in a programming language).</a:t>
              </a:r>
            </a:p>
            <a:p>
              <a:pPr algn="just">
                <a:lnSpc>
                  <a:spcPct val="150000"/>
                </a:lnSpc>
              </a:pPr>
              <a:br>
                <a:rPr lang="en-US" sz="2400" dirty="0"/>
              </a:br>
              <a:endParaRPr lang="en-US" sz="24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7CC2-72FE-407B-D4E1-E103678D47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75EF21-8FCC-D241-0471-D4D4E95E6C52}"/>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48B76F-6C50-1857-EB3E-D3B98803B10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81F653B-E06F-758E-1D77-4292309ADD67}"/>
              </a:ext>
            </a:extLst>
          </p:cNvPr>
          <p:cNvGrpSpPr/>
          <p:nvPr/>
        </p:nvGrpSpPr>
        <p:grpSpPr>
          <a:xfrm>
            <a:off x="560162" y="698882"/>
            <a:ext cx="8633276" cy="6243449"/>
            <a:chOff x="157480" y="-267335"/>
            <a:chExt cx="11511034" cy="8324591"/>
          </a:xfrm>
        </p:grpSpPr>
        <p:sp>
          <p:nvSpPr>
            <p:cNvPr id="6" name="TextBox 6">
              <a:extLst>
                <a:ext uri="{FF2B5EF4-FFF2-40B4-BE49-F238E27FC236}">
                  <a16:creationId xmlns:a16="http://schemas.microsoft.com/office/drawing/2014/main" id="{F81C81D8-D304-2FF9-9CDE-8688F27DF702}"/>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Sequential Structure:</a:t>
              </a:r>
            </a:p>
          </p:txBody>
        </p:sp>
        <p:sp>
          <p:nvSpPr>
            <p:cNvPr id="7" name="TextBox 7">
              <a:extLst>
                <a:ext uri="{FF2B5EF4-FFF2-40B4-BE49-F238E27FC236}">
                  <a16:creationId xmlns:a16="http://schemas.microsoft.com/office/drawing/2014/main" id="{CEA62A13-9429-E638-4823-FFF477F4BAA8}"/>
                </a:ext>
              </a:extLst>
            </p:cNvPr>
            <p:cNvSpPr txBox="1"/>
            <p:nvPr/>
          </p:nvSpPr>
          <p:spPr>
            <a:xfrm>
              <a:off x="157480" y="746971"/>
              <a:ext cx="11204787" cy="7310285"/>
            </a:xfrm>
            <a:prstGeom prst="rect">
              <a:avLst/>
            </a:prstGeom>
          </p:spPr>
          <p:txBody>
            <a:bodyPr wrap="square" lIns="0" tIns="0" rIns="0" bIns="0" rtlCol="0" anchor="t">
              <a:spAutoFit/>
            </a:bodyPr>
            <a:lstStyle/>
            <a:p>
              <a:pPr algn="just">
                <a:lnSpc>
                  <a:spcPct val="150000"/>
                </a:lnSpc>
              </a:pPr>
              <a:r>
                <a:rPr lang="en-US" sz="2400" dirty="0"/>
                <a:t>Sequential structure is the simplest control structure in programming.</a:t>
              </a:r>
            </a:p>
            <a:p>
              <a:pPr algn="just">
                <a:lnSpc>
                  <a:spcPct val="150000"/>
                </a:lnSpc>
              </a:pPr>
              <a:r>
                <a:rPr lang="en-US" sz="2400" dirty="0"/>
                <a:t>In this structure, instructions are executed in a fixed order, one after another, without any branching or decision-making.</a:t>
              </a:r>
            </a:p>
            <a:p>
              <a:pPr algn="just">
                <a:lnSpc>
                  <a:spcPct val="150000"/>
                </a:lnSpc>
              </a:pPr>
              <a:r>
                <a:rPr lang="en-US" sz="2400" b="1" dirty="0"/>
                <a:t>Example: </a:t>
              </a:r>
            </a:p>
            <a:p>
              <a:pPr algn="just">
                <a:lnSpc>
                  <a:spcPct val="150000"/>
                </a:lnSpc>
              </a:pPr>
              <a:r>
                <a:rPr lang="en-US" sz="2400" dirty="0"/>
                <a:t>Start</a:t>
              </a:r>
              <a:r>
                <a:rPr lang="en-US" sz="2400" b="1" dirty="0"/>
                <a:t> → </a:t>
              </a:r>
              <a:r>
                <a:rPr lang="en-US" sz="2400" dirty="0"/>
                <a:t>Input values </a:t>
              </a:r>
              <a:r>
                <a:rPr lang="en-US" sz="2400" b="1" dirty="0"/>
                <a:t>→</a:t>
              </a:r>
              <a:r>
                <a:rPr lang="en-US" sz="2400" dirty="0"/>
                <a:t> Perform calculation </a:t>
              </a:r>
              <a:r>
                <a:rPr lang="en-US" sz="2400" b="1" dirty="0"/>
                <a:t>→</a:t>
              </a:r>
              <a:r>
                <a:rPr lang="en-US" sz="2400" dirty="0"/>
                <a:t> Display result </a:t>
              </a:r>
              <a:r>
                <a:rPr lang="en-US" sz="2400" b="1" dirty="0"/>
                <a:t>→</a:t>
              </a:r>
              <a:r>
                <a:rPr lang="en-US" sz="2400" dirty="0"/>
                <a:t> End</a:t>
              </a:r>
            </a:p>
            <a:p>
              <a:pPr algn="just">
                <a:lnSpc>
                  <a:spcPct val="150000"/>
                </a:lnSpc>
              </a:pPr>
              <a:r>
                <a:rPr lang="en-US" sz="2400" b="1" dirty="0"/>
                <a:t>Key Point: </a:t>
              </a:r>
            </a:p>
            <a:p>
              <a:pPr marL="342900" indent="-342900" algn="just">
                <a:lnSpc>
                  <a:spcPct val="150000"/>
                </a:lnSpc>
                <a:buFont typeface="Arial" panose="020B0604020202020204" pitchFamily="34" charset="0"/>
                <a:buChar char="•"/>
              </a:pPr>
              <a:r>
                <a:rPr lang="en-US" sz="2400" dirty="0"/>
                <a:t>Execution strictly follows the written sequence of steps.</a:t>
              </a:r>
            </a:p>
            <a:p>
              <a:pPr algn="just">
                <a:lnSpc>
                  <a:spcPct val="150000"/>
                </a:lnSpc>
              </a:pPr>
              <a:br>
                <a:rPr lang="en-US" sz="2400" dirty="0"/>
              </a:br>
              <a:endParaRPr lang="en-US" sz="2400" dirty="0"/>
            </a:p>
          </p:txBody>
        </p:sp>
      </p:grpSp>
    </p:spTree>
    <p:extLst>
      <p:ext uri="{BB962C8B-B14F-4D97-AF65-F5344CB8AC3E}">
        <p14:creationId xmlns:p14="http://schemas.microsoft.com/office/powerpoint/2010/main" val="264337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0281CC-771C-73A5-DA66-DC4B5D84E05F}"/>
              </a:ext>
            </a:extLst>
          </p:cNvPr>
          <p:cNvPicPr>
            <a:picLocks noChangeAspect="1"/>
          </p:cNvPicPr>
          <p:nvPr/>
        </p:nvPicPr>
        <p:blipFill>
          <a:blip r:embed="rId2">
            <a:extLst>
              <a:ext uri="{28A0092B-C50C-407E-A947-70E740481C1C}">
                <a14:useLocalDpi xmlns:a14="http://schemas.microsoft.com/office/drawing/2010/main" val="0"/>
              </a:ext>
            </a:extLst>
          </a:blip>
          <a:srcRect t="1042"/>
          <a:stretch>
            <a:fillRect/>
          </a:stretch>
        </p:blipFill>
        <p:spPr>
          <a:xfrm>
            <a:off x="1566606" y="0"/>
            <a:ext cx="6620387" cy="7239000"/>
          </a:xfrm>
          <a:prstGeom prst="rect">
            <a:avLst/>
          </a:prstGeom>
        </p:spPr>
      </p:pic>
    </p:spTree>
    <p:extLst>
      <p:ext uri="{BB962C8B-B14F-4D97-AF65-F5344CB8AC3E}">
        <p14:creationId xmlns:p14="http://schemas.microsoft.com/office/powerpoint/2010/main" val="261653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C5C9-41F5-EDAC-48ED-CB37AAC774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DFCB1-70BF-CE46-7637-DDF7D8CB677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2D37AA1-6299-41E8-853E-80A4BE805D0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EE75080-1D3C-A799-1E5E-F731909EF026}"/>
              </a:ext>
            </a:extLst>
          </p:cNvPr>
          <p:cNvGrpSpPr/>
          <p:nvPr/>
        </p:nvGrpSpPr>
        <p:grpSpPr>
          <a:xfrm>
            <a:off x="560162" y="535875"/>
            <a:ext cx="8633276" cy="6428116"/>
            <a:chOff x="157480" y="-267335"/>
            <a:chExt cx="11511034" cy="8570821"/>
          </a:xfrm>
        </p:grpSpPr>
        <p:sp>
          <p:nvSpPr>
            <p:cNvPr id="6" name="TextBox 6">
              <a:extLst>
                <a:ext uri="{FF2B5EF4-FFF2-40B4-BE49-F238E27FC236}">
                  <a16:creationId xmlns:a16="http://schemas.microsoft.com/office/drawing/2014/main" id="{8A66E7C3-1497-0DF3-64D2-8A4A8289EB34}"/>
                </a:ext>
              </a:extLst>
            </p:cNvPr>
            <p:cNvSpPr txBox="1"/>
            <p:nvPr/>
          </p:nvSpPr>
          <p:spPr>
            <a:xfrm>
              <a:off x="157480" y="-267335"/>
              <a:ext cx="11511034" cy="973257"/>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Pseudocode</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D5424744-8C8E-32D9-8CC0-168F92989151}"/>
                </a:ext>
              </a:extLst>
            </p:cNvPr>
            <p:cNvSpPr txBox="1"/>
            <p:nvPr/>
          </p:nvSpPr>
          <p:spPr>
            <a:xfrm>
              <a:off x="178648" y="746973"/>
              <a:ext cx="11204787" cy="7556513"/>
            </a:xfrm>
            <a:prstGeom prst="rect">
              <a:avLst/>
            </a:prstGeom>
          </p:spPr>
          <p:txBody>
            <a:bodyPr wrap="square" lIns="0" tIns="0" rIns="0" bIns="0" rtlCol="0" anchor="t">
              <a:spAutoFit/>
            </a:bodyPr>
            <a:lstStyle/>
            <a:p>
              <a:pPr>
                <a:lnSpc>
                  <a:spcPct val="150000"/>
                </a:lnSpc>
              </a:pPr>
              <a:r>
                <a:rPr lang="en-US" sz="2400" dirty="0"/>
                <a:t>Pseudocode is a simple way of writing the steps of a solution using easy English-like statements.</a:t>
              </a:r>
            </a:p>
            <a:p>
              <a:pPr>
                <a:lnSpc>
                  <a:spcPct val="150000"/>
                </a:lnSpc>
              </a:pPr>
              <a:r>
                <a:rPr lang="en-US" sz="2400" dirty="0"/>
                <a:t>It is not a programming language, but it provides a clear description of program logic independent of syntax.</a:t>
              </a:r>
            </a:p>
            <a:p>
              <a:pPr>
                <a:lnSpc>
                  <a:spcPct val="150000"/>
                </a:lnSpc>
              </a:pPr>
              <a:r>
                <a:rPr lang="en-US" sz="2400" b="1" dirty="0"/>
                <a:t>Characteristics: </a:t>
              </a:r>
            </a:p>
            <a:p>
              <a:pPr>
                <a:lnSpc>
                  <a:spcPct val="150000"/>
                </a:lnSpc>
              </a:pPr>
              <a:r>
                <a:rPr lang="en-US" sz="2400" dirty="0"/>
                <a:t>• Uses simple, readable statements </a:t>
              </a:r>
            </a:p>
            <a:p>
              <a:pPr>
                <a:lnSpc>
                  <a:spcPct val="150000"/>
                </a:lnSpc>
              </a:pPr>
              <a:r>
                <a:rPr lang="en-US" sz="2400" dirty="0"/>
                <a:t>• Focuses on logic rather than syntax </a:t>
              </a:r>
            </a:p>
            <a:p>
              <a:pPr>
                <a:lnSpc>
                  <a:spcPct val="150000"/>
                </a:lnSpc>
              </a:pPr>
              <a:r>
                <a:rPr lang="en-US" sz="2400" dirty="0"/>
                <a:t>• Language-independent representation</a:t>
              </a:r>
            </a:p>
            <a:p>
              <a:pPr>
                <a:lnSpc>
                  <a:spcPct val="150000"/>
                </a:lnSpc>
              </a:pPr>
              <a:r>
                <a:rPr lang="en-US" sz="2400" b="1" dirty="0"/>
                <a:t>Example: </a:t>
              </a:r>
            </a:p>
            <a:p>
              <a:pPr>
                <a:lnSpc>
                  <a:spcPct val="150000"/>
                </a:lnSpc>
              </a:pPr>
              <a:r>
                <a:rPr lang="en-US" sz="2400" dirty="0"/>
                <a:t>START INPUT A INPUT B SUM = A + B PRINT SUM END</a:t>
              </a:r>
              <a:endParaRPr lang="en-US" sz="3200" dirty="0"/>
            </a:p>
          </p:txBody>
        </p:sp>
      </p:grpSp>
    </p:spTree>
    <p:extLst>
      <p:ext uri="{BB962C8B-B14F-4D97-AF65-F5344CB8AC3E}">
        <p14:creationId xmlns:p14="http://schemas.microsoft.com/office/powerpoint/2010/main" val="3834544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EA6EDD-001D-DE65-BD4D-3BBC5C7727EC}"/>
              </a:ext>
            </a:extLst>
          </p:cNvPr>
          <p:cNvPicPr>
            <a:picLocks noChangeAspect="1"/>
          </p:cNvPicPr>
          <p:nvPr/>
        </p:nvPicPr>
        <p:blipFill>
          <a:blip r:embed="rId2">
            <a:extLst>
              <a:ext uri="{28A0092B-C50C-407E-A947-70E740481C1C}">
                <a14:useLocalDpi xmlns:a14="http://schemas.microsoft.com/office/drawing/2010/main" val="0"/>
              </a:ext>
            </a:extLst>
          </a:blip>
          <a:srcRect t="18750" b="31250"/>
          <a:stretch>
            <a:fillRect/>
          </a:stretch>
        </p:blipFill>
        <p:spPr>
          <a:xfrm>
            <a:off x="1790700" y="1447800"/>
            <a:ext cx="6172200" cy="4419600"/>
          </a:xfrm>
          <a:prstGeom prst="rect">
            <a:avLst/>
          </a:prstGeom>
          <a:ln>
            <a:solidFill>
              <a:schemeClr val="tx1"/>
            </a:solidFill>
          </a:ln>
        </p:spPr>
      </p:pic>
      <p:pic>
        <p:nvPicPr>
          <p:cNvPr id="7" name="Picture 6">
            <a:extLst>
              <a:ext uri="{FF2B5EF4-FFF2-40B4-BE49-F238E27FC236}">
                <a16:creationId xmlns:a16="http://schemas.microsoft.com/office/drawing/2014/main" id="{6191E6F2-FCB1-2426-B333-7B1DBC91AA4D}"/>
              </a:ext>
            </a:extLst>
          </p:cNvPr>
          <p:cNvPicPr>
            <a:picLocks noChangeAspect="1"/>
          </p:cNvPicPr>
          <p:nvPr/>
        </p:nvPicPr>
        <p:blipFill>
          <a:blip r:embed="rId2">
            <a:extLst>
              <a:ext uri="{28A0092B-C50C-407E-A947-70E740481C1C}">
                <a14:useLocalDpi xmlns:a14="http://schemas.microsoft.com/office/drawing/2010/main" val="0"/>
              </a:ext>
            </a:extLst>
          </a:blip>
          <a:srcRect l="35938" t="96154" r="9375"/>
          <a:stretch>
            <a:fillRect/>
          </a:stretch>
        </p:blipFill>
        <p:spPr>
          <a:xfrm>
            <a:off x="3219450" y="914400"/>
            <a:ext cx="3314700" cy="304800"/>
          </a:xfrm>
          <a:prstGeom prst="rect">
            <a:avLst/>
          </a:prstGeom>
        </p:spPr>
      </p:pic>
    </p:spTree>
    <p:extLst>
      <p:ext uri="{BB962C8B-B14F-4D97-AF65-F5344CB8AC3E}">
        <p14:creationId xmlns:p14="http://schemas.microsoft.com/office/powerpoint/2010/main" val="353941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C74D-9FE9-5EB4-51CD-02049AECEF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EA05B3-EA3C-7585-7605-4B6A2CDD806F}"/>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CA0D670D-5E31-E665-A9FF-9C263E2CED11}"/>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A2C55E2-02AB-BC9A-0D2D-480370D0DDDE}"/>
              </a:ext>
            </a:extLst>
          </p:cNvPr>
          <p:cNvGrpSpPr/>
          <p:nvPr/>
        </p:nvGrpSpPr>
        <p:grpSpPr>
          <a:xfrm>
            <a:off x="560162" y="533400"/>
            <a:ext cx="8633276" cy="6243450"/>
            <a:chOff x="157480" y="-267335"/>
            <a:chExt cx="11511034" cy="8324599"/>
          </a:xfrm>
        </p:grpSpPr>
        <p:sp>
          <p:nvSpPr>
            <p:cNvPr id="6" name="TextBox 6">
              <a:extLst>
                <a:ext uri="{FF2B5EF4-FFF2-40B4-BE49-F238E27FC236}">
                  <a16:creationId xmlns:a16="http://schemas.microsoft.com/office/drawing/2014/main" id="{100E6C8A-515E-CDA9-0EA1-DDC6E137E06B}"/>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Flowcharts:</a:t>
              </a:r>
            </a:p>
          </p:txBody>
        </p:sp>
        <p:sp>
          <p:nvSpPr>
            <p:cNvPr id="7" name="TextBox 7">
              <a:extLst>
                <a:ext uri="{FF2B5EF4-FFF2-40B4-BE49-F238E27FC236}">
                  <a16:creationId xmlns:a16="http://schemas.microsoft.com/office/drawing/2014/main" id="{F253581E-2E39-EA3B-60F8-B395A1F7A74B}"/>
                </a:ext>
              </a:extLst>
            </p:cNvPr>
            <p:cNvSpPr txBox="1"/>
            <p:nvPr/>
          </p:nvSpPr>
          <p:spPr>
            <a:xfrm>
              <a:off x="157480" y="746973"/>
              <a:ext cx="11204787" cy="7310291"/>
            </a:xfrm>
            <a:prstGeom prst="rect">
              <a:avLst/>
            </a:prstGeom>
          </p:spPr>
          <p:txBody>
            <a:bodyPr wrap="square" lIns="0" tIns="0" rIns="0" bIns="0" rtlCol="0" anchor="t">
              <a:spAutoFit/>
            </a:bodyPr>
            <a:lstStyle/>
            <a:p>
              <a:pPr>
                <a:lnSpc>
                  <a:spcPct val="150000"/>
                </a:lnSpc>
              </a:pPr>
              <a:r>
                <a:rPr lang="en-US" sz="2400" dirty="0"/>
                <a:t>A flowchart is a diagram that shows the steps of a solution using simple symbols and arrows.</a:t>
              </a:r>
            </a:p>
            <a:p>
              <a:pPr>
                <a:lnSpc>
                  <a:spcPct val="150000"/>
                </a:lnSpc>
              </a:pPr>
              <a:r>
                <a:rPr lang="en-US" sz="2400" b="1" dirty="0"/>
                <a:t>Common Symbols: </a:t>
              </a:r>
            </a:p>
            <a:p>
              <a:pPr>
                <a:lnSpc>
                  <a:spcPct val="150000"/>
                </a:lnSpc>
              </a:pPr>
              <a:r>
                <a:rPr lang="en-US" sz="2400" dirty="0"/>
                <a:t>• </a:t>
              </a:r>
              <a:r>
                <a:rPr lang="en-US" sz="2400" b="1" dirty="0"/>
                <a:t>Oval → </a:t>
              </a:r>
              <a:r>
                <a:rPr lang="en-US" sz="2400" dirty="0"/>
                <a:t>Start/End </a:t>
              </a:r>
            </a:p>
            <a:p>
              <a:pPr>
                <a:lnSpc>
                  <a:spcPct val="150000"/>
                </a:lnSpc>
              </a:pPr>
              <a:r>
                <a:rPr lang="en-US" sz="2400" dirty="0"/>
                <a:t>• </a:t>
              </a:r>
              <a:r>
                <a:rPr lang="en-US" sz="2400" b="1" dirty="0"/>
                <a:t>Parallelogram → </a:t>
              </a:r>
              <a:r>
                <a:rPr lang="en-US" sz="2400" dirty="0"/>
                <a:t>Input/Output </a:t>
              </a:r>
            </a:p>
            <a:p>
              <a:pPr>
                <a:lnSpc>
                  <a:spcPct val="150000"/>
                </a:lnSpc>
              </a:pPr>
              <a:r>
                <a:rPr lang="en-US" sz="2400" dirty="0"/>
                <a:t>•</a:t>
              </a:r>
              <a:r>
                <a:rPr lang="en-US" sz="2400" b="1" dirty="0"/>
                <a:t> Rectangle → </a:t>
              </a:r>
              <a:r>
                <a:rPr lang="en-US" sz="2400" dirty="0"/>
                <a:t>Process </a:t>
              </a:r>
            </a:p>
            <a:p>
              <a:pPr>
                <a:lnSpc>
                  <a:spcPct val="150000"/>
                </a:lnSpc>
              </a:pPr>
              <a:r>
                <a:rPr lang="en-US" sz="2400" dirty="0"/>
                <a:t>• </a:t>
              </a:r>
              <a:r>
                <a:rPr lang="en-US" sz="2400" b="1" dirty="0"/>
                <a:t>Diamond → </a:t>
              </a:r>
              <a:r>
                <a:rPr lang="en-US" sz="2400" dirty="0"/>
                <a:t>Decision </a:t>
              </a:r>
            </a:p>
            <a:p>
              <a:pPr>
                <a:lnSpc>
                  <a:spcPct val="150000"/>
                </a:lnSpc>
              </a:pPr>
              <a:r>
                <a:rPr lang="en-US" sz="2400" dirty="0"/>
                <a:t>• </a:t>
              </a:r>
              <a:r>
                <a:rPr lang="en-US" sz="2400" b="1" dirty="0"/>
                <a:t>Arrow → </a:t>
              </a:r>
              <a:r>
                <a:rPr lang="en-US" sz="2400" dirty="0"/>
                <a:t>Direction of flow</a:t>
              </a:r>
            </a:p>
            <a:p>
              <a:pPr>
                <a:lnSpc>
                  <a:spcPct val="150000"/>
                </a:lnSpc>
              </a:pPr>
              <a:r>
                <a:rPr lang="en-US" sz="2400" dirty="0"/>
                <a:t>Flowcharts provide a visual representation of the sequence and logic of operations.</a:t>
              </a:r>
            </a:p>
          </p:txBody>
        </p:sp>
      </p:grpSp>
    </p:spTree>
    <p:extLst>
      <p:ext uri="{BB962C8B-B14F-4D97-AF65-F5344CB8AC3E}">
        <p14:creationId xmlns:p14="http://schemas.microsoft.com/office/powerpoint/2010/main" val="1032742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1B065D-4A55-D811-2DEB-03CF98D246C3}"/>
              </a:ext>
            </a:extLst>
          </p:cNvPr>
          <p:cNvPicPr>
            <a:picLocks noChangeAspect="1"/>
          </p:cNvPicPr>
          <p:nvPr/>
        </p:nvPicPr>
        <p:blipFill>
          <a:blip r:embed="rId2">
            <a:extLst>
              <a:ext uri="{28A0092B-C50C-407E-A947-70E740481C1C}">
                <a14:useLocalDpi xmlns:a14="http://schemas.microsoft.com/office/drawing/2010/main" val="0"/>
              </a:ext>
            </a:extLst>
          </a:blip>
          <a:srcRect t="2633" b="17709"/>
          <a:stretch>
            <a:fillRect/>
          </a:stretch>
        </p:blipFill>
        <p:spPr>
          <a:xfrm>
            <a:off x="2438400" y="304800"/>
            <a:ext cx="4876800" cy="6629400"/>
          </a:xfrm>
          <a:prstGeom prst="rect">
            <a:avLst/>
          </a:prstGeom>
        </p:spPr>
      </p:pic>
    </p:spTree>
    <p:extLst>
      <p:ext uri="{BB962C8B-B14F-4D97-AF65-F5344CB8AC3E}">
        <p14:creationId xmlns:p14="http://schemas.microsoft.com/office/powerpoint/2010/main" val="48837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89F9-B519-3F41-4280-5735822A91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F92503-1268-04B3-6938-8E6618909105}"/>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6997CBDE-4B07-A93D-62C3-87BE9FAD656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895FA994-411F-12D8-E265-15E4D2C53700}"/>
              </a:ext>
            </a:extLst>
          </p:cNvPr>
          <p:cNvGrpSpPr/>
          <p:nvPr/>
        </p:nvGrpSpPr>
        <p:grpSpPr>
          <a:xfrm>
            <a:off x="560162" y="703961"/>
            <a:ext cx="8633276" cy="6243450"/>
            <a:chOff x="157480" y="-267335"/>
            <a:chExt cx="11511034" cy="8324600"/>
          </a:xfrm>
        </p:grpSpPr>
        <p:sp>
          <p:nvSpPr>
            <p:cNvPr id="6" name="TextBox 6">
              <a:extLst>
                <a:ext uri="{FF2B5EF4-FFF2-40B4-BE49-F238E27FC236}">
                  <a16:creationId xmlns:a16="http://schemas.microsoft.com/office/drawing/2014/main" id="{114DE6FD-81D1-14D1-1780-CD0AF3B6900E}"/>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Decision Structure:</a:t>
              </a:r>
            </a:p>
          </p:txBody>
        </p:sp>
        <p:sp>
          <p:nvSpPr>
            <p:cNvPr id="7" name="TextBox 7">
              <a:extLst>
                <a:ext uri="{FF2B5EF4-FFF2-40B4-BE49-F238E27FC236}">
                  <a16:creationId xmlns:a16="http://schemas.microsoft.com/office/drawing/2014/main" id="{196272EA-1493-2520-3D00-DF932294DEBD}"/>
                </a:ext>
              </a:extLst>
            </p:cNvPr>
            <p:cNvSpPr txBox="1"/>
            <p:nvPr/>
          </p:nvSpPr>
          <p:spPr>
            <a:xfrm>
              <a:off x="157480" y="746973"/>
              <a:ext cx="11204787" cy="7310292"/>
            </a:xfrm>
            <a:prstGeom prst="rect">
              <a:avLst/>
            </a:prstGeom>
          </p:spPr>
          <p:txBody>
            <a:bodyPr wrap="square" lIns="0" tIns="0" rIns="0" bIns="0" rtlCol="0" anchor="t">
              <a:spAutoFit/>
            </a:bodyPr>
            <a:lstStyle/>
            <a:p>
              <a:pPr>
                <a:lnSpc>
                  <a:spcPct val="150000"/>
                </a:lnSpc>
              </a:pPr>
              <a:r>
                <a:rPr lang="en-US" sz="2400" dirty="0"/>
                <a:t>Decision structure allows a program to choose between different paths based on a condition.</a:t>
              </a:r>
            </a:p>
            <a:p>
              <a:pPr marL="342900" indent="-342900">
                <a:lnSpc>
                  <a:spcPct val="150000"/>
                </a:lnSpc>
                <a:buFont typeface="Arial" panose="020B0604020202020204" pitchFamily="34" charset="0"/>
                <a:buChar char="•"/>
              </a:pPr>
              <a:r>
                <a:rPr lang="en-US" sz="2400" dirty="0"/>
                <a:t>It is commonly implemented using IF–ELSE constructs.</a:t>
              </a:r>
            </a:p>
            <a:p>
              <a:pPr>
                <a:lnSpc>
                  <a:spcPct val="150000"/>
                </a:lnSpc>
              </a:pPr>
              <a:r>
                <a:rPr lang="en-US" sz="2400" b="1" dirty="0"/>
                <a:t>Example: </a:t>
              </a:r>
            </a:p>
            <a:p>
              <a:pPr>
                <a:lnSpc>
                  <a:spcPct val="150000"/>
                </a:lnSpc>
              </a:pPr>
              <a:r>
                <a:rPr lang="en-US" sz="2400" dirty="0"/>
                <a:t>IF marks ≥ 50 THEN PRINT “Pass” ELSE PRINT “Fail”</a:t>
              </a:r>
            </a:p>
            <a:p>
              <a:pPr>
                <a:lnSpc>
                  <a:spcPct val="150000"/>
                </a:lnSpc>
              </a:pPr>
              <a:r>
                <a:rPr lang="en-US" sz="2400" b="1" dirty="0"/>
                <a:t>Key Point: </a:t>
              </a:r>
            </a:p>
            <a:p>
              <a:pPr marL="342900" indent="-342900">
                <a:lnSpc>
                  <a:spcPct val="150000"/>
                </a:lnSpc>
                <a:buFont typeface="Arial" panose="020B0604020202020204" pitchFamily="34" charset="0"/>
                <a:buChar char="•"/>
              </a:pPr>
              <a:r>
                <a:rPr lang="en-US" sz="2400" dirty="0"/>
                <a:t>Program execution follows different paths depending on the evaluation of a condition.</a:t>
              </a:r>
            </a:p>
            <a:p>
              <a:pPr>
                <a:lnSpc>
                  <a:spcPct val="150000"/>
                </a:lnSpc>
              </a:pPr>
              <a:br>
                <a:rPr lang="en-US" sz="2400" dirty="0"/>
              </a:br>
              <a:endParaRPr lang="en-US" sz="2400" dirty="0"/>
            </a:p>
          </p:txBody>
        </p:sp>
      </p:grpSp>
    </p:spTree>
    <p:extLst>
      <p:ext uri="{BB962C8B-B14F-4D97-AF65-F5344CB8AC3E}">
        <p14:creationId xmlns:p14="http://schemas.microsoft.com/office/powerpoint/2010/main" val="929084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105646-1CB8-AB40-FFAC-CB96321F33FB}"/>
              </a:ext>
            </a:extLst>
          </p:cNvPr>
          <p:cNvPicPr>
            <a:picLocks noChangeAspect="1"/>
          </p:cNvPicPr>
          <p:nvPr/>
        </p:nvPicPr>
        <p:blipFill>
          <a:blip r:embed="rId2">
            <a:extLst>
              <a:ext uri="{28A0092B-C50C-407E-A947-70E740481C1C}">
                <a14:useLocalDpi xmlns:a14="http://schemas.microsoft.com/office/drawing/2010/main" val="0"/>
              </a:ext>
            </a:extLst>
          </a:blip>
          <a:srcRect l="28125" t="10417" b="17708"/>
          <a:stretch>
            <a:fillRect/>
          </a:stretch>
        </p:blipFill>
        <p:spPr>
          <a:xfrm>
            <a:off x="2933700" y="495300"/>
            <a:ext cx="3886200" cy="6324600"/>
          </a:xfrm>
          <a:prstGeom prst="rect">
            <a:avLst/>
          </a:prstGeom>
        </p:spPr>
      </p:pic>
    </p:spTree>
    <p:extLst>
      <p:ext uri="{BB962C8B-B14F-4D97-AF65-F5344CB8AC3E}">
        <p14:creationId xmlns:p14="http://schemas.microsoft.com/office/powerpoint/2010/main" val="3412139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20C5C-7C57-6CE0-6D7E-432831E8F2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25FF16-4977-0E3F-944A-1CC9B225FD05}"/>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4B552BE-A0CA-2982-7DA3-CAD5E23F50B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751F3082-AB6D-91EC-E155-692979F5DDA8}"/>
              </a:ext>
            </a:extLst>
          </p:cNvPr>
          <p:cNvGrpSpPr/>
          <p:nvPr/>
        </p:nvGrpSpPr>
        <p:grpSpPr>
          <a:xfrm>
            <a:off x="560162" y="838200"/>
            <a:ext cx="8964838" cy="4366300"/>
            <a:chOff x="157480" y="-267335"/>
            <a:chExt cx="11953117" cy="5821735"/>
          </a:xfrm>
        </p:grpSpPr>
        <p:sp>
          <p:nvSpPr>
            <p:cNvPr id="6" name="TextBox 6">
              <a:extLst>
                <a:ext uri="{FF2B5EF4-FFF2-40B4-BE49-F238E27FC236}">
                  <a16:creationId xmlns:a16="http://schemas.microsoft.com/office/drawing/2014/main" id="{F4EB7554-2D41-29D7-DC5A-03C5658F4EF1}"/>
                </a:ext>
              </a:extLst>
            </p:cNvPr>
            <p:cNvSpPr txBox="1"/>
            <p:nvPr/>
          </p:nvSpPr>
          <p:spPr>
            <a:xfrm>
              <a:off x="157480" y="-267335"/>
              <a:ext cx="11511034" cy="1982082"/>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Examples (Sequential &amp; Decision):</a:t>
              </a:r>
            </a:p>
          </p:txBody>
        </p:sp>
        <p:sp>
          <p:nvSpPr>
            <p:cNvPr id="7" name="TextBox 7">
              <a:extLst>
                <a:ext uri="{FF2B5EF4-FFF2-40B4-BE49-F238E27FC236}">
                  <a16:creationId xmlns:a16="http://schemas.microsoft.com/office/drawing/2014/main" id="{BDE933DB-CDFC-F684-CAAE-980C4ABC0C95}"/>
                </a:ext>
              </a:extLst>
            </p:cNvPr>
            <p:cNvSpPr txBox="1"/>
            <p:nvPr/>
          </p:nvSpPr>
          <p:spPr>
            <a:xfrm>
              <a:off x="324997" y="1814315"/>
              <a:ext cx="11785600" cy="3740085"/>
            </a:xfrm>
            <a:prstGeom prst="rect">
              <a:avLst/>
            </a:prstGeom>
          </p:spPr>
          <p:txBody>
            <a:bodyPr wrap="square" lIns="0" tIns="0" rIns="0" bIns="0" rtlCol="0" anchor="t">
              <a:spAutoFit/>
            </a:bodyPr>
            <a:lstStyle/>
            <a:p>
              <a:pPr>
                <a:lnSpc>
                  <a:spcPct val="150000"/>
                </a:lnSpc>
              </a:pPr>
              <a:r>
                <a:rPr lang="en-US" sz="2800" b="1" dirty="0"/>
                <a:t>1. Sequential Example (Addition)</a:t>
              </a:r>
            </a:p>
            <a:p>
              <a:pPr marL="342900" indent="-342900">
                <a:lnSpc>
                  <a:spcPct val="150000"/>
                </a:lnSpc>
                <a:buFont typeface="Arial" panose="020B0604020202020204" pitchFamily="34" charset="0"/>
                <a:buChar char="•"/>
              </a:pPr>
              <a:r>
                <a:rPr lang="en-US" sz="2400" b="1" dirty="0"/>
                <a:t>Pseudocode: </a:t>
              </a:r>
            </a:p>
            <a:p>
              <a:pPr>
                <a:lnSpc>
                  <a:spcPct val="150000"/>
                </a:lnSpc>
              </a:pPr>
              <a:r>
                <a:rPr lang="en-US" sz="2400" b="1" dirty="0"/>
                <a:t>     </a:t>
              </a:r>
              <a:r>
                <a:rPr lang="en-US" sz="2400" dirty="0"/>
                <a:t>START INPUT A INPUT B SUM = A + B PRINT SUM END</a:t>
              </a:r>
            </a:p>
            <a:p>
              <a:pPr marL="342900" indent="-342900">
                <a:lnSpc>
                  <a:spcPct val="150000"/>
                </a:lnSpc>
                <a:buFont typeface="Arial" panose="020B0604020202020204" pitchFamily="34" charset="0"/>
                <a:buChar char="•"/>
              </a:pPr>
              <a:r>
                <a:rPr lang="en-US" sz="2400" b="1" dirty="0"/>
                <a:t>Flow Representation: </a:t>
              </a:r>
            </a:p>
            <a:p>
              <a:pPr>
                <a:lnSpc>
                  <a:spcPct val="150000"/>
                </a:lnSpc>
              </a:pPr>
              <a:r>
                <a:rPr lang="en-US" sz="2400" b="1" dirty="0"/>
                <a:t>     </a:t>
              </a:r>
              <a:r>
                <a:rPr lang="en-US" sz="2400" dirty="0"/>
                <a:t>Start </a:t>
              </a:r>
              <a:r>
                <a:rPr lang="en-US" sz="2400" b="1" dirty="0"/>
                <a:t>→</a:t>
              </a:r>
              <a:r>
                <a:rPr lang="en-US" sz="2400" dirty="0"/>
                <a:t> Input </a:t>
              </a:r>
              <a:r>
                <a:rPr lang="en-US" sz="2400" b="1" dirty="0"/>
                <a:t>→</a:t>
              </a:r>
              <a:r>
                <a:rPr lang="en-US" sz="2400" dirty="0"/>
                <a:t> Process </a:t>
              </a:r>
              <a:r>
                <a:rPr lang="en-US" sz="2400" b="1" dirty="0"/>
                <a:t>→</a:t>
              </a:r>
              <a:r>
                <a:rPr lang="en-US" sz="2400" dirty="0"/>
                <a:t> Output </a:t>
              </a:r>
              <a:r>
                <a:rPr lang="en-US" sz="2400" b="1" dirty="0"/>
                <a:t>→</a:t>
              </a:r>
              <a:r>
                <a:rPr lang="en-US" sz="2400" dirty="0"/>
                <a:t> End</a:t>
              </a:r>
            </a:p>
          </p:txBody>
        </p:sp>
      </p:grpSp>
    </p:spTree>
    <p:extLst>
      <p:ext uri="{BB962C8B-B14F-4D97-AF65-F5344CB8AC3E}">
        <p14:creationId xmlns:p14="http://schemas.microsoft.com/office/powerpoint/2010/main" val="4191080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4A7AE-1EBD-AE7E-B8D4-1B0237079F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BE79825-D144-ADFD-F671-41DE1C14095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55A7F34B-962E-2412-95AB-5E6B0B3E84CD}"/>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832C783-9EBB-881D-ECA7-064EDDCA130F}"/>
              </a:ext>
            </a:extLst>
          </p:cNvPr>
          <p:cNvGrpSpPr/>
          <p:nvPr/>
        </p:nvGrpSpPr>
        <p:grpSpPr>
          <a:xfrm>
            <a:off x="560162" y="838200"/>
            <a:ext cx="8964838" cy="4938730"/>
            <a:chOff x="157480" y="-267335"/>
            <a:chExt cx="11953117" cy="6584976"/>
          </a:xfrm>
        </p:grpSpPr>
        <p:sp>
          <p:nvSpPr>
            <p:cNvPr id="6" name="TextBox 6">
              <a:extLst>
                <a:ext uri="{FF2B5EF4-FFF2-40B4-BE49-F238E27FC236}">
                  <a16:creationId xmlns:a16="http://schemas.microsoft.com/office/drawing/2014/main" id="{092FC3CE-584B-6B2A-1732-E2A06363005C}"/>
                </a:ext>
              </a:extLst>
            </p:cNvPr>
            <p:cNvSpPr txBox="1"/>
            <p:nvPr/>
          </p:nvSpPr>
          <p:spPr>
            <a:xfrm>
              <a:off x="157480" y="-267335"/>
              <a:ext cx="11511034" cy="1982082"/>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Examples (Sequential &amp; Decision):</a:t>
              </a:r>
            </a:p>
          </p:txBody>
        </p:sp>
        <p:sp>
          <p:nvSpPr>
            <p:cNvPr id="7" name="TextBox 7">
              <a:extLst>
                <a:ext uri="{FF2B5EF4-FFF2-40B4-BE49-F238E27FC236}">
                  <a16:creationId xmlns:a16="http://schemas.microsoft.com/office/drawing/2014/main" id="{3A602331-7CC9-BFD7-949B-669350161EBE}"/>
                </a:ext>
              </a:extLst>
            </p:cNvPr>
            <p:cNvSpPr txBox="1"/>
            <p:nvPr/>
          </p:nvSpPr>
          <p:spPr>
            <a:xfrm>
              <a:off x="324997" y="1838891"/>
              <a:ext cx="11785600" cy="4478750"/>
            </a:xfrm>
            <a:prstGeom prst="rect">
              <a:avLst/>
            </a:prstGeom>
          </p:spPr>
          <p:txBody>
            <a:bodyPr wrap="square" lIns="0" tIns="0" rIns="0" bIns="0" rtlCol="0" anchor="t">
              <a:spAutoFit/>
            </a:bodyPr>
            <a:lstStyle/>
            <a:p>
              <a:pPr>
                <a:lnSpc>
                  <a:spcPct val="150000"/>
                </a:lnSpc>
              </a:pPr>
              <a:r>
                <a:rPr lang="en-US" sz="2800" b="1" dirty="0"/>
                <a:t>2. Decision Example (Even/Odd)</a:t>
              </a:r>
            </a:p>
            <a:p>
              <a:pPr marL="342900" indent="-342900">
                <a:lnSpc>
                  <a:spcPct val="150000"/>
                </a:lnSpc>
                <a:buFont typeface="Arial" panose="020B0604020202020204" pitchFamily="34" charset="0"/>
                <a:buChar char="•"/>
              </a:pPr>
              <a:r>
                <a:rPr lang="en-US" sz="2400" b="1" dirty="0"/>
                <a:t>Pseudocode: </a:t>
              </a:r>
            </a:p>
            <a:p>
              <a:pPr>
                <a:lnSpc>
                  <a:spcPct val="150000"/>
                </a:lnSpc>
              </a:pPr>
              <a:r>
                <a:rPr lang="en-US" sz="2400" b="1" dirty="0"/>
                <a:t>     </a:t>
              </a:r>
              <a:r>
                <a:rPr lang="en-US" sz="2400" dirty="0"/>
                <a:t>START INPUT N IF N MOD 2 = 0 THEN PRINT “Even” ELSE PRINT    </a:t>
              </a:r>
            </a:p>
            <a:p>
              <a:pPr>
                <a:lnSpc>
                  <a:spcPct val="150000"/>
                </a:lnSpc>
              </a:pPr>
              <a:r>
                <a:rPr lang="en-US" sz="2400" dirty="0"/>
                <a:t>     “Odd” END</a:t>
              </a:r>
            </a:p>
            <a:p>
              <a:pPr marL="342900" indent="-342900">
                <a:lnSpc>
                  <a:spcPct val="150000"/>
                </a:lnSpc>
                <a:buFont typeface="Arial" panose="020B0604020202020204" pitchFamily="34" charset="0"/>
                <a:buChar char="•"/>
              </a:pPr>
              <a:r>
                <a:rPr lang="en-US" sz="2400" b="1" dirty="0"/>
                <a:t>Flow Representation:</a:t>
              </a:r>
              <a:r>
                <a:rPr lang="en-US" sz="2400" dirty="0"/>
                <a:t> </a:t>
              </a:r>
            </a:p>
            <a:p>
              <a:pPr>
                <a:lnSpc>
                  <a:spcPct val="150000"/>
                </a:lnSpc>
              </a:pPr>
              <a:r>
                <a:rPr lang="en-US" sz="2400" dirty="0"/>
                <a:t>     Start </a:t>
              </a:r>
              <a:r>
                <a:rPr lang="en-US" sz="2400" b="1" dirty="0"/>
                <a:t>→</a:t>
              </a:r>
              <a:r>
                <a:rPr lang="en-US" sz="2400" dirty="0"/>
                <a:t> Input </a:t>
              </a:r>
              <a:r>
                <a:rPr lang="en-US" sz="2400" b="1" dirty="0"/>
                <a:t>→</a:t>
              </a:r>
              <a:r>
                <a:rPr lang="en-US" sz="2400" dirty="0"/>
                <a:t> Decision </a:t>
              </a:r>
              <a:r>
                <a:rPr lang="en-US" sz="2400" b="1" dirty="0"/>
                <a:t>→</a:t>
              </a:r>
              <a:r>
                <a:rPr lang="en-US" sz="2400" dirty="0"/>
                <a:t> Output </a:t>
              </a:r>
              <a:r>
                <a:rPr lang="en-US" sz="2400" b="1" dirty="0"/>
                <a:t>→</a:t>
              </a:r>
              <a:r>
                <a:rPr lang="en-US" sz="2400" dirty="0"/>
                <a:t> End</a:t>
              </a:r>
            </a:p>
          </p:txBody>
        </p:sp>
      </p:grpSp>
    </p:spTree>
    <p:extLst>
      <p:ext uri="{BB962C8B-B14F-4D97-AF65-F5344CB8AC3E}">
        <p14:creationId xmlns:p14="http://schemas.microsoft.com/office/powerpoint/2010/main" val="1665915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2EE66-4AE3-2F60-3321-B3A565A4A6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97D940-EE34-43FE-481C-E1DE3DA4B431}"/>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F10EA29-BE8D-5527-7D73-4E789ACE54C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763750B5-944A-4792-8B04-1CEF6B3B7155}"/>
              </a:ext>
            </a:extLst>
          </p:cNvPr>
          <p:cNvGrpSpPr/>
          <p:nvPr/>
        </p:nvGrpSpPr>
        <p:grpSpPr>
          <a:xfrm>
            <a:off x="560162" y="762000"/>
            <a:ext cx="8633276" cy="5509906"/>
            <a:chOff x="157480" y="-267335"/>
            <a:chExt cx="11511034" cy="7346532"/>
          </a:xfrm>
        </p:grpSpPr>
        <p:sp>
          <p:nvSpPr>
            <p:cNvPr id="6" name="TextBox 6">
              <a:extLst>
                <a:ext uri="{FF2B5EF4-FFF2-40B4-BE49-F238E27FC236}">
                  <a16:creationId xmlns:a16="http://schemas.microsoft.com/office/drawing/2014/main" id="{97E2D68D-BC3F-B9C9-5DAE-78D09BA6DF5C}"/>
                </a:ext>
              </a:extLst>
            </p:cNvPr>
            <p:cNvSpPr txBox="1"/>
            <p:nvPr/>
          </p:nvSpPr>
          <p:spPr>
            <a:xfrm>
              <a:off x="157480" y="-267335"/>
              <a:ext cx="11511034" cy="2990901"/>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Discussion &amp; Practice using Pseudocode (Sequential &amp; Decision)</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5497864D-2A45-934F-9772-F353AAD395CC}"/>
                </a:ext>
              </a:extLst>
            </p:cNvPr>
            <p:cNvSpPr txBox="1"/>
            <p:nvPr/>
          </p:nvSpPr>
          <p:spPr>
            <a:xfrm>
              <a:off x="310603" y="2723565"/>
              <a:ext cx="11204787" cy="4355632"/>
            </a:xfrm>
            <a:prstGeom prst="rect">
              <a:avLst/>
            </a:prstGeom>
          </p:spPr>
          <p:txBody>
            <a:bodyPr wrap="square" lIns="0" tIns="0" rIns="0" bIns="0" rtlCol="0" anchor="t">
              <a:spAutoFit/>
            </a:bodyPr>
            <a:lstStyle/>
            <a:p>
              <a:pPr>
                <a:lnSpc>
                  <a:spcPct val="150000"/>
                </a:lnSpc>
              </a:pPr>
              <a:r>
                <a:rPr lang="en-US" sz="2400" dirty="0"/>
                <a:t>Pseudocode is used to represent problem-solving procedures in a structured and logical form prior to implementation.</a:t>
              </a:r>
            </a:p>
            <a:p>
              <a:pPr>
                <a:lnSpc>
                  <a:spcPct val="150000"/>
                </a:lnSpc>
              </a:pPr>
              <a:r>
                <a:rPr lang="en-US" sz="2400" b="1" dirty="0"/>
                <a:t>(A) Sequential Structure Practice</a:t>
              </a:r>
            </a:p>
            <a:p>
              <a:pPr>
                <a:lnSpc>
                  <a:spcPct val="150000"/>
                </a:lnSpc>
              </a:pPr>
              <a:r>
                <a:rPr lang="en-US" sz="2400" dirty="0"/>
                <a:t>Sequential problems are expressed as a series of ordered steps.</a:t>
              </a:r>
            </a:p>
            <a:p>
              <a:pPr>
                <a:lnSpc>
                  <a:spcPct val="150000"/>
                </a:lnSpc>
              </a:pPr>
              <a:r>
                <a:rPr lang="en-US" sz="2400" b="1" dirty="0"/>
                <a:t>Example (Area of Rectangle): </a:t>
              </a:r>
            </a:p>
            <a:p>
              <a:pPr>
                <a:lnSpc>
                  <a:spcPct val="150000"/>
                </a:lnSpc>
              </a:pPr>
              <a:r>
                <a:rPr lang="en-US" sz="2400" dirty="0"/>
                <a:t>START INPUT Length, Width Area = Length × Width PRINT Area END</a:t>
              </a:r>
            </a:p>
          </p:txBody>
        </p:sp>
      </p:grpSp>
    </p:spTree>
    <p:extLst>
      <p:ext uri="{BB962C8B-B14F-4D97-AF65-F5344CB8AC3E}">
        <p14:creationId xmlns:p14="http://schemas.microsoft.com/office/powerpoint/2010/main" val="2643954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FE53-6F1F-1E22-AF62-C9D20F6249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211919-8E7D-553B-30A2-9FD2A4452147}"/>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FBCAA537-56DF-12A9-B0DF-DC99258CE18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04B0CE12-4AA1-CCD5-6EBD-87AAF08BAFAE}"/>
              </a:ext>
            </a:extLst>
          </p:cNvPr>
          <p:cNvGrpSpPr/>
          <p:nvPr/>
        </p:nvGrpSpPr>
        <p:grpSpPr>
          <a:xfrm>
            <a:off x="560162" y="762000"/>
            <a:ext cx="8633276" cy="6063904"/>
            <a:chOff x="157480" y="-267335"/>
            <a:chExt cx="11511034" cy="8085194"/>
          </a:xfrm>
        </p:grpSpPr>
        <p:sp>
          <p:nvSpPr>
            <p:cNvPr id="6" name="TextBox 6">
              <a:extLst>
                <a:ext uri="{FF2B5EF4-FFF2-40B4-BE49-F238E27FC236}">
                  <a16:creationId xmlns:a16="http://schemas.microsoft.com/office/drawing/2014/main" id="{AE1A067C-409F-22E4-88DF-ABFCDB0ADE8E}"/>
                </a:ext>
              </a:extLst>
            </p:cNvPr>
            <p:cNvSpPr txBox="1"/>
            <p:nvPr/>
          </p:nvSpPr>
          <p:spPr>
            <a:xfrm>
              <a:off x="157480" y="-267335"/>
              <a:ext cx="11511034" cy="2990901"/>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Discussion &amp; Practice using Pseudocode (Sequential &amp; Decision)</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95FB6ECF-31A9-7B8C-89D7-F8311D203CE8}"/>
                </a:ext>
              </a:extLst>
            </p:cNvPr>
            <p:cNvSpPr txBox="1"/>
            <p:nvPr/>
          </p:nvSpPr>
          <p:spPr>
            <a:xfrm>
              <a:off x="310603" y="2723565"/>
              <a:ext cx="11204787" cy="5094294"/>
            </a:xfrm>
            <a:prstGeom prst="rect">
              <a:avLst/>
            </a:prstGeom>
          </p:spPr>
          <p:txBody>
            <a:bodyPr wrap="square" lIns="0" tIns="0" rIns="0" bIns="0" rtlCol="0" anchor="t">
              <a:spAutoFit/>
            </a:bodyPr>
            <a:lstStyle/>
            <a:p>
              <a:pPr>
                <a:lnSpc>
                  <a:spcPct val="150000"/>
                </a:lnSpc>
              </a:pPr>
              <a:r>
                <a:rPr lang="en-US" sz="2400" b="1" dirty="0"/>
                <a:t>(B) Decision Structure Practice</a:t>
              </a:r>
            </a:p>
            <a:p>
              <a:pPr>
                <a:lnSpc>
                  <a:spcPct val="150000"/>
                </a:lnSpc>
              </a:pPr>
              <a:r>
                <a:rPr lang="en-US" sz="2400" dirty="0"/>
                <a:t>Decision problems involve conditional evaluation and branching.</a:t>
              </a:r>
            </a:p>
            <a:p>
              <a:pPr>
                <a:lnSpc>
                  <a:spcPct val="150000"/>
                </a:lnSpc>
              </a:pPr>
              <a:r>
                <a:rPr lang="en-US" sz="2400" b="1" dirty="0"/>
                <a:t>Example (Positive or Negative): </a:t>
              </a:r>
            </a:p>
            <a:p>
              <a:pPr>
                <a:lnSpc>
                  <a:spcPct val="150000"/>
                </a:lnSpc>
              </a:pPr>
              <a:r>
                <a:rPr lang="en-US" sz="2400" dirty="0"/>
                <a:t>START INPUT Number IF Number ≥ 0 THEN PRINT “Positive” ELSE PRINT “Negative” END</a:t>
              </a:r>
            </a:p>
            <a:p>
              <a:pPr>
                <a:lnSpc>
                  <a:spcPct val="150000"/>
                </a:lnSpc>
              </a:pPr>
              <a:br>
                <a:rPr lang="en-US" sz="2400" dirty="0"/>
              </a:br>
              <a:endParaRPr lang="en-US" sz="2400" dirty="0"/>
            </a:p>
          </p:txBody>
        </p:sp>
      </p:grpSp>
    </p:spTree>
    <p:extLst>
      <p:ext uri="{BB962C8B-B14F-4D97-AF65-F5344CB8AC3E}">
        <p14:creationId xmlns:p14="http://schemas.microsoft.com/office/powerpoint/2010/main" val="4126689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F4EC-D1F0-D1E7-6A58-74F0D87196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0D4CD9-AB8E-1486-ED54-D65F35ED7BC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2AB5516C-0AF5-6D65-70A0-D49FA63A7988}"/>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54C5F2C-B080-6600-8596-DD550F00B424}"/>
              </a:ext>
            </a:extLst>
          </p:cNvPr>
          <p:cNvGrpSpPr/>
          <p:nvPr/>
        </p:nvGrpSpPr>
        <p:grpSpPr>
          <a:xfrm>
            <a:off x="560162" y="812873"/>
            <a:ext cx="8633276" cy="4816055"/>
            <a:chOff x="157480" y="-267335"/>
            <a:chExt cx="11511034" cy="6421408"/>
          </a:xfrm>
        </p:grpSpPr>
        <p:sp>
          <p:nvSpPr>
            <p:cNvPr id="6" name="TextBox 6">
              <a:extLst>
                <a:ext uri="{FF2B5EF4-FFF2-40B4-BE49-F238E27FC236}">
                  <a16:creationId xmlns:a16="http://schemas.microsoft.com/office/drawing/2014/main" id="{A995CDC7-6AC1-F32B-E58A-9989E13F5D1C}"/>
                </a:ext>
              </a:extLst>
            </p:cNvPr>
            <p:cNvSpPr txBox="1"/>
            <p:nvPr/>
          </p:nvSpPr>
          <p:spPr>
            <a:xfrm>
              <a:off x="157480" y="-267335"/>
              <a:ext cx="11511034" cy="1982081"/>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Generating Flowcharts (Sequential &amp; Decision):</a:t>
              </a:r>
            </a:p>
          </p:txBody>
        </p:sp>
        <p:sp>
          <p:nvSpPr>
            <p:cNvPr id="7" name="TextBox 7">
              <a:extLst>
                <a:ext uri="{FF2B5EF4-FFF2-40B4-BE49-F238E27FC236}">
                  <a16:creationId xmlns:a16="http://schemas.microsoft.com/office/drawing/2014/main" id="{FFAE0E68-F80F-B270-96A7-A394C66747A5}"/>
                </a:ext>
              </a:extLst>
            </p:cNvPr>
            <p:cNvSpPr txBox="1"/>
            <p:nvPr/>
          </p:nvSpPr>
          <p:spPr>
            <a:xfrm>
              <a:off x="157480" y="1798435"/>
              <a:ext cx="11204787" cy="4355638"/>
            </a:xfrm>
            <a:prstGeom prst="rect">
              <a:avLst/>
            </a:prstGeom>
          </p:spPr>
          <p:txBody>
            <a:bodyPr wrap="square" lIns="0" tIns="0" rIns="0" bIns="0" rtlCol="0" anchor="t">
              <a:spAutoFit/>
            </a:bodyPr>
            <a:lstStyle/>
            <a:p>
              <a:pPr>
                <a:lnSpc>
                  <a:spcPct val="150000"/>
                </a:lnSpc>
              </a:pPr>
              <a:r>
                <a:rPr lang="en-US" sz="2400" dirty="0"/>
                <a:t>Flowcharts are constructed to visually represent algorithms using standardized symbols.</a:t>
              </a:r>
            </a:p>
            <a:p>
              <a:pPr>
                <a:lnSpc>
                  <a:spcPct val="150000"/>
                </a:lnSpc>
              </a:pPr>
              <a:r>
                <a:rPr lang="en-US" sz="2400" b="1" dirty="0"/>
                <a:t>(A) Sequential Flowchart</a:t>
              </a:r>
            </a:p>
            <a:p>
              <a:pPr>
                <a:lnSpc>
                  <a:spcPct val="150000"/>
                </a:lnSpc>
              </a:pPr>
              <a:r>
                <a:rPr lang="en-US" sz="2400" dirty="0"/>
                <a:t>Represents a linear sequence of operations.</a:t>
              </a:r>
            </a:p>
            <a:p>
              <a:pPr>
                <a:lnSpc>
                  <a:spcPct val="150000"/>
                </a:lnSpc>
              </a:pPr>
              <a:r>
                <a:rPr lang="en-US" sz="2400" b="1" dirty="0"/>
                <a:t>Example: </a:t>
              </a:r>
            </a:p>
            <a:p>
              <a:pPr>
                <a:lnSpc>
                  <a:spcPct val="150000"/>
                </a:lnSpc>
              </a:pPr>
              <a:r>
                <a:rPr lang="en-US" sz="2400" dirty="0"/>
                <a:t>Start </a:t>
              </a:r>
              <a:r>
                <a:rPr lang="en-US" sz="2400" b="1" dirty="0"/>
                <a:t>→</a:t>
              </a:r>
              <a:r>
                <a:rPr lang="en-US" sz="2400" dirty="0"/>
                <a:t> Input A, B </a:t>
              </a:r>
              <a:r>
                <a:rPr lang="en-US" sz="2400" b="1" dirty="0"/>
                <a:t>→</a:t>
              </a:r>
              <a:r>
                <a:rPr lang="en-US" sz="2400" dirty="0"/>
                <a:t> Process (A + B) </a:t>
              </a:r>
              <a:r>
                <a:rPr lang="en-US" sz="2400" b="1" dirty="0"/>
                <a:t>→</a:t>
              </a:r>
              <a:r>
                <a:rPr lang="en-US" sz="2400" dirty="0"/>
                <a:t> Output Result </a:t>
              </a:r>
              <a:r>
                <a:rPr lang="en-US" sz="2400" b="1" dirty="0"/>
                <a:t>→</a:t>
              </a:r>
              <a:r>
                <a:rPr lang="en-US" sz="2400" dirty="0"/>
                <a:t> End</a:t>
              </a:r>
            </a:p>
          </p:txBody>
        </p:sp>
      </p:grpSp>
    </p:spTree>
    <p:extLst>
      <p:ext uri="{BB962C8B-B14F-4D97-AF65-F5344CB8AC3E}">
        <p14:creationId xmlns:p14="http://schemas.microsoft.com/office/powerpoint/2010/main" val="68354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8F6C2-4EAA-021E-875B-C095F8FB8C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F137D5-9DB0-3D0F-3FBB-604D6A89AE02}"/>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62A8F70C-4A8B-6D18-A772-54D55897874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A12570C2-280D-BCCE-3A0C-53B0D9A05BC7}"/>
              </a:ext>
            </a:extLst>
          </p:cNvPr>
          <p:cNvGrpSpPr/>
          <p:nvPr/>
        </p:nvGrpSpPr>
        <p:grpSpPr>
          <a:xfrm>
            <a:off x="560162" y="812873"/>
            <a:ext cx="8633276" cy="5370053"/>
            <a:chOff x="157480" y="-267335"/>
            <a:chExt cx="11511034" cy="7160073"/>
          </a:xfrm>
        </p:grpSpPr>
        <p:sp>
          <p:nvSpPr>
            <p:cNvPr id="6" name="TextBox 6">
              <a:extLst>
                <a:ext uri="{FF2B5EF4-FFF2-40B4-BE49-F238E27FC236}">
                  <a16:creationId xmlns:a16="http://schemas.microsoft.com/office/drawing/2014/main" id="{14A07E20-5818-1DFB-7006-CB0E18ABF662}"/>
                </a:ext>
              </a:extLst>
            </p:cNvPr>
            <p:cNvSpPr txBox="1"/>
            <p:nvPr/>
          </p:nvSpPr>
          <p:spPr>
            <a:xfrm>
              <a:off x="157480" y="-267335"/>
              <a:ext cx="11511034" cy="1982081"/>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Generating Flowcharts (Sequential &amp; Decision):</a:t>
              </a:r>
            </a:p>
          </p:txBody>
        </p:sp>
        <p:sp>
          <p:nvSpPr>
            <p:cNvPr id="7" name="TextBox 7">
              <a:extLst>
                <a:ext uri="{FF2B5EF4-FFF2-40B4-BE49-F238E27FC236}">
                  <a16:creationId xmlns:a16="http://schemas.microsoft.com/office/drawing/2014/main" id="{0A2DA424-5C6F-4871-3B4B-FCB428ECB78E}"/>
                </a:ext>
              </a:extLst>
            </p:cNvPr>
            <p:cNvSpPr txBox="1"/>
            <p:nvPr/>
          </p:nvSpPr>
          <p:spPr>
            <a:xfrm>
              <a:off x="157480" y="1798435"/>
              <a:ext cx="11204787" cy="5094303"/>
            </a:xfrm>
            <a:prstGeom prst="rect">
              <a:avLst/>
            </a:prstGeom>
          </p:spPr>
          <p:txBody>
            <a:bodyPr wrap="square" lIns="0" tIns="0" rIns="0" bIns="0" rtlCol="0" anchor="t">
              <a:spAutoFit/>
            </a:bodyPr>
            <a:lstStyle/>
            <a:p>
              <a:pPr>
                <a:lnSpc>
                  <a:spcPct val="150000"/>
                </a:lnSpc>
              </a:pPr>
              <a:r>
                <a:rPr lang="en-US" sz="2400" b="1" dirty="0"/>
                <a:t>(B) Decision Flowchart</a:t>
              </a:r>
            </a:p>
            <a:p>
              <a:pPr>
                <a:lnSpc>
                  <a:spcPct val="150000"/>
                </a:lnSpc>
              </a:pPr>
              <a:r>
                <a:rPr lang="en-US" sz="2400" dirty="0"/>
                <a:t>Represents conditional branching using decision symbols.</a:t>
              </a:r>
            </a:p>
            <a:p>
              <a:pPr>
                <a:lnSpc>
                  <a:spcPct val="150000"/>
                </a:lnSpc>
              </a:pPr>
              <a:r>
                <a:rPr lang="en-US" sz="2400" b="1" dirty="0"/>
                <a:t>Example: </a:t>
              </a:r>
            </a:p>
            <a:p>
              <a:pPr>
                <a:lnSpc>
                  <a:spcPct val="150000"/>
                </a:lnSpc>
              </a:pPr>
              <a:r>
                <a:rPr lang="en-US" sz="2400" dirty="0"/>
                <a:t>Start </a:t>
              </a:r>
              <a:r>
                <a:rPr lang="en-US" sz="2400" b="1" dirty="0"/>
                <a:t>→</a:t>
              </a:r>
              <a:r>
                <a:rPr lang="en-US" sz="2400" dirty="0"/>
                <a:t> Input Marks </a:t>
              </a:r>
              <a:r>
                <a:rPr lang="en-US" sz="2400" b="1" dirty="0"/>
                <a:t>→</a:t>
              </a:r>
              <a:r>
                <a:rPr lang="en-US" sz="2400" dirty="0"/>
                <a:t> Decision (Marks ≥ 50?) </a:t>
              </a:r>
              <a:r>
                <a:rPr lang="en-US" sz="2400" b="1" dirty="0"/>
                <a:t>→</a:t>
              </a:r>
              <a:r>
                <a:rPr lang="en-US" sz="2400" dirty="0"/>
                <a:t> Yes </a:t>
              </a:r>
              <a:r>
                <a:rPr lang="en-US" sz="2400" b="1" dirty="0"/>
                <a:t>→</a:t>
              </a:r>
              <a:r>
                <a:rPr lang="en-US" sz="2400" dirty="0"/>
                <a:t> Print Pass </a:t>
              </a:r>
              <a:r>
                <a:rPr lang="en-US" sz="2400" b="1" dirty="0"/>
                <a:t>→</a:t>
              </a:r>
              <a:r>
                <a:rPr lang="en-US" sz="2400" dirty="0"/>
                <a:t> No </a:t>
              </a:r>
              <a:r>
                <a:rPr lang="en-US" sz="2400" b="1" dirty="0"/>
                <a:t>→</a:t>
              </a:r>
              <a:r>
                <a:rPr lang="en-US" sz="2400" dirty="0"/>
                <a:t> Print Fail </a:t>
              </a:r>
              <a:r>
                <a:rPr lang="en-US" sz="2400" b="1" dirty="0"/>
                <a:t>→</a:t>
              </a:r>
              <a:r>
                <a:rPr lang="en-US" sz="2400" dirty="0"/>
                <a:t> End</a:t>
              </a:r>
            </a:p>
            <a:p>
              <a:pPr>
                <a:lnSpc>
                  <a:spcPct val="150000"/>
                </a:lnSpc>
              </a:pPr>
              <a:br>
                <a:rPr lang="en-US" sz="2400" dirty="0"/>
              </a:br>
              <a:endParaRPr lang="en-US" sz="2400" dirty="0"/>
            </a:p>
          </p:txBody>
        </p:sp>
      </p:grpSp>
    </p:spTree>
    <p:extLst>
      <p:ext uri="{BB962C8B-B14F-4D97-AF65-F5344CB8AC3E}">
        <p14:creationId xmlns:p14="http://schemas.microsoft.com/office/powerpoint/2010/main" val="125412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F899-E57A-BB0F-4DCF-4168B7654E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EA615-4D58-A39D-C451-E9F337829D0D}"/>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0D6056-2B56-EC44-490F-42EDBF16461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5F4B8FE-5281-557F-A829-F7A043CEBC41}"/>
              </a:ext>
            </a:extLst>
          </p:cNvPr>
          <p:cNvGrpSpPr/>
          <p:nvPr/>
        </p:nvGrpSpPr>
        <p:grpSpPr>
          <a:xfrm>
            <a:off x="560162" y="1027408"/>
            <a:ext cx="8633276" cy="4199291"/>
            <a:chOff x="157480" y="-267335"/>
            <a:chExt cx="11511034" cy="5599054"/>
          </a:xfrm>
        </p:grpSpPr>
        <p:sp>
          <p:nvSpPr>
            <p:cNvPr id="6" name="TextBox 6">
              <a:extLst>
                <a:ext uri="{FF2B5EF4-FFF2-40B4-BE49-F238E27FC236}">
                  <a16:creationId xmlns:a16="http://schemas.microsoft.com/office/drawing/2014/main" id="{5D4FC425-4DB3-31FE-3B01-160C70AD4125}"/>
                </a:ext>
              </a:extLst>
            </p:cNvPr>
            <p:cNvSpPr txBox="1"/>
            <p:nvPr/>
          </p:nvSpPr>
          <p:spPr>
            <a:xfrm>
              <a:off x="157480" y="-267335"/>
              <a:ext cx="11511034" cy="1982082"/>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Advantages</a:t>
              </a:r>
              <a:r>
                <a:rPr lang="en-US" dirty="0"/>
                <a:t> </a:t>
              </a:r>
              <a:r>
                <a:rPr lang="en-US" sz="4800" b="1" dirty="0">
                  <a:solidFill>
                    <a:srgbClr val="731F7D"/>
                  </a:solidFill>
                  <a:latin typeface="Calibri" panose="020F0502020204030204" charset="0"/>
                  <a:cs typeface="Calibri" panose="020F0502020204030204" charset="0"/>
                </a:rPr>
                <a:t>of</a:t>
              </a:r>
              <a:r>
                <a:rPr lang="en-US" dirty="0"/>
                <a:t> </a:t>
              </a:r>
              <a:r>
                <a:rPr lang="en-US" sz="4800" b="1" dirty="0">
                  <a:solidFill>
                    <a:srgbClr val="731F7D"/>
                  </a:solidFill>
                  <a:latin typeface="Calibri" panose="020F0502020204030204" charset="0"/>
                  <a:cs typeface="Calibri" panose="020F0502020204030204" charset="0"/>
                </a:rPr>
                <a:t>Pseudocode</a:t>
              </a:r>
              <a:r>
                <a:rPr lang="en-US" dirty="0"/>
                <a:t> </a:t>
              </a:r>
              <a:r>
                <a:rPr lang="en-US" sz="4800" b="1" dirty="0">
                  <a:solidFill>
                    <a:srgbClr val="731F7D"/>
                  </a:solidFill>
                  <a:latin typeface="Calibri" panose="020F0502020204030204" charset="0"/>
                  <a:cs typeface="Calibri" panose="020F0502020204030204" charset="0"/>
                </a:rPr>
                <a:t>and</a:t>
              </a:r>
              <a:r>
                <a:rPr lang="en-US" dirty="0"/>
                <a:t> </a:t>
              </a:r>
              <a:r>
                <a:rPr lang="en-US" sz="4800" b="1" dirty="0">
                  <a:solidFill>
                    <a:srgbClr val="731F7D"/>
                  </a:solidFill>
                  <a:latin typeface="Calibri" panose="020F0502020204030204" charset="0"/>
                  <a:cs typeface="Calibri" panose="020F0502020204030204" charset="0"/>
                </a:rPr>
                <a:t>Flowcharts</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2BC30B7D-9983-C478-8E75-0779981A140E}"/>
                </a:ext>
              </a:extLst>
            </p:cNvPr>
            <p:cNvSpPr txBox="1"/>
            <p:nvPr/>
          </p:nvSpPr>
          <p:spPr>
            <a:xfrm>
              <a:off x="310603" y="1714746"/>
              <a:ext cx="11204787" cy="3616973"/>
            </a:xfrm>
            <a:prstGeom prst="rect">
              <a:avLst/>
            </a:prstGeom>
          </p:spPr>
          <p:txBody>
            <a:bodyPr wrap="square" lIns="0" tIns="0" rIns="0" bIns="0" rtlCol="0" anchor="t">
              <a:spAutoFit/>
            </a:bodyPr>
            <a:lstStyle/>
            <a:p>
              <a:pPr algn="just">
                <a:lnSpc>
                  <a:spcPct val="150000"/>
                </a:lnSpc>
              </a:pPr>
              <a:r>
                <a:rPr lang="en-US" sz="2400" dirty="0"/>
                <a:t>• Provide clear representation of program logic. </a:t>
              </a:r>
            </a:p>
            <a:p>
              <a:pPr algn="just">
                <a:lnSpc>
                  <a:spcPct val="150000"/>
                </a:lnSpc>
              </a:pPr>
              <a:r>
                <a:rPr lang="en-US" sz="2400" dirty="0"/>
                <a:t>• Facilitate structured program design.</a:t>
              </a:r>
            </a:p>
            <a:p>
              <a:pPr algn="just">
                <a:lnSpc>
                  <a:spcPct val="150000"/>
                </a:lnSpc>
              </a:pPr>
              <a:r>
                <a:rPr lang="en-US" sz="2400" dirty="0"/>
                <a:t>• Reduce logical errors before implementation.</a:t>
              </a:r>
            </a:p>
            <a:p>
              <a:pPr algn="just">
                <a:lnSpc>
                  <a:spcPct val="150000"/>
                </a:lnSpc>
              </a:pPr>
              <a:r>
                <a:rPr lang="en-US" sz="2400" dirty="0"/>
                <a:t>• Improve communication among developers.</a:t>
              </a:r>
            </a:p>
            <a:p>
              <a:pPr algn="just">
                <a:lnSpc>
                  <a:spcPct val="150000"/>
                </a:lnSpc>
              </a:pPr>
              <a:r>
                <a:rPr lang="en-US" sz="2400" dirty="0"/>
                <a:t>• Support debugging and maintenance.</a:t>
              </a:r>
            </a:p>
          </p:txBody>
        </p:sp>
      </p:grpSp>
    </p:spTree>
    <p:extLst>
      <p:ext uri="{BB962C8B-B14F-4D97-AF65-F5344CB8AC3E}">
        <p14:creationId xmlns:p14="http://schemas.microsoft.com/office/powerpoint/2010/main" val="4077094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sp>
        <p:nvSpPr>
          <p:cNvPr id="6" name="TextBox 6"/>
          <p:cNvSpPr txBox="1"/>
          <p:nvPr/>
        </p:nvSpPr>
        <p:spPr>
          <a:xfrm>
            <a:off x="633405" y="1981200"/>
            <a:ext cx="6300796" cy="5003934"/>
          </a:xfrm>
          <a:prstGeom prst="rect">
            <a:avLst/>
          </a:prstGeom>
        </p:spPr>
        <p:txBody>
          <a:bodyPr wrap="square" lIns="0" tIns="0" rIns="0" bIns="0" rtlCol="0" anchor="t">
            <a:spAutoFit/>
          </a:bodyPr>
          <a:lstStyle/>
          <a:p>
            <a:pPr algn="just">
              <a:lnSpc>
                <a:spcPts val="5900"/>
              </a:lnSpc>
            </a:pPr>
            <a:r>
              <a:rPr lang="en-US" sz="3600" b="1" dirty="0">
                <a:solidFill>
                  <a:schemeClr val="bg1"/>
                </a:solidFill>
                <a:latin typeface="Calibri" panose="020F0502020204030204" charset="0"/>
                <a:ea typeface="HK Grotesk Bold" panose="00000800000000000000"/>
                <a:cs typeface="Calibri" panose="020F0502020204030204" charset="0"/>
                <a:sym typeface="HK Grotesk Bold" panose="00000800000000000000"/>
              </a:rPr>
              <a:t>Summary of Lecture </a:t>
            </a:r>
          </a:p>
          <a:p>
            <a:pPr algn="just">
              <a:lnSpc>
                <a:spcPct val="150000"/>
              </a:lnSpc>
            </a:pPr>
            <a:r>
              <a:rPr lang="en-US" sz="2400" dirty="0">
                <a:solidFill>
                  <a:schemeClr val="bg1"/>
                </a:solidFill>
              </a:rPr>
              <a:t>Problem solving in programming involves the development of logical and structured solutions. Sequential structures execute instructions in order, while decision structures enable conditional branching. Pseudocode and flowcharts serve as essential tools for representing algorithms clearly before implementation.</a:t>
            </a:r>
          </a:p>
          <a:p>
            <a:pPr algn="just"/>
            <a:endParaRPr lang="en-US" sz="2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804</Words>
  <Application>Microsoft Office PowerPoint</Application>
  <PresentationFormat>Custom</PresentationFormat>
  <Paragraphs>108</Paragraphs>
  <Slides>20</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Wingdings</vt:lpstr>
      <vt:lpstr>Calibri</vt:lpstr>
      <vt:lpstr>HK Grotesk Bold</vt:lpstr>
      <vt:lpstr>Halant Bold</vt:lpstr>
      <vt:lpstr>Arial</vt:lpstr>
      <vt:lpstr>Arial Black</vt:lpstr>
      <vt:lpstr>Halant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cp:lastModifiedBy>
  <cp:revision>61</cp:revision>
  <dcterms:created xsi:type="dcterms:W3CDTF">2006-08-16T00:00:00Z</dcterms:created>
  <dcterms:modified xsi:type="dcterms:W3CDTF">2026-04-17T13:04:38Z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