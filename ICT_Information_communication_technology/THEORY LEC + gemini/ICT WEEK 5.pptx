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327" r:id="rId6"/>
    <p:sldId id="328" r:id="rId7"/>
    <p:sldId id="331" r:id="rId8"/>
    <p:sldId id="332" r:id="rId9"/>
    <p:sldId id="351" r:id="rId10"/>
    <p:sldId id="330" r:id="rId11"/>
    <p:sldId id="352" r:id="rId12"/>
    <p:sldId id="353" r:id="rId13"/>
    <p:sldId id="333" r:id="rId14"/>
    <p:sldId id="354" r:id="rId15"/>
    <p:sldId id="334" r:id="rId16"/>
    <p:sldId id="355" r:id="rId17"/>
    <p:sldId id="335" r:id="rId18"/>
    <p:sldId id="356" r:id="rId19"/>
    <p:sldId id="336" r:id="rId20"/>
    <p:sldId id="357" r:id="rId21"/>
    <p:sldId id="359" r:id="rId22"/>
    <p:sldId id="360" r:id="rId23"/>
    <p:sldId id="337" r:id="rId24"/>
    <p:sldId id="358" r:id="rId25"/>
    <p:sldId id="338" r:id="rId26"/>
    <p:sldId id="339" r:id="rId27"/>
    <p:sldId id="361" r:id="rId28"/>
    <p:sldId id="362" r:id="rId29"/>
    <p:sldId id="341" r:id="rId30"/>
    <p:sldId id="342" r:id="rId31"/>
    <p:sldId id="343" r:id="rId32"/>
    <p:sldId id="344" r:id="rId33"/>
    <p:sldId id="345" r:id="rId34"/>
    <p:sldId id="347" r:id="rId35"/>
    <p:sldId id="348" r:id="rId36"/>
    <p:sldId id="349" r:id="rId37"/>
    <p:sldId id="350" r:id="rId38"/>
    <p:sldId id="363" r:id="rId39"/>
    <p:sldId id="275" r:id="rId40"/>
  </p:sldIdLst>
  <p:sldSz cx="9753600" cy="7315200"/>
  <p:notesSz cx="6858000" cy="9144000"/>
  <p:embeddedFontLst>
    <p:embeddedFont>
      <p:font typeface="Arial Black" panose="020B0A04020102020204" pitchFamily="34" charset="0"/>
      <p:bold r:id="rId42"/>
    </p:embeddedFont>
    <p:embeddedFont>
      <p:font typeface="Halant Bold" panose="020B0604020202020204" charset="0"/>
      <p:bold r:id="rId43"/>
    </p:embeddedFont>
    <p:embeddedFont>
      <p:font typeface="Halant Medium" panose="020B0604020202020204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2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9" d="100"/>
          <a:sy n="59" d="100"/>
        </p:scale>
        <p:origin x="1388" y="28"/>
      </p:cViewPr>
      <p:guideLst>
        <p:guide orient="horz" pos="2304"/>
        <p:guide pos="29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0D1A6-AFC0-4378-A879-24768797485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7AA2C-B60B-4B49-A158-C68B6DC031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32BD-BAA5-FCFC-6EC7-BA1BC9F9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C9788-E000-A778-DD25-353A18350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031-2DCC-8CEC-D8B4-1E5326E2AAF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5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4A49D-455B-84D2-F283-1D754B42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B250E-BFBD-02BF-4956-09B40A100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1A67D-1F3D-6786-DFAB-2A0AE612DA7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98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75F71-8E6D-FCD4-CA5D-2C21F3183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4F3CA-2C4F-35EA-5319-0ADF1B8FF1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05EC5-2EEE-DE97-32DC-377D9FEC8F5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61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A671-9E03-03A4-62AB-1F07F3E5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B2313-733C-9767-7A8B-F2ED3C931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608EE-07F8-FFF9-7B13-EC8F0CC8040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12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183B-1E49-18E1-6B4E-40EA62659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4DA35-02A1-16D8-8367-E2ABB93C5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7B567-BA1A-EC21-D46F-2CA3A7482E3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1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DE2E6-7A92-20A7-C5A3-60C156DE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B457A-4C71-16F2-BBD8-5F363CDCA8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ED6A-C641-2C19-175B-445B41EE7B6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94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A828-10DF-62F1-785F-33DAFA3B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652B7-3EA3-C0A5-B852-D6CDF5D33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B6B5E-0A56-A145-BD92-C2E535A4075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28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00ED-603A-7238-10C6-0E8E3E8F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BA5E1-B533-C170-49E6-5DD8068E2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475DA-AF85-EEF7-F2EE-4422E70329C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23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CF38-9855-39B8-734B-441CCBD66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83D6E-58C2-6AE3-DC44-9C825C46A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EF06D-4243-D6D0-D457-31A04B52B25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23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9CCC7-3B6B-E754-9750-731D9FBA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F4D11-822A-F132-5F7B-46CE6D2A1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F9812-FCDF-FC70-44C2-97EB25869C7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54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C8260-A6E9-4037-8C80-C78A6284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5E440-8F34-5759-5CEA-9E509AF48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3205C-E846-F941-1747-083239C6EEA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77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B6AD-0242-15C0-9010-F6640139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5F298-8CB1-92ED-18CA-524A8606DA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D69C1-1B83-1B0A-D60E-921D47B47C0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65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B1C7-03A3-10A3-F9AC-4DA50380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46B75-A02D-06AE-E261-5316DA3C0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1642C-71CC-A946-ACBD-77AC1F7A239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12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3A9F-BA7E-7E9F-064B-855C28A6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7F9C9-EF38-98AE-4D56-DD52B32BC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F1C22-E6C7-3B4A-907E-AA8823C5BBF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61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A1C2F-F4AD-55C4-D022-4D839B1EE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D0883-0D4D-814F-F571-EE3811B54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379A4-5B79-8635-FD5F-F2C3B115B9F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75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7BF2-A749-BE99-A1D4-3BA1C0A26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E1C46-6455-E827-3997-4CB4F58F0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EDC6A-E4B8-64FA-4FDD-853634A4C13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2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A7411-F6DA-9F68-4062-F4A6E87D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D7302-9AE7-F4CD-636A-7232BD2FF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6CBE3-ED26-7156-F10A-B3FDF3C3BF5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04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24107-95A5-DE19-63E1-A6DCD90D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5278B-F1A0-F157-D249-221E074B6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7704C-E535-8438-CE3F-5ABEC1B81B2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17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FBA49-FC8A-AFDA-D14C-1A52A8A3F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7F9E8-CFD5-80A7-F7A1-805F28B5A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BEA29-614D-D143-8BC8-E1A5B572E64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FA08-84B0-9037-0869-D7897FB5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80559-65FD-4359-B58A-CB5A28987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97A72-AABD-F24B-0871-E95B6C4F126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591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3313-1273-701F-16BF-B98E1167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F4DBD-A6F5-1DED-3485-658C46DA0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23E8D-5C1F-EE6F-7BA8-CA84BDB51DD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87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A954-67C1-87B7-ED30-EF336CC4B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8855A-78C6-636E-2F7C-C3477ABE4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9D81D-8F41-EB28-E934-B818D909E8E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093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37C9E-53F0-5700-FE94-9ADE38D8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902B3-6EB2-2E53-1392-47DC83D830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88AD1-DF59-89F6-9400-6CBD8211940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61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505" y="1981362"/>
            <a:ext cx="6200241" cy="3225074"/>
            <a:chOff x="0" y="-160655"/>
            <a:chExt cx="8266987" cy="4300099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8259"/>
              <a:ext cx="3020201" cy="591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731F7D"/>
                  </a:solidFill>
                  <a:latin typeface="Halant Medium" panose="00000600000000000000"/>
                  <a:ea typeface="Halant Medium" panose="00000600000000000000"/>
                  <a:cs typeface="Halant Medium" panose="00000600000000000000"/>
                  <a:sym typeface="Halant Medium" panose="00000600000000000000"/>
                </a:rPr>
                <a:t> </a:t>
              </a:r>
              <a:r>
                <a:rPr lang="en-US" sz="2700" b="1">
                  <a:solidFill>
                    <a:srgbClr val="731F7D"/>
                  </a:solidFill>
                  <a:latin typeface="Halant Bold" panose="00000800000000000000"/>
                  <a:ea typeface="Halant Bold" panose="00000800000000000000"/>
                  <a:cs typeface="Halant Bold" panose="00000800000000000000"/>
                  <a:sym typeface="Halant Bold" panose="00000800000000000000"/>
                </a:rPr>
                <a:t>  (CSC101)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3005" y="-160655"/>
              <a:ext cx="8083982" cy="36313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80"/>
                </a:lnSpc>
              </a:pPr>
              <a:r>
                <a:rPr lang="en-US" sz="6000" b="1" dirty="0">
                  <a:solidFill>
                    <a:srgbClr val="000000"/>
                  </a:solidFill>
                  <a:latin typeface="+mj-lt"/>
                  <a:ea typeface="HK Grotesk Bold" panose="00000800000000000000"/>
                  <a:cs typeface="+mj-lt"/>
                  <a:sym typeface="HK Grotesk Bold" panose="00000800000000000000"/>
                </a:rPr>
                <a:t>Information Communication Technology 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5550229">
            <a:off x="4207487" y="-1075063"/>
            <a:ext cx="5867962" cy="5088881"/>
          </a:xfrm>
          <a:custGeom>
            <a:avLst/>
            <a:gdLst/>
            <a:ahLst/>
            <a:cxnLst/>
            <a:rect l="l" t="t" r="r" b="b"/>
            <a:pathLst>
              <a:path w="5867962" h="5222486">
                <a:moveTo>
                  <a:pt x="0" y="0"/>
                </a:moveTo>
                <a:lnTo>
                  <a:pt x="5867963" y="0"/>
                </a:lnTo>
                <a:lnTo>
                  <a:pt x="5867963" y="5222487"/>
                </a:lnTo>
                <a:lnTo>
                  <a:pt x="0" y="522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017281">
            <a:off x="3529970" y="912669"/>
            <a:ext cx="1170984" cy="1109507"/>
          </a:xfrm>
          <a:custGeom>
            <a:avLst/>
            <a:gdLst/>
            <a:ahLst/>
            <a:cxnLst/>
            <a:rect l="l" t="t" r="r" b="b"/>
            <a:pathLst>
              <a:path w="1170984" h="1109507">
                <a:moveTo>
                  <a:pt x="0" y="0"/>
                </a:moveTo>
                <a:lnTo>
                  <a:pt x="1170984" y="0"/>
                </a:lnTo>
                <a:lnTo>
                  <a:pt x="1170984" y="1109508"/>
                </a:lnTo>
                <a:lnTo>
                  <a:pt x="0" y="110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567437">
            <a:off x="8110392" y="5055177"/>
            <a:ext cx="2588757" cy="2475499"/>
          </a:xfrm>
          <a:custGeom>
            <a:avLst/>
            <a:gdLst/>
            <a:ahLst/>
            <a:cxnLst/>
            <a:rect l="l" t="t" r="r" b="b"/>
            <a:pathLst>
              <a:path w="2588757" h="2475499">
                <a:moveTo>
                  <a:pt x="0" y="0"/>
                </a:moveTo>
                <a:lnTo>
                  <a:pt x="2588756" y="0"/>
                </a:lnTo>
                <a:lnTo>
                  <a:pt x="2588756" y="2475498"/>
                </a:lnTo>
                <a:lnTo>
                  <a:pt x="0" y="2475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7602" y="5313139"/>
            <a:ext cx="7099307" cy="145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400" b="1" dirty="0">
                <a:solidFill>
                  <a:srgbClr val="731F7D"/>
                </a:solidFill>
                <a:latin typeface="Arial Black" panose="020B0A04020102020204" pitchFamily="34" charset="0"/>
                <a:ea typeface="Halant Bold" panose="00000800000000000000"/>
                <a:cs typeface="Halant Bold" panose="00000800000000000000"/>
                <a:sym typeface="Halant Bold" panose="00000800000000000000"/>
              </a:rPr>
              <a:t>Lecture 5</a:t>
            </a:r>
          </a:p>
          <a:p>
            <a:pPr algn="l">
              <a:lnSpc>
                <a:spcPts val="3780"/>
              </a:lnSpc>
            </a:pPr>
            <a:r>
              <a:rPr lang="en-US" sz="2700" b="1" dirty="0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Instructor: Mariam Fiaz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731F7D"/>
                </a:solidFill>
                <a:latin typeface="Halant Bold" panose="00000800000000000000"/>
                <a:ea typeface="Halant Bold" panose="00000800000000000000"/>
                <a:cs typeface="Halant Bold" panose="00000800000000000000"/>
                <a:sym typeface="Halant Bold" panose="00000800000000000000"/>
              </a:rPr>
              <a:t>email: mariamsherwani434@gmail.com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98132">
            <a:off x="7524355" y="4826078"/>
            <a:ext cx="3828488" cy="4232275"/>
          </a:xfrm>
          <a:custGeom>
            <a:avLst/>
            <a:gdLst/>
            <a:ahLst/>
            <a:cxnLst/>
            <a:rect l="l" t="t" r="r" b="b"/>
            <a:pathLst>
              <a:path w="3828488" h="4232275">
                <a:moveTo>
                  <a:pt x="0" y="0"/>
                </a:moveTo>
                <a:lnTo>
                  <a:pt x="3828488" y="0"/>
                </a:lnTo>
                <a:lnTo>
                  <a:pt x="3828488" y="4232275"/>
                </a:lnTo>
                <a:lnTo>
                  <a:pt x="0" y="4232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81" b="-1174"/>
            </a:stretch>
          </a:blipFill>
        </p:spPr>
      </p:sp>
      <p:sp>
        <p:nvSpPr>
          <p:cNvPr id="3" name="Freeform 3"/>
          <p:cNvSpPr/>
          <p:nvPr/>
        </p:nvSpPr>
        <p:spPr>
          <a:xfrm rot="-2715964">
            <a:off x="5760526" y="5871583"/>
            <a:ext cx="983734" cy="932088"/>
          </a:xfrm>
          <a:custGeom>
            <a:avLst/>
            <a:gdLst/>
            <a:ahLst/>
            <a:cxnLst/>
            <a:rect l="l" t="t" r="r" b="b"/>
            <a:pathLst>
              <a:path w="983734" h="932088">
                <a:moveTo>
                  <a:pt x="0" y="0"/>
                </a:moveTo>
                <a:lnTo>
                  <a:pt x="983734" y="0"/>
                </a:lnTo>
                <a:lnTo>
                  <a:pt x="983734" y="932087"/>
                </a:lnTo>
                <a:lnTo>
                  <a:pt x="0" y="932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212463">
            <a:off x="5642474" y="-928349"/>
            <a:ext cx="2866520" cy="3318692"/>
          </a:xfrm>
          <a:custGeom>
            <a:avLst/>
            <a:gdLst/>
            <a:ahLst/>
            <a:cxnLst/>
            <a:rect l="l" t="t" r="r" b="b"/>
            <a:pathLst>
              <a:path w="2866520" h="3318692">
                <a:moveTo>
                  <a:pt x="0" y="0"/>
                </a:moveTo>
                <a:lnTo>
                  <a:pt x="2866520" y="0"/>
                </a:lnTo>
                <a:lnTo>
                  <a:pt x="2866520" y="3318693"/>
                </a:lnTo>
                <a:lnTo>
                  <a:pt x="0" y="3318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57436" y="1752430"/>
            <a:ext cx="9112904" cy="4112337"/>
            <a:chOff x="-40828" y="0"/>
            <a:chExt cx="12150538" cy="5483116"/>
          </a:xfrm>
        </p:grpSpPr>
        <p:sp>
          <p:nvSpPr>
            <p:cNvPr id="6" name="TextBox 6"/>
            <p:cNvSpPr txBox="1"/>
            <p:nvPr/>
          </p:nvSpPr>
          <p:spPr>
            <a:xfrm>
              <a:off x="-40828" y="503147"/>
              <a:ext cx="8342712" cy="1260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375"/>
                </a:lnSpc>
              </a:pPr>
              <a:r>
                <a:rPr lang="en-US" sz="6250" b="1" dirty="0">
                  <a:solidFill>
                    <a:srgbClr val="FFFFFF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Reference Books: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542219" y="0"/>
              <a:ext cx="1567491" cy="1138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35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21" y="2032000"/>
              <a:ext cx="10667154" cy="34511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indent="-457200" algn="just">
                <a:lnSpc>
                  <a:spcPts val="3360"/>
                </a:lnSpc>
                <a:buFont typeface="+mj-lt"/>
                <a:buAutoNum type="arabicPeriod"/>
              </a:pPr>
              <a:r>
                <a:rPr lang="en-US" sz="2400" spc="-24" dirty="0">
                  <a:solidFill>
                    <a:srgbClr val="FFFFFF"/>
                  </a:solidFill>
                  <a:latin typeface="Calibri" panose="020F0502020204030204" charset="0"/>
                  <a:ea typeface="Assistant" panose="00000500000000000000"/>
                  <a:cs typeface="Calibri" panose="020F0502020204030204" charset="0"/>
                  <a:sym typeface="Assistant" panose="00000500000000000000"/>
                </a:rPr>
                <a:t>Understanding Computers: Today and Tomorrow, Comprehensive – Deborah Morley &amp; Charles S. Parker, Cengage Learning, 2017</a:t>
              </a:r>
              <a:r>
                <a:rPr lang="en-US" sz="2400" b="1" spc="-24" dirty="0">
                  <a:solidFill>
                    <a:srgbClr val="FFFFFF"/>
                  </a:solidFill>
                  <a:latin typeface="Calibri" panose="020F0502020204030204" charset="0"/>
                  <a:ea typeface="Assistant Bold" panose="00000800000000000000"/>
                  <a:cs typeface="Calibri" panose="020F0502020204030204" charset="0"/>
                  <a:sym typeface="Assistant Bold" panose="00000800000000000000"/>
                </a:rPr>
                <a:t> (Read Chapters 7, 8)</a:t>
              </a: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marL="259080" lvl="1" indent="0" algn="just">
                <a:lnSpc>
                  <a:spcPts val="3360"/>
                </a:lnSpc>
                <a:buNone/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  <a:p>
              <a:pPr algn="just">
                <a:lnSpc>
                  <a:spcPts val="3360"/>
                </a:lnSpc>
              </a:pPr>
              <a:endParaRPr lang="en-US" sz="2400" b="1" spc="-24" dirty="0">
                <a:solidFill>
                  <a:srgbClr val="FFFFFF"/>
                </a:solidFill>
                <a:latin typeface="Calibri" panose="020F0502020204030204" charset="0"/>
                <a:ea typeface="Assistant Bold" panose="00000800000000000000"/>
                <a:cs typeface="Calibri" panose="020F0502020204030204" charset="0"/>
                <a:sym typeface="Assistant Bold" panose="0000080000000000000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1584" y="457507"/>
            <a:ext cx="7502435" cy="768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5000" b="1" dirty="0">
                <a:solidFill>
                  <a:srgbClr val="000000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rPr>
              <a:t>Contents</a:t>
            </a:r>
            <a:r>
              <a:rPr lang="en-US" sz="5000" b="1" dirty="0">
                <a:solidFill>
                  <a:srgbClr val="000000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rPr>
              <a:t>: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Networking Concepts</a:t>
            </a:r>
            <a:endParaRPr lang="en-US" altLang="en-US" sz="2000" dirty="0"/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Networking Applications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Network Characteristics 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3.1 Network Architectures (Client-Server, Peer-to-Peer) 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3.2 Network Topologies (with examples) 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3.3 Network Size &amp; Coverage Area (PAN, LAN, MAN, WAN)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Data Transmission Characteristics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Networking Media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Communication Protocols &amp; Standards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Networking Hardware (with functions)</a:t>
            </a:r>
          </a:p>
          <a:p>
            <a:pPr marL="228600" lvl="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Summary of the Lecture</a:t>
            </a: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altLang="en-US" sz="1200" dirty="0">
              <a:latin typeface="Arial" panose="020B0604020202020204" pitchFamily="34" charset="0"/>
            </a:endParaRPr>
          </a:p>
          <a:p>
            <a:endParaRPr lang="en-US" sz="1200" b="1" dirty="0">
              <a:solidFill>
                <a:srgbClr val="000000"/>
              </a:solidFill>
              <a:latin typeface="HK Grotesk Bold" panose="00000800000000000000"/>
              <a:ea typeface="HK Grotesk Bold" panose="00000800000000000000"/>
              <a:cs typeface="HK Grotesk Bold" panose="00000800000000000000"/>
              <a:sym typeface="HK Grotesk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 rot="-10141306">
            <a:off x="-2034775" y="4670550"/>
            <a:ext cx="4069550" cy="3891507"/>
          </a:xfrm>
          <a:custGeom>
            <a:avLst/>
            <a:gdLst/>
            <a:ahLst/>
            <a:cxnLst/>
            <a:rect l="l" t="t" r="r" b="b"/>
            <a:pathLst>
              <a:path w="4069550" h="3891507">
                <a:moveTo>
                  <a:pt x="0" y="0"/>
                </a:moveTo>
                <a:lnTo>
                  <a:pt x="4069550" y="0"/>
                </a:lnTo>
                <a:lnTo>
                  <a:pt x="4069550" y="3891507"/>
                </a:lnTo>
                <a:lnTo>
                  <a:pt x="0" y="3891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85462" y="7507606"/>
            <a:ext cx="7658557" cy="250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Freeform 7"/>
          <p:cNvSpPr/>
          <p:nvPr/>
        </p:nvSpPr>
        <p:spPr>
          <a:xfrm rot="9440951">
            <a:off x="-716899" y="223696"/>
            <a:ext cx="1433798" cy="1358524"/>
          </a:xfrm>
          <a:custGeom>
            <a:avLst/>
            <a:gdLst/>
            <a:ahLst/>
            <a:cxnLst/>
            <a:rect l="l" t="t" r="r" b="b"/>
            <a:pathLst>
              <a:path w="1433798" h="1358524">
                <a:moveTo>
                  <a:pt x="0" y="0"/>
                </a:moveTo>
                <a:lnTo>
                  <a:pt x="1433798" y="0"/>
                </a:lnTo>
                <a:lnTo>
                  <a:pt x="1433798" y="1358523"/>
                </a:lnTo>
                <a:lnTo>
                  <a:pt x="0" y="1358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00510">
            <a:off x="4118473" y="-4099911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09811" y="533538"/>
            <a:ext cx="8633276" cy="6130405"/>
            <a:chOff x="157480" y="-267335"/>
            <a:chExt cx="11511034" cy="8173871"/>
          </a:xfrm>
        </p:grpSpPr>
        <p:sp>
          <p:nvSpPr>
            <p:cNvPr id="6" name="TextBox 6"/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Networking Concepts: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7480" y="746971"/>
              <a:ext cx="11204787" cy="71595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dirty="0"/>
                <a:t>Definition: Computer Network</a:t>
              </a:r>
            </a:p>
            <a:p>
              <a:pPr>
                <a:lnSpc>
                  <a:spcPct val="150000"/>
                </a:lnSpc>
              </a:pPr>
              <a:r>
                <a:rPr lang="en-US" sz="2300" dirty="0"/>
                <a:t>A computer network is a system in which multiple computers and devices are connected to share data, resources, and communication services.</a:t>
              </a:r>
            </a:p>
            <a:p>
              <a:pPr>
                <a:lnSpc>
                  <a:spcPct val="150000"/>
                </a:lnSpc>
              </a:pPr>
              <a:r>
                <a:rPr lang="en-US" sz="2300" b="1" dirty="0"/>
                <a:t>What a network does</a:t>
              </a:r>
              <a:endParaRPr lang="en-US" sz="2300" dirty="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300" dirty="0"/>
                <a:t>Shares files and printers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300" dirty="0"/>
                <a:t>Enables internet access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300" dirty="0"/>
                <a:t>Supports communication (email, video calls)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300" dirty="0"/>
                <a:t>Connects devices using cables or wireless signals</a:t>
              </a:r>
            </a:p>
            <a:p>
              <a:pPr>
                <a:lnSpc>
                  <a:spcPct val="150000"/>
                </a:lnSpc>
              </a:pPr>
              <a:r>
                <a:rPr lang="en-US" sz="2300" b="1" dirty="0"/>
                <a:t>Example:</a:t>
              </a:r>
              <a:r>
                <a:rPr lang="en-US" sz="2300" dirty="0"/>
                <a:t> School computer lab where all computers share one printer.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B19E-5AE4-7DEF-AED5-EEB87E64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DA1D4D-C295-B450-091E-EFB6362273F3}"/>
              </a:ext>
            </a:extLst>
          </p:cNvPr>
          <p:cNvSpPr/>
          <p:nvPr/>
        </p:nvSpPr>
        <p:spPr>
          <a:xfrm rot="-1100510">
            <a:off x="4291859" y="-4229293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17E676E-D273-7F19-8E46-50D2D7A6785E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A93E594-A8B2-0F67-7F24-789BA9C04C23}"/>
              </a:ext>
            </a:extLst>
          </p:cNvPr>
          <p:cNvGrpSpPr/>
          <p:nvPr/>
        </p:nvGrpSpPr>
        <p:grpSpPr>
          <a:xfrm>
            <a:off x="609811" y="533538"/>
            <a:ext cx="8633276" cy="4766122"/>
            <a:chOff x="157480" y="-267335"/>
            <a:chExt cx="11511034" cy="6354826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48B1FC4-EB2F-C22D-E4DC-AD2AC71D4015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Networking Applications: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B0FFF2B-DE04-C9DD-009C-723A75494016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53405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3200" b="1" dirty="0"/>
                <a:t>Telecom Industry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Use of networks for long-distance communication.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What it does:</a:t>
              </a:r>
              <a:endParaRPr lang="en-US" sz="2400" dirty="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Mobile calls and messaging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Internet services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Data transmission worldwide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Mobile network providers connect users across cities.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859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A485-F6D6-9D31-81A2-6A0C4BD7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A5F2E7-A6FF-2B13-54A2-5E8074E70EB6}"/>
              </a:ext>
            </a:extLst>
          </p:cNvPr>
          <p:cNvSpPr/>
          <p:nvPr/>
        </p:nvSpPr>
        <p:spPr>
          <a:xfrm rot="-1100510">
            <a:off x="4118475" y="-42733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6E4E024-0E4C-428E-BBBC-7834E07B9FCA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CD824ED-E4D2-FA6B-3E73-BCE364BF3105}"/>
              </a:ext>
            </a:extLst>
          </p:cNvPr>
          <p:cNvGrpSpPr/>
          <p:nvPr/>
        </p:nvGrpSpPr>
        <p:grpSpPr>
          <a:xfrm>
            <a:off x="609811" y="533538"/>
            <a:ext cx="8633276" cy="5320120"/>
            <a:chOff x="157480" y="-267335"/>
            <a:chExt cx="11511034" cy="7093489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80BB8ED-CF90-9B1F-CFE1-E71EBC619D29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Networking Applications: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25CCD39-A018-881C-B5C7-89F2CC14EA6A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60791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/>
                <a:t>2. Videoconferencing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Real-time communication using video and audio over a network.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What it requires:</a:t>
              </a:r>
              <a:endParaRPr lang="en-US" sz="2400" dirty="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High bandwidth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Camera + microphone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Stable internet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Online classes, Zoom meetings.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1237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F62C-017D-048D-28E5-EB6C43F5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AD3D10-C1BD-A52A-4F87-780FD0FE0BDA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F51AE3F-87FC-A45F-96B3-C5DC3ED50500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CEF02AD-6EDD-9E23-66FD-9F67FD1572FA}"/>
              </a:ext>
            </a:extLst>
          </p:cNvPr>
          <p:cNvGrpSpPr/>
          <p:nvPr/>
        </p:nvGrpSpPr>
        <p:grpSpPr>
          <a:xfrm>
            <a:off x="560162" y="838240"/>
            <a:ext cx="8633276" cy="2862641"/>
            <a:chOff x="157480" y="-267335"/>
            <a:chExt cx="11511034" cy="381685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BF36A3F-0403-0F88-5997-D964D03FE1D0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Networking Characteristics: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016DAD4-B5DF-F89F-D8EA-1B5B2E4853A5}"/>
                </a:ext>
              </a:extLst>
            </p:cNvPr>
            <p:cNvSpPr txBox="1"/>
            <p:nvPr/>
          </p:nvSpPr>
          <p:spPr>
            <a:xfrm>
              <a:off x="157480" y="1053280"/>
              <a:ext cx="11204787" cy="24962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800" b="1" dirty="0"/>
                <a:t>Network Architectures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800" b="1" dirty="0"/>
                <a:t>Network Topologies </a:t>
              </a:r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800" b="1" dirty="0"/>
                <a:t>Network Size &amp; Coverage Area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406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60DB-6868-843E-E3E5-76E8008A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4CBEBF1-50D7-E9A0-4F0E-58DB9E053A45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5E5D774-287B-2C88-95A0-3295E4E8AFDD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580DAE3-9D73-79BC-22B4-11537B186636}"/>
              </a:ext>
            </a:extLst>
          </p:cNvPr>
          <p:cNvGrpSpPr/>
          <p:nvPr/>
        </p:nvGrpSpPr>
        <p:grpSpPr>
          <a:xfrm>
            <a:off x="609811" y="533538"/>
            <a:ext cx="8633276" cy="5320120"/>
            <a:chOff x="157480" y="-267335"/>
            <a:chExt cx="11511034" cy="7093489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384939-849E-4B10-A41E-480DC7E1B126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1- Network Architecture: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6065736-E0D1-5D1E-83CC-007FD9D7FD97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60791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/>
                <a:t>1</a:t>
              </a:r>
              <a:r>
                <a:rPr lang="en-US" sz="2800" b="1" dirty="0"/>
                <a:t>. Client-Server Network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A network where a central server manages data and services for clients.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What it does:</a:t>
              </a:r>
              <a:endParaRPr lang="en-US" sz="2400" dirty="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Stores files centrally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Controls user access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Provides security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Bank database server handling all customer accounts.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391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ient–server model - Wikipedia">
            <a:extLst>
              <a:ext uri="{FF2B5EF4-FFF2-40B4-BE49-F238E27FC236}">
                <a16:creationId xmlns:a16="http://schemas.microsoft.com/office/drawing/2014/main" id="{0F6D7942-D2A7-6B34-70F6-DBCBD1267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1838"/>
            <a:ext cx="9753600" cy="585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082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88FEF-C44F-7E31-9557-F01E3303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6E21D3-AC97-6C8C-37D0-43B2167D133C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D9C0505-EDD9-B394-A956-011EB746B197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C743872-613E-84A0-51BB-DF83F50053E2}"/>
              </a:ext>
            </a:extLst>
          </p:cNvPr>
          <p:cNvGrpSpPr/>
          <p:nvPr/>
        </p:nvGrpSpPr>
        <p:grpSpPr>
          <a:xfrm>
            <a:off x="609811" y="533538"/>
            <a:ext cx="8633276" cy="4304457"/>
            <a:chOff x="157480" y="-267335"/>
            <a:chExt cx="11511034" cy="5739273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D398089-B85A-63CA-4677-E1E86D86D701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1- Network Architecture: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E51FFB2-2452-9960-026B-7E9C68F7248D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47249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dirty="0"/>
                <a:t>2. Peer-to-Peer Network</a:t>
              </a:r>
            </a:p>
            <a:p>
              <a:pPr>
                <a:lnSpc>
                  <a:spcPct val="150000"/>
                </a:lnSpc>
              </a:pPr>
              <a:r>
                <a:rPr lang="en-US" sz="2800" b="1" dirty="0"/>
                <a:t>D</a:t>
              </a:r>
              <a:r>
                <a:rPr lang="en-US" sz="2400" b="1" dirty="0"/>
                <a:t>efinition:</a:t>
              </a:r>
              <a:r>
                <a:rPr lang="en-US" sz="2400" dirty="0"/>
                <a:t> A network where all computers share resources directly.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What it does:</a:t>
              </a:r>
              <a:endParaRPr lang="en-US" sz="2400" dirty="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Each computer acts as client and server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No central control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Home network sharing files between two laptops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19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8" descr="Hierarchically Organized Peer-to-Peer Networks - GeeksforGeeks">
            <a:extLst>
              <a:ext uri="{FF2B5EF4-FFF2-40B4-BE49-F238E27FC236}">
                <a16:creationId xmlns:a16="http://schemas.microsoft.com/office/drawing/2014/main" id="{259E1DE5-39F2-FB71-DF78-4D6B44C652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12" descr="Hierarchically Organized Peer-to-Peer Networks - GeeksforGeeks">
            <a:extLst>
              <a:ext uri="{FF2B5EF4-FFF2-40B4-BE49-F238E27FC236}">
                <a16:creationId xmlns:a16="http://schemas.microsoft.com/office/drawing/2014/main" id="{1F0FD9F4-2133-1E8D-01D1-7314D945B3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16764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14" descr="Hierarchically Organized Peer-to-Peer Networks - GeeksforGeeks">
            <a:extLst>
              <a:ext uri="{FF2B5EF4-FFF2-40B4-BE49-F238E27FC236}">
                <a16:creationId xmlns:a16="http://schemas.microsoft.com/office/drawing/2014/main" id="{91C75DF6-322C-6D15-CA2B-18BB1F1BD5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657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A5D12A-6C90-FC7D-04A0-BC70E10C3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90562"/>
            <a:ext cx="8534400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36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eer-to-Peer Networks ...">
            <a:extLst>
              <a:ext uri="{FF2B5EF4-FFF2-40B4-BE49-F238E27FC236}">
                <a16:creationId xmlns:a16="http://schemas.microsoft.com/office/drawing/2014/main" id="{92DC9FBC-D2CD-C40D-E9AB-97AD352FC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77724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705B28-2946-34C7-44C8-B5B42C46F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7134"/>
            <a:ext cx="9753600" cy="444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87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A394-92C8-347A-676F-F4E93131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9545E2-A375-80DD-994F-37F9F17A710F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2176C2B-834B-AB63-83A0-D279EFBE99B2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F1FEADD-9CBD-2635-9D92-90A3BAA20752}"/>
              </a:ext>
            </a:extLst>
          </p:cNvPr>
          <p:cNvGrpSpPr/>
          <p:nvPr/>
        </p:nvGrpSpPr>
        <p:grpSpPr>
          <a:xfrm>
            <a:off x="609811" y="533538"/>
            <a:ext cx="8633276" cy="5227787"/>
            <a:chOff x="157480" y="-267335"/>
            <a:chExt cx="11511034" cy="697037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93F09B-5DBF-1633-32C5-2DFDED9CBEEC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2- Network Topologies: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013F72A-8A5E-264A-F9A2-27EA35917859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59560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dirty="0"/>
                <a:t>1. Bus Topology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All devices are connected to a single backbone cable. </a:t>
              </a:r>
              <a:r>
                <a:rPr lang="en-US" sz="2400" b="1" dirty="0"/>
                <a:t>How it works:</a:t>
              </a:r>
              <a:r>
                <a:rPr lang="en-US" sz="2400" dirty="0"/>
                <a:t> Data travels along one main line; every device listens.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Advantages:</a:t>
              </a:r>
              <a:r>
                <a:rPr lang="en-US" sz="2400" dirty="0"/>
                <a:t> Low cost, simple setup.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Disadvantages:</a:t>
              </a:r>
              <a:r>
                <a:rPr lang="en-US" sz="2400" dirty="0"/>
                <a:t> If backbone fails, whole network stops.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Real-life Example:</a:t>
              </a:r>
              <a:r>
                <a:rPr lang="en-US" sz="2400" dirty="0"/>
                <a:t> Small temporary lab setup using one shared cable.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1030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fference between Ring Topology and Bus Topology in Computer Networks -  GeeksforGeeks">
            <a:extLst>
              <a:ext uri="{FF2B5EF4-FFF2-40B4-BE49-F238E27FC236}">
                <a16:creationId xmlns:a16="http://schemas.microsoft.com/office/drawing/2014/main" id="{5ED65EEA-1169-CB1E-943C-9DC727F61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9313"/>
            <a:ext cx="97536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714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EC75F-05DD-B715-EF7E-44BB8A2AB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F47B85-BD27-EBD5-543A-94F59307965A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A0CFCAE-7683-05DB-4F1E-7F2B062C6F09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DE10F16-1AF4-275B-8E5E-2ABC32B10D17}"/>
              </a:ext>
            </a:extLst>
          </p:cNvPr>
          <p:cNvGrpSpPr/>
          <p:nvPr/>
        </p:nvGrpSpPr>
        <p:grpSpPr>
          <a:xfrm>
            <a:off x="609811" y="533538"/>
            <a:ext cx="8633276" cy="5227787"/>
            <a:chOff x="157480" y="-267335"/>
            <a:chExt cx="11511034" cy="697037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5A1AED8-9F6D-30F4-FE8F-134E7A1C567E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2- Network Topologies: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4C0BD07-A214-50CB-954E-C42E62653741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59560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dirty="0"/>
                <a:t>2. Star Topology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All devices connect to a central device (hub/switch). </a:t>
              </a:r>
              <a:r>
                <a:rPr lang="en-US" sz="2400" b="1" dirty="0"/>
                <a:t>How it works:</a:t>
              </a:r>
              <a:r>
                <a:rPr lang="en-US" sz="2400" dirty="0"/>
                <a:t> Central device receives and forwards data to the correct device.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Advantages:</a:t>
              </a:r>
              <a:r>
                <a:rPr lang="en-US" sz="2400" dirty="0"/>
                <a:t> Easy to manage, failure of one cable doesn’t stop others.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Disadvantages:</a:t>
              </a:r>
              <a:r>
                <a:rPr lang="en-US" sz="2400" dirty="0"/>
                <a:t> If central device fails, network stops.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Real-life Example:</a:t>
              </a:r>
              <a:r>
                <a:rPr lang="en-US" sz="2400" dirty="0"/>
                <a:t> Modern school or office LAN using a switch.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2946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at is Network Topology? Best Guide to Types &amp; Diagrams - DNSstuff">
            <a:extLst>
              <a:ext uri="{FF2B5EF4-FFF2-40B4-BE49-F238E27FC236}">
                <a16:creationId xmlns:a16="http://schemas.microsoft.com/office/drawing/2014/main" id="{FC941966-AD7C-B116-EEFC-9D25F5382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4900"/>
            <a:ext cx="97536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941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9693-8AC6-78E7-5C9C-65378170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69C6AB-C065-4C50-BA98-CF67AD75B9D9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3BC7573-605C-C475-890C-8B776CE76457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9E3133C-6DAE-5836-0024-D05582DAB098}"/>
              </a:ext>
            </a:extLst>
          </p:cNvPr>
          <p:cNvGrpSpPr/>
          <p:nvPr/>
        </p:nvGrpSpPr>
        <p:grpSpPr>
          <a:xfrm>
            <a:off x="609811" y="533538"/>
            <a:ext cx="8633276" cy="4673789"/>
            <a:chOff x="157480" y="-267335"/>
            <a:chExt cx="11511034" cy="623171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ED8ACFA-08C0-C191-0075-D1AD21F8FA7E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2- Network Topologies: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BE576B-EABC-5A02-7028-0B55A9E44CC9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52174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dirty="0"/>
                <a:t>3. Ring Topology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Devices form a closed loop (circle).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How it works:</a:t>
              </a:r>
              <a:r>
                <a:rPr lang="en-US" sz="2400" dirty="0"/>
                <a:t> Data passes from one device to the next around the ring.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Advantages:</a:t>
              </a:r>
              <a:r>
                <a:rPr lang="en-US" sz="2400" dirty="0"/>
                <a:t> Orderly data flow, equal access.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Disadvantages:</a:t>
              </a:r>
              <a:r>
                <a:rPr lang="en-US" sz="2400" dirty="0"/>
                <a:t> One break can disrupt the ring (unless dual ring). </a:t>
              </a:r>
              <a:r>
                <a:rPr lang="en-US" sz="2400" b="1" dirty="0"/>
                <a:t>Real-life Example:</a:t>
              </a:r>
              <a:r>
                <a:rPr lang="en-US" sz="2400" dirty="0"/>
                <a:t> Token Ring–style networks (legacy systems).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739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Difference Between Star and Ring Topology (with Comparison Chart) - Circuit  Globe">
            <a:extLst>
              <a:ext uri="{FF2B5EF4-FFF2-40B4-BE49-F238E27FC236}">
                <a16:creationId xmlns:a16="http://schemas.microsoft.com/office/drawing/2014/main" id="{4CE0DD98-C24A-3681-1D4A-87CFA26AB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800100"/>
            <a:ext cx="520065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947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3E19-9850-DF85-EED1-68D9B11C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BADA08-F3D5-E350-ECCB-F23F793BA46C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F3B673F-07A8-DBB0-EA05-E80FEF6A48C2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8E0AEEC-DC7F-6546-CE7E-F1FF64E2936F}"/>
              </a:ext>
            </a:extLst>
          </p:cNvPr>
          <p:cNvGrpSpPr/>
          <p:nvPr/>
        </p:nvGrpSpPr>
        <p:grpSpPr>
          <a:xfrm>
            <a:off x="609811" y="533538"/>
            <a:ext cx="8633276" cy="4673789"/>
            <a:chOff x="157480" y="-267335"/>
            <a:chExt cx="11511034" cy="623171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AA0A9B2-6A2D-8D58-CA5E-8E7F4C9B2655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2- Network Topologies: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CD7C0ED-F543-F2C4-B325-BC0CA7DF971C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52174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dirty="0"/>
                <a:t>4. Mesh Topology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Each device connects to multiple other devices.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How it works:</a:t>
              </a:r>
              <a:r>
                <a:rPr lang="en-US" sz="2400" dirty="0"/>
                <a:t> Multiple paths exist; data chooses available path. </a:t>
              </a:r>
              <a:r>
                <a:rPr lang="en-US" sz="2400" b="1" dirty="0"/>
                <a:t>Advantages:</a:t>
              </a:r>
              <a:r>
                <a:rPr lang="en-US" sz="2400" dirty="0"/>
                <a:t> Very reliable, high fault tolerance.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Disadvantages:</a:t>
              </a:r>
              <a:r>
                <a:rPr lang="en-US" sz="2400" dirty="0"/>
                <a:t> Expensive, complex cabling.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Real-life Example:</a:t>
              </a:r>
              <a:r>
                <a:rPr lang="en-US" sz="2400" dirty="0"/>
                <a:t> Internet backbone and critical infrastructure networks.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8701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Mesh topology">
            <a:extLst>
              <a:ext uri="{FF2B5EF4-FFF2-40B4-BE49-F238E27FC236}">
                <a16:creationId xmlns:a16="http://schemas.microsoft.com/office/drawing/2014/main" id="{A2FD7CF1-9839-330B-15C7-AB0D6EB50A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05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4" name="Picture 6" descr="Network Topology Diagrams and Selection Best Practices for 2022">
            <a:extLst>
              <a:ext uri="{FF2B5EF4-FFF2-40B4-BE49-F238E27FC236}">
                <a16:creationId xmlns:a16="http://schemas.microsoft.com/office/drawing/2014/main" id="{6E89D887-E03F-D299-4544-35DD8AFC3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>
            <a:fillRect/>
          </a:stretch>
        </p:blipFill>
        <p:spPr bwMode="auto">
          <a:xfrm>
            <a:off x="1447800" y="609600"/>
            <a:ext cx="6858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141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B82E8-1A4D-67C2-8278-AED2CFDB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A33665-B7F5-7BCE-3B62-BA78F1C83F29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DEAF4EE-D9DC-C341-A00B-5D6750EE4C5E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903255A-E1AE-ED02-C068-F3B712DB4AD9}"/>
              </a:ext>
            </a:extLst>
          </p:cNvPr>
          <p:cNvGrpSpPr/>
          <p:nvPr/>
        </p:nvGrpSpPr>
        <p:grpSpPr>
          <a:xfrm>
            <a:off x="609811" y="533538"/>
            <a:ext cx="8633276" cy="6335782"/>
            <a:chOff x="157480" y="-267335"/>
            <a:chExt cx="11511034" cy="844770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177CF3E-CE6A-070F-9B16-F797003D9E19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2- Network Topologies: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2915FE8-DB87-B38D-FB73-5668095AB0A8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74333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dirty="0"/>
                <a:t>5. Tree Topology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Hierarchical topology where multiple star networks are connected to a central backbone (tree-like structure).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How it works:</a:t>
              </a:r>
              <a:r>
                <a:rPr lang="en-US" sz="2400" dirty="0"/>
                <a:t> Main backbone connects branches; each branch may have its own star network.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Advantages:</a:t>
              </a:r>
              <a:r>
                <a:rPr lang="en-US" sz="2400" dirty="0"/>
                <a:t> Scalable, organized management, easy expansion. </a:t>
              </a:r>
              <a:r>
                <a:rPr lang="en-US" sz="2400" b="1" dirty="0"/>
                <a:t>Disadvantages:</a:t>
              </a:r>
              <a:r>
                <a:rPr lang="en-US" sz="2400" dirty="0"/>
                <a:t> Backbone failure can affect large part of network, complex setup.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Real-life Example:</a:t>
              </a:r>
              <a:r>
                <a:rPr lang="en-US" sz="2400" dirty="0"/>
                <a:t> Corporate office building network with floors and departments; university campus network hierarchy.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1665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What is Tree Topology? | Diagram, Advantages &amp; Disadvantages">
            <a:extLst>
              <a:ext uri="{FF2B5EF4-FFF2-40B4-BE49-F238E27FC236}">
                <a16:creationId xmlns:a16="http://schemas.microsoft.com/office/drawing/2014/main" id="{04EE756F-B43C-A1C8-AA1A-25E3E65BA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97536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591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4BF5-06D9-1057-544B-BFC69FCEC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43B980-EFBD-5981-B64F-4ECDB2FBBFBB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9265692-96E1-A33B-48D2-95877D7C115B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6F86464-0C9A-8777-BA78-2823E7F0E195}"/>
              </a:ext>
            </a:extLst>
          </p:cNvPr>
          <p:cNvGrpSpPr/>
          <p:nvPr/>
        </p:nvGrpSpPr>
        <p:grpSpPr>
          <a:xfrm>
            <a:off x="609811" y="533538"/>
            <a:ext cx="8633276" cy="5227787"/>
            <a:chOff x="157480" y="-267335"/>
            <a:chExt cx="11511034" cy="697037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5876DE6-EB39-52BE-983C-4997C3769396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008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2- Network Topologies: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685F3F2-90CB-846D-09A8-7E8CFA132C04}"/>
                </a:ext>
              </a:extLst>
            </p:cNvPr>
            <p:cNvSpPr txBox="1"/>
            <p:nvPr/>
          </p:nvSpPr>
          <p:spPr>
            <a:xfrm>
              <a:off x="157480" y="746971"/>
              <a:ext cx="11204787" cy="59560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b="1" dirty="0"/>
                <a:t>6. Hybrid Topology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Combination of two or more topologies.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How it works:</a:t>
              </a:r>
              <a:r>
                <a:rPr lang="en-US" sz="2400" dirty="0"/>
                <a:t> Different sections use different layouts (e.g., star + bus).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Advantages:</a:t>
              </a:r>
              <a:r>
                <a:rPr lang="en-US" sz="2400" dirty="0"/>
                <a:t> Flexible and scalable.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Disadvantages:</a:t>
              </a:r>
              <a:r>
                <a:rPr lang="en-US" sz="2400" dirty="0"/>
                <a:t> Design complexity.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Real-life Example:</a:t>
              </a:r>
              <a:r>
                <a:rPr lang="en-US" sz="2400" dirty="0"/>
                <a:t> University campus network (departments in star, buildings linked by backbone).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7993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What is Network Topology? Best Guide to Types &amp; Diagrams - DNSstuff">
            <a:extLst>
              <a:ext uri="{FF2B5EF4-FFF2-40B4-BE49-F238E27FC236}">
                <a16:creationId xmlns:a16="http://schemas.microsoft.com/office/drawing/2014/main" id="{B0D159CA-0C3B-7E9F-E310-23A8BEFDA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4900"/>
            <a:ext cx="97536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081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41F8-C091-449B-3A47-105EAC61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7E1E14-0DCB-8CDD-F652-7E1B35840760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AD8B8B4-73D3-7544-10E3-DB20F3D6BA25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4967A00-CF7C-4F12-BB05-313756129577}"/>
              </a:ext>
            </a:extLst>
          </p:cNvPr>
          <p:cNvGrpSpPr/>
          <p:nvPr/>
        </p:nvGrpSpPr>
        <p:grpSpPr>
          <a:xfrm>
            <a:off x="609811" y="533538"/>
            <a:ext cx="8633276" cy="5861285"/>
            <a:chOff x="157480" y="-267335"/>
            <a:chExt cx="11511034" cy="781504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D2ABB07-AC39-707B-5C96-2017DDDCD334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982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3- Network Size and Coverage Area: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00EE0A1-364A-59A5-12CF-12F9AE15CBF3}"/>
                </a:ext>
              </a:extLst>
            </p:cNvPr>
            <p:cNvSpPr txBox="1"/>
            <p:nvPr/>
          </p:nvSpPr>
          <p:spPr>
            <a:xfrm>
              <a:off x="157480" y="1714745"/>
              <a:ext cx="11204787" cy="58329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1. PAN (Personal Area Network)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Very small network around one person.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Bluetooth between a phone and wireless earbuds or smartwatch.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2. LAN (Local Area Network)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Network within a limited area like a room, building, or campus.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School computer lab or office floor network.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6242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82A6E-D5B2-D55B-39DF-DCAC0579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49A7A5-5760-C43E-533D-AF1DAA903E12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E38B9AA-C496-BCA8-B887-FEE7A4347C2B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CC01E54-E1A3-0340-6F15-183FC222BEF7}"/>
              </a:ext>
            </a:extLst>
          </p:cNvPr>
          <p:cNvGrpSpPr/>
          <p:nvPr/>
        </p:nvGrpSpPr>
        <p:grpSpPr>
          <a:xfrm>
            <a:off x="609811" y="533538"/>
            <a:ext cx="8633276" cy="5861285"/>
            <a:chOff x="157480" y="-267335"/>
            <a:chExt cx="11511034" cy="781504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DC10A11-CAD5-D029-A7B5-C9C9E53A1D4D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982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00"/>
                </a:lnSpc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3- Network Size and Coverage Area: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8E2DC1C-DAE8-B488-0B6E-A03BB329B067}"/>
                </a:ext>
              </a:extLst>
            </p:cNvPr>
            <p:cNvSpPr txBox="1"/>
            <p:nvPr/>
          </p:nvSpPr>
          <p:spPr>
            <a:xfrm>
              <a:off x="157480" y="1714745"/>
              <a:ext cx="11204787" cy="58329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3. MAN (Metropolitan Area Network)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Network that covers a city or large urban area.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City-style Example:</a:t>
              </a:r>
              <a:r>
                <a:rPr lang="en-US" sz="2400" dirty="0"/>
                <a:t> City-wide fiber network connecting universities, hospitals, and government offices across the city.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4. WAN (Wide Area Network)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Network covering very large geographic areas (countries/continents).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The Internet; a bank’s branches connected nationwide.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451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Types of Network: LAN, WAN, MAN, PAN | Bernard E. posted on the topic |  LinkedIn">
            <a:extLst>
              <a:ext uri="{FF2B5EF4-FFF2-40B4-BE49-F238E27FC236}">
                <a16:creationId xmlns:a16="http://schemas.microsoft.com/office/drawing/2014/main" id="{692A8027-6918-B8FB-F67B-35C52665B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876300"/>
            <a:ext cx="632460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514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5D4EC-90CC-CF8D-767C-D95DC52D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527CC0-AC76-E63D-B115-97DBEA1F74DB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370303A-B695-F532-81FD-D87B1D4F6E89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9C44704-3293-9A2D-A438-E5410A820C77}"/>
              </a:ext>
            </a:extLst>
          </p:cNvPr>
          <p:cNvGrpSpPr/>
          <p:nvPr/>
        </p:nvGrpSpPr>
        <p:grpSpPr>
          <a:xfrm>
            <a:off x="609811" y="533538"/>
            <a:ext cx="8633276" cy="6415283"/>
            <a:chOff x="157480" y="-267335"/>
            <a:chExt cx="11511034" cy="8553706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8C51D70-9889-D32C-ACD1-6ABF7119CD3B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982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Data Transmission Characteristics: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287ACB6-56D5-1A19-B825-1F9A8DABF295}"/>
                </a:ext>
              </a:extLst>
            </p:cNvPr>
            <p:cNvSpPr txBox="1"/>
            <p:nvPr/>
          </p:nvSpPr>
          <p:spPr>
            <a:xfrm>
              <a:off x="244404" y="1714745"/>
              <a:ext cx="11204787" cy="65716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1. Bandwidth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Maximum data transfer capacity.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100 Mbps internet speed.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2. Analog Signal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 </a:t>
              </a:r>
              <a:r>
                <a:rPr lang="en-US" sz="2400" dirty="0"/>
                <a:t>Continuous waveform signal.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Radio broadcast.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3. Digital Signal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 </a:t>
              </a:r>
              <a:r>
                <a:rPr lang="en-US" sz="2400" dirty="0"/>
                <a:t>Binary signal (0s and 1s).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Example:</a:t>
              </a:r>
              <a:r>
                <a:rPr lang="en-US" sz="2400" dirty="0"/>
                <a:t> Computer data transmission.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663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B33B-BD05-447D-3942-0E3C1097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BFE2DF-7B34-26D9-2A7F-165F24FC87CA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7A26B3-5AA5-178F-8C0E-4B1EFB93FE55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C5BBB85-BDFF-248E-EDE5-CD98AB61C27F}"/>
              </a:ext>
            </a:extLst>
          </p:cNvPr>
          <p:cNvGrpSpPr/>
          <p:nvPr/>
        </p:nvGrpSpPr>
        <p:grpSpPr>
          <a:xfrm>
            <a:off x="609811" y="533538"/>
            <a:ext cx="8633276" cy="5918544"/>
            <a:chOff x="157480" y="-267335"/>
            <a:chExt cx="11511034" cy="7891387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50EC618-8E08-56A4-6FB5-5D210B05A41E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982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Data Transmission Characteristics: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D908985-4ACD-CCC4-9A4F-C4DDD558E5A3}"/>
                </a:ext>
              </a:extLst>
            </p:cNvPr>
            <p:cNvSpPr txBox="1"/>
            <p:nvPr/>
          </p:nvSpPr>
          <p:spPr>
            <a:xfrm>
              <a:off x="244404" y="1714745"/>
              <a:ext cx="11204787" cy="59093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b="1" dirty="0"/>
                <a:t>4. Transmission Modes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Simplex → Data is transmitted in only one direction (e.g.</a:t>
              </a:r>
            </a:p>
            <a:p>
              <a:r>
                <a:rPr lang="en-US" sz="2400" dirty="0"/>
                <a:t>     TV Broadcast).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Half Duplex → Data can travel in both directions, but only one at a time (e.g. Walkie-talkie).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Full Duplex → Data is transmitted in both directions at the same time (e.g. Phone Call).</a:t>
              </a:r>
            </a:p>
            <a:p>
              <a:endParaRPr lang="en-US" sz="2400" dirty="0"/>
            </a:p>
            <a:p>
              <a:r>
                <a:rPr lang="en-US" sz="2400" b="1" dirty="0"/>
                <a:t>5. Delivery Methods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Unicast → email to one person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Broadcast → TV transmission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Multicast → online live class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3128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5091A-E6A0-9E86-1AF4-240428C27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5ADE8F-FF38-E59B-BECE-253E25C26374}"/>
              </a:ext>
            </a:extLst>
          </p:cNvPr>
          <p:cNvSpPr/>
          <p:nvPr/>
        </p:nvSpPr>
        <p:spPr>
          <a:xfrm rot="-1100510">
            <a:off x="4348158" y="-43495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26D6F99-6F34-1D48-1244-7971CB27254B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403D989-FBE4-3E70-A00D-1A11CEE286C7}"/>
              </a:ext>
            </a:extLst>
          </p:cNvPr>
          <p:cNvGrpSpPr/>
          <p:nvPr/>
        </p:nvGrpSpPr>
        <p:grpSpPr>
          <a:xfrm>
            <a:off x="609811" y="533538"/>
            <a:ext cx="8633276" cy="5212786"/>
            <a:chOff x="157480" y="-267335"/>
            <a:chExt cx="11511034" cy="6950379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6707DE9-6186-39E4-CAA5-CE2705D31BBE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Networking Media: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2F9E0BE-A0E0-3CA7-0F8D-3F8B237F34E4}"/>
                </a:ext>
              </a:extLst>
            </p:cNvPr>
            <p:cNvSpPr txBox="1"/>
            <p:nvPr/>
          </p:nvSpPr>
          <p:spPr>
            <a:xfrm>
              <a:off x="244404" y="850081"/>
              <a:ext cx="11204787" cy="58329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1. Wired Media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Twisted Pair → Telephone lines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Coaxial Cable → Cable TV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Fiber Optic → High-speed internet backbone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2. Wireless Media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Radio Waves → Wi-Fi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Microwaves → Satellite communication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Infrared → Remote controls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84275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1066-6B94-DE3F-BE0B-F55FCD6A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5C0627-3BA3-1309-B9B2-C05902F31DA3}"/>
              </a:ext>
            </a:extLst>
          </p:cNvPr>
          <p:cNvSpPr/>
          <p:nvPr/>
        </p:nvSpPr>
        <p:spPr>
          <a:xfrm rot="-1100510">
            <a:off x="4368058" y="-44257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6B457B1-C662-2AA3-4EFA-ECA271FEB09F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4321FA5-33A5-1C59-17B5-19C11B66F4E0}"/>
              </a:ext>
            </a:extLst>
          </p:cNvPr>
          <p:cNvGrpSpPr/>
          <p:nvPr/>
        </p:nvGrpSpPr>
        <p:grpSpPr>
          <a:xfrm>
            <a:off x="609811" y="533538"/>
            <a:ext cx="8633276" cy="6659990"/>
            <a:chOff x="157480" y="-267335"/>
            <a:chExt cx="11511034" cy="8879983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08A0833-7076-F0A8-DB1D-FEE939EB1165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982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Communication Protocols and Standards: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BF92AE6-34F1-E010-1B71-DF2DE07DBA54}"/>
                </a:ext>
              </a:extLst>
            </p:cNvPr>
            <p:cNvSpPr txBox="1"/>
            <p:nvPr/>
          </p:nvSpPr>
          <p:spPr>
            <a:xfrm>
              <a:off x="331329" y="1548580"/>
              <a:ext cx="11204787" cy="70640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/>
                <a:t>Communication Protocol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A set of rules that defines how data is formatted, transmitted, and received between devices.</a:t>
              </a:r>
            </a:p>
            <a:p>
              <a:pPr>
                <a:lnSpc>
                  <a:spcPct val="150000"/>
                </a:lnSpc>
              </a:pPr>
              <a:r>
                <a:rPr lang="en-US" sz="3200" b="1" dirty="0"/>
                <a:t>Major Protocols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1. TCP/IP (Transmission Control Protocol / Internet Protocol)</a:t>
              </a:r>
              <a:r>
                <a:rPr lang="en-US" sz="2400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Core protocol suite of the Internet; ensures reliable delivery and addressing.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Used in all internet communication.</a:t>
              </a:r>
            </a:p>
            <a:p>
              <a:pPr>
                <a:lnSpc>
                  <a:spcPct val="150000"/>
                </a:lnSpc>
              </a:pP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9888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66B3-C4F1-387A-FD7C-65E09496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2B0D1C-ABE1-7B59-5B8B-25B50072D207}"/>
              </a:ext>
            </a:extLst>
          </p:cNvPr>
          <p:cNvSpPr/>
          <p:nvPr/>
        </p:nvSpPr>
        <p:spPr>
          <a:xfrm rot="-1100510">
            <a:off x="4368058" y="-44257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7F0D16B-3892-7FBA-FDD9-FD7C52F542C6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CD1A274-9EF0-ECD6-790A-57949E0CF222}"/>
              </a:ext>
            </a:extLst>
          </p:cNvPr>
          <p:cNvGrpSpPr/>
          <p:nvPr/>
        </p:nvGrpSpPr>
        <p:grpSpPr>
          <a:xfrm>
            <a:off x="609811" y="533538"/>
            <a:ext cx="8633276" cy="5658665"/>
            <a:chOff x="157480" y="-267335"/>
            <a:chExt cx="11511034" cy="754488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D912816-2B77-1BCA-5C4D-6E9BC1C5BD7C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Communication Protocols: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5A25F1-560E-3303-39F4-E1AD5B3D390B}"/>
                </a:ext>
              </a:extLst>
            </p:cNvPr>
            <p:cNvSpPr txBox="1"/>
            <p:nvPr/>
          </p:nvSpPr>
          <p:spPr>
            <a:xfrm>
              <a:off x="244404" y="705922"/>
              <a:ext cx="11204787" cy="6571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2. HTTP (</a:t>
              </a:r>
              <a:r>
                <a:rPr lang="en-US" sz="2400" b="1" dirty="0" err="1"/>
                <a:t>HyperText</a:t>
              </a:r>
              <a:r>
                <a:rPr lang="en-US" sz="2400" b="1" dirty="0"/>
                <a:t> Transfer Protocol)</a:t>
              </a:r>
              <a:r>
                <a:rPr lang="en-US" sz="2400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Transfers web pages between browser and server .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Used when you open websites.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3. HTTPS (</a:t>
              </a:r>
              <a:r>
                <a:rPr lang="en-US" sz="2400" b="1" dirty="0" err="1"/>
                <a:t>HyperText</a:t>
              </a:r>
              <a:r>
                <a:rPr lang="en-US" sz="2400" b="1" dirty="0"/>
                <a:t> Transfer Protocol Secure)</a:t>
              </a:r>
              <a:r>
                <a:rPr lang="en-US" sz="2400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Encrypted version of HTTP for secure web communication.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Used for online banking/shopping.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4. FTP (File Transfer Protocol)</a:t>
              </a:r>
              <a:r>
                <a:rPr lang="en-US" sz="2400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Transfers files between computers over a network .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Uploading website files to a server.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1691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999E-DF1D-31EE-F5D1-07A9C7A7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37F106-78A7-AAD7-D222-CD40C22BB4FA}"/>
              </a:ext>
            </a:extLst>
          </p:cNvPr>
          <p:cNvSpPr/>
          <p:nvPr/>
        </p:nvSpPr>
        <p:spPr>
          <a:xfrm rot="-1100510">
            <a:off x="4368058" y="-44257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B7AB266-573D-C33A-1D99-A420AD0D2759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B1D7BC5-6A8F-BF6F-681E-9B4339F2EACD}"/>
              </a:ext>
            </a:extLst>
          </p:cNvPr>
          <p:cNvGrpSpPr/>
          <p:nvPr/>
        </p:nvGrpSpPr>
        <p:grpSpPr>
          <a:xfrm>
            <a:off x="609811" y="533538"/>
            <a:ext cx="8633276" cy="5658665"/>
            <a:chOff x="157480" y="-267335"/>
            <a:chExt cx="11511034" cy="754488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0C08640-33F4-7E86-0B26-1838AAFDA303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Communication Protocols: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F851D00-174D-AA8C-A52D-2EEAA467A63D}"/>
                </a:ext>
              </a:extLst>
            </p:cNvPr>
            <p:cNvSpPr txBox="1"/>
            <p:nvPr/>
          </p:nvSpPr>
          <p:spPr>
            <a:xfrm>
              <a:off x="244404" y="705922"/>
              <a:ext cx="11204787" cy="6571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5. SMTP (Simple Mail Transfer Protocol)</a:t>
              </a:r>
              <a:r>
                <a:rPr lang="en-US" sz="2400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Sends email between mail servers.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Sending an email.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6. POP3 (Post Office Protocol v3)</a:t>
              </a:r>
              <a:r>
                <a:rPr lang="en-US" sz="2400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Retrieves emails by downloading to client.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Basic email download.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7. IMAP (Internet Message Access Protocol)</a:t>
              </a:r>
              <a:r>
                <a:rPr lang="en-US" sz="2400" dirty="0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Accesses email on server without downloading permanently. 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/>
                <a:t>• Sync email across devices.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8806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A39D-DDDC-D634-4D76-80AF8A4F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38AA4A-4A26-D1F3-AB7A-69F0D3D1EC6D}"/>
              </a:ext>
            </a:extLst>
          </p:cNvPr>
          <p:cNvSpPr/>
          <p:nvPr/>
        </p:nvSpPr>
        <p:spPr>
          <a:xfrm rot="-1100510">
            <a:off x="4368058" y="-44257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0113126-5833-8013-0EB1-6801BC2468ED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A20C1EA-F9DC-20A0-01E0-70FAEA2B5269}"/>
              </a:ext>
            </a:extLst>
          </p:cNvPr>
          <p:cNvGrpSpPr/>
          <p:nvPr/>
        </p:nvGrpSpPr>
        <p:grpSpPr>
          <a:xfrm>
            <a:off x="609811" y="533538"/>
            <a:ext cx="8633276" cy="4955083"/>
            <a:chOff x="157480" y="-267335"/>
            <a:chExt cx="11511034" cy="660677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61883D3-8C19-06FF-570D-D6B2DD70287D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1982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Communication Protocols and Standards: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160545-F5AE-9CAF-683A-FFAB10FA3E4B}"/>
                </a:ext>
              </a:extLst>
            </p:cNvPr>
            <p:cNvSpPr txBox="1"/>
            <p:nvPr/>
          </p:nvSpPr>
          <p:spPr>
            <a:xfrm>
              <a:off x="201023" y="1737583"/>
              <a:ext cx="11204787" cy="46018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200" b="1" dirty="0"/>
                <a:t>Networking Standards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Definition:</a:t>
              </a:r>
              <a:r>
                <a:rPr lang="en-US" sz="2400" dirty="0"/>
                <a:t> Standards are agreed rules that make sure devices from different brands work together properly.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Examples:</a:t>
              </a:r>
              <a:r>
                <a:rPr lang="en-US" sz="2400" dirty="0"/>
                <a:t> Your </a:t>
              </a:r>
              <a:r>
                <a:rPr lang="en-US" sz="2400" b="1" dirty="0"/>
                <a:t>phone and home Wi-Fi router</a:t>
              </a:r>
              <a:r>
                <a:rPr lang="en-US" sz="2400" dirty="0"/>
                <a:t> can connect easily and communicate properly even if they are from different brands, because they follow the same Wi-Fi rules.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0658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EE53-E751-F9E0-ECC7-2EBE26154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DDB43C-A7F5-2EB1-F4D5-3BC7DB8DD0C2}"/>
              </a:ext>
            </a:extLst>
          </p:cNvPr>
          <p:cNvSpPr/>
          <p:nvPr/>
        </p:nvSpPr>
        <p:spPr>
          <a:xfrm rot="-1100510">
            <a:off x="4368058" y="-44257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E7D91A7-54F0-947D-A976-B99B82E49297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DF7ABF9-F4F9-2A46-CAD3-86DA1025A3E6}"/>
              </a:ext>
            </a:extLst>
          </p:cNvPr>
          <p:cNvGrpSpPr/>
          <p:nvPr/>
        </p:nvGrpSpPr>
        <p:grpSpPr>
          <a:xfrm>
            <a:off x="609811" y="533538"/>
            <a:ext cx="8633276" cy="5714567"/>
            <a:chOff x="157480" y="-267335"/>
            <a:chExt cx="11511034" cy="7619420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EBC15BB-0020-A570-1E58-9C386A4281FD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Networking Hardware: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E3D4B1A-7F94-07DC-ED47-D5588DB02C48}"/>
                </a:ext>
              </a:extLst>
            </p:cNvPr>
            <p:cNvSpPr txBox="1"/>
            <p:nvPr/>
          </p:nvSpPr>
          <p:spPr>
            <a:xfrm>
              <a:off x="244404" y="780458"/>
              <a:ext cx="11204787" cy="6571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1. Router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Function:</a:t>
              </a:r>
              <a:r>
                <a:rPr lang="en-US" sz="2400" dirty="0"/>
                <a:t> Connects different networks and routes data packets based on IP address.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 Example:</a:t>
              </a:r>
              <a:r>
                <a:rPr lang="en-US" sz="2400" dirty="0"/>
                <a:t> Home Wi‑Fi router connecting your LAN to the Internet.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2. Switch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Function:</a:t>
              </a:r>
              <a:r>
                <a:rPr lang="en-US" sz="2400" dirty="0"/>
                <a:t> Connects devices in a LAN and forwards data only to the intended device (using MAC address).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 Example:</a:t>
              </a:r>
              <a:r>
                <a:rPr lang="en-US" sz="2400" dirty="0"/>
                <a:t> Office network switch connecting PCs and printers.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9638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DDFD6-D310-5F6F-E80A-A28AE135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F80D9C-442F-DDDA-D319-9276A2F23D8C}"/>
              </a:ext>
            </a:extLst>
          </p:cNvPr>
          <p:cNvSpPr/>
          <p:nvPr/>
        </p:nvSpPr>
        <p:spPr>
          <a:xfrm rot="-1100510">
            <a:off x="4368058" y="-44257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329EAF0-7B63-454F-D1C7-DD6EA1F99878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2BCEABF-3597-B399-8304-DFCFA28F3C75}"/>
              </a:ext>
            </a:extLst>
          </p:cNvPr>
          <p:cNvGrpSpPr/>
          <p:nvPr/>
        </p:nvGrpSpPr>
        <p:grpSpPr>
          <a:xfrm>
            <a:off x="609811" y="533538"/>
            <a:ext cx="8633276" cy="5714567"/>
            <a:chOff x="157480" y="-267335"/>
            <a:chExt cx="11511034" cy="761942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61BF73A-7C18-DDD8-31CF-2DE4241FF028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Networking Hardware: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5B38020-2535-5C6E-8E17-11B14010DF3E}"/>
                </a:ext>
              </a:extLst>
            </p:cNvPr>
            <p:cNvSpPr txBox="1"/>
            <p:nvPr/>
          </p:nvSpPr>
          <p:spPr>
            <a:xfrm>
              <a:off x="244404" y="780458"/>
              <a:ext cx="11204787" cy="6571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3. Hub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Function:</a:t>
              </a:r>
              <a:r>
                <a:rPr lang="en-US" sz="2400" dirty="0"/>
                <a:t> Basic connector that broadcasts incoming data to all ports.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 Example:</a:t>
              </a:r>
              <a:r>
                <a:rPr lang="en-US" sz="2400" dirty="0"/>
                <a:t> Legacy small network device (rarely used today).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4. Modem (Modulator–Demodulator)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Function:</a:t>
              </a:r>
              <a:r>
                <a:rPr lang="en-US" sz="2400" dirty="0"/>
                <a:t> Converts digital signals ↔ analog signals for transmission over ISP (Internet Service Provider) lines.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 Example:</a:t>
              </a:r>
              <a:r>
                <a:rPr lang="en-US" sz="2400" dirty="0"/>
                <a:t> ISP modem for (Digital Subscriber Line )DSL/Cable connection.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2338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CBAC-4895-D7D3-23C0-10B86CAB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FDCDEB-8C29-CE7D-28C5-FFCFF1203B25}"/>
              </a:ext>
            </a:extLst>
          </p:cNvPr>
          <p:cNvSpPr/>
          <p:nvPr/>
        </p:nvSpPr>
        <p:spPr>
          <a:xfrm rot="-1100510">
            <a:off x="4368058" y="-4425720"/>
            <a:ext cx="5681080" cy="5432533"/>
          </a:xfrm>
          <a:custGeom>
            <a:avLst/>
            <a:gdLst/>
            <a:ahLst/>
            <a:cxnLst/>
            <a:rect l="l" t="t" r="r" b="b"/>
            <a:pathLst>
              <a:path w="5681080" h="5432533">
                <a:moveTo>
                  <a:pt x="0" y="0"/>
                </a:moveTo>
                <a:lnTo>
                  <a:pt x="5681080" y="0"/>
                </a:lnTo>
                <a:lnTo>
                  <a:pt x="5681080" y="5432533"/>
                </a:lnTo>
                <a:lnTo>
                  <a:pt x="0" y="5432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7342E7C-E098-98F2-88C6-5D4F1D7CCC73}"/>
              </a:ext>
            </a:extLst>
          </p:cNvPr>
          <p:cNvSpPr/>
          <p:nvPr/>
        </p:nvSpPr>
        <p:spPr>
          <a:xfrm rot="-795738">
            <a:off x="8882505" y="5853991"/>
            <a:ext cx="2852170" cy="2702431"/>
          </a:xfrm>
          <a:custGeom>
            <a:avLst/>
            <a:gdLst/>
            <a:ahLst/>
            <a:cxnLst/>
            <a:rect l="l" t="t" r="r" b="b"/>
            <a:pathLst>
              <a:path w="2852170" h="2702431">
                <a:moveTo>
                  <a:pt x="0" y="0"/>
                </a:moveTo>
                <a:lnTo>
                  <a:pt x="2852170" y="0"/>
                </a:lnTo>
                <a:lnTo>
                  <a:pt x="2852170" y="2702430"/>
                </a:lnTo>
                <a:lnTo>
                  <a:pt x="0" y="270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3D239E2-C49F-6975-9ED2-2BD9C9831D46}"/>
              </a:ext>
            </a:extLst>
          </p:cNvPr>
          <p:cNvGrpSpPr/>
          <p:nvPr/>
        </p:nvGrpSpPr>
        <p:grpSpPr>
          <a:xfrm>
            <a:off x="609811" y="533538"/>
            <a:ext cx="8633276" cy="3498575"/>
            <a:chOff x="157480" y="-267335"/>
            <a:chExt cx="11511034" cy="466476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5F1DDC9-8C49-2936-9ECF-5A8540776859}"/>
                </a:ext>
              </a:extLst>
            </p:cNvPr>
            <p:cNvSpPr txBox="1"/>
            <p:nvPr/>
          </p:nvSpPr>
          <p:spPr>
            <a:xfrm>
              <a:off x="157480" y="-267335"/>
              <a:ext cx="11511034" cy="973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5800" indent="-685800" algn="l">
                <a:lnSpc>
                  <a:spcPts val="5900"/>
                </a:lnSpc>
                <a:buFont typeface="Wingdings" panose="05000000000000000000" pitchFamily="2" charset="2"/>
                <a:buChar char="q"/>
              </a:pPr>
              <a:r>
                <a:rPr lang="en-US" sz="4800" b="1" dirty="0">
                  <a:solidFill>
                    <a:srgbClr val="731F7D"/>
                  </a:solidFill>
                  <a:latin typeface="Calibri" panose="020F0502020204030204" charset="0"/>
                  <a:ea typeface="HK Grotesk Bold" panose="00000800000000000000"/>
                  <a:cs typeface="Calibri" panose="020F0502020204030204" charset="0"/>
                  <a:sym typeface="HK Grotesk Bold" panose="00000800000000000000"/>
                </a:rPr>
                <a:t>Networking Hardware: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4D09818-D115-32AB-08E9-706B78AA32CC}"/>
                </a:ext>
              </a:extLst>
            </p:cNvPr>
            <p:cNvSpPr txBox="1"/>
            <p:nvPr/>
          </p:nvSpPr>
          <p:spPr>
            <a:xfrm>
              <a:off x="244404" y="780458"/>
              <a:ext cx="11204787" cy="36169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dirty="0"/>
                <a:t>5. Network Interface Card (NIC)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Function:</a:t>
              </a:r>
              <a:r>
                <a:rPr lang="en-US" sz="2400" dirty="0"/>
                <a:t> Hardware that enables a device to connect to a network (wired or wireless). </a:t>
              </a:r>
            </a:p>
            <a:p>
              <a:pPr>
                <a:lnSpc>
                  <a:spcPct val="150000"/>
                </a:lnSpc>
              </a:pPr>
              <a:r>
                <a:rPr lang="en-US" sz="2400" b="1" dirty="0"/>
                <a:t>Real Example:</a:t>
              </a:r>
              <a:r>
                <a:rPr lang="en-US" sz="2400" dirty="0"/>
                <a:t> Ethernet card in a desktop PC; Wi‑Fi adapter in a laptop.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417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576FBE-FFBE-A92F-3D08-061A2EB5D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4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87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5866787" y="-1370945"/>
            <a:ext cx="5550062" cy="4939555"/>
          </a:xfrm>
          <a:custGeom>
            <a:avLst/>
            <a:gdLst/>
            <a:ahLst/>
            <a:cxnLst/>
            <a:rect l="l" t="t" r="r" b="b"/>
            <a:pathLst>
              <a:path w="5550062" h="4939555">
                <a:moveTo>
                  <a:pt x="0" y="0"/>
                </a:moveTo>
                <a:lnTo>
                  <a:pt x="5550061" y="0"/>
                </a:lnTo>
                <a:lnTo>
                  <a:pt x="5550061" y="4939555"/>
                </a:lnTo>
                <a:lnTo>
                  <a:pt x="0" y="4939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017281">
            <a:off x="6200148" y="787734"/>
            <a:ext cx="1060123" cy="1004466"/>
          </a:xfrm>
          <a:custGeom>
            <a:avLst/>
            <a:gdLst/>
            <a:ahLst/>
            <a:cxnLst/>
            <a:rect l="l" t="t" r="r" b="b"/>
            <a:pathLst>
              <a:path w="1060123" h="1004466">
                <a:moveTo>
                  <a:pt x="0" y="0"/>
                </a:moveTo>
                <a:lnTo>
                  <a:pt x="1060123" y="0"/>
                </a:lnTo>
                <a:lnTo>
                  <a:pt x="1060123" y="1004466"/>
                </a:lnTo>
                <a:lnTo>
                  <a:pt x="0" y="100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567437">
            <a:off x="8175470" y="5527229"/>
            <a:ext cx="2209570" cy="2112901"/>
          </a:xfrm>
          <a:custGeom>
            <a:avLst/>
            <a:gdLst/>
            <a:ahLst/>
            <a:cxnLst/>
            <a:rect l="l" t="t" r="r" b="b"/>
            <a:pathLst>
              <a:path w="2209570" h="2112901">
                <a:moveTo>
                  <a:pt x="0" y="0"/>
                </a:moveTo>
                <a:lnTo>
                  <a:pt x="2209570" y="0"/>
                </a:lnTo>
                <a:lnTo>
                  <a:pt x="2209570" y="2112902"/>
                </a:lnTo>
                <a:lnTo>
                  <a:pt x="0" y="2112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0747" y="1512405"/>
            <a:ext cx="6654819" cy="476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00"/>
              </a:lnSpc>
            </a:pPr>
            <a:r>
              <a:rPr lang="en-US" sz="4000" b="1" dirty="0">
                <a:solidFill>
                  <a:schemeClr val="bg1"/>
                </a:solidFill>
                <a:latin typeface="Calibri" panose="020F0502020204030204" charset="0"/>
                <a:ea typeface="HK Grotesk Bold" panose="00000800000000000000"/>
                <a:cs typeface="Calibri" panose="020F0502020204030204" charset="0"/>
                <a:sym typeface="HK Grotesk Bold" panose="00000800000000000000"/>
              </a:rPr>
              <a:t>Summary of Lecture 3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Networks connect devices to share data and resources.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Architectures: Client-Server and Peer-to-Peer.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Topologies: Bus, Star, Ring, Mesh, Hybrid.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Coverage: PAN, LAN, MAN (city-wide), WAN (global).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Communication uses protocols (TCP/IP, HTTP/HTTPS, FTP, SMTP) and hardware (router, switch, modem, NIC).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1616</Words>
  <Application>Microsoft Office PowerPoint</Application>
  <PresentationFormat>Custom</PresentationFormat>
  <Paragraphs>208</Paragraphs>
  <Slides>39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Halant Bold</vt:lpstr>
      <vt:lpstr>HK Grotesk Bold</vt:lpstr>
      <vt:lpstr>Arial Black</vt:lpstr>
      <vt:lpstr>Halant Medium</vt:lpstr>
      <vt:lpstr>Wingdings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Lecture 1</dc:title>
  <dc:creator/>
  <cp:lastModifiedBy>Admin</cp:lastModifiedBy>
  <cp:revision>29</cp:revision>
  <dcterms:created xsi:type="dcterms:W3CDTF">2006-08-16T00:00:00Z</dcterms:created>
  <dcterms:modified xsi:type="dcterms:W3CDTF">2026-02-28T21:13:35Z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0619587701084622B2FE28AD10B5130E_13</vt:lpwstr>
  </property>
  <property fmtid="{D5CDD505-2E9C-101B-9397-08002B2CF9AE}" pid="3" name="KSOProductBuildVer">
    <vt:lpwstr>1033-12.1.0.25242</vt:lpwstr>
  </property>
</Properties>
</file>