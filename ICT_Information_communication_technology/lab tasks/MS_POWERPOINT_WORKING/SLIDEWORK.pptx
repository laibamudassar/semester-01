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79C7"/>
    <a:srgbClr val="F7C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CF-43A1-9F87-524A9D5ADC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  <c:pt idx="2">
                  <c:v>65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CF-43A1-9F87-524A9D5ADC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16CF-43A1-9F87-524A9D5ADC3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43333103"/>
        <c:axId val="143340591"/>
      </c:barChart>
      <c:catAx>
        <c:axId val="143333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40591"/>
        <c:crosses val="autoZero"/>
        <c:auto val="1"/>
        <c:lblAlgn val="ctr"/>
        <c:lblOffset val="100"/>
        <c:noMultiLvlLbl val="0"/>
      </c:catAx>
      <c:valAx>
        <c:axId val="14334059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3333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B9E8E9-B8DD-43D2-A890-D8F30FA02CFB}" type="doc">
      <dgm:prSet loTypeId="urn:microsoft.com/office/officeart/2005/8/layout/h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D1623E4-1A08-4539-A6D9-5C2D17F0FE0E}">
      <dgm:prSet phldrT="[Text]" custT="1"/>
      <dgm:spPr/>
      <dgm:t>
        <a:bodyPr/>
        <a:lstStyle/>
        <a:p>
          <a:r>
            <a:rPr lang="en-US" sz="3200" dirty="0">
              <a:latin typeface="Arial Rounded MT Bold" panose="020F0704030504030204" pitchFamily="34" charset="0"/>
            </a:rPr>
            <a:t>Public cloud</a:t>
          </a:r>
        </a:p>
      </dgm:t>
    </dgm:pt>
    <dgm:pt modelId="{88C88646-ED04-4A29-A0EE-32725E0CA950}" type="parTrans" cxnId="{7E287633-798B-469B-A34C-8330C42C861F}">
      <dgm:prSet/>
      <dgm:spPr/>
      <dgm:t>
        <a:bodyPr/>
        <a:lstStyle/>
        <a:p>
          <a:endParaRPr lang="en-US"/>
        </a:p>
      </dgm:t>
    </dgm:pt>
    <dgm:pt modelId="{6A409200-ED13-47F9-8475-CB974E33116C}" type="sibTrans" cxnId="{7E287633-798B-469B-A34C-8330C42C861F}">
      <dgm:prSet/>
      <dgm:spPr/>
      <dgm:t>
        <a:bodyPr/>
        <a:lstStyle/>
        <a:p>
          <a:endParaRPr lang="en-US"/>
        </a:p>
      </dgm:t>
    </dgm:pt>
    <dgm:pt modelId="{1F9C0699-AA57-4C75-BC7A-6BDBE76476C5}">
      <dgm:prSet phldrT="[Text]" custT="1"/>
      <dgm:spPr/>
      <dgm:t>
        <a:bodyPr/>
        <a:lstStyle/>
        <a:p>
          <a:r>
            <a:rPr lang="en-US" sz="1600" dirty="0"/>
            <a:t>Available to every one</a:t>
          </a:r>
        </a:p>
      </dgm:t>
    </dgm:pt>
    <dgm:pt modelId="{075CAD66-2B41-4921-B56A-085B29E932E5}" type="parTrans" cxnId="{84E84E98-6236-4A67-877A-AFF662303E7B}">
      <dgm:prSet/>
      <dgm:spPr/>
      <dgm:t>
        <a:bodyPr/>
        <a:lstStyle/>
        <a:p>
          <a:endParaRPr lang="en-US"/>
        </a:p>
      </dgm:t>
    </dgm:pt>
    <dgm:pt modelId="{3988CEC9-0CE5-465B-94D2-5748A2F90AE0}" type="sibTrans" cxnId="{84E84E98-6236-4A67-877A-AFF662303E7B}">
      <dgm:prSet/>
      <dgm:spPr/>
      <dgm:t>
        <a:bodyPr/>
        <a:lstStyle/>
        <a:p>
          <a:endParaRPr lang="en-US"/>
        </a:p>
      </dgm:t>
    </dgm:pt>
    <dgm:pt modelId="{19D9C734-38BC-41F4-ABAE-357C5ECCD027}">
      <dgm:prSet phldrT="[Text]" custT="1"/>
      <dgm:spPr/>
      <dgm:t>
        <a:bodyPr/>
        <a:lstStyle/>
        <a:p>
          <a:r>
            <a:rPr lang="en-US" sz="1600" dirty="0"/>
            <a:t>Low cost</a:t>
          </a:r>
        </a:p>
      </dgm:t>
    </dgm:pt>
    <dgm:pt modelId="{0F932B1F-7744-4F67-9D93-A2C96684A7C3}" type="parTrans" cxnId="{21806117-2FAB-4AC3-9C37-1C3674525AFD}">
      <dgm:prSet/>
      <dgm:spPr/>
      <dgm:t>
        <a:bodyPr/>
        <a:lstStyle/>
        <a:p>
          <a:endParaRPr lang="en-US"/>
        </a:p>
      </dgm:t>
    </dgm:pt>
    <dgm:pt modelId="{D4C5B327-557A-461F-BE61-49FE504C6492}" type="sibTrans" cxnId="{21806117-2FAB-4AC3-9C37-1C3674525AFD}">
      <dgm:prSet/>
      <dgm:spPr/>
      <dgm:t>
        <a:bodyPr/>
        <a:lstStyle/>
        <a:p>
          <a:endParaRPr lang="en-US"/>
        </a:p>
      </dgm:t>
    </dgm:pt>
    <dgm:pt modelId="{DE6919C8-EA8C-4E80-B17B-D3DB0BFCFADB}">
      <dgm:prSet phldrT="[Text]" custT="1"/>
      <dgm:spPr/>
      <dgm:t>
        <a:bodyPr/>
        <a:lstStyle/>
        <a:p>
          <a:r>
            <a:rPr lang="en-US" sz="2800" dirty="0">
              <a:latin typeface="Arial Rounded MT Bold" panose="020F0704030504030204" pitchFamily="34" charset="0"/>
            </a:rPr>
            <a:t>Private cloud</a:t>
          </a:r>
        </a:p>
      </dgm:t>
    </dgm:pt>
    <dgm:pt modelId="{944928B6-9C2E-41B4-BFD0-8D87C87EDABA}" type="parTrans" cxnId="{91BFBB34-34B0-4CA7-8DCF-908AAD63B311}">
      <dgm:prSet/>
      <dgm:spPr/>
      <dgm:t>
        <a:bodyPr/>
        <a:lstStyle/>
        <a:p>
          <a:endParaRPr lang="en-US"/>
        </a:p>
      </dgm:t>
    </dgm:pt>
    <dgm:pt modelId="{05C84C92-C350-4219-9E51-5927C9C6FD31}" type="sibTrans" cxnId="{91BFBB34-34B0-4CA7-8DCF-908AAD63B311}">
      <dgm:prSet/>
      <dgm:spPr/>
      <dgm:t>
        <a:bodyPr/>
        <a:lstStyle/>
        <a:p>
          <a:endParaRPr lang="en-US"/>
        </a:p>
      </dgm:t>
    </dgm:pt>
    <dgm:pt modelId="{5C328C5F-D13F-4F6D-B934-26F4701B91D6}">
      <dgm:prSet phldrT="[Text]" custT="1"/>
      <dgm:spPr/>
      <dgm:t>
        <a:bodyPr/>
        <a:lstStyle/>
        <a:p>
          <a:r>
            <a:rPr lang="en-US" sz="1600" dirty="0"/>
            <a:t>Used by one organization only</a:t>
          </a:r>
        </a:p>
      </dgm:t>
    </dgm:pt>
    <dgm:pt modelId="{B12A6B27-2C8D-4490-85B0-BA539D17AD89}" type="parTrans" cxnId="{8D9C4178-FF72-4E44-8270-E90FC744D6C7}">
      <dgm:prSet/>
      <dgm:spPr/>
      <dgm:t>
        <a:bodyPr/>
        <a:lstStyle/>
        <a:p>
          <a:endParaRPr lang="en-US"/>
        </a:p>
      </dgm:t>
    </dgm:pt>
    <dgm:pt modelId="{194C9133-6058-49C8-A69D-DCFAEBA6E6C8}" type="sibTrans" cxnId="{8D9C4178-FF72-4E44-8270-E90FC744D6C7}">
      <dgm:prSet/>
      <dgm:spPr/>
      <dgm:t>
        <a:bodyPr/>
        <a:lstStyle/>
        <a:p>
          <a:endParaRPr lang="en-US"/>
        </a:p>
      </dgm:t>
    </dgm:pt>
    <dgm:pt modelId="{6120825C-CDB9-4CED-9416-21C10423F895}">
      <dgm:prSet phldrT="[Text]" custT="1"/>
      <dgm:spPr/>
      <dgm:t>
        <a:bodyPr/>
        <a:lstStyle/>
        <a:p>
          <a:r>
            <a:rPr lang="en-US" sz="1600" dirty="0"/>
            <a:t>More secure</a:t>
          </a:r>
        </a:p>
      </dgm:t>
    </dgm:pt>
    <dgm:pt modelId="{7F93FE02-84A5-4C6C-8149-CC341BE790BE}" type="parTrans" cxnId="{87659249-C396-4A2E-A5C8-37CD5A8260D3}">
      <dgm:prSet/>
      <dgm:spPr/>
      <dgm:t>
        <a:bodyPr/>
        <a:lstStyle/>
        <a:p>
          <a:endParaRPr lang="en-US"/>
        </a:p>
      </dgm:t>
    </dgm:pt>
    <dgm:pt modelId="{50C6DE36-78AA-4B51-86E9-B401B35E72FA}" type="sibTrans" cxnId="{87659249-C396-4A2E-A5C8-37CD5A8260D3}">
      <dgm:prSet/>
      <dgm:spPr/>
      <dgm:t>
        <a:bodyPr/>
        <a:lstStyle/>
        <a:p>
          <a:endParaRPr lang="en-US"/>
        </a:p>
      </dgm:t>
    </dgm:pt>
    <dgm:pt modelId="{E8D50F7D-C14E-4624-826C-1738DC68BA07}">
      <dgm:prSet phldrT="[Text]" custT="1"/>
      <dgm:spPr/>
      <dgm:t>
        <a:bodyPr/>
        <a:lstStyle/>
        <a:p>
          <a:r>
            <a:rPr lang="en-US" sz="2800" dirty="0">
              <a:latin typeface="Arial Rounded MT Bold" panose="020F0704030504030204" pitchFamily="34" charset="0"/>
            </a:rPr>
            <a:t>Hybrid cloud</a:t>
          </a:r>
        </a:p>
      </dgm:t>
    </dgm:pt>
    <dgm:pt modelId="{BAE9E661-127C-445D-B8BF-5885792CFC52}" type="parTrans" cxnId="{71B1B66D-0434-4B9A-948F-97FD01BE09EB}">
      <dgm:prSet/>
      <dgm:spPr/>
      <dgm:t>
        <a:bodyPr/>
        <a:lstStyle/>
        <a:p>
          <a:endParaRPr lang="en-US"/>
        </a:p>
      </dgm:t>
    </dgm:pt>
    <dgm:pt modelId="{957DD06B-26D9-4C83-BB5D-2F3455444FC3}" type="sibTrans" cxnId="{71B1B66D-0434-4B9A-948F-97FD01BE09EB}">
      <dgm:prSet/>
      <dgm:spPr/>
      <dgm:t>
        <a:bodyPr/>
        <a:lstStyle/>
        <a:p>
          <a:endParaRPr lang="en-US"/>
        </a:p>
      </dgm:t>
    </dgm:pt>
    <dgm:pt modelId="{F3B93E71-4E79-4415-B550-597BA7DD87F3}">
      <dgm:prSet phldrT="[Text]" custT="1"/>
      <dgm:spPr/>
      <dgm:t>
        <a:bodyPr/>
        <a:lstStyle/>
        <a:p>
          <a:r>
            <a:rPr lang="en-US" sz="1600" dirty="0"/>
            <a:t>Combination of public and private cloud</a:t>
          </a:r>
        </a:p>
      </dgm:t>
    </dgm:pt>
    <dgm:pt modelId="{DFE4CB86-E33A-4405-92C3-202D1CDAC440}" type="parTrans" cxnId="{E3634EA0-A9B7-4D02-A9BB-8AB7DB32A4BC}">
      <dgm:prSet/>
      <dgm:spPr/>
      <dgm:t>
        <a:bodyPr/>
        <a:lstStyle/>
        <a:p>
          <a:endParaRPr lang="en-US"/>
        </a:p>
      </dgm:t>
    </dgm:pt>
    <dgm:pt modelId="{4EE07A6A-C63C-41BE-8F67-C917CDA8AE90}" type="sibTrans" cxnId="{E3634EA0-A9B7-4D02-A9BB-8AB7DB32A4BC}">
      <dgm:prSet/>
      <dgm:spPr/>
      <dgm:t>
        <a:bodyPr/>
        <a:lstStyle/>
        <a:p>
          <a:endParaRPr lang="en-US"/>
        </a:p>
      </dgm:t>
    </dgm:pt>
    <dgm:pt modelId="{4B24E4D3-5948-44FB-ABC8-BB1A241F686F}">
      <dgm:prSet phldrT="[Text]" custT="1"/>
      <dgm:spPr/>
      <dgm:t>
        <a:bodyPr/>
        <a:lstStyle/>
        <a:p>
          <a:r>
            <a:rPr lang="en-US" sz="1600" dirty="0"/>
            <a:t>Data can move b/w clouds</a:t>
          </a:r>
        </a:p>
      </dgm:t>
    </dgm:pt>
    <dgm:pt modelId="{49CCBE82-F256-433E-8E56-C250E0FF1306}" type="parTrans" cxnId="{DF40F090-F14A-44EB-8E35-53F23663065F}">
      <dgm:prSet/>
      <dgm:spPr/>
      <dgm:t>
        <a:bodyPr/>
        <a:lstStyle/>
        <a:p>
          <a:endParaRPr lang="en-US"/>
        </a:p>
      </dgm:t>
    </dgm:pt>
    <dgm:pt modelId="{834C8978-FAB3-4908-B551-86754A876E27}" type="sibTrans" cxnId="{DF40F090-F14A-44EB-8E35-53F23663065F}">
      <dgm:prSet/>
      <dgm:spPr/>
      <dgm:t>
        <a:bodyPr/>
        <a:lstStyle/>
        <a:p>
          <a:endParaRPr lang="en-US"/>
        </a:p>
      </dgm:t>
    </dgm:pt>
    <dgm:pt modelId="{D6F4E553-A673-4AFF-94A7-536CABB36BF7}">
      <dgm:prSet phldrT="[Text]" custT="1"/>
      <dgm:spPr/>
      <dgm:t>
        <a:bodyPr/>
        <a:lstStyle/>
        <a:p>
          <a:r>
            <a:rPr lang="en-US" sz="1600" dirty="0"/>
            <a:t>Example; google cloud</a:t>
          </a:r>
        </a:p>
      </dgm:t>
    </dgm:pt>
    <dgm:pt modelId="{01ACE761-1476-4C95-80AB-A25F2B055F90}" type="parTrans" cxnId="{7E2A63A0-EE0B-44B7-A131-4607CED4244D}">
      <dgm:prSet/>
      <dgm:spPr/>
      <dgm:t>
        <a:bodyPr/>
        <a:lstStyle/>
        <a:p>
          <a:endParaRPr lang="en-US"/>
        </a:p>
      </dgm:t>
    </dgm:pt>
    <dgm:pt modelId="{FBAD3378-1E5B-4DFF-82BA-085179D05D77}" type="sibTrans" cxnId="{7E2A63A0-EE0B-44B7-A131-4607CED4244D}">
      <dgm:prSet/>
      <dgm:spPr/>
      <dgm:t>
        <a:bodyPr/>
        <a:lstStyle/>
        <a:p>
          <a:endParaRPr lang="en-US"/>
        </a:p>
      </dgm:t>
    </dgm:pt>
    <dgm:pt modelId="{B7F4EE8C-CB96-42A8-B77E-57C39DE4B412}">
      <dgm:prSet phldrT="[Text]" custT="1"/>
      <dgm:spPr/>
      <dgm:t>
        <a:bodyPr/>
        <a:lstStyle/>
        <a:p>
          <a:r>
            <a:rPr lang="en-US" sz="1600" dirty="0"/>
            <a:t>Used by bank , government offices</a:t>
          </a:r>
        </a:p>
      </dgm:t>
    </dgm:pt>
    <dgm:pt modelId="{A7D2C456-95EB-4E51-ADE6-A3964B28A018}" type="parTrans" cxnId="{3350D9F7-99A7-4EE2-8F89-AB85FB7A06F9}">
      <dgm:prSet/>
      <dgm:spPr/>
      <dgm:t>
        <a:bodyPr/>
        <a:lstStyle/>
        <a:p>
          <a:endParaRPr lang="en-US"/>
        </a:p>
      </dgm:t>
    </dgm:pt>
    <dgm:pt modelId="{286D8D96-5F88-4577-9709-3D499A215F88}" type="sibTrans" cxnId="{3350D9F7-99A7-4EE2-8F89-AB85FB7A06F9}">
      <dgm:prSet/>
      <dgm:spPr/>
      <dgm:t>
        <a:bodyPr/>
        <a:lstStyle/>
        <a:p>
          <a:endParaRPr lang="en-US"/>
        </a:p>
      </dgm:t>
    </dgm:pt>
    <dgm:pt modelId="{7239BD29-517F-458D-9E54-5902B898F63B}" type="pres">
      <dgm:prSet presAssocID="{23B9E8E9-B8DD-43D2-A890-D8F30FA02CFB}" presName="Name0" presStyleCnt="0">
        <dgm:presLayoutVars>
          <dgm:dir/>
          <dgm:resizeHandles val="exact"/>
        </dgm:presLayoutVars>
      </dgm:prSet>
      <dgm:spPr/>
    </dgm:pt>
    <dgm:pt modelId="{B66492FA-1407-435D-B701-FB5AD419FAA7}" type="pres">
      <dgm:prSet presAssocID="{5D1623E4-1A08-4539-A6D9-5C2D17F0FE0E}" presName="node" presStyleLbl="node1" presStyleIdx="0" presStyleCnt="3">
        <dgm:presLayoutVars>
          <dgm:bulletEnabled val="1"/>
        </dgm:presLayoutVars>
      </dgm:prSet>
      <dgm:spPr/>
    </dgm:pt>
    <dgm:pt modelId="{17C22D25-B920-477E-BD14-A9FBDA22CFED}" type="pres">
      <dgm:prSet presAssocID="{6A409200-ED13-47F9-8475-CB974E33116C}" presName="sibTrans" presStyleCnt="0"/>
      <dgm:spPr/>
    </dgm:pt>
    <dgm:pt modelId="{0989903A-38A0-4BFF-92F2-D634B30E234A}" type="pres">
      <dgm:prSet presAssocID="{DE6919C8-EA8C-4E80-B17B-D3DB0BFCFADB}" presName="node" presStyleLbl="node1" presStyleIdx="1" presStyleCnt="3">
        <dgm:presLayoutVars>
          <dgm:bulletEnabled val="1"/>
        </dgm:presLayoutVars>
      </dgm:prSet>
      <dgm:spPr/>
    </dgm:pt>
    <dgm:pt modelId="{7E91AAA8-191C-4BF2-B7DF-4A3A79506F2D}" type="pres">
      <dgm:prSet presAssocID="{05C84C92-C350-4219-9E51-5927C9C6FD31}" presName="sibTrans" presStyleCnt="0"/>
      <dgm:spPr/>
    </dgm:pt>
    <dgm:pt modelId="{7EC347FC-2511-47AF-A1A2-E69975E8FC1E}" type="pres">
      <dgm:prSet presAssocID="{E8D50F7D-C14E-4624-826C-1738DC68BA07}" presName="node" presStyleLbl="node1" presStyleIdx="2" presStyleCnt="3">
        <dgm:presLayoutVars>
          <dgm:bulletEnabled val="1"/>
        </dgm:presLayoutVars>
      </dgm:prSet>
      <dgm:spPr/>
    </dgm:pt>
  </dgm:ptLst>
  <dgm:cxnLst>
    <dgm:cxn modelId="{C5578505-05B9-4550-A214-FB2A4FA2DFDC}" type="presOf" srcId="{23B9E8E9-B8DD-43D2-A890-D8F30FA02CFB}" destId="{7239BD29-517F-458D-9E54-5902B898F63B}" srcOrd="0" destOrd="0" presId="urn:microsoft.com/office/officeart/2005/8/layout/hList6"/>
    <dgm:cxn modelId="{86B43A07-3A6C-4F54-915C-68D94F22980E}" type="presOf" srcId="{E8D50F7D-C14E-4624-826C-1738DC68BA07}" destId="{7EC347FC-2511-47AF-A1A2-E69975E8FC1E}" srcOrd="0" destOrd="0" presId="urn:microsoft.com/office/officeart/2005/8/layout/hList6"/>
    <dgm:cxn modelId="{9F8CC809-EDE9-4D3E-B4CE-F3D57284A183}" type="presOf" srcId="{6120825C-CDB9-4CED-9416-21C10423F895}" destId="{0989903A-38A0-4BFF-92F2-D634B30E234A}" srcOrd="0" destOrd="2" presId="urn:microsoft.com/office/officeart/2005/8/layout/hList6"/>
    <dgm:cxn modelId="{21806117-2FAB-4AC3-9C37-1C3674525AFD}" srcId="{5D1623E4-1A08-4539-A6D9-5C2D17F0FE0E}" destId="{19D9C734-38BC-41F4-ABAE-357C5ECCD027}" srcOrd="1" destOrd="0" parTransId="{0F932B1F-7744-4F67-9D93-A2C96684A7C3}" sibTransId="{D4C5B327-557A-461F-BE61-49FE504C6492}"/>
    <dgm:cxn modelId="{7E287633-798B-469B-A34C-8330C42C861F}" srcId="{23B9E8E9-B8DD-43D2-A890-D8F30FA02CFB}" destId="{5D1623E4-1A08-4539-A6D9-5C2D17F0FE0E}" srcOrd="0" destOrd="0" parTransId="{88C88646-ED04-4A29-A0EE-32725E0CA950}" sibTransId="{6A409200-ED13-47F9-8475-CB974E33116C}"/>
    <dgm:cxn modelId="{91BFBB34-34B0-4CA7-8DCF-908AAD63B311}" srcId="{23B9E8E9-B8DD-43D2-A890-D8F30FA02CFB}" destId="{DE6919C8-EA8C-4E80-B17B-D3DB0BFCFADB}" srcOrd="1" destOrd="0" parTransId="{944928B6-9C2E-41B4-BFD0-8D87C87EDABA}" sibTransId="{05C84C92-C350-4219-9E51-5927C9C6FD31}"/>
    <dgm:cxn modelId="{389C195C-E2BE-4E18-99FF-30B7AF65F461}" type="presOf" srcId="{1F9C0699-AA57-4C75-BC7A-6BDBE76476C5}" destId="{B66492FA-1407-435D-B701-FB5AD419FAA7}" srcOrd="0" destOrd="1" presId="urn:microsoft.com/office/officeart/2005/8/layout/hList6"/>
    <dgm:cxn modelId="{22428860-A3F6-4128-855F-30E3928ECFD4}" type="presOf" srcId="{F3B93E71-4E79-4415-B550-597BA7DD87F3}" destId="{7EC347FC-2511-47AF-A1A2-E69975E8FC1E}" srcOrd="0" destOrd="1" presId="urn:microsoft.com/office/officeart/2005/8/layout/hList6"/>
    <dgm:cxn modelId="{87659249-C396-4A2E-A5C8-37CD5A8260D3}" srcId="{DE6919C8-EA8C-4E80-B17B-D3DB0BFCFADB}" destId="{6120825C-CDB9-4CED-9416-21C10423F895}" srcOrd="1" destOrd="0" parTransId="{7F93FE02-84A5-4C6C-8149-CC341BE790BE}" sibTransId="{50C6DE36-78AA-4B51-86E9-B401B35E72FA}"/>
    <dgm:cxn modelId="{8C39A749-D10B-4143-BAD5-2E6E9B4B25A0}" type="presOf" srcId="{4B24E4D3-5948-44FB-ABC8-BB1A241F686F}" destId="{7EC347FC-2511-47AF-A1A2-E69975E8FC1E}" srcOrd="0" destOrd="2" presId="urn:microsoft.com/office/officeart/2005/8/layout/hList6"/>
    <dgm:cxn modelId="{71B1B66D-0434-4B9A-948F-97FD01BE09EB}" srcId="{23B9E8E9-B8DD-43D2-A890-D8F30FA02CFB}" destId="{E8D50F7D-C14E-4624-826C-1738DC68BA07}" srcOrd="2" destOrd="0" parTransId="{BAE9E661-127C-445D-B8BF-5885792CFC52}" sibTransId="{957DD06B-26D9-4C83-BB5D-2F3455444FC3}"/>
    <dgm:cxn modelId="{A159BD53-1FA7-4E2B-8F22-6E71AA2923C7}" type="presOf" srcId="{DE6919C8-EA8C-4E80-B17B-D3DB0BFCFADB}" destId="{0989903A-38A0-4BFF-92F2-D634B30E234A}" srcOrd="0" destOrd="0" presId="urn:microsoft.com/office/officeart/2005/8/layout/hList6"/>
    <dgm:cxn modelId="{F5635B76-E3D8-4CE0-84B3-D85CEB941138}" type="presOf" srcId="{B7F4EE8C-CB96-42A8-B77E-57C39DE4B412}" destId="{0989903A-38A0-4BFF-92F2-D634B30E234A}" srcOrd="0" destOrd="3" presId="urn:microsoft.com/office/officeart/2005/8/layout/hList6"/>
    <dgm:cxn modelId="{8D9C4178-FF72-4E44-8270-E90FC744D6C7}" srcId="{DE6919C8-EA8C-4E80-B17B-D3DB0BFCFADB}" destId="{5C328C5F-D13F-4F6D-B934-26F4701B91D6}" srcOrd="0" destOrd="0" parTransId="{B12A6B27-2C8D-4490-85B0-BA539D17AD89}" sibTransId="{194C9133-6058-49C8-A69D-DCFAEBA6E6C8}"/>
    <dgm:cxn modelId="{2DC34A7D-8306-495C-B3BD-D141F44629A5}" type="presOf" srcId="{D6F4E553-A673-4AFF-94A7-536CABB36BF7}" destId="{B66492FA-1407-435D-B701-FB5AD419FAA7}" srcOrd="0" destOrd="3" presId="urn:microsoft.com/office/officeart/2005/8/layout/hList6"/>
    <dgm:cxn modelId="{DF40F090-F14A-44EB-8E35-53F23663065F}" srcId="{E8D50F7D-C14E-4624-826C-1738DC68BA07}" destId="{4B24E4D3-5948-44FB-ABC8-BB1A241F686F}" srcOrd="1" destOrd="0" parTransId="{49CCBE82-F256-433E-8E56-C250E0FF1306}" sibTransId="{834C8978-FAB3-4908-B551-86754A876E27}"/>
    <dgm:cxn modelId="{84E84E98-6236-4A67-877A-AFF662303E7B}" srcId="{5D1623E4-1A08-4539-A6D9-5C2D17F0FE0E}" destId="{1F9C0699-AA57-4C75-BC7A-6BDBE76476C5}" srcOrd="0" destOrd="0" parTransId="{075CAD66-2B41-4921-B56A-085B29E932E5}" sibTransId="{3988CEC9-0CE5-465B-94D2-5748A2F90AE0}"/>
    <dgm:cxn modelId="{E978599C-C741-4F9C-9099-07C0F11E7F1E}" type="presOf" srcId="{5D1623E4-1A08-4539-A6D9-5C2D17F0FE0E}" destId="{B66492FA-1407-435D-B701-FB5AD419FAA7}" srcOrd="0" destOrd="0" presId="urn:microsoft.com/office/officeart/2005/8/layout/hList6"/>
    <dgm:cxn modelId="{F228759E-B91C-40E0-9C8D-C334805F65FD}" type="presOf" srcId="{19D9C734-38BC-41F4-ABAE-357C5ECCD027}" destId="{B66492FA-1407-435D-B701-FB5AD419FAA7}" srcOrd="0" destOrd="2" presId="urn:microsoft.com/office/officeart/2005/8/layout/hList6"/>
    <dgm:cxn modelId="{7E2A63A0-EE0B-44B7-A131-4607CED4244D}" srcId="{5D1623E4-1A08-4539-A6D9-5C2D17F0FE0E}" destId="{D6F4E553-A673-4AFF-94A7-536CABB36BF7}" srcOrd="2" destOrd="0" parTransId="{01ACE761-1476-4C95-80AB-A25F2B055F90}" sibTransId="{FBAD3378-1E5B-4DFF-82BA-085179D05D77}"/>
    <dgm:cxn modelId="{E3634EA0-A9B7-4D02-A9BB-8AB7DB32A4BC}" srcId="{E8D50F7D-C14E-4624-826C-1738DC68BA07}" destId="{F3B93E71-4E79-4415-B550-597BA7DD87F3}" srcOrd="0" destOrd="0" parTransId="{DFE4CB86-E33A-4405-92C3-202D1CDAC440}" sibTransId="{4EE07A6A-C63C-41BE-8F67-C917CDA8AE90}"/>
    <dgm:cxn modelId="{B32CAFCF-49C8-41AA-ADC8-14E2A512A106}" type="presOf" srcId="{5C328C5F-D13F-4F6D-B934-26F4701B91D6}" destId="{0989903A-38A0-4BFF-92F2-D634B30E234A}" srcOrd="0" destOrd="1" presId="urn:microsoft.com/office/officeart/2005/8/layout/hList6"/>
    <dgm:cxn modelId="{3350D9F7-99A7-4EE2-8F89-AB85FB7A06F9}" srcId="{DE6919C8-EA8C-4E80-B17B-D3DB0BFCFADB}" destId="{B7F4EE8C-CB96-42A8-B77E-57C39DE4B412}" srcOrd="2" destOrd="0" parTransId="{A7D2C456-95EB-4E51-ADE6-A3964B28A018}" sibTransId="{286D8D96-5F88-4577-9709-3D499A215F88}"/>
    <dgm:cxn modelId="{B08CA012-2BB2-4E12-8BCA-D7A73EDC88A8}" type="presParOf" srcId="{7239BD29-517F-458D-9E54-5902B898F63B}" destId="{B66492FA-1407-435D-B701-FB5AD419FAA7}" srcOrd="0" destOrd="0" presId="urn:microsoft.com/office/officeart/2005/8/layout/hList6"/>
    <dgm:cxn modelId="{21ADBA90-26C3-4DA0-B570-82E2731D9521}" type="presParOf" srcId="{7239BD29-517F-458D-9E54-5902B898F63B}" destId="{17C22D25-B920-477E-BD14-A9FBDA22CFED}" srcOrd="1" destOrd="0" presId="urn:microsoft.com/office/officeart/2005/8/layout/hList6"/>
    <dgm:cxn modelId="{D33F25ED-E30A-4C9F-BBAD-B0C2B3B25361}" type="presParOf" srcId="{7239BD29-517F-458D-9E54-5902B898F63B}" destId="{0989903A-38A0-4BFF-92F2-D634B30E234A}" srcOrd="2" destOrd="0" presId="urn:microsoft.com/office/officeart/2005/8/layout/hList6"/>
    <dgm:cxn modelId="{90FC86F9-2232-47D2-B511-959C7C3852D0}" type="presParOf" srcId="{7239BD29-517F-458D-9E54-5902B898F63B}" destId="{7E91AAA8-191C-4BF2-B7DF-4A3A79506F2D}" srcOrd="3" destOrd="0" presId="urn:microsoft.com/office/officeart/2005/8/layout/hList6"/>
    <dgm:cxn modelId="{6AEC4F2B-7E98-492E-9C5A-4A347F83BC27}" type="presParOf" srcId="{7239BD29-517F-458D-9E54-5902B898F63B}" destId="{7EC347FC-2511-47AF-A1A2-E69975E8FC1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6492FA-1407-435D-B701-FB5AD419FAA7}">
      <dsp:nvSpPr>
        <dsp:cNvPr id="0" name=""/>
        <dsp:cNvSpPr/>
      </dsp:nvSpPr>
      <dsp:spPr>
        <a:xfrm rot="16200000">
          <a:off x="-1418497" y="1419489"/>
          <a:ext cx="5418667" cy="2579687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3200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 Rounded MT Bold" panose="020F0704030504030204" pitchFamily="34" charset="0"/>
            </a:rPr>
            <a:t>Public cloud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Available to every one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Low cost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Example; google cloud</a:t>
          </a:r>
        </a:p>
      </dsp:txBody>
      <dsp:txXfrm rot="5400000">
        <a:off x="993" y="1083732"/>
        <a:ext cx="2579687" cy="3251201"/>
      </dsp:txXfrm>
    </dsp:sp>
    <dsp:sp modelId="{0989903A-38A0-4BFF-92F2-D634B30E234A}">
      <dsp:nvSpPr>
        <dsp:cNvPr id="0" name=""/>
        <dsp:cNvSpPr/>
      </dsp:nvSpPr>
      <dsp:spPr>
        <a:xfrm rot="16200000">
          <a:off x="1354666" y="1419489"/>
          <a:ext cx="5418667" cy="2579687"/>
        </a:xfrm>
        <a:prstGeom prst="flowChartManualOperation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Rounded MT Bold" panose="020F0704030504030204" pitchFamily="34" charset="0"/>
            </a:rPr>
            <a:t>Private cloud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by one organization only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More secure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by bank , government offices</a:t>
          </a:r>
        </a:p>
      </dsp:txBody>
      <dsp:txXfrm rot="5400000">
        <a:off x="2774156" y="1083732"/>
        <a:ext cx="2579687" cy="3251201"/>
      </dsp:txXfrm>
    </dsp:sp>
    <dsp:sp modelId="{7EC347FC-2511-47AF-A1A2-E69975E8FC1E}">
      <dsp:nvSpPr>
        <dsp:cNvPr id="0" name=""/>
        <dsp:cNvSpPr/>
      </dsp:nvSpPr>
      <dsp:spPr>
        <a:xfrm rot="16200000">
          <a:off x="4127830" y="1419489"/>
          <a:ext cx="5418667" cy="2579687"/>
        </a:xfrm>
        <a:prstGeom prst="flowChartManualOperation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0" rIns="17780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 Rounded MT Bold" panose="020F0704030504030204" pitchFamily="34" charset="0"/>
            </a:rPr>
            <a:t>Hybrid cloud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Combination of public and private cloud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Data can move b/w clouds</a:t>
          </a:r>
        </a:p>
      </dsp:txBody>
      <dsp:txXfrm rot="5400000">
        <a:off x="5547320" y="1083732"/>
        <a:ext cx="2579687" cy="32512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3928D-88D3-40D0-95E9-C26833AFEAC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3A12B-1A19-4E93-BA2D-DAFCDC59C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4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66488-626D-4BF3-A152-C049E3F46D5B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5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BDCB7-EEE5-40F2-B9D4-4D622E539A81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5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5ED9-7BCB-45E0-AC18-4E76B902F42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7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F1460-C7DD-4BEC-881B-8DAF49D21B4A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16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F47CB-4C81-47D3-9D2F-1A2AD0C958E7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F307-6285-4B69-81A2-84A3D6D22BF8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0811-DF21-4D4B-ABF8-C4022FE13BE6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3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3010-A538-451E-98EB-DB1AC88D57BA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88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F677-EABD-4E56-A7C0-5BEB1763F4E6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0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89C55-D961-4708-A6CB-B0EE2073117C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584F5-DE04-4BDB-B7B6-8CF650207B59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92DF4-B010-4D15-B628-8BCBBE8336E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8596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A277-31BB-48B6-BF9E-22B0FD271DEE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79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CCED-E7B9-4EE5-B436-8BD2366C8238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3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E60AD-8162-4713-ACA3-9EC24F01D97B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6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C80B-CB56-4F97-9922-82765E07D462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7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F737-855C-4C41-8DA1-EE66B607D20F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4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B6ACE06-B566-488D-B5AB-8427622960C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43261-6E84-40F9-9FC9-637630CEE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23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37528" y="508000"/>
            <a:ext cx="5116945" cy="1182688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CIOUD COMPUTING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9957" y="4583699"/>
            <a:ext cx="567938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LAIBA MUDASSAR</a:t>
            </a:r>
          </a:p>
          <a:p>
            <a:pPr algn="ctr"/>
            <a:r>
              <a: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SP-26BCS-021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ICT</a:t>
            </a:r>
            <a:endParaRPr 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</a:t>
            </a:fld>
            <a:endParaRPr lang="en-US"/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EE16603C-D5E0-DC8E-A658-89EC0F9157D7}"/>
              </a:ext>
            </a:extLst>
          </p:cNvPr>
          <p:cNvSpPr/>
          <p:nvPr/>
        </p:nvSpPr>
        <p:spPr>
          <a:xfrm>
            <a:off x="0" y="3798869"/>
            <a:ext cx="2260600" cy="1569660"/>
          </a:xfrm>
          <a:prstGeom prst="donu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A52D830D-91F6-B371-E94E-0E4E14EF25B0}"/>
              </a:ext>
            </a:extLst>
          </p:cNvPr>
          <p:cNvSpPr/>
          <p:nvPr/>
        </p:nvSpPr>
        <p:spPr>
          <a:xfrm>
            <a:off x="1431457" y="2460523"/>
            <a:ext cx="1968500" cy="1452940"/>
          </a:xfrm>
          <a:prstGeom prst="donut">
            <a:avLst/>
          </a:prstGeom>
          <a:solidFill>
            <a:schemeClr val="accent1"/>
          </a:solidFill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05CCBC41-7A29-6B81-8793-F19870DBD724}"/>
              </a:ext>
            </a:extLst>
          </p:cNvPr>
          <p:cNvSpPr/>
          <p:nvPr/>
        </p:nvSpPr>
        <p:spPr>
          <a:xfrm>
            <a:off x="0" y="1381580"/>
            <a:ext cx="1778000" cy="1452940"/>
          </a:xfrm>
          <a:prstGeom prst="donut">
            <a:avLst/>
          </a:prstGeom>
          <a:effectLst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692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4742585"/>
          </a:xfrm>
        </p:spPr>
        <p:txBody>
          <a:bodyPr anchor="t">
            <a:normAutofit fontScale="90000"/>
          </a:bodyPr>
          <a:lstStyle/>
          <a:p>
            <a:pPr marL="685800" indent="-6858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5300" dirty="0">
                <a:latin typeface="Arial Rounded MT Bold" panose="020F0704030504030204" pitchFamily="34" charset="0"/>
              </a:rPr>
              <a:t>INTRODUCTION :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2700" dirty="0">
                <a:latin typeface="Arial Rounded MT Bold" panose="020F0704030504030204" pitchFamily="34" charset="0"/>
              </a:rPr>
              <a:t>1.Cloud computing is a technology</a:t>
            </a:r>
            <a:br>
              <a:rPr lang="en-US" sz="2700" dirty="0">
                <a:latin typeface="Arial Rounded MT Bold" panose="020F0704030504030204" pitchFamily="34" charset="0"/>
              </a:rPr>
            </a:br>
            <a:r>
              <a:rPr lang="en-US" sz="2700" dirty="0">
                <a:latin typeface="Arial Rounded MT Bold" panose="020F0704030504030204" pitchFamily="34" charset="0"/>
              </a:rPr>
              <a:t>2.It provide computer services through the internet</a:t>
            </a:r>
            <a:br>
              <a:rPr lang="en-US" sz="2700" dirty="0">
                <a:latin typeface="Arial Rounded MT Bold" panose="020F0704030504030204" pitchFamily="34" charset="0"/>
              </a:rPr>
            </a:br>
            <a:r>
              <a:rPr lang="en-US" sz="2700" dirty="0">
                <a:latin typeface="Arial Rounded MT Bold" panose="020F0704030504030204" pitchFamily="34" charset="0"/>
              </a:rPr>
              <a:t>3.User can store data and access online</a:t>
            </a:r>
            <a:br>
              <a:rPr lang="en-US" sz="2700" dirty="0">
                <a:latin typeface="Arial Rounded MT Bold" panose="020F0704030504030204" pitchFamily="34" charset="0"/>
              </a:rPr>
            </a:br>
            <a:r>
              <a:rPr lang="en-US" sz="2700" dirty="0">
                <a:latin typeface="Arial Rounded MT Bold" panose="020F0704030504030204" pitchFamily="34" charset="0"/>
              </a:rPr>
              <a:t>4.No need for physical storage devices</a:t>
            </a:r>
            <a:br>
              <a:rPr lang="en-US" sz="2700" dirty="0">
                <a:latin typeface="Arial Rounded MT Bold" panose="020F0704030504030204" pitchFamily="34" charset="0"/>
              </a:rPr>
            </a:br>
            <a:br>
              <a:rPr lang="en-US" sz="2700" dirty="0">
                <a:latin typeface="Arial Rounded MT Bold" panose="020F0704030504030204" pitchFamily="34" charset="0"/>
              </a:rPr>
            </a:br>
            <a:br>
              <a:rPr lang="en-US" sz="2800" dirty="0">
                <a:latin typeface="Arial Rounded MT Bold" panose="020F0704030504030204" pitchFamily="34" charset="0"/>
              </a:rPr>
            </a:br>
            <a:endParaRPr lang="en-US" sz="2800" dirty="0">
              <a:latin typeface="Arial Rounded MT Bold" panose="020F07040305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2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E92654-5C66-D43A-0A42-F9C19A5E79DF}"/>
              </a:ext>
            </a:extLst>
          </p:cNvPr>
          <p:cNvSpPr/>
          <p:nvPr/>
        </p:nvSpPr>
        <p:spPr>
          <a:xfrm>
            <a:off x="9971540" y="2164832"/>
            <a:ext cx="2220460" cy="1987323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solidFill>
              <a:srgbClr val="C00000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AF64CB-FA00-A5C7-3420-B911D7D21BC6}"/>
              </a:ext>
            </a:extLst>
          </p:cNvPr>
          <p:cNvSpPr/>
          <p:nvPr/>
        </p:nvSpPr>
        <p:spPr>
          <a:xfrm>
            <a:off x="9053061" y="2877705"/>
            <a:ext cx="1754639" cy="1676400"/>
          </a:xfrm>
          <a:prstGeom prst="ellipse">
            <a:avLst/>
          </a:prstGeom>
          <a:solidFill>
            <a:schemeClr val="accent1">
              <a:alpha val="75000"/>
            </a:schemeClr>
          </a:solidFill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0064B6-DDC1-A361-12EB-C8AC6A095C3A}"/>
              </a:ext>
            </a:extLst>
          </p:cNvPr>
          <p:cNvSpPr/>
          <p:nvPr/>
        </p:nvSpPr>
        <p:spPr>
          <a:xfrm>
            <a:off x="10807700" y="3979121"/>
            <a:ext cx="1193683" cy="1290205"/>
          </a:xfrm>
          <a:prstGeom prst="ellipse">
            <a:avLst/>
          </a:pr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7710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DEFINITION: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16969" y="1853248"/>
            <a:ext cx="7141946" cy="18402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73701" y="2967335"/>
            <a:ext cx="566971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6969" y="2372717"/>
            <a:ext cx="6829114" cy="153888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Cloud computing mean delivering computer services</a:t>
            </a:r>
          </a:p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Like software servers over the internet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Graphic 8" descr="Cloud Computing with solid fill">
            <a:extLst>
              <a:ext uri="{FF2B5EF4-FFF2-40B4-BE49-F238E27FC236}">
                <a16:creationId xmlns:a16="http://schemas.microsoft.com/office/drawing/2014/main" id="{BB8DCA63-E01B-6E43-C805-5E4D94091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405" y="1766356"/>
            <a:ext cx="2755900" cy="275160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80531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673464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HISTORY:</a:t>
            </a:r>
            <a:br>
              <a:rPr lang="en-US" dirty="0"/>
            </a:br>
            <a:r>
              <a:rPr lang="en-US" dirty="0"/>
              <a:t>1.</a:t>
            </a:r>
            <a:r>
              <a:rPr lang="en-US" sz="4000" dirty="0"/>
              <a:t>Concept started in the 1960s</a:t>
            </a:r>
            <a:br>
              <a:rPr lang="en-US" sz="4000" dirty="0"/>
            </a:br>
            <a:r>
              <a:rPr lang="en-US" sz="4000" dirty="0"/>
              <a:t>2.became popular in 2000s</a:t>
            </a:r>
            <a:br>
              <a:rPr lang="en-US" sz="4000" dirty="0"/>
            </a:br>
            <a:r>
              <a:rPr lang="en-US" sz="4000" dirty="0"/>
              <a:t>3.now use world wide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4</a:t>
            </a:fld>
            <a:endParaRPr lang="en-US"/>
          </a:p>
        </p:txBody>
      </p:sp>
      <p:pic>
        <p:nvPicPr>
          <p:cNvPr id="5" name="Graphic 4" descr="Venn diagram with solid fill">
            <a:extLst>
              <a:ext uri="{FF2B5EF4-FFF2-40B4-BE49-F238E27FC236}">
                <a16:creationId xmlns:a16="http://schemas.microsoft.com/office/drawing/2014/main" id="{C66FFFFB-C97E-6A8C-2C30-48EE52869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101" y="3022600"/>
            <a:ext cx="4605788" cy="420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6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495" y="172365"/>
            <a:ext cx="9404723" cy="14005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TYPES OF CLOUD COMPUTING</a:t>
            </a:r>
            <a:r>
              <a:rPr lang="en-US" dirty="0"/>
              <a:t>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0" y="1613102"/>
            <a:ext cx="3158837" cy="4802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498109" y="2892338"/>
            <a:ext cx="3195782" cy="4987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Private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3927" y="4710544"/>
            <a:ext cx="3168073" cy="5264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Hybrid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090" y="1613102"/>
            <a:ext cx="295465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Public cloud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5</a:t>
            </a:fld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1EC058CC-F10A-8A94-C6CD-D5EB5A630A94}"/>
              </a:ext>
            </a:extLst>
          </p:cNvPr>
          <p:cNvSpPr/>
          <p:nvPr/>
        </p:nvSpPr>
        <p:spPr>
          <a:xfrm>
            <a:off x="607495" y="3814819"/>
            <a:ext cx="2171700" cy="2537892"/>
          </a:xfrm>
          <a:prstGeom prst="diamond">
            <a:avLst/>
          </a:prstGeom>
          <a:solidFill>
            <a:schemeClr val="accent4">
              <a:lumMod val="75000"/>
            </a:schemeClr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E0C4CBF4-D2A2-6498-5278-692E7B03F1D9}"/>
              </a:ext>
            </a:extLst>
          </p:cNvPr>
          <p:cNvSpPr/>
          <p:nvPr/>
        </p:nvSpPr>
        <p:spPr>
          <a:xfrm>
            <a:off x="1897695" y="4103830"/>
            <a:ext cx="1454932" cy="1739900"/>
          </a:xfrm>
          <a:prstGeom prst="diamond">
            <a:avLst/>
          </a:prstGeom>
          <a:solidFill>
            <a:srgbClr val="FFC000"/>
          </a:solidFill>
          <a:ln>
            <a:solidFill>
              <a:schemeClr val="bg1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77657A4-8B5B-CFBA-AC53-4636BA053426}"/>
              </a:ext>
            </a:extLst>
          </p:cNvPr>
          <p:cNvSpPr/>
          <p:nvPr/>
        </p:nvSpPr>
        <p:spPr>
          <a:xfrm>
            <a:off x="5200" y="4103830"/>
            <a:ext cx="1556900" cy="1739900"/>
          </a:xfrm>
          <a:prstGeom prst="diamond">
            <a:avLst/>
          </a:prstGeom>
          <a:solidFill>
            <a:schemeClr val="bg2">
              <a:lumMod val="40000"/>
              <a:lumOff val="60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4355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51927227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74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 descr="Types of Cloud services and its us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281" y="1403928"/>
            <a:ext cx="7399872" cy="40501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-1293559" y="217907"/>
            <a:ext cx="1020665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685800" indent="-685800" algn="ctr">
              <a:buFont typeface="Wingdings" panose="05000000000000000000" pitchFamily="2" charset="2"/>
              <a:buChar char="q"/>
            </a:pP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CLOUD SERVICE MODELS :</a:t>
            </a:r>
          </a:p>
        </p:txBody>
      </p:sp>
    </p:spTree>
    <p:extLst>
      <p:ext uri="{BB962C8B-B14F-4D97-AF65-F5344CB8AC3E}">
        <p14:creationId xmlns:p14="http://schemas.microsoft.com/office/powerpoint/2010/main" val="698280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020" y="363151"/>
            <a:ext cx="9404723" cy="14005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dirty="0">
                <a:latin typeface="Arial Rounded MT Bold" panose="020F0704030504030204" pitchFamily="34" charset="0"/>
              </a:rPr>
              <a:t>ADVANTAGES 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8</a:t>
            </a:fld>
            <a:endParaRPr lang="en-US"/>
          </a:p>
        </p:txBody>
      </p:sp>
      <p:sp>
        <p:nvSpPr>
          <p:cNvPr id="4" name="Snip Same Side Corner Rectangle 3"/>
          <p:cNvSpPr/>
          <p:nvPr/>
        </p:nvSpPr>
        <p:spPr>
          <a:xfrm>
            <a:off x="3131127" y="1648866"/>
            <a:ext cx="5929745" cy="3565238"/>
          </a:xfrm>
          <a:prstGeom prst="snip2Same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47388" y="2308100"/>
            <a:ext cx="3897221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1.LOW COST</a:t>
            </a: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Automatic backup</a:t>
            </a:r>
          </a:p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3.Web hosting</a:t>
            </a:r>
          </a:p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4.High security</a:t>
            </a:r>
          </a:p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5.Data storage </a:t>
            </a:r>
          </a:p>
        </p:txBody>
      </p:sp>
    </p:spTree>
    <p:extLst>
      <p:ext uri="{BB962C8B-B14F-4D97-AF65-F5344CB8AC3E}">
        <p14:creationId xmlns:p14="http://schemas.microsoft.com/office/powerpoint/2010/main" val="2083140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DISADVANTAGES: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9</a:t>
            </a:fld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528291" y="2290618"/>
            <a:ext cx="6326909" cy="379614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064000" y="2967335"/>
            <a:ext cx="5467397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1.Data loss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2.Insecure APIS</a:t>
            </a:r>
          </a:p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3.Technology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2302700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CLOUD COMPUTING USAGE GROWTH: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773550714"/>
              </p:ext>
            </p:extLst>
          </p:nvPr>
        </p:nvGraphicFramePr>
        <p:xfrm>
          <a:off x="2032000" y="1853248"/>
          <a:ext cx="7777018" cy="4285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745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CLOUD PROVIDERS</a:t>
            </a:r>
            <a:r>
              <a:rPr lang="en-US" dirty="0"/>
              <a:t>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99491"/>
              </p:ext>
            </p:extLst>
          </p:nvPr>
        </p:nvGraphicFramePr>
        <p:xfrm>
          <a:off x="2032001" y="2677775"/>
          <a:ext cx="8127999" cy="29748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0195155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685612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20860023"/>
                    </a:ext>
                  </a:extLst>
                </a:gridCol>
              </a:tblGrid>
              <a:tr h="991627"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FOUNDED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661049"/>
                  </a:ext>
                </a:extLst>
              </a:tr>
              <a:tr h="991627"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21867"/>
                  </a:ext>
                </a:extLst>
              </a:tr>
              <a:tr h="991627">
                <a:tc>
                  <a:txBody>
                    <a:bodyPr/>
                    <a:lstStyle/>
                    <a:p>
                      <a:r>
                        <a:rPr lang="en-US" dirty="0"/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209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537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CLOUD COMPUTIMNG</a:t>
            </a:r>
            <a:r>
              <a:rPr lang="en-US" dirty="0"/>
              <a:t>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 descr="Cloud Computing Images | Free Photos, HD Backgrounds, PNGs, Vectors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3311167"/>
            <a:ext cx="5019675" cy="3315097"/>
          </a:xfrm>
          <a:prstGeom prst="rect">
            <a:avLst/>
          </a:prstGeom>
        </p:spPr>
      </p:pic>
      <p:pic>
        <p:nvPicPr>
          <p:cNvPr id="9" name="Picture 8" descr="iCloud9: How Cloud Computing Works???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35" y="3094890"/>
            <a:ext cx="4082613" cy="353137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61360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671732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USES :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1.APP DEVELOPMENT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2.EMAIL SERVICES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3.SREAMING VEDIOS 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4.WEBSITE HOSTING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5.ONLINE BACKUP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13</a:t>
            </a:fld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2EB2DD7-3329-D603-13F3-23C73049F30E}"/>
              </a:ext>
            </a:extLst>
          </p:cNvPr>
          <p:cNvSpPr/>
          <p:nvPr/>
        </p:nvSpPr>
        <p:spPr>
          <a:xfrm>
            <a:off x="9028877" y="6804"/>
            <a:ext cx="482600" cy="2688771"/>
          </a:xfrm>
          <a:prstGeom prst="downArrow">
            <a:avLst>
              <a:gd name="adj1" fmla="val 100000"/>
              <a:gd name="adj2" fmla="val 50000"/>
            </a:avLst>
          </a:prstGeom>
          <a:effectLst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3438110-4D6B-C15A-7175-3113A6C5CA54}"/>
              </a:ext>
            </a:extLst>
          </p:cNvPr>
          <p:cNvSpPr/>
          <p:nvPr/>
        </p:nvSpPr>
        <p:spPr>
          <a:xfrm>
            <a:off x="8097367" y="295729"/>
            <a:ext cx="482600" cy="2688771"/>
          </a:xfrm>
          <a:prstGeom prst="downArrow">
            <a:avLst>
              <a:gd name="adj1" fmla="val 100000"/>
              <a:gd name="adj2" fmla="val 50000"/>
            </a:avLst>
          </a:prstGeom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E8CECBA-CB1B-BFA8-C9F1-3356DB16C9E0}"/>
              </a:ext>
            </a:extLst>
          </p:cNvPr>
          <p:cNvSpPr/>
          <p:nvPr/>
        </p:nvSpPr>
        <p:spPr>
          <a:xfrm>
            <a:off x="7165858" y="859519"/>
            <a:ext cx="482600" cy="2688771"/>
          </a:xfrm>
          <a:prstGeom prst="downArrow">
            <a:avLst>
              <a:gd name="adj1" fmla="val 100000"/>
              <a:gd name="adj2" fmla="val 50000"/>
            </a:avLst>
          </a:prstGeom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7023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81432"/>
          </a:xfrm>
        </p:spPr>
        <p:txBody>
          <a:bodyPr/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SCOPE IN COMPUTER SCIENCE: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1.CS student technologies for future jobs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2.Many software run on cloud platforms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en-US" sz="2800" dirty="0">
                <a:latin typeface="Arial Rounded MT Bold" panose="020F0704030504030204" pitchFamily="34" charset="0"/>
              </a:rPr>
              <a:t>3.It supports programming databases and networking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14</a:t>
            </a:fld>
            <a:endParaRPr lang="en-US"/>
          </a:p>
        </p:txBody>
      </p:sp>
      <p:pic>
        <p:nvPicPr>
          <p:cNvPr id="5" name="Graphic 4" descr="Bar graph with upward trend with solid fill">
            <a:extLst>
              <a:ext uri="{FF2B5EF4-FFF2-40B4-BE49-F238E27FC236}">
                <a16:creationId xmlns:a16="http://schemas.microsoft.com/office/drawing/2014/main" id="{6E08B255-9FE3-7C14-2F96-08DE7C33B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1539" y="3493434"/>
            <a:ext cx="38608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4738407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rial Rounded MT Bold" panose="020F0704030504030204" pitchFamily="34" charset="0"/>
              </a:rPr>
              <a:t>CONCLUSION: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1.It is modern technology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2.Makes data storage easy 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3. future of it industry</a:t>
            </a:r>
            <a:br>
              <a:rPr lang="en-US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4.Use in business banking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3261-6E84-40F9-9FC9-637630CEED16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FB4F93-C637-538F-3BD6-833CF81CBEDD}"/>
              </a:ext>
            </a:extLst>
          </p:cNvPr>
          <p:cNvSpPr/>
          <p:nvPr/>
        </p:nvSpPr>
        <p:spPr>
          <a:xfrm>
            <a:off x="7675934" y="3429000"/>
            <a:ext cx="1778000" cy="1473200"/>
          </a:xfrm>
          <a:prstGeom prst="roundRect">
            <a:avLst/>
          </a:prstGeom>
          <a:effectLst>
            <a:reflection blurRad="6350" stA="50000" endA="300" endPos="55500" dist="50800" dir="5400000" sy="-100000" algn="bl" rotWithShape="0"/>
          </a:effectLst>
          <a:scene3d>
            <a:camera prst="obliqueBottom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C04DBD-0963-1A35-46C9-1A5251ED39BE}"/>
              </a:ext>
            </a:extLst>
          </p:cNvPr>
          <p:cNvSpPr/>
          <p:nvPr/>
        </p:nvSpPr>
        <p:spPr>
          <a:xfrm>
            <a:off x="9931400" y="2514600"/>
            <a:ext cx="1485900" cy="1371600"/>
          </a:xfrm>
          <a:prstGeom prst="roundRect">
            <a:avLst/>
          </a:prstGeom>
          <a:effectLst>
            <a:reflection blurRad="6350" stA="50000" endA="300" endPos="55500" dist="101600" dir="5400000" sy="-100000" algn="bl" rotWithShape="0"/>
          </a:effectLst>
          <a:scene3d>
            <a:camera prst="obliqueBottom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7580F0-1854-86C7-99EB-BFD8508A532A}"/>
              </a:ext>
            </a:extLst>
          </p:cNvPr>
          <p:cNvSpPr/>
          <p:nvPr/>
        </p:nvSpPr>
        <p:spPr>
          <a:xfrm>
            <a:off x="9652000" y="4749800"/>
            <a:ext cx="1778000" cy="1473200"/>
          </a:xfrm>
          <a:prstGeom prst="roundRect">
            <a:avLst/>
          </a:prstGeom>
          <a:effectLst>
            <a:reflection blurRad="6350" stA="50000" endA="300" endPos="90000" dist="50800" dir="5400000" sy="-100000" algn="bl" rotWithShape="0"/>
          </a:effectLst>
          <a:scene3d>
            <a:camera prst="obliqueBottom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38A7CF5-E1B5-074B-E26D-BD526BAEF217}"/>
              </a:ext>
            </a:extLst>
          </p:cNvPr>
          <p:cNvSpPr/>
          <p:nvPr/>
        </p:nvSpPr>
        <p:spPr>
          <a:xfrm>
            <a:off x="8067067" y="1501776"/>
            <a:ext cx="1778000" cy="1473200"/>
          </a:xfrm>
          <a:prstGeom prst="round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00650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267</TotalTime>
  <Words>303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 Rounded MT Bold</vt:lpstr>
      <vt:lpstr>Calibri</vt:lpstr>
      <vt:lpstr>Century Gothic</vt:lpstr>
      <vt:lpstr>Wingdings</vt:lpstr>
      <vt:lpstr>Wingdings 3</vt:lpstr>
      <vt:lpstr>Ion</vt:lpstr>
      <vt:lpstr>CIOUD COMPUTING</vt:lpstr>
      <vt:lpstr>INTRODUCTION : 1.Cloud computing is a technology 2.It provide computer services through the internet 3.User can store data and access online 4.No need for physical storage devices   </vt:lpstr>
      <vt:lpstr>DEFINITION:</vt:lpstr>
      <vt:lpstr>HISTORY: 1.Concept started in the 1960s 2.became popular in 2000s 3.now use world wide</vt:lpstr>
      <vt:lpstr>TYPES OF CLOUD COMPUTING:</vt:lpstr>
      <vt:lpstr>PowerPoint Presentation</vt:lpstr>
      <vt:lpstr>PowerPoint Presentation</vt:lpstr>
      <vt:lpstr>ADVANTAGES :</vt:lpstr>
      <vt:lpstr>DISADVANTAGES:</vt:lpstr>
      <vt:lpstr>CLOUD COMPUTING USAGE GROWTH:</vt:lpstr>
      <vt:lpstr>CLOUD PROVIDERS:</vt:lpstr>
      <vt:lpstr>CLOUD COMPUTIMNG:</vt:lpstr>
      <vt:lpstr>USES : 1.APP DEVELOPMENT 2.EMAIL SERVICES 3.SREAMING VEDIOS  4.WEBSITE HOSTING 5.ONLINE BACKUP</vt:lpstr>
      <vt:lpstr>SCOPE IN COMPUTER SCIENCE: 1.CS student technologies for future jobs 2.Many software run on cloud platforms 3.It supports programming databases and networking</vt:lpstr>
      <vt:lpstr>CONCLUSION: 1.It is modern technology 2.Makes data storage easy  3. future of it industry 4.Use in business banking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CIOUD COMPUTING</dc:title>
  <dc:creator>PC</dc:creator>
  <cp:lastModifiedBy>Talha Mudassar</cp:lastModifiedBy>
  <cp:revision>20</cp:revision>
  <dcterms:created xsi:type="dcterms:W3CDTF">2026-02-14T10:52:33Z</dcterms:created>
  <dcterms:modified xsi:type="dcterms:W3CDTF">2026-02-18T09:03:18Z</dcterms:modified>
</cp:coreProperties>
</file>