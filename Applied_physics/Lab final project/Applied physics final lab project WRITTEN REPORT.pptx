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4" r:id="rId1"/>
  </p:sldMasterIdLst>
  <p:sldIdLst>
    <p:sldId id="256" r:id="rId2"/>
    <p:sldId id="264" r:id="rId3"/>
    <p:sldId id="260" r:id="rId4"/>
    <p:sldId id="257" r:id="rId5"/>
    <p:sldId id="258" r:id="rId6"/>
    <p:sldId id="259" r:id="rId7"/>
    <p:sldId id="261" r:id="rId8"/>
    <p:sldId id="262" r:id="rId9"/>
    <p:sldId id="263"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C605461-485F-4B21-8A92-13F46C77A525}" type="datetimeFigureOut">
              <a:rPr lang="LID4096" smtClean="0"/>
              <a:t>05/18/2026</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1558C5E2-5B7F-4E0D-A984-B6ECD35D48AB}" type="slidenum">
              <a:rPr lang="LID4096" smtClean="0"/>
              <a:t>‹#›</a:t>
            </a:fld>
            <a:endParaRPr lang="LID4096"/>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5322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605461-485F-4B21-8A92-13F46C77A525}" type="datetimeFigureOut">
              <a:rPr lang="LID4096" smtClean="0"/>
              <a:t>05/18/2026</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1558C5E2-5B7F-4E0D-A984-B6ECD35D48AB}" type="slidenum">
              <a:rPr lang="LID4096" smtClean="0"/>
              <a:t>‹#›</a:t>
            </a:fld>
            <a:endParaRPr lang="LID4096"/>
          </a:p>
        </p:txBody>
      </p:sp>
    </p:spTree>
    <p:extLst>
      <p:ext uri="{BB962C8B-B14F-4D97-AF65-F5344CB8AC3E}">
        <p14:creationId xmlns:p14="http://schemas.microsoft.com/office/powerpoint/2010/main" val="1696717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605461-485F-4B21-8A92-13F46C77A525}" type="datetimeFigureOut">
              <a:rPr lang="LID4096" smtClean="0"/>
              <a:t>05/18/2026</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1558C5E2-5B7F-4E0D-A984-B6ECD35D48AB}" type="slidenum">
              <a:rPr lang="LID4096" smtClean="0"/>
              <a:t>‹#›</a:t>
            </a:fld>
            <a:endParaRPr lang="LID4096"/>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2570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C605461-485F-4B21-8A92-13F46C77A525}" type="datetimeFigureOut">
              <a:rPr lang="LID4096" smtClean="0"/>
              <a:t>05/18/2026</a:t>
            </a:fld>
            <a:endParaRPr lang="LID4096"/>
          </a:p>
        </p:txBody>
      </p:sp>
      <p:sp>
        <p:nvSpPr>
          <p:cNvPr id="6" name="Footer Placeholder 5"/>
          <p:cNvSpPr>
            <a:spLocks noGrp="1"/>
          </p:cNvSpPr>
          <p:nvPr>
            <p:ph type="ftr" sz="quarter" idx="11"/>
          </p:nvPr>
        </p:nvSpPr>
        <p:spPr/>
        <p:txBody>
          <a:bodyPr/>
          <a:lstStyle/>
          <a:p>
            <a:endParaRPr lang="LID4096"/>
          </a:p>
        </p:txBody>
      </p:sp>
      <p:sp>
        <p:nvSpPr>
          <p:cNvPr id="7" name="Slide Number Placeholder 6"/>
          <p:cNvSpPr>
            <a:spLocks noGrp="1"/>
          </p:cNvSpPr>
          <p:nvPr>
            <p:ph type="sldNum" sz="quarter" idx="12"/>
          </p:nvPr>
        </p:nvSpPr>
        <p:spPr/>
        <p:txBody>
          <a:bodyPr/>
          <a:lstStyle/>
          <a:p>
            <a:fld id="{1558C5E2-5B7F-4E0D-A984-B6ECD35D48AB}" type="slidenum">
              <a:rPr lang="LID4096" smtClean="0"/>
              <a:t>‹#›</a:t>
            </a:fld>
            <a:endParaRPr lang="LID4096"/>
          </a:p>
        </p:txBody>
      </p:sp>
    </p:spTree>
    <p:extLst>
      <p:ext uri="{BB962C8B-B14F-4D97-AF65-F5344CB8AC3E}">
        <p14:creationId xmlns:p14="http://schemas.microsoft.com/office/powerpoint/2010/main" val="2550658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C605461-485F-4B21-8A92-13F46C77A525}" type="datetimeFigureOut">
              <a:rPr lang="LID4096" smtClean="0"/>
              <a:t>05/18/2026</a:t>
            </a:fld>
            <a:endParaRPr lang="LID4096"/>
          </a:p>
        </p:txBody>
      </p:sp>
      <p:sp>
        <p:nvSpPr>
          <p:cNvPr id="8" name="Footer Placeholder 7"/>
          <p:cNvSpPr>
            <a:spLocks noGrp="1"/>
          </p:cNvSpPr>
          <p:nvPr>
            <p:ph type="ftr" sz="quarter" idx="11"/>
          </p:nvPr>
        </p:nvSpPr>
        <p:spPr/>
        <p:txBody>
          <a:bodyPr/>
          <a:lstStyle/>
          <a:p>
            <a:endParaRPr lang="LID4096"/>
          </a:p>
        </p:txBody>
      </p:sp>
      <p:sp>
        <p:nvSpPr>
          <p:cNvPr id="9" name="Slide Number Placeholder 8"/>
          <p:cNvSpPr>
            <a:spLocks noGrp="1"/>
          </p:cNvSpPr>
          <p:nvPr>
            <p:ph type="sldNum" sz="quarter" idx="12"/>
          </p:nvPr>
        </p:nvSpPr>
        <p:spPr/>
        <p:txBody>
          <a:bodyPr/>
          <a:lstStyle/>
          <a:p>
            <a:fld id="{1558C5E2-5B7F-4E0D-A984-B6ECD35D48AB}" type="slidenum">
              <a:rPr lang="LID4096" smtClean="0"/>
              <a:t>‹#›</a:t>
            </a:fld>
            <a:endParaRPr lang="LID4096"/>
          </a:p>
        </p:txBody>
      </p:sp>
    </p:spTree>
    <p:extLst>
      <p:ext uri="{BB962C8B-B14F-4D97-AF65-F5344CB8AC3E}">
        <p14:creationId xmlns:p14="http://schemas.microsoft.com/office/powerpoint/2010/main" val="687293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C605461-485F-4B21-8A92-13F46C77A525}" type="datetimeFigureOut">
              <a:rPr lang="LID4096" smtClean="0"/>
              <a:t>05/18/2026</a:t>
            </a:fld>
            <a:endParaRPr lang="LID4096"/>
          </a:p>
        </p:txBody>
      </p:sp>
      <p:sp>
        <p:nvSpPr>
          <p:cNvPr id="4" name="Footer Placeholder 3"/>
          <p:cNvSpPr>
            <a:spLocks noGrp="1"/>
          </p:cNvSpPr>
          <p:nvPr>
            <p:ph type="ftr" sz="quarter" idx="11"/>
          </p:nvPr>
        </p:nvSpPr>
        <p:spPr/>
        <p:txBody>
          <a:bodyPr/>
          <a:lstStyle/>
          <a:p>
            <a:endParaRPr lang="LID4096"/>
          </a:p>
        </p:txBody>
      </p:sp>
      <p:sp>
        <p:nvSpPr>
          <p:cNvPr id="5" name="Slide Number Placeholder 4"/>
          <p:cNvSpPr>
            <a:spLocks noGrp="1"/>
          </p:cNvSpPr>
          <p:nvPr>
            <p:ph type="sldNum" sz="quarter" idx="12"/>
          </p:nvPr>
        </p:nvSpPr>
        <p:spPr/>
        <p:txBody>
          <a:bodyPr/>
          <a:lstStyle/>
          <a:p>
            <a:fld id="{1558C5E2-5B7F-4E0D-A984-B6ECD35D48AB}" type="slidenum">
              <a:rPr lang="LID4096" smtClean="0"/>
              <a:t>‹#›</a:t>
            </a:fld>
            <a:endParaRPr lang="LID4096"/>
          </a:p>
        </p:txBody>
      </p:sp>
    </p:spTree>
    <p:extLst>
      <p:ext uri="{BB962C8B-B14F-4D97-AF65-F5344CB8AC3E}">
        <p14:creationId xmlns:p14="http://schemas.microsoft.com/office/powerpoint/2010/main" val="869964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FC605461-485F-4B21-8A92-13F46C77A525}" type="datetimeFigureOut">
              <a:rPr lang="LID4096" smtClean="0"/>
              <a:t>05/18/2026</a:t>
            </a:fld>
            <a:endParaRPr lang="LID4096"/>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LID4096"/>
          </a:p>
        </p:txBody>
      </p:sp>
      <p:sp>
        <p:nvSpPr>
          <p:cNvPr id="9" name="Slide Number Placeholder 8"/>
          <p:cNvSpPr>
            <a:spLocks noGrp="1"/>
          </p:cNvSpPr>
          <p:nvPr>
            <p:ph type="sldNum" sz="quarter" idx="12"/>
          </p:nvPr>
        </p:nvSpPr>
        <p:spPr/>
        <p:txBody>
          <a:bodyPr/>
          <a:lstStyle/>
          <a:p>
            <a:fld id="{1558C5E2-5B7F-4E0D-A984-B6ECD35D48AB}" type="slidenum">
              <a:rPr lang="LID4096" smtClean="0"/>
              <a:t>‹#›</a:t>
            </a:fld>
            <a:endParaRPr lang="LID4096"/>
          </a:p>
        </p:txBody>
      </p:sp>
    </p:spTree>
    <p:extLst>
      <p:ext uri="{BB962C8B-B14F-4D97-AF65-F5344CB8AC3E}">
        <p14:creationId xmlns:p14="http://schemas.microsoft.com/office/powerpoint/2010/main" val="2395721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FC605461-485F-4B21-8A92-13F46C77A525}" type="datetimeFigureOut">
              <a:rPr lang="LID4096" smtClean="0"/>
              <a:t>05/18/2026</a:t>
            </a:fld>
            <a:endParaRPr lang="LID4096"/>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LID4096"/>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558C5E2-5B7F-4E0D-A984-B6ECD35D48AB}" type="slidenum">
              <a:rPr lang="LID4096" smtClean="0"/>
              <a:t>‹#›</a:t>
            </a:fld>
            <a:endParaRPr lang="LID4096"/>
          </a:p>
        </p:txBody>
      </p:sp>
    </p:spTree>
    <p:extLst>
      <p:ext uri="{BB962C8B-B14F-4D97-AF65-F5344CB8AC3E}">
        <p14:creationId xmlns:p14="http://schemas.microsoft.com/office/powerpoint/2010/main" val="3234877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605461-485F-4B21-8A92-13F46C77A525}" type="datetimeFigureOut">
              <a:rPr lang="LID4096" smtClean="0"/>
              <a:t>05/18/2026</a:t>
            </a:fld>
            <a:endParaRPr lang="LID4096"/>
          </a:p>
        </p:txBody>
      </p:sp>
      <p:sp>
        <p:nvSpPr>
          <p:cNvPr id="6" name="Footer Placeholder 5"/>
          <p:cNvSpPr>
            <a:spLocks noGrp="1"/>
          </p:cNvSpPr>
          <p:nvPr>
            <p:ph type="ftr" sz="quarter" idx="11"/>
          </p:nvPr>
        </p:nvSpPr>
        <p:spPr/>
        <p:txBody>
          <a:bodyPr/>
          <a:lstStyle/>
          <a:p>
            <a:endParaRPr lang="LID4096"/>
          </a:p>
        </p:txBody>
      </p:sp>
      <p:sp>
        <p:nvSpPr>
          <p:cNvPr id="7" name="Slide Number Placeholder 6"/>
          <p:cNvSpPr>
            <a:spLocks noGrp="1"/>
          </p:cNvSpPr>
          <p:nvPr>
            <p:ph type="sldNum" sz="quarter" idx="12"/>
          </p:nvPr>
        </p:nvSpPr>
        <p:spPr/>
        <p:txBody>
          <a:bodyPr/>
          <a:lstStyle/>
          <a:p>
            <a:fld id="{1558C5E2-5B7F-4E0D-A984-B6ECD35D48AB}" type="slidenum">
              <a:rPr lang="LID4096" smtClean="0"/>
              <a:t>‹#›</a:t>
            </a:fld>
            <a:endParaRPr lang="LID4096"/>
          </a:p>
        </p:txBody>
      </p:sp>
    </p:spTree>
    <p:extLst>
      <p:ext uri="{BB962C8B-B14F-4D97-AF65-F5344CB8AC3E}">
        <p14:creationId xmlns:p14="http://schemas.microsoft.com/office/powerpoint/2010/main" val="2202967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605461-485F-4B21-8A92-13F46C77A525}" type="datetimeFigureOut">
              <a:rPr lang="LID4096" smtClean="0"/>
              <a:t>05/18/2026</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1558C5E2-5B7F-4E0D-A984-B6ECD35D48AB}" type="slidenum">
              <a:rPr lang="LID4096" smtClean="0"/>
              <a:t>‹#›</a:t>
            </a:fld>
            <a:endParaRPr lang="LID4096"/>
          </a:p>
        </p:txBody>
      </p:sp>
    </p:spTree>
    <p:extLst>
      <p:ext uri="{BB962C8B-B14F-4D97-AF65-F5344CB8AC3E}">
        <p14:creationId xmlns:p14="http://schemas.microsoft.com/office/powerpoint/2010/main" val="689798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605461-485F-4B21-8A92-13F46C77A525}" type="datetimeFigureOut">
              <a:rPr lang="LID4096" smtClean="0"/>
              <a:t>05/18/2026</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1558C5E2-5B7F-4E0D-A984-B6ECD35D48AB}" type="slidenum">
              <a:rPr lang="LID4096" smtClean="0"/>
              <a:t>‹#›</a:t>
            </a:fld>
            <a:endParaRPr lang="LID4096"/>
          </a:p>
        </p:txBody>
      </p:sp>
    </p:spTree>
    <p:extLst>
      <p:ext uri="{BB962C8B-B14F-4D97-AF65-F5344CB8AC3E}">
        <p14:creationId xmlns:p14="http://schemas.microsoft.com/office/powerpoint/2010/main" val="4134121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C605461-485F-4B21-8A92-13F46C77A525}" type="datetimeFigureOut">
              <a:rPr lang="LID4096" smtClean="0"/>
              <a:t>05/18/2026</a:t>
            </a:fld>
            <a:endParaRPr lang="LID4096"/>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LID4096"/>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558C5E2-5B7F-4E0D-A984-B6ECD35D48AB}" type="slidenum">
              <a:rPr lang="LID4096" smtClean="0"/>
              <a:t>‹#›</a:t>
            </a:fld>
            <a:endParaRPr lang="LID4096"/>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266884"/>
      </p:ext>
    </p:extLst>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hyperlink" Target="https://creativecommons.org/licenses/by-sa/3.0/" TargetMode="External"/><Relationship Id="rId4" Type="http://schemas.openxmlformats.org/officeDocument/2006/relationships/hyperlink" Target="https://en.wikipedia.org/wiki/COMSATS_University_Islamabad"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C7A9621-C85A-A1E7-B1C5-3172BD018116}"/>
              </a:ext>
            </a:extLst>
          </p:cNvPr>
          <p:cNvSpPr txBox="1"/>
          <p:nvPr/>
        </p:nvSpPr>
        <p:spPr>
          <a:xfrm>
            <a:off x="566059" y="0"/>
            <a:ext cx="11702142" cy="6158096"/>
          </a:xfrm>
          <a:prstGeom prst="rect">
            <a:avLst/>
          </a:prstGeom>
          <a:noFill/>
        </p:spPr>
        <p:txBody>
          <a:bodyPr wrap="square">
            <a:spAutoFit/>
          </a:bodyPr>
          <a:lstStyle/>
          <a:p>
            <a:pPr algn="ctr">
              <a:spcAft>
                <a:spcPts val="3000"/>
              </a:spcAft>
              <a:buNone/>
            </a:pPr>
            <a:r>
              <a:rPr lang="en-US" sz="2800" b="1" i="0" dirty="0">
                <a:effectLst/>
                <a:latin typeface="Arial" panose="020B0604020202020204" pitchFamily="34" charset="0"/>
              </a:rPr>
              <a:t>SOLAR TRACKER WITH AUTOMATIC CLEANING</a:t>
            </a:r>
          </a:p>
          <a:p>
            <a:pPr algn="l">
              <a:spcAft>
                <a:spcPts val="375"/>
              </a:spcAft>
              <a:buFont typeface="Arial" panose="020B0604020202020204" pitchFamily="34" charset="0"/>
              <a:buChar char="•"/>
            </a:pPr>
            <a:r>
              <a:rPr lang="en-US" b="1" i="0" u="sng" dirty="0">
                <a:effectLst/>
                <a:latin typeface="Arial" panose="020B0604020202020204" pitchFamily="34" charset="0"/>
              </a:rPr>
              <a:t>Submitted By:</a:t>
            </a:r>
          </a:p>
          <a:p>
            <a:pPr algn="l">
              <a:spcAft>
                <a:spcPts val="375"/>
              </a:spcAft>
              <a:buFont typeface="Arial" panose="020B0604020202020204" pitchFamily="34" charset="0"/>
              <a:buChar char="•"/>
            </a:pPr>
            <a:r>
              <a:rPr lang="en-US" b="1" i="0" dirty="0">
                <a:effectLst/>
                <a:latin typeface="Arial" panose="020B0604020202020204" pitchFamily="34" charset="0"/>
              </a:rPr>
              <a:t>Fatima Choudhary (SP26-BCS-012)</a:t>
            </a:r>
          </a:p>
          <a:p>
            <a:pPr algn="l">
              <a:spcAft>
                <a:spcPts val="375"/>
              </a:spcAft>
              <a:buFont typeface="Arial" panose="020B0604020202020204" pitchFamily="34" charset="0"/>
              <a:buChar char="•"/>
            </a:pPr>
            <a:r>
              <a:rPr lang="en-US" b="1" i="0" dirty="0">
                <a:effectLst/>
                <a:latin typeface="Arial" panose="020B0604020202020204" pitchFamily="34" charset="0"/>
              </a:rPr>
              <a:t>Fatima Mazhar (SP26-BCS-013)</a:t>
            </a:r>
          </a:p>
          <a:p>
            <a:pPr algn="l">
              <a:spcAft>
                <a:spcPts val="375"/>
              </a:spcAft>
              <a:buFont typeface="Arial" panose="020B0604020202020204" pitchFamily="34" charset="0"/>
              <a:buChar char="•"/>
            </a:pPr>
            <a:r>
              <a:rPr lang="en-US" b="1" i="0" dirty="0">
                <a:effectLst/>
                <a:latin typeface="Arial" panose="020B0604020202020204" pitchFamily="34" charset="0"/>
              </a:rPr>
              <a:t>Laiba Mudassar (SP26-BCS-021)</a:t>
            </a:r>
          </a:p>
          <a:p>
            <a:pPr algn="l">
              <a:spcAft>
                <a:spcPts val="375"/>
              </a:spcAft>
              <a:buFont typeface="Arial" panose="020B0604020202020204" pitchFamily="34" charset="0"/>
              <a:buChar char="•"/>
            </a:pPr>
            <a:r>
              <a:rPr lang="en-US" b="1" i="0" dirty="0">
                <a:effectLst/>
                <a:latin typeface="Arial" panose="020B0604020202020204" pitchFamily="34" charset="0"/>
              </a:rPr>
              <a:t>Alia Sajid (SP26-BCS-056)</a:t>
            </a:r>
          </a:p>
          <a:p>
            <a:pPr algn="l">
              <a:spcAft>
                <a:spcPts val="375"/>
              </a:spcAft>
              <a:buFont typeface="Arial" panose="020B0604020202020204" pitchFamily="34" charset="0"/>
              <a:buChar char="•"/>
            </a:pPr>
            <a:r>
              <a:rPr lang="en-US" b="1" i="0" dirty="0">
                <a:effectLst/>
                <a:latin typeface="Arial" panose="020B0604020202020204" pitchFamily="34" charset="0"/>
              </a:rPr>
              <a:t>Suriya Sultan (SP26-BCS-044)</a:t>
            </a:r>
          </a:p>
          <a:p>
            <a:pPr algn="l">
              <a:spcAft>
                <a:spcPts val="375"/>
              </a:spcAft>
              <a:buFont typeface="Arial" panose="020B0604020202020204" pitchFamily="34" charset="0"/>
              <a:buChar char="•"/>
            </a:pPr>
            <a:r>
              <a:rPr lang="en-US" b="1" dirty="0">
                <a:latin typeface="Arial" panose="020B0604020202020204" pitchFamily="34" charset="0"/>
              </a:rPr>
              <a:t>Munaza Sadiq(SP26-BCS-036)</a:t>
            </a:r>
          </a:p>
          <a:p>
            <a:pPr algn="l">
              <a:spcAft>
                <a:spcPts val="375"/>
              </a:spcAft>
            </a:pPr>
            <a:endParaRPr lang="en-US" b="1" i="0" dirty="0">
              <a:effectLst/>
              <a:latin typeface="Arial" panose="020B0604020202020204" pitchFamily="34" charset="0"/>
            </a:endParaRPr>
          </a:p>
          <a:p>
            <a:pPr>
              <a:spcAft>
                <a:spcPts val="3000"/>
              </a:spcAft>
            </a:pPr>
            <a:r>
              <a:rPr lang="en-US" b="1" i="0" dirty="0">
                <a:effectLst/>
                <a:latin typeface="Arial" panose="020B0604020202020204" pitchFamily="34" charset="0"/>
              </a:rPr>
              <a:t>                                                     Submitted TO: MAM IFRAH MATEE</a:t>
            </a:r>
            <a:r>
              <a:rPr lang="en-US" b="1" dirty="0">
                <a:latin typeface="Arial" panose="020B0604020202020204" pitchFamily="34" charset="0"/>
              </a:rPr>
              <a:t>N</a:t>
            </a:r>
            <a:r>
              <a:rPr lang="en-US" b="1" i="0" dirty="0">
                <a:effectLst/>
                <a:latin typeface="Arial" panose="020B0604020202020204" pitchFamily="34" charset="0"/>
              </a:rPr>
              <a:t>                                                              </a:t>
            </a:r>
            <a:endParaRPr lang="en-US" b="1" dirty="0">
              <a:latin typeface="Arial" panose="020B0604020202020204" pitchFamily="34" charset="0"/>
            </a:endParaRPr>
          </a:p>
          <a:p>
            <a:pPr>
              <a:spcAft>
                <a:spcPts val="600"/>
              </a:spcAft>
            </a:pPr>
            <a:r>
              <a:rPr lang="en-US" b="1" cap="all" dirty="0">
                <a:latin typeface="Arial" panose="020B0604020202020204" pitchFamily="34" charset="0"/>
              </a:rPr>
              <a:t>                                                          Course: Applied PhysicS</a:t>
            </a:r>
          </a:p>
          <a:p>
            <a:pPr algn="l">
              <a:spcAft>
                <a:spcPts val="600"/>
              </a:spcAft>
              <a:buNone/>
            </a:pPr>
            <a:endParaRPr lang="en-US" b="1" i="0" dirty="0">
              <a:effectLst/>
              <a:latin typeface="Arial" panose="020B0604020202020204" pitchFamily="34" charset="0"/>
            </a:endParaRPr>
          </a:p>
          <a:p>
            <a:pPr algn="ctr">
              <a:spcBef>
                <a:spcPts val="750"/>
              </a:spcBef>
              <a:spcAft>
                <a:spcPts val="375"/>
              </a:spcAft>
              <a:buNone/>
            </a:pPr>
            <a:r>
              <a:rPr lang="en-US" b="1" i="0" cap="all" dirty="0">
                <a:effectLst/>
                <a:latin typeface="Arial" panose="020B0604020202020204" pitchFamily="34" charset="0"/>
              </a:rPr>
              <a:t>COMSATS University Islamabad</a:t>
            </a:r>
          </a:p>
          <a:p>
            <a:pPr algn="ctr">
              <a:spcAft>
                <a:spcPts val="600"/>
              </a:spcAft>
              <a:buNone/>
            </a:pPr>
            <a:r>
              <a:rPr lang="en-US" b="1" i="0" dirty="0">
                <a:effectLst/>
                <a:latin typeface="Arial" panose="020B0604020202020204" pitchFamily="34" charset="0"/>
              </a:rPr>
              <a:t>Vehari Campus | Department of Computer Science</a:t>
            </a:r>
          </a:p>
          <a:p>
            <a:pPr algn="ctr">
              <a:spcBef>
                <a:spcPts val="1500"/>
              </a:spcBef>
              <a:spcAft>
                <a:spcPts val="600"/>
              </a:spcAft>
              <a:buNone/>
            </a:pPr>
            <a:r>
              <a:rPr lang="en-US" b="1" i="0" dirty="0">
                <a:effectLst/>
                <a:latin typeface="Arial" panose="020B0604020202020204" pitchFamily="34" charset="0"/>
              </a:rPr>
              <a:t>Date: May </a:t>
            </a:r>
            <a:r>
              <a:rPr lang="en-US" b="1" dirty="0">
                <a:latin typeface="Arial" panose="020B0604020202020204" pitchFamily="34" charset="0"/>
              </a:rPr>
              <a:t>19</a:t>
            </a:r>
            <a:r>
              <a:rPr lang="en-US" b="1" i="0" dirty="0">
                <a:effectLst/>
                <a:latin typeface="Arial" panose="020B0604020202020204" pitchFamily="34" charset="0"/>
              </a:rPr>
              <a:t>, 2026</a:t>
            </a:r>
          </a:p>
        </p:txBody>
      </p:sp>
      <p:pic>
        <p:nvPicPr>
          <p:cNvPr id="7" name="Picture 6">
            <a:extLst>
              <a:ext uri="{FF2B5EF4-FFF2-40B4-BE49-F238E27FC236}">
                <a16:creationId xmlns:a16="http://schemas.microsoft.com/office/drawing/2014/main" id="{33681CED-96AC-E84D-C224-7CBF7630B0BB}"/>
              </a:ext>
            </a:extLst>
          </p:cNvPr>
          <p:cNvPicPr>
            <a:picLocks noChangeAspect="1"/>
          </p:cNvPicPr>
          <p:nvPr/>
        </p:nvPicPr>
        <p:blipFill>
          <a:blip r:embed="rId2">
            <a:alphaModFix amt="98000"/>
            <a:extLst>
              <a:ext uri="{BEBA8EAE-BF5A-486C-A8C5-ECC9F3942E4B}">
                <a14:imgProps xmlns:a14="http://schemas.microsoft.com/office/drawing/2010/main">
                  <a14:imgLayer r:embed="rId3">
                    <a14:imgEffect>
                      <a14:colorTemperature colorTemp="7200"/>
                    </a14:imgEffect>
                    <a14:imgEffect>
                      <a14:saturation sat="400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730828" y="4833258"/>
            <a:ext cx="1224299" cy="1408476"/>
          </a:xfrm>
          <a:prstGeom prst="rect">
            <a:avLst/>
          </a:prstGeom>
          <a:noFill/>
        </p:spPr>
      </p:pic>
      <p:sp>
        <p:nvSpPr>
          <p:cNvPr id="8" name="TextBox 7">
            <a:extLst>
              <a:ext uri="{FF2B5EF4-FFF2-40B4-BE49-F238E27FC236}">
                <a16:creationId xmlns:a16="http://schemas.microsoft.com/office/drawing/2014/main" id="{7123D58E-E55A-B567-F9C3-F2E48D1FB3FB}"/>
              </a:ext>
            </a:extLst>
          </p:cNvPr>
          <p:cNvSpPr txBox="1"/>
          <p:nvPr/>
        </p:nvSpPr>
        <p:spPr>
          <a:xfrm>
            <a:off x="3102429" y="7043113"/>
            <a:ext cx="968828" cy="646331"/>
          </a:xfrm>
          <a:prstGeom prst="rect">
            <a:avLst/>
          </a:prstGeom>
          <a:noFill/>
        </p:spPr>
        <p:txBody>
          <a:bodyPr wrap="square" rtlCol="0">
            <a:spAutoFit/>
          </a:bodyPr>
          <a:lstStyle/>
          <a:p>
            <a:r>
              <a:rPr lang="LID4096" sz="900">
                <a:hlinkClick r:id="rId4" tooltip="https://en.wikipedia.org/wiki/COMSATS_University_Islamabad"/>
              </a:rPr>
              <a:t>This Photo</a:t>
            </a:r>
            <a:r>
              <a:rPr lang="LID4096" sz="900"/>
              <a:t> by Unknown Author is licensed under </a:t>
            </a:r>
            <a:r>
              <a:rPr lang="LID4096" sz="900">
                <a:hlinkClick r:id="rId5" tooltip="https://creativecommons.org/licenses/by-sa/3.0/"/>
              </a:rPr>
              <a:t>CC BY-SA</a:t>
            </a:r>
            <a:endParaRPr lang="LID4096" sz="900"/>
          </a:p>
        </p:txBody>
      </p:sp>
    </p:spTree>
    <p:extLst>
      <p:ext uri="{BB962C8B-B14F-4D97-AF65-F5344CB8AC3E}">
        <p14:creationId xmlns:p14="http://schemas.microsoft.com/office/powerpoint/2010/main" val="856906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0A5F2D-4E13-5060-8A90-BDC480D884F5}"/>
              </a:ext>
            </a:extLst>
          </p:cNvPr>
          <p:cNvSpPr txBox="1"/>
          <p:nvPr/>
        </p:nvSpPr>
        <p:spPr>
          <a:xfrm>
            <a:off x="228600" y="261258"/>
            <a:ext cx="11963400" cy="3460947"/>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INTRODUCTION :</a:t>
            </a:r>
          </a:p>
          <a:p>
            <a:endParaRPr lang="en-US" dirty="0"/>
          </a:p>
          <a:p>
            <a:pPr>
              <a:lnSpc>
                <a:spcPct val="150000"/>
              </a:lnSpc>
            </a:pPr>
            <a:r>
              <a:rPr lang="en-US" sz="2000" dirty="0"/>
              <a:t>"Solar energy is one of the best renewable power sources available, but solar panels lose a lot of their efficiency if they are covered in dust or are not directly facing the sun. To solve this problem, this project introduces a </a:t>
            </a:r>
            <a:r>
              <a:rPr lang="en-US" sz="2000" b="1" dirty="0"/>
              <a:t>Solar Tracker with an Automatic Cleaning System</a:t>
            </a:r>
            <a:r>
              <a:rPr lang="en-US" sz="2000" dirty="0"/>
              <a:t>. Using an Arduino  as the main controller, the system automatically rotates the solar panel to follow the sun's path throughout the day to capture maximum light. Additionally, it  automatically cleans dust off the panel, ensuring it always produces the highest possible amount of electricity with zero manual effort."</a:t>
            </a:r>
            <a:endParaRPr lang="LID4096" sz="2000" dirty="0"/>
          </a:p>
        </p:txBody>
      </p:sp>
    </p:spTree>
    <p:extLst>
      <p:ext uri="{BB962C8B-B14F-4D97-AF65-F5344CB8AC3E}">
        <p14:creationId xmlns:p14="http://schemas.microsoft.com/office/powerpoint/2010/main" val="443876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D92E1F-698A-ADCD-4B27-E6115CD5EDE5}"/>
              </a:ext>
            </a:extLst>
          </p:cNvPr>
          <p:cNvSpPr txBox="1"/>
          <p:nvPr/>
        </p:nvSpPr>
        <p:spPr>
          <a:xfrm>
            <a:off x="119743" y="108856"/>
            <a:ext cx="11963399" cy="5769272"/>
          </a:xfrm>
          <a:prstGeom prst="rect">
            <a:avLst/>
          </a:prstGeom>
          <a:noFill/>
        </p:spPr>
        <p:txBody>
          <a:bodyPr wrap="square">
            <a:spAutoFit/>
          </a:bodyPr>
          <a:lstStyle/>
          <a:p>
            <a:pPr>
              <a:lnSpc>
                <a:spcPct val="150000"/>
              </a:lnSpc>
              <a:buNone/>
            </a:pPr>
            <a:r>
              <a:rPr lang="en-US" sz="2800" b="1" dirty="0"/>
              <a:t>List of Required  Components :</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Arduino Nano</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Breadboard</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Relay Module </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DC Motor</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Lithium-ion Battery </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DC-DC Boost Converter Module</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Jumper Wires</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Resistors</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Capacitors </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Transistor </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Light Dependent Resistors (LDRs) </a:t>
            </a:r>
            <a:r>
              <a:rPr lang="en-US" sz="2000" i="1" dirty="0">
                <a:latin typeface="Times New Roman" panose="02020603050405020304" pitchFamily="18" charset="0"/>
                <a:cs typeface="Times New Roman" panose="02020603050405020304" pitchFamily="18" charset="0"/>
              </a:rPr>
              <a:t>(Required for the tracking mechanism)</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3415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A608B4-7A9D-3F5A-4BE5-D41A96D1C935}"/>
              </a:ext>
            </a:extLst>
          </p:cNvPr>
          <p:cNvSpPr txBox="1"/>
          <p:nvPr/>
        </p:nvSpPr>
        <p:spPr>
          <a:xfrm>
            <a:off x="97972" y="152399"/>
            <a:ext cx="12235543" cy="6045501"/>
          </a:xfrm>
          <a:prstGeom prst="rect">
            <a:avLst/>
          </a:prstGeom>
          <a:noFill/>
        </p:spPr>
        <p:txBody>
          <a:bodyPr wrap="square">
            <a:spAutoFit/>
          </a:bodyPr>
          <a:lstStyle/>
          <a:p>
            <a:pPr>
              <a:lnSpc>
                <a:spcPct val="200000"/>
              </a:lnSpc>
              <a:buNone/>
            </a:pPr>
            <a:r>
              <a:rPr lang="en-US" sz="2800" b="1" dirty="0"/>
              <a:t>Working Principle of the System</a:t>
            </a:r>
          </a:p>
          <a:p>
            <a:pPr marL="342900" indent="-342900">
              <a:lnSpc>
                <a:spcPct val="200000"/>
              </a:lnSpc>
              <a:buAutoNum type="arabicPeriod"/>
            </a:pPr>
            <a:r>
              <a:rPr lang="en-US" sz="2400" b="1" dirty="0">
                <a:latin typeface="Times New Roman" panose="02020603050405020304" pitchFamily="18" charset="0"/>
                <a:cs typeface="Times New Roman" panose="02020603050405020304" pitchFamily="18" charset="0"/>
              </a:rPr>
              <a:t>Solar Tracking Mechanism (Light Response) </a:t>
            </a:r>
          </a:p>
          <a:p>
            <a:pPr marL="285750" indent="-285750">
              <a:lnSpc>
                <a:spcPct val="20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The solar tracking feature ensures that the solar panel always faces the sun to generate the maximum possible power. This is achieved using light sensors, typically Light Dependent Resistors (LDRs).</a:t>
            </a:r>
          </a:p>
          <a:p>
            <a:pPr marL="285750" indent="-285750">
              <a:lnSpc>
                <a:spcPct val="20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The LDRs are placed on opposite sides of the solar panel.</a:t>
            </a:r>
          </a:p>
          <a:p>
            <a:pPr marL="285750" indent="-285750">
              <a:lnSpc>
                <a:spcPct val="20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When a light source (like the sun or a flashlight during testing) shines on the setup, the LDR facing the light receives higher intensity than the other, causing its electrical resistance to drop.</a:t>
            </a:r>
          </a:p>
          <a:p>
            <a:pPr marL="285750" indent="-285750">
              <a:lnSpc>
                <a:spcPct val="20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This creates a voltage difference that the control system detects. The system then activates a motor to tilt or rotate the panel toward the stronger light until the light hitting both LDRs is equal. This allows the panel to actively "follow" the light source throughout the day.</a:t>
            </a:r>
          </a:p>
        </p:txBody>
      </p:sp>
    </p:spTree>
    <p:extLst>
      <p:ext uri="{BB962C8B-B14F-4D97-AF65-F5344CB8AC3E}">
        <p14:creationId xmlns:p14="http://schemas.microsoft.com/office/powerpoint/2010/main" val="4187401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C9AC50-B216-217F-0C45-341539D5F923}"/>
              </a:ext>
            </a:extLst>
          </p:cNvPr>
          <p:cNvSpPr txBox="1"/>
          <p:nvPr/>
        </p:nvSpPr>
        <p:spPr>
          <a:xfrm>
            <a:off x="174171" y="119743"/>
            <a:ext cx="11832772" cy="6049348"/>
          </a:xfrm>
          <a:prstGeom prst="rect">
            <a:avLst/>
          </a:prstGeom>
          <a:noFill/>
        </p:spPr>
        <p:txBody>
          <a:bodyPr wrap="square">
            <a:spAutoFit/>
          </a:bodyPr>
          <a:lstStyle/>
          <a:p>
            <a:pPr>
              <a:lnSpc>
                <a:spcPct val="200000"/>
              </a:lnSpc>
              <a:buNone/>
            </a:pPr>
            <a:r>
              <a:rPr lang="en-US" sz="2400" b="1" dirty="0">
                <a:latin typeface="Times New Roman" panose="02020603050405020304" pitchFamily="18" charset="0"/>
                <a:cs typeface="Times New Roman" panose="02020603050405020304" pitchFamily="18" charset="0"/>
              </a:rPr>
              <a:t>Automatic Cleaning System (Arduino Controlled)</a:t>
            </a:r>
          </a:p>
          <a:p>
            <a:pPr marL="342900" indent="-342900">
              <a:lnSpc>
                <a:spcPct val="150000"/>
              </a:lnSpc>
              <a:buFont typeface="Wingdings" panose="05000000000000000000" pitchFamily="2" charset="2"/>
              <a:buChar char="q"/>
            </a:pPr>
            <a:r>
              <a:rPr lang="en-US" sz="2400" dirty="0"/>
              <a:t> </a:t>
            </a:r>
            <a:r>
              <a:rPr lang="en-US" sz="2400" b="1" dirty="0">
                <a:latin typeface="Times New Roman" panose="02020603050405020304" pitchFamily="18" charset="0"/>
                <a:cs typeface="Times New Roman" panose="02020603050405020304" pitchFamily="18" charset="0"/>
              </a:rPr>
              <a:t>The Arduino Nano </a:t>
            </a:r>
            <a:r>
              <a:rPr lang="en-US" dirty="0">
                <a:latin typeface="Times New Roman" panose="02020603050405020304" pitchFamily="18" charset="0"/>
                <a:cs typeface="Times New Roman" panose="02020603050405020304" pitchFamily="18" charset="0"/>
              </a:rPr>
              <a:t>serves as the central brain for the automatic cleaning system, ensuring the panel remains free of dust, which would otherwise block light and reduce efficiency.</a:t>
            </a:r>
          </a:p>
          <a:p>
            <a:pPr marL="285750" indent="-285750">
              <a:lnSpc>
                <a:spcPct val="150000"/>
              </a:lnSpc>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Power Management: </a:t>
            </a:r>
            <a:r>
              <a:rPr lang="en-US" dirty="0">
                <a:latin typeface="Times New Roman" panose="02020603050405020304" pitchFamily="18" charset="0"/>
                <a:cs typeface="Times New Roman" panose="02020603050405020304" pitchFamily="18" charset="0"/>
              </a:rPr>
              <a:t>The 3.7V Lithium-ion battery provides the main power. Because the Arduino and the relay need exactly 5V to work properly, the DC-DC Boost Converter steps the battery voltage up to a stable 5V.</a:t>
            </a:r>
          </a:p>
          <a:p>
            <a:pPr marL="285750" indent="-285750">
              <a:lnSpc>
                <a:spcPct val="150000"/>
              </a:lnSpc>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Triggering the Cycle</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Arduino is programmed to initiate a cleaning cycle at specific intervals (using a timer code) or when it detects a massive drop in power output.</a:t>
            </a:r>
          </a:p>
          <a:p>
            <a:pPr marL="285750" indent="-285750">
              <a:lnSpc>
                <a:spcPct val="150000"/>
              </a:lnSpc>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Actuating the Motor</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When it is time to clean, the Arduino sends a low-power digital signal to the Transistor. The transistor acts as a switch that activates the Relay Module.</a:t>
            </a:r>
          </a:p>
          <a:p>
            <a:pPr marL="285750" indent="-285750">
              <a:lnSpc>
                <a:spcPct val="150000"/>
              </a:lnSpc>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The Cleaning Action: </a:t>
            </a:r>
            <a:r>
              <a:rPr lang="en-US" dirty="0">
                <a:latin typeface="Times New Roman" panose="02020603050405020304" pitchFamily="18" charset="0"/>
                <a:cs typeface="Times New Roman" panose="02020603050405020304" pitchFamily="18" charset="0"/>
              </a:rPr>
              <a:t>The relay bridges the connection, allowing higher current to flow directly to the DC Motor without damaging the Arduino. The motor powers a wiper or brush that sweeps across the solar panel to remove dust. Once the programmed cleaning time finishes, the Arduino stops the signal, the relay turns off, and the motor stops.</a:t>
            </a:r>
          </a:p>
        </p:txBody>
      </p:sp>
    </p:spTree>
    <p:extLst>
      <p:ext uri="{BB962C8B-B14F-4D97-AF65-F5344CB8AC3E}">
        <p14:creationId xmlns:p14="http://schemas.microsoft.com/office/powerpoint/2010/main" val="795684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151B25E-CA2B-B988-074E-1445A2719B1D}"/>
              </a:ext>
            </a:extLst>
          </p:cNvPr>
          <p:cNvSpPr txBox="1"/>
          <p:nvPr/>
        </p:nvSpPr>
        <p:spPr>
          <a:xfrm>
            <a:off x="0" y="108858"/>
            <a:ext cx="11647715" cy="6432530"/>
          </a:xfrm>
          <a:prstGeom prst="rect">
            <a:avLst/>
          </a:prstGeom>
          <a:noFill/>
        </p:spPr>
        <p:txBody>
          <a:bodyPr wrap="square">
            <a:spAutoFit/>
          </a:bodyPr>
          <a:lstStyle/>
          <a:p>
            <a:pPr>
              <a:buNone/>
            </a:pPr>
            <a:r>
              <a:rPr lang="en-US" sz="2400" b="1" dirty="0"/>
              <a:t> </a:t>
            </a:r>
            <a:r>
              <a:rPr lang="en-US" sz="2400" b="1" dirty="0">
                <a:latin typeface="Times New Roman" panose="02020603050405020304" pitchFamily="18" charset="0"/>
                <a:cs typeface="Times New Roman" panose="02020603050405020304" pitchFamily="18" charset="0"/>
              </a:rPr>
              <a:t>Arduino:</a:t>
            </a:r>
          </a:p>
          <a:p>
            <a:pPr>
              <a:lnSpc>
                <a:spcPct val="150000"/>
              </a:lnSpc>
            </a:pPr>
            <a:r>
              <a:rPr lang="en-US" sz="2400" dirty="0">
                <a:latin typeface="Times New Roman" panose="02020603050405020304" pitchFamily="18" charset="0"/>
                <a:cs typeface="Times New Roman" panose="02020603050405020304" pitchFamily="18" charset="0"/>
              </a:rPr>
              <a:t>Arduino</a:t>
            </a:r>
            <a:r>
              <a:rPr lang="en-US" sz="2000" dirty="0">
                <a:latin typeface="Times New Roman" panose="02020603050405020304" pitchFamily="18" charset="0"/>
                <a:cs typeface="Times New Roman" panose="02020603050405020304" pitchFamily="18" charset="0"/>
              </a:rPr>
              <a:t> is an open-source electronics platform based on easy-to-use hardware and software. It consists of a physical programmable circuit board (a microcontroller) and a software interface (IDE) used to write and upload code to the board. In any automation project, the Arduino acts as the "brain"—it reads physical inputs (like light on a sensor ) and processes them to generate a specific physical output (like turning on a motor </a:t>
            </a:r>
            <a:r>
              <a:rPr lang="en-US" sz="2000" dirty="0"/>
              <a:t>).</a:t>
            </a:r>
            <a:r>
              <a:rPr lang="en-US" sz="2000" b="1" dirty="0"/>
              <a:t> </a:t>
            </a:r>
          </a:p>
          <a:p>
            <a:pPr>
              <a:lnSpc>
                <a:spcPct val="150000"/>
              </a:lnSpc>
            </a:pPr>
            <a:r>
              <a:rPr lang="en-US" sz="2400" b="1" dirty="0">
                <a:latin typeface="Times New Roman" panose="02020603050405020304" pitchFamily="18" charset="0"/>
                <a:cs typeface="Times New Roman" panose="02020603050405020304" pitchFamily="18" charset="0"/>
              </a:rPr>
              <a:t>How Arduino is Related to Physics</a:t>
            </a:r>
          </a:p>
          <a:p>
            <a:pPr>
              <a:lnSpc>
                <a:spcPct val="150000"/>
              </a:lnSpc>
            </a:pPr>
            <a:r>
              <a:rPr lang="en-US" sz="2000" dirty="0">
                <a:latin typeface="Times New Roman" panose="02020603050405020304" pitchFamily="18" charset="0"/>
                <a:cs typeface="Times New Roman" panose="02020603050405020304" pitchFamily="18" charset="0"/>
              </a:rPr>
              <a:t>The operation of an Arduino is deeply rooted in the principles of Applied Physics. It bridges the gap between theoretical physics and practical engineering in the following ways:</a:t>
            </a:r>
          </a:p>
          <a:p>
            <a:pPr>
              <a:lnSpc>
                <a:spcPct val="150000"/>
              </a:lnSpc>
            </a:pPr>
            <a:r>
              <a:rPr lang="en-US" sz="2400" b="1" dirty="0">
                <a:latin typeface="Times New Roman" panose="02020603050405020304" pitchFamily="18" charset="0"/>
                <a:cs typeface="Times New Roman" panose="02020603050405020304" pitchFamily="18" charset="0"/>
              </a:rPr>
              <a:t>1.Solid-State Physics and Semiconductors:</a:t>
            </a:r>
          </a:p>
          <a:p>
            <a:pPr>
              <a:lnSpc>
                <a:spcPct val="150000"/>
              </a:lnSpc>
            </a:pPr>
            <a:r>
              <a:rPr lang="en-US" sz="2000" dirty="0">
                <a:latin typeface="Times New Roman" panose="02020603050405020304" pitchFamily="18" charset="0"/>
                <a:cs typeface="Times New Roman" panose="02020603050405020304" pitchFamily="18" charset="0"/>
              </a:rPr>
              <a:t> The core of the Arduino (its microcontroller chip) is made entirely of microscopic transistors built from silicon, which is a semiconductor material. The way this chip processes information— electrons to represent binary data (0s and 1s)—is a direct application of  solid-state physics.</a:t>
            </a:r>
          </a:p>
          <a:p>
            <a:endParaRPr lang="en-US" sz="2000" dirty="0"/>
          </a:p>
          <a:p>
            <a:pPr>
              <a:buNone/>
            </a:pPr>
            <a:endParaRPr lang="en-US" sz="2000" dirty="0"/>
          </a:p>
        </p:txBody>
      </p:sp>
    </p:spTree>
    <p:extLst>
      <p:ext uri="{BB962C8B-B14F-4D97-AF65-F5344CB8AC3E}">
        <p14:creationId xmlns:p14="http://schemas.microsoft.com/office/powerpoint/2010/main" val="17710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08CF22D-D2DE-9821-8A32-6CC0B4F3A4AB}"/>
              </a:ext>
            </a:extLst>
          </p:cNvPr>
          <p:cNvSpPr>
            <a:spLocks noChangeArrowheads="1"/>
          </p:cNvSpPr>
          <p:nvPr/>
        </p:nvSpPr>
        <p:spPr bwMode="auto">
          <a:xfrm>
            <a:off x="-1" y="430763"/>
            <a:ext cx="12475029" cy="1031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Electricity &amp; Circuits (Ohm’s Law):</a:t>
            </a:r>
            <a:endParaRPr kumimoji="0" lang="en-US" altLang="LID4096"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800" b="0" i="0" u="none" strike="noStrike" cap="none" normalizeH="0" baseline="0" dirty="0">
                <a:ln>
                  <a:noFill/>
                </a:ln>
                <a:solidFill>
                  <a:schemeClr val="tx1"/>
                </a:solidFill>
                <a:effectLst/>
              </a:rPr>
              <a:t> </a:t>
            </a:r>
            <a:r>
              <a:rPr kumimoji="0" lang="LID4096" altLang="LID4096"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Arduino controls the flow of voltage and current (V = IR)to power  project's components safely without burning them out.</a:t>
            </a:r>
            <a:endParaRPr kumimoji="0" lang="en-US" altLang="LID4096"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8AC66047-1EED-C8E0-A6FA-98D2C6ACCA8A}"/>
              </a:ext>
            </a:extLst>
          </p:cNvPr>
          <p:cNvSpPr>
            <a:spLocks noChangeArrowheads="1"/>
          </p:cNvSpPr>
          <p:nvPr/>
        </p:nvSpPr>
        <p:spPr bwMode="auto">
          <a:xfrm>
            <a:off x="0" y="1323315"/>
            <a:ext cx="12083144" cy="2811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LID4096" altLang="LID4096" sz="2400" b="1" i="0" u="none" strike="noStrike" cap="none" normalizeH="0" baseline="0" dirty="0">
                <a:ln>
                  <a:noFill/>
                </a:ln>
                <a:solidFill>
                  <a:schemeClr val="tx1"/>
                </a:solidFill>
                <a:effectLst/>
                <a:latin typeface="Arial" panose="020B0604020202020204" pitchFamily="34" charset="0"/>
              </a:rPr>
              <a:t>Light Physics (Photoelectric Effect):</a:t>
            </a:r>
            <a:endParaRPr kumimoji="0" lang="en-US" altLang="LID4096"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LID4096" altLang="LID4096" sz="1800" b="0" i="0" u="none" strike="noStrike" cap="none" normalizeH="0" baseline="0" dirty="0">
                <a:ln>
                  <a:noFill/>
                </a:ln>
                <a:solidFill>
                  <a:schemeClr val="tx1"/>
                </a:solidFill>
                <a:effectLst/>
                <a:latin typeface="Arial" panose="020B0604020202020204" pitchFamily="34" charset="0"/>
              </a:rPr>
              <a:t> When the Arduino uses light sensors (LDRs) to track the sun, it relies on physics: light energy hitting the sensor physically changes its electrical resistance.</a:t>
            </a:r>
          </a:p>
          <a:p>
            <a:pPr marL="0" marR="0" lvl="0" indent="0" algn="l" defTabSz="914400" rtl="0" eaLnBrk="0" fontAlgn="base" latinLnBrk="0" hangingPunct="0">
              <a:lnSpc>
                <a:spcPct val="150000"/>
              </a:lnSpc>
              <a:spcBef>
                <a:spcPct val="0"/>
              </a:spcBef>
              <a:spcAft>
                <a:spcPct val="0"/>
              </a:spcAft>
              <a:buClrTx/>
              <a:buSzTx/>
              <a:tabLst/>
            </a:pPr>
            <a:r>
              <a:rPr kumimoji="0" lang="LID4096" altLang="LID4096" sz="2400" b="1" i="0" u="none" strike="noStrike" cap="none" normalizeH="0" baseline="0" dirty="0">
                <a:ln>
                  <a:noFill/>
                </a:ln>
                <a:solidFill>
                  <a:schemeClr val="tx1"/>
                </a:solidFill>
                <a:effectLst/>
                <a:latin typeface="Arial" panose="020B0604020202020204" pitchFamily="34" charset="0"/>
              </a:rPr>
              <a:t>Motion (Electromagnetism):</a:t>
            </a:r>
            <a:endParaRPr kumimoji="0" lang="en-US" altLang="LID4096"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LID4096" altLang="LID4096" sz="1800" b="0" i="0" u="none" strike="noStrike" cap="none" normalizeH="0" baseline="0" dirty="0">
                <a:ln>
                  <a:noFill/>
                </a:ln>
                <a:solidFill>
                  <a:schemeClr val="tx1"/>
                </a:solidFill>
                <a:effectLst/>
                <a:latin typeface="Arial" panose="020B0604020202020204" pitchFamily="34" charset="0"/>
              </a:rPr>
              <a:t> When the Arduino turns on the DC motor for cleaning, it uses electricity to create a magnetic field inside the motor.</a:t>
            </a:r>
            <a:endParaRPr kumimoji="0" lang="en-US" altLang="LID4096"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LID4096" altLang="LID4096" sz="1800" b="0" i="0" u="none" strike="noStrike" cap="none" normalizeH="0" baseline="0" dirty="0">
                <a:ln>
                  <a:noFill/>
                </a:ln>
                <a:solidFill>
                  <a:schemeClr val="tx1"/>
                </a:solidFill>
                <a:effectLst/>
                <a:latin typeface="Arial" panose="020B0604020202020204" pitchFamily="34" charset="0"/>
              </a:rPr>
              <a:t> This magnetic field creates the physical movement that spins the wiper.</a:t>
            </a:r>
          </a:p>
        </p:txBody>
      </p:sp>
    </p:spTree>
    <p:extLst>
      <p:ext uri="{BB962C8B-B14F-4D97-AF65-F5344CB8AC3E}">
        <p14:creationId xmlns:p14="http://schemas.microsoft.com/office/powerpoint/2010/main" val="2023368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5EC28FA-E3AE-5CC5-CD31-26331FA71A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355600"/>
            <a:ext cx="9144000" cy="58928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341115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8A0F74-6B1C-0875-CBB4-4515F2147A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4540" y="845720"/>
            <a:ext cx="7391400" cy="478155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95827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0330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165244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231</TotalTime>
  <Words>867</Words>
  <Application>Microsoft Office PowerPoint</Application>
  <PresentationFormat>Widescreen</PresentationFormat>
  <Paragraphs>56</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Times New Roman</vt:lpstr>
      <vt:lpstr>Wingdings</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Talha Mudassar</dc:creator>
  <cp:lastModifiedBy>Talha Mudassar</cp:lastModifiedBy>
  <cp:revision>4</cp:revision>
  <dcterms:created xsi:type="dcterms:W3CDTF">2026-05-15T04:44:27Z</dcterms:created>
  <dcterms:modified xsi:type="dcterms:W3CDTF">2026-05-18T16:55:32Z</dcterms:modified>
</cp:coreProperties>
</file>